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Raleway" pitchFamily="2" charset="0"/>
      <p:regular r:id="rId32"/>
      <p:bold r:id="rId33"/>
      <p:italic r:id="rId34"/>
      <p:boldItalic r:id="rId35"/>
    </p:embeddedFont>
    <p:embeddedFont>
      <p:font typeface="Source Sans Pro" panose="020B0503030403020204" pitchFamily="34" charset="0"/>
      <p:regular r:id="rId36"/>
      <p:bold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476BC5-F815-4B28-AF98-3757813E07B9}">
  <a:tblStyle styleId="{C4476BC5-F815-4B28-AF98-3757813E07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4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54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544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0f6b439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0f6b439e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560c41de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560c41de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560c41de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560c41de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399e5d2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399e5d2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0f6b439ea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0f6b439ea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344209e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344209e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0f6b439ea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0f6b439ea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0f6b439ea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0f6b439ea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0f6b439ea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0f6b439ea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0f6b439ea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0f6b439ea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44209e2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344209e2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38721c1b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38721c1b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38721c1b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38721c1b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8721c1b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38721c1b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38721c1b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38721c1b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38721c1b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38721c1b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8721c1b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38721c1b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38721c1b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38721c1b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38721c1b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38721c1b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38721c1b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38721c1b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38721c1b6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38721c1b6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38721c1b6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38721c1b6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38721c1b6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38721c1b6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38721c1b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f38721c1b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38721c1b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38721c1b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0f6b439e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f0f6b439e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0f6b439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0f6b439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 title="Gemini_Generated_Image_r9brlcr9brlcr9b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672" y="2684196"/>
            <a:ext cx="8680715" cy="2271762"/>
          </a:xfrm>
          <a:prstGeom prst="rect">
            <a:avLst/>
          </a:prstGeom>
          <a:solidFill>
            <a:srgbClr val="CFE2F3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CFE2F3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Source Sans Pro"/>
              <a:buChar char="●"/>
              <a:defRPr sz="1800"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●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Source Sans Pro"/>
              <a:buChar char="○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Source Sans Pro"/>
              <a:buChar char="■"/>
              <a:defRPr>
                <a:solidFill>
                  <a:srgbClr val="43434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zh-TW/docs/Web/JavaScript/Guide/Regular_expression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/Reference/Elements/inpu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eveloper.mozilla.org/en-US/docs/Web/HTML/Reference/Elements/select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2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HTML5 Advanced Topics</a:t>
            </a:r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595275"/>
            <a:ext cx="8183700" cy="10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Ci-Wei Lan 藍啟維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Dept. of CSE, NTOU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Interactive Control - Information Submission from Users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HTML5 Form input Types and input validation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Information Collection Element ─ &lt;form&gt;</a:t>
            </a:r>
            <a:endParaRPr sz="2900"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method</a:t>
            </a:r>
            <a:r>
              <a:rPr lang="en"/>
              <a:t> attribute: specifies how the form’s data is sent.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method="post" (for creating &amp; submitting data)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appends form data to the browser request, which contains the protocol (HTTP) and the requested resource’s URL.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method="get" (for navigating &amp; retrieving data)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appends the form data directly to the end of the URL of the script, where it’s visible in the browser’s Address field.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method=”dialog” (for closing pop-up modals natively)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the form is inside a &lt;dialog&gt;, closes the dialog and causes a submit event to be fired on submission, without submitting data or clearing the form.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action</a:t>
            </a:r>
            <a:r>
              <a:rPr lang="en"/>
              <a:t> attribute: specifies the script to which the form data will be sent.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server-/client-side scripts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vs POST Method Comparisons</a:t>
            </a:r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419700" y="1400525"/>
          <a:ext cx="8017875" cy="2869549"/>
        </p:xfrm>
        <a:graphic>
          <a:graphicData uri="http://schemas.openxmlformats.org/drawingml/2006/table">
            <a:tbl>
              <a:tblPr>
                <a:noFill/>
                <a:tableStyleId>{C4476BC5-F815-4B28-AF98-3757813E07B9}</a:tableStyleId>
              </a:tblPr>
              <a:tblGrid>
                <a:gridCol w="137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Feature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GET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POST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Semantics</a:t>
                      </a:r>
                      <a:endParaRPr sz="12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Retrieve / Query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Create / Submit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Data Location</a:t>
                      </a:r>
                      <a:endParaRPr sz="12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URL query string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Request body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Cacheability</a:t>
                      </a:r>
                      <a:endParaRPr sz="12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Can be cached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cached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Shareability</a:t>
                      </a:r>
                      <a:endParaRPr sz="12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Easy to copy/share URL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easily shareable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Data Size</a:t>
                      </a:r>
                      <a:endParaRPr sz="12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Limited by browser/server </a:t>
                      </a:r>
                      <a:endParaRPr sz="12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(≈2,000</a:t>
                      </a:r>
                      <a:r>
                        <a:rPr lang="en" sz="1200">
                          <a:solidFill>
                            <a:schemeClr val="dk2"/>
                          </a:solidFill>
                        </a:rPr>
                        <a:t>~</a:t>
                      </a:r>
                      <a:r>
                        <a:rPr lang="en" sz="1200"/>
                        <a:t>8,000 characters)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Practically unlimited </a:t>
                      </a:r>
                      <a:endParaRPr sz="12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(often up to several GB, depending on server settings)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Security</a:t>
                      </a:r>
                      <a:endParaRPr sz="12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suitable for sensitive data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Suitable for sensitive or large data</a:t>
                      </a: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of &lt;form method=”dialog”&gt;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0825"/>
            <a:ext cx="3982141" cy="377027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941" y="1220825"/>
            <a:ext cx="4704659" cy="2193882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5398" y="3836475"/>
            <a:ext cx="2196850" cy="8180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4750" y="3836475"/>
            <a:ext cx="2196850" cy="8180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 Data Element ─ &lt;input&gt;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wide variety of types of input data and control widgets are available, depending on the device and user agent.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input’s type is determined by its </a:t>
            </a:r>
            <a:r>
              <a:rPr lang="en" b="1" i="1">
                <a:solidFill>
                  <a:srgbClr val="0000FF"/>
                </a:solidFill>
              </a:rPr>
              <a:t>type</a:t>
            </a:r>
            <a:r>
              <a:rPr lang="en"/>
              <a:t> attribute.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autofocus</a:t>
            </a:r>
            <a:r>
              <a:rPr lang="en"/>
              <a:t> attribute: an optional attribute that can be used in only one input element in a form—automatically gives the focus to the input element, allowing the user to begin typing in that element immediately.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required</a:t>
            </a:r>
            <a:r>
              <a:rPr lang="en"/>
              <a:t> attribute: An input value is required or must be checked for the form to be submittable.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Non-visual components (a specific type of input), called hidden inputs, store any data that you specify, such as e-mail addresses and HTML5 document file names that act as links.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Input Element ─ &lt;input type=”text”&gt;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&lt;input type=”text”&gt; elements creates basic single-line text fields.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 multi-line text fields with &lt;textarea&gt; element.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size</a:t>
            </a:r>
            <a:r>
              <a:rPr lang="en"/>
              <a:t> attribute specifies the number of characters visible in the text field.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maxlength</a:t>
            </a:r>
            <a:r>
              <a:rPr lang="en"/>
              <a:t> attribute limits the number of characters input into a text field.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placeholder</a:t>
            </a:r>
            <a:r>
              <a:rPr lang="en"/>
              <a:t> attribute is a string that provides a brief hint to the user as to what kind of information is expected in the field.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979" y="3316375"/>
            <a:ext cx="8032349" cy="1788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75" y="3777050"/>
            <a:ext cx="1905000" cy="2667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Caption Element ─ &lt;label&gt;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&lt;label&gt; element represents a caption for an item in a user interface.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Associating a label with a form control: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Enclosing &lt;input&gt; elements or set attribute </a:t>
            </a:r>
            <a:r>
              <a:rPr lang="en" b="1" i="1">
                <a:solidFill>
                  <a:srgbClr val="0000FF"/>
                </a:solidFill>
              </a:rPr>
              <a:t>for</a:t>
            </a:r>
            <a:r>
              <a:rPr lang="en"/>
              <a:t> and its value identical to the id of corresponding &lt;input&gt; element.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Effect: the focus is automatically move on the input element when click on &lt;label&gt; display.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575" y="2849225"/>
            <a:ext cx="3263275" cy="2069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3038" y="2849225"/>
            <a:ext cx="2333625" cy="104775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Submission and Reset Types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submit</a:t>
            </a:r>
            <a:r>
              <a:rPr lang="en"/>
              <a:t> input element is a button: &lt;input type=”submit”&gt;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the submit button is pressed, the form’s data is sent to the location specified in the form’s action attribute.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reset</a:t>
            </a:r>
            <a:r>
              <a:rPr lang="en"/>
              <a:t> input element is a button: &lt;input type=”reset”&gt;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a user to reset all form elements to their default values.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value</a:t>
            </a:r>
            <a:r>
              <a:rPr lang="en"/>
              <a:t> attribute sets the text displayed on the buttons. 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Example of Text Input Form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50" y="1213125"/>
            <a:ext cx="7820401" cy="1889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450" y="3246975"/>
            <a:ext cx="4657725" cy="17049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485875" y="1283950"/>
            <a:ext cx="8183700" cy="121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HTML5 Input Types</a:t>
            </a:r>
            <a:endParaRPr sz="3500"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Element ─ &lt;input type=”color”&gt;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12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43" name="Google Shape;14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color picker is displayed for selected color. (most browsers support this already)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Ensure the input value is valid.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user experiences than textual input (User can see the color by selection).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01" y="2241625"/>
            <a:ext cx="8049651" cy="765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8325" y="3242070"/>
            <a:ext cx="1876625" cy="17743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Element ─ &lt;input type=”date”&gt;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13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the user to enter a date in the form yyyy-mm-dd.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text field, user can enter a date such as 2012-01-27.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spinner control—a text field with an up-down arrow () on the right side—allowing the user to select a date by clicking the up or down arrow.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start date is the local and current date.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49064"/>
            <a:ext cx="4882525" cy="1407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725" y="4162125"/>
            <a:ext cx="3959550" cy="8799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8600" y="2308101"/>
            <a:ext cx="2475676" cy="17576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224" y="4275100"/>
            <a:ext cx="4000200" cy="766925"/>
          </a:xfrm>
          <a:prstGeom prst="rect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Input Element ─ &lt;input type=”datetime-local”&gt;</a:t>
            </a:r>
            <a:endParaRPr sz="2800" dirty="0"/>
          </a:p>
        </p:txBody>
      </p:sp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2"/>
                </a:solidFill>
              </a:rPr>
              <a:t>14</a:t>
            </a:fld>
            <a:endParaRPr>
              <a:solidFill>
                <a:schemeClr val="lt2"/>
              </a:solidFill>
            </a:endParaRPr>
          </a:p>
        </p:txBody>
      </p:sp>
      <p:sp>
        <p:nvSpPr>
          <p:cNvPr id="163" name="Google Shape;16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the user to enter the date and time in a single control.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data is entered as year, month, day, hour, minute, second and fraction of a second.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date time is the local timezone.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875" y="2221200"/>
            <a:ext cx="7184601" cy="8180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550" y="3242075"/>
            <a:ext cx="2733925" cy="174022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type=”month”&gt;</a:t>
            </a:r>
            <a:endParaRPr sz="2900"/>
          </a:p>
        </p:txBody>
      </p:sp>
      <p:sp>
        <p:nvSpPr>
          <p:cNvPr id="171" name="Google Shape;171;p2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400" y="1415225"/>
            <a:ext cx="6257925" cy="8477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2051" y="2532650"/>
            <a:ext cx="3598775" cy="21561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type=”week”&gt;</a:t>
            </a:r>
            <a:endParaRPr sz="2900"/>
          </a:p>
        </p:txBody>
      </p:sp>
      <p:sp>
        <p:nvSpPr>
          <p:cNvPr id="179" name="Google Shape;179;p2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800" y="1366625"/>
            <a:ext cx="6010275" cy="866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800" y="2369600"/>
            <a:ext cx="2864565" cy="26053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type=”email”&gt;</a:t>
            </a:r>
            <a:endParaRPr sz="2900"/>
          </a:p>
        </p:txBody>
      </p:sp>
      <p:sp>
        <p:nvSpPr>
          <p:cNvPr id="187" name="Google Shape;187;p2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the user to enter an e-mail address.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list of e-mail addresses separated by commas (if the </a:t>
            </a:r>
            <a:r>
              <a:rPr lang="en" b="1" i="1">
                <a:solidFill>
                  <a:srgbClr val="0000FF"/>
                </a:solidFill>
              </a:rPr>
              <a:t>multiple</a:t>
            </a:r>
            <a:r>
              <a:rPr lang="en"/>
              <a:t> attribute is specified).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 text field appearance, browsers do implement validation check of input when submit button is clicked. (Validation only, no verification).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bypass the validation, add </a:t>
            </a:r>
            <a:r>
              <a:rPr lang="en" b="1" i="1">
                <a:solidFill>
                  <a:srgbClr val="0000FF"/>
                </a:solidFill>
              </a:rPr>
              <a:t>formnovalidate</a:t>
            </a:r>
            <a:r>
              <a:rPr lang="en"/>
              <a:t> attribute in submit input element.</a:t>
            </a:r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20064"/>
            <a:ext cx="8626100" cy="9817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0" name="Google Shape;19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3100" y="3904797"/>
            <a:ext cx="4460575" cy="117755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type=”number”&gt;</a:t>
            </a:r>
            <a:endParaRPr sz="2900"/>
          </a:p>
        </p:txBody>
      </p:sp>
      <p:sp>
        <p:nvSpPr>
          <p:cNvPr id="196" name="Google Shape;196;p3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the user to enter a numerical value—mobile browsers typically display a numeric keypad for this input type.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min/max</a:t>
            </a:r>
            <a:r>
              <a:rPr lang="en"/>
              <a:t> attribute sets the minimum/maximum valid number.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step</a:t>
            </a:r>
            <a:r>
              <a:rPr lang="en"/>
              <a:t> attribute determines the increment.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value</a:t>
            </a:r>
            <a:r>
              <a:rPr lang="en"/>
              <a:t> attribute sets the initial value.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validation check is conducted when clicking submit button.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An Example of &lt;input type=”number”&gt;</a:t>
            </a:r>
            <a:endParaRPr sz="2900"/>
          </a:p>
        </p:txBody>
      </p:sp>
      <p:sp>
        <p:nvSpPr>
          <p:cNvPr id="203" name="Google Shape;203;p3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25" y="1329376"/>
            <a:ext cx="8337876" cy="924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5" name="Google Shape;20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7229" y="2451550"/>
            <a:ext cx="4466171" cy="22372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type=”range”&gt;</a:t>
            </a:r>
            <a:endParaRPr sz="2900"/>
          </a:p>
        </p:txBody>
      </p:sp>
      <p:sp>
        <p:nvSpPr>
          <p:cNvPr id="211" name="Google Shape;211;p3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Appears as a slider control.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min/max</a:t>
            </a:r>
            <a:r>
              <a:rPr lang="en"/>
              <a:t> attribute sets the minimum/maximum valid number.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Self-validation.</a:t>
            </a: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213" y="3755425"/>
            <a:ext cx="4486275" cy="85725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638" y="2621101"/>
            <a:ext cx="7702361" cy="8572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type=”search”&gt;</a:t>
            </a:r>
            <a:endParaRPr sz="2900"/>
          </a:p>
        </p:txBody>
      </p:sp>
      <p:sp>
        <p:nvSpPr>
          <p:cNvPr id="220" name="Google Shape;220;p3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a search field for entering a query functionally equivalent to an input of type text except for a clear feature by cross sign when any input is given.</a:t>
            </a:r>
            <a:endParaRPr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2152650"/>
            <a:ext cx="8467725" cy="838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3" name="Google Shape;22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275" y="3245863"/>
            <a:ext cx="4114800" cy="8667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type=”tel”&gt;</a:t>
            </a:r>
            <a:endParaRPr sz="2900"/>
          </a:p>
        </p:txBody>
      </p:sp>
      <p:sp>
        <p:nvSpPr>
          <p:cNvPr id="229" name="Google Shape;229;p3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30" name="Google Shape;23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Enables the user to enter a telephone number—mobile browsers typically display a keypad specific to entering phone numbers for this input type.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HTML5 does not self validate the tel input type. Using the </a:t>
            </a:r>
            <a:r>
              <a:rPr lang="en" b="1" i="1" dirty="0">
                <a:solidFill>
                  <a:srgbClr val="0000FF"/>
                </a:solidFill>
              </a:rPr>
              <a:t>pattern</a:t>
            </a:r>
            <a:r>
              <a:rPr lang="en" dirty="0"/>
              <a:t> attribute (with value of  regular expression) for the purpose.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 altLang="en-US" sz="1600" b="1" dirty="0">
                <a:solidFill>
                  <a:srgbClr val="FF0000"/>
                </a:solidFill>
              </a:rPr>
              <a:t> </a:t>
            </a:r>
            <a:r>
              <a:rPr lang="en" b="1" dirty="0">
                <a:solidFill>
                  <a:srgbClr val="FF0000"/>
                </a:solidFill>
              </a:rPr>
              <a:t>.</a:t>
            </a:r>
            <a:r>
              <a:rPr lang="en" dirty="0"/>
              <a:t> </a:t>
            </a:r>
            <a:r>
              <a:rPr lang="zh-TW" altLang="en-US" dirty="0"/>
              <a:t>  </a:t>
            </a:r>
            <a:r>
              <a:rPr lang="en" dirty="0"/>
              <a:t># Matches any single character.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>
                <a:solidFill>
                  <a:srgbClr val="FF0000"/>
                </a:solidFill>
              </a:rPr>
              <a:t>[ ]</a:t>
            </a:r>
            <a:r>
              <a:rPr lang="en" dirty="0"/>
              <a:t> # Matches a single character that is contained within the brackets.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b="1" dirty="0">
                <a:solidFill>
                  <a:srgbClr val="FF0000"/>
                </a:solidFill>
              </a:rPr>
              <a:t>( )</a:t>
            </a:r>
            <a:r>
              <a:rPr lang="zh-TW" altLang="en-US" dirty="0"/>
              <a:t> </a:t>
            </a:r>
            <a:r>
              <a:rPr lang="en" dirty="0"/>
              <a:t># Groups expressions to assist in alternation and back referencing.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" b="1" dirty="0">
                <a:solidFill>
                  <a:srgbClr val="FF0000"/>
                </a:solidFill>
              </a:rPr>
              <a:t>^</a:t>
            </a:r>
            <a:r>
              <a:rPr lang="en" dirty="0"/>
              <a:t> </a:t>
            </a:r>
            <a:r>
              <a:rPr lang="zh-TW" altLang="en-US" dirty="0"/>
              <a:t> </a:t>
            </a:r>
            <a:r>
              <a:rPr lang="en" dirty="0"/>
              <a:t># Matches the starting position within the string.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" b="1" dirty="0">
                <a:solidFill>
                  <a:srgbClr val="FF0000"/>
                </a:solidFill>
              </a:rPr>
              <a:t>$</a:t>
            </a:r>
            <a:r>
              <a:rPr lang="en" dirty="0"/>
              <a:t> </a:t>
            </a:r>
            <a:r>
              <a:rPr lang="zh-TW" altLang="en-US" dirty="0"/>
              <a:t> </a:t>
            </a:r>
            <a:r>
              <a:rPr lang="en" dirty="0"/>
              <a:t># Matches the ending position of the string or the position just before a string-ending newline.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u="sng" dirty="0">
                <a:solidFill>
                  <a:schemeClr val="hlink"/>
                </a:solidFill>
                <a:hlinkClick r:id="rId3"/>
              </a:rPr>
              <a:t>https://developer.mozilla.org/zh-TW/docs/Web/JavaScript/Guide/Regular_expressions</a:t>
            </a:r>
            <a:r>
              <a:rPr lang="zh-TW" altLang="en-US" u="sng" dirty="0">
                <a:solidFill>
                  <a:schemeClr val="hlink"/>
                </a:solidFill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An Example of &lt;input type=”tel”&gt;</a:t>
            </a:r>
            <a:endParaRPr sz="2900"/>
          </a:p>
        </p:txBody>
      </p:sp>
      <p:sp>
        <p:nvSpPr>
          <p:cNvPr id="236" name="Google Shape;236;p3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37" name="Google Shape;2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00" y="1488125"/>
            <a:ext cx="8839199" cy="96046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8" name="Google Shape;23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600" y="2762993"/>
            <a:ext cx="5867400" cy="15525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Input Element ─ &lt;input type=”url”&gt;</a:t>
            </a:r>
            <a:endParaRPr sz="2900"/>
          </a:p>
        </p:txBody>
      </p:sp>
      <p:sp>
        <p:nvSpPr>
          <p:cNvPr id="244" name="Google Shape;244;p3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the user to enter a URL.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 text field appearance, browsers do implement validation check of input when submit button is clicked. (Validation only, no verification).</a:t>
            </a:r>
            <a:endParaRPr/>
          </a:p>
        </p:txBody>
      </p:sp>
      <p:pic>
        <p:nvPicPr>
          <p:cNvPr id="246" name="Google Shape;2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00" y="2486650"/>
            <a:ext cx="8311575" cy="8902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7" name="Google Shape;2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425" y="3647013"/>
            <a:ext cx="5219700" cy="1133475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Datalist Element ─ &lt;datalist&gt;</a:t>
            </a:r>
            <a:endParaRPr sz="2900"/>
          </a:p>
        </p:txBody>
      </p:sp>
      <p:sp>
        <p:nvSpPr>
          <p:cNvPr id="253" name="Google Shape;253;p3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54" name="Google Shape;254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input options and contains a set of &lt;option&gt; elements that represent the permissible or recommended options available to choose from.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Paired with &lt;input&gt; element.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value of </a:t>
            </a:r>
            <a:r>
              <a:rPr lang="en" b="1" i="1">
                <a:solidFill>
                  <a:srgbClr val="0000FF"/>
                </a:solidFill>
              </a:rPr>
              <a:t>list</a:t>
            </a:r>
            <a:r>
              <a:rPr lang="en"/>
              <a:t> attribute of input element should be identical to the value of </a:t>
            </a:r>
            <a:r>
              <a:rPr lang="en" b="1" i="1">
                <a:solidFill>
                  <a:srgbClr val="0000FF"/>
                </a:solidFill>
              </a:rPr>
              <a:t>id</a:t>
            </a:r>
            <a:r>
              <a:rPr lang="en"/>
              <a:t> attribute of datalist element.</a:t>
            </a:r>
            <a:endParaRPr/>
          </a:p>
        </p:txBody>
      </p:sp>
      <p:pic>
        <p:nvPicPr>
          <p:cNvPr id="255" name="Google Shape;25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50" y="2830250"/>
            <a:ext cx="3788550" cy="20320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6" name="Google Shape;25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830250"/>
            <a:ext cx="4137625" cy="19286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File Upload Element ─ &lt;input type=”file”&gt;</a:t>
            </a:r>
            <a:endParaRPr sz="2900"/>
          </a:p>
        </p:txBody>
      </p:sp>
      <p:sp>
        <p:nvSpPr>
          <p:cNvPr id="262" name="Google Shape;262;p3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63" name="Google Shape;263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the user choose one or more files from their device storage.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accept</a:t>
            </a:r>
            <a:r>
              <a:rPr lang="en"/>
              <a:t> attribute defines the file types the input should accept. comma-separated list for multiple types are allowed.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 b="1" i="1">
                <a:solidFill>
                  <a:srgbClr val="0000FF"/>
                </a:solidFill>
              </a:rPr>
              <a:t>capture</a:t>
            </a:r>
            <a:r>
              <a:rPr lang="en"/>
              <a:t> attribute value is a string that specifies which camera to use for capture of image or video data.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value of user indicates that the user-facing camera and/or microphone should be used.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value of environment specifies that the outward-facing camera and/or microphone should be used.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</a:t>
            </a:r>
            <a:r>
              <a:rPr lang="en" b="1" i="1">
                <a:solidFill>
                  <a:srgbClr val="0000FF"/>
                </a:solidFill>
              </a:rPr>
              <a:t>multiple</a:t>
            </a:r>
            <a:r>
              <a:rPr lang="en"/>
              <a:t> Boolean attribute is specified, the file input allows the user to select more than one file.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An Example of File Upload Element</a:t>
            </a:r>
            <a:endParaRPr sz="2900"/>
          </a:p>
        </p:txBody>
      </p:sp>
      <p:sp>
        <p:nvSpPr>
          <p:cNvPr id="269" name="Google Shape;269;p3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70" name="Google Shape;2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00" y="1683904"/>
            <a:ext cx="8520601" cy="111999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1" name="Google Shape;27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100" y="3276950"/>
            <a:ext cx="1447800" cy="9906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2" name="Google Shape;27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3800" y="3276950"/>
            <a:ext cx="3419475" cy="7620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 Yourself ─ Form Input Practices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279" name="Google Shape;27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around more input types and corresponding attributes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 and multiple choices.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https://developer.mozilla.org/en-US/docs/Web/HTML/Reference/Elements/input</a:t>
            </a:r>
            <a:r>
              <a:rPr lang="en"/>
              <a:t> 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Drop down list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https://developer.mozilla.org/en-US/docs/Web/HTML/Reference/Elements/select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285" name="Google Shape;285;p4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286" name="Google Shape;2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2075" y="1678825"/>
            <a:ext cx="4156800" cy="26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1529</Words>
  <Application>Microsoft Office PowerPoint</Application>
  <PresentationFormat>如螢幕大小 (16:9)</PresentationFormat>
  <Paragraphs>159</Paragraphs>
  <Slides>29</Slides>
  <Notes>29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3" baseType="lpstr">
      <vt:lpstr>Raleway</vt:lpstr>
      <vt:lpstr>Arial</vt:lpstr>
      <vt:lpstr>Source Sans Pro</vt:lpstr>
      <vt:lpstr>Plum</vt:lpstr>
      <vt:lpstr>HTML5 Advanced Topics</vt:lpstr>
      <vt:lpstr>Outlines</vt:lpstr>
      <vt:lpstr>Information Collection Element ─ &lt;form&gt;</vt:lpstr>
      <vt:lpstr>GET vs POST Method Comparisons</vt:lpstr>
      <vt:lpstr>An Example of &lt;form method=”dialog”&gt;</vt:lpstr>
      <vt:lpstr>Accept Data Element ─ &lt;input&gt; </vt:lpstr>
      <vt:lpstr>Text Input Element ─ &lt;input type=”text”&gt; </vt:lpstr>
      <vt:lpstr>Input Caption Element ─ &lt;label&gt; </vt:lpstr>
      <vt:lpstr>Form Submission and Reset Types </vt:lpstr>
      <vt:lpstr>An Example of Text Input Form </vt:lpstr>
      <vt:lpstr>HTML5 Input Types</vt:lpstr>
      <vt:lpstr>Input Element ─ &lt;input type=”color”&gt; </vt:lpstr>
      <vt:lpstr>Input Element ─ &lt;input type=”date”&gt; </vt:lpstr>
      <vt:lpstr>Input Element ─ &lt;input type=”datetime-local”&gt;</vt:lpstr>
      <vt:lpstr>Input Element ─ &lt;input type=”month”&gt;</vt:lpstr>
      <vt:lpstr>Input Element ─ &lt;input type=”week”&gt;</vt:lpstr>
      <vt:lpstr>Input Element ─ &lt;input type=”email”&gt;</vt:lpstr>
      <vt:lpstr>Input Element ─ &lt;input type=”number”&gt;</vt:lpstr>
      <vt:lpstr>An Example of &lt;input type=”number”&gt;</vt:lpstr>
      <vt:lpstr>Input Element ─ &lt;input type=”range”&gt;</vt:lpstr>
      <vt:lpstr>Input Element ─ &lt;input type=”search”&gt;</vt:lpstr>
      <vt:lpstr>Input Element ─ &lt;input type=”tel”&gt;</vt:lpstr>
      <vt:lpstr>An Example of &lt;input type=”tel”&gt;</vt:lpstr>
      <vt:lpstr>Input Element ─ &lt;input type=”url”&gt;</vt:lpstr>
      <vt:lpstr>Datalist Element ─ &lt;datalist&gt;</vt:lpstr>
      <vt:lpstr>File Upload Element ─ &lt;input type=”file”&gt;</vt:lpstr>
      <vt:lpstr>An Example of File Upload Element</vt:lpstr>
      <vt:lpstr>Try it Yourself ─ Form Input Practices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Advanced Topics</dc:title>
  <cp:lastModifiedBy>LanCi-Wei</cp:lastModifiedBy>
  <cp:revision>3</cp:revision>
  <dcterms:modified xsi:type="dcterms:W3CDTF">2026-09-14T11:35:30Z</dcterms:modified>
</cp:coreProperties>
</file>