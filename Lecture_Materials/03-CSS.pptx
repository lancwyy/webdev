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10.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48.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2.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1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63.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1.xml"/>
  <Override ContentType="application/vnd.openxmlformats-officedocument.presentationml.slide+xml" PartName="/ppt/slides/slide110.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Lst>
  <p:sldSz cy="5143500" cx="9144000"/>
  <p:notesSz cx="6858000" cy="9144000"/>
  <p:embeddedFontLst>
    <p:embeddedFont>
      <p:font typeface="Raleway"/>
      <p:regular r:id="rId119"/>
      <p:bold r:id="rId120"/>
      <p:italic r:id="rId121"/>
      <p:boldItalic r:id="rId122"/>
    </p:embeddedFont>
    <p:embeddedFont>
      <p:font typeface="Roboto"/>
      <p:regular r:id="rId123"/>
      <p:bold r:id="rId124"/>
      <p:italic r:id="rId125"/>
      <p:boldItalic r:id="rId1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1A03D88-5CAB-4523-A037-8932B7E51F44}">
  <a:tblStyle styleId="{E1A03D88-5CAB-4523-A037-8932B7E51F4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6" Type="http://schemas.openxmlformats.org/officeDocument/2006/relationships/font" Target="fonts/Roboto-boldItalic.fntdata"/><Relationship Id="rId26" Type="http://schemas.openxmlformats.org/officeDocument/2006/relationships/slide" Target="slides/slide20.xml"/><Relationship Id="rId121" Type="http://schemas.openxmlformats.org/officeDocument/2006/relationships/font" Target="fonts/Raleway-italic.fntdata"/><Relationship Id="rId25" Type="http://schemas.openxmlformats.org/officeDocument/2006/relationships/slide" Target="slides/slide19.xml"/><Relationship Id="rId120" Type="http://schemas.openxmlformats.org/officeDocument/2006/relationships/font" Target="fonts/Raleway-bold.fntdata"/><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font" Target="fonts/Roboto-italic.fntdata"/><Relationship Id="rId29" Type="http://schemas.openxmlformats.org/officeDocument/2006/relationships/slide" Target="slides/slide23.xml"/><Relationship Id="rId124" Type="http://schemas.openxmlformats.org/officeDocument/2006/relationships/font" Target="fonts/Roboto-bold.fntdata"/><Relationship Id="rId123" Type="http://schemas.openxmlformats.org/officeDocument/2006/relationships/font" Target="fonts/Roboto-regular.fntdata"/><Relationship Id="rId122" Type="http://schemas.openxmlformats.org/officeDocument/2006/relationships/font" Target="fonts/Raleway-boldItalic.fntdata"/><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slide" Target="slides/slide112.xml"/><Relationship Id="rId117" Type="http://schemas.openxmlformats.org/officeDocument/2006/relationships/slide" Target="slides/slide111.xml"/><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font" Target="fonts/Raleway-regular.fntdata"/><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54" Type="http://schemas.openxmlformats.org/officeDocument/2006/relationships/slide" Target="slides/slide48.xml"/><Relationship Id="rId57" Type="http://schemas.openxmlformats.org/officeDocument/2006/relationships/slide" Target="slides/slide51.xml"/><Relationship Id="rId56" Type="http://schemas.openxmlformats.org/officeDocument/2006/relationships/slide" Target="slides/slide50.xml"/><Relationship Id="rId59" Type="http://schemas.openxmlformats.org/officeDocument/2006/relationships/slide" Target="slides/slide53.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gc6f9544c1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gc6f9544c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c6f9544c1_0_5: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c6f9544c1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f0f6b439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f0f6b439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60c41def_0_9: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e560c41def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e560c41def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e560c41def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47a339254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47a339254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ed399e5d20_0_7: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ed399e5d20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f47a339254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f47a339254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344209e22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344209e2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f47a339254_0_23: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f47a339254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f47a339254_0_32: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f47a339254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f47a339254_0_6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f47a339254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f4f1e32216_0_99: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3f4f1e32216_0_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f47a339254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f47a339254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f47a339254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f47a339254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f47a339254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f47a339254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f47a339254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f47a339254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f47a339254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f47a339254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f47a339254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f47a339254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47a339254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47a339254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f47a339254_0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f47a339254_0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f47a339254_0_1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f47a339254_0_1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f47a339254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f47a339254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f47a339254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f47a339254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f47a339254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f47a339254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f47a339254_0_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f47a339254_0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3f4acad7f5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3f4acad7f5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f4acad7f5e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f4acad7f5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f4acad7f5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f4acad7f5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f4acad7f5e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f4acad7f5e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f4acad7f5e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f4acad7f5e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f4acad7f5e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f4acad7f5e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f4acad7f5e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f4acad7f5e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f4acad7f5e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f4acad7f5e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f4acad7f5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f4acad7f5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f4acad7f5e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1" name="Google Shape;331;g3f4acad7f5e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3f4acad7f5e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8" name="Google Shape;338;g3f4acad7f5e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g3f4acad7f5e_0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7" name="Google Shape;347;g3f4acad7f5e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f4acad7f5e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6" name="Google Shape;356;g3f4acad7f5e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f4acad7f5e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5" name="Google Shape;365;g3f4acad7f5e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f4acad7f5e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4" name="Google Shape;374;g3f4acad7f5e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f4acad7f5e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f4acad7f5e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f4acad7f5e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2" name="Google Shape;392;g3f4acad7f5e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g3f4acad7f5e_0_1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1" name="Google Shape;401;g3f4acad7f5e_0_1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f47a339254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8" name="Google Shape;408;g3f47a339254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g3f4acad7f5e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4" name="Google Shape;414;g3f4acad7f5e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f4acad7f5e_0_2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2" name="Google Shape;422;g3f4acad7f5e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3f4acad7f5e_0_2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9" name="Google Shape;429;g3f4acad7f5e_0_2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f4acad7f5e_0_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3f4acad7f5e_0_2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g3f4acad7f5e_0_2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4" name="Google Shape;444;g3f4acad7f5e_0_2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g3f4acad7f5e_0_2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1" name="Google Shape;451;g3f4acad7f5e_0_2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3f4f1e32216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8" name="Google Shape;458;g3f4f1e32216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f4acad7f5e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f4acad7f5e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g3f4acad7f5e_0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1" name="Google Shape;471;g3f4acad7f5e_0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f8054402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3f8054402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3f8054402bb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5" name="Google Shape;485;g3f8054402bb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g3f8054402bb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2" name="Google Shape;492;g3f8054402b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g3f4f1e3221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1" name="Google Shape;501;g3f4f1e3221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f8054402bb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f8054402bb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f4f1e32216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5" name="Google Shape;515;g3f4f1e32216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f4acad7f5e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f4acad7f5e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g3f4acad7f5e_0_1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8" name="Google Shape;528;g3f4acad7f5e_0_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g3f4f1e32216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5" name="Google Shape;535;g3f4f1e32216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f4f1e32216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8" name="Google Shape;548;g3f4f1e32216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f4f1e32216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5" name="Google Shape;555;g3f4f1e32216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3f4f1e32216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3" name="Google Shape;563;g3f4f1e32216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g3f4f1e32216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0" name="Google Shape;570;g3f4f1e32216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g3f4f1e32216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7" name="Google Shape;577;g3f4f1e32216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f4f1e3221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4" name="Google Shape;584;g3f4f1e3221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f4acad7f5e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1" name="Google Shape;591;g3f4acad7f5e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g3f0f6b439ea_0_124: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97" name="Google Shape;597;g3f0f6b439ea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g3f4f1e32216_0_134: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04" name="Google Shape;604;g3f4f1e32216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g3f4f1e32216_0_14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11" name="Google Shape;611;g3f4f1e32216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g3f4f1e32216_0_146: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18" name="Google Shape;618;g3f4f1e32216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g3f4f1e32216_0_152: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25" name="Google Shape;625;g3f4f1e32216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f4f1e32216_0_158: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32" name="Google Shape;632;g3f4f1e32216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g3f4acad7f5e_0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9" name="Google Shape;639;g3f4acad7f5e_0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g3f4acad7f5e_0_1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5" name="Google Shape;645;g3f4acad7f5e_0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3f4f1e32216_0_1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2" name="Google Shape;652;g3f4f1e32216_0_1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7" name="Shape 657"/>
        <p:cNvGrpSpPr/>
        <p:nvPr/>
      </p:nvGrpSpPr>
      <p:grpSpPr>
        <a:xfrm>
          <a:off x="0" y="0"/>
          <a:ext cx="0" cy="0"/>
          <a:chOff x="0" y="0"/>
          <a:chExt cx="0" cy="0"/>
        </a:xfrm>
      </p:grpSpPr>
      <p:sp>
        <p:nvSpPr>
          <p:cNvPr id="658" name="Google Shape;658;g3f4acad7f5e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9" name="Google Shape;659;g3f4acad7f5e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3" name="Shape 663"/>
        <p:cNvGrpSpPr/>
        <p:nvPr/>
      </p:nvGrpSpPr>
      <p:grpSpPr>
        <a:xfrm>
          <a:off x="0" y="0"/>
          <a:ext cx="0" cy="0"/>
          <a:chOff x="0" y="0"/>
          <a:chExt cx="0" cy="0"/>
        </a:xfrm>
      </p:grpSpPr>
      <p:sp>
        <p:nvSpPr>
          <p:cNvPr id="664" name="Google Shape;664;g3f4acad7f5e_0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5" name="Google Shape;665;g3f4acad7f5e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g3f51af54259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2" name="Google Shape;672;g3f51af54259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f51af54259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9" name="Google Shape;679;g3f51af54259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g3f51af54259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7" name="Google Shape;687;g3f51af54259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3f51af54259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3f51af54259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g3f51af54259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5" name="Google Shape;705;g3f51af54259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g3f51af54259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5" name="Google Shape;715;g3f51af54259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g3f51af54259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5" name="Google Shape;725;g3f51af54259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f51af54259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3f51af54259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g3f51af54259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2" name="Google Shape;742;g3f51af54259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9" name="Shape 749"/>
        <p:cNvGrpSpPr/>
        <p:nvPr/>
      </p:nvGrpSpPr>
      <p:grpSpPr>
        <a:xfrm>
          <a:off x="0" y="0"/>
          <a:ext cx="0" cy="0"/>
          <a:chOff x="0" y="0"/>
          <a:chExt cx="0" cy="0"/>
        </a:xfrm>
      </p:grpSpPr>
      <p:sp>
        <p:nvSpPr>
          <p:cNvPr id="750" name="Google Shape;750;g3f51af54259_0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1" name="Google Shape;751;g3f51af54259_0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3f529123d9c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0" name="Google Shape;760;g3f529123d9c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f529123d9c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3f529123d9c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g3f529123d9c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7" name="Google Shape;777;g3f529123d9c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3f529123d9c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3f529123d9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g3f529123d9c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2" name="Google Shape;792;g3f529123d9c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3f529123d9c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3f529123d9c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f529123d9c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0" name="Google Shape;810;g3f529123d9c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g3f529123d9c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7" name="Google Shape;817;g3f529123d9c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g3f529123d9c_0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6" name="Google Shape;826;g3f529123d9c_0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g3f4acad7f5e_0_2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g3f4acad7f5e_0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g3f4acad7f5e_0_2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9" name="Google Shape;839;g3f4acad7f5e_0_2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g3f529123d9c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7" name="Google Shape;847;g3f529123d9c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3f529123d9c_0_1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5" name="Google Shape;855;g3f529123d9c_0_1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2" name="Shape 862"/>
        <p:cNvGrpSpPr/>
        <p:nvPr/>
      </p:nvGrpSpPr>
      <p:grpSpPr>
        <a:xfrm>
          <a:off x="0" y="0"/>
          <a:ext cx="0" cy="0"/>
          <a:chOff x="0" y="0"/>
          <a:chExt cx="0" cy="0"/>
        </a:xfrm>
      </p:grpSpPr>
      <p:sp>
        <p:nvSpPr>
          <p:cNvPr id="863" name="Google Shape;863;g3f529123d9c_0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4" name="Google Shape;864;g3f529123d9c_0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3f4acad7f5e_0_1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3f4acad7f5e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g3f6fa45770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8" name="Google Shape;878;g3f6fa45770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g3f6fa45770b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5" name="Google Shape;885;g3f6fa45770b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0" name="Shape 890"/>
        <p:cNvGrpSpPr/>
        <p:nvPr/>
      </p:nvGrpSpPr>
      <p:grpSpPr>
        <a:xfrm>
          <a:off x="0" y="0"/>
          <a:ext cx="0" cy="0"/>
          <a:chOff x="0" y="0"/>
          <a:chExt cx="0" cy="0"/>
        </a:xfrm>
      </p:grpSpPr>
      <p:sp>
        <p:nvSpPr>
          <p:cNvPr id="891" name="Google Shape;891;g3f6fa45770b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2" name="Google Shape;892;g3f6fa45770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7" name="Shape 897"/>
        <p:cNvGrpSpPr/>
        <p:nvPr/>
      </p:nvGrpSpPr>
      <p:grpSpPr>
        <a:xfrm>
          <a:off x="0" y="0"/>
          <a:ext cx="0" cy="0"/>
          <a:chOff x="0" y="0"/>
          <a:chExt cx="0" cy="0"/>
        </a:xfrm>
      </p:grpSpPr>
      <p:sp>
        <p:nvSpPr>
          <p:cNvPr id="898" name="Google Shape;898;g3f6fa45770b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99" name="Google Shape;899;g3f6fa45770b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3f394764a7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3f394764a7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g3f0f6b439ea_0_0: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913" name="Google Shape;913;g3f0f6b439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485875" y="264475"/>
            <a:ext cx="8183700" cy="1281600"/>
          </a:xfrm>
          <a:prstGeom prst="rect">
            <a:avLst/>
          </a:prstGeom>
        </p:spPr>
        <p:txBody>
          <a:bodyPr anchorCtr="0" anchor="b"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1" name="Google Shape;11;p2"/>
          <p:cNvSpPr txBox="1"/>
          <p:nvPr>
            <p:ph idx="1" type="subTitle"/>
          </p:nvPr>
        </p:nvSpPr>
        <p:spPr>
          <a:xfrm>
            <a:off x="485875" y="1595275"/>
            <a:ext cx="8183700" cy="10038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Clr>
                <a:srgbClr val="434343"/>
              </a:buClr>
              <a:buSzPts val="2400"/>
              <a:buNone/>
              <a:defRPr sz="2400">
                <a:solidFill>
                  <a:srgbClr val="434343"/>
                </a:solidFill>
              </a:defRPr>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p:txBody>
      </p:sp>
      <p:sp>
        <p:nvSpPr>
          <p:cNvPr id="12" name="Google Shape;12;p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pic>
        <p:nvPicPr>
          <p:cNvPr id="13" name="Google Shape;13;p2" title="Gemini_Generated_Image_r9brlcr9brlcr9br.png"/>
          <p:cNvPicPr preferRelativeResize="0"/>
          <p:nvPr/>
        </p:nvPicPr>
        <p:blipFill>
          <a:blip r:embed="rId2">
            <a:alphaModFix/>
          </a:blip>
          <a:stretch>
            <a:fillRect/>
          </a:stretch>
        </p:blipFill>
        <p:spPr>
          <a:xfrm>
            <a:off x="190672" y="2684196"/>
            <a:ext cx="8680715" cy="2271762"/>
          </a:xfrm>
          <a:prstGeom prst="rect">
            <a:avLst/>
          </a:prstGeom>
          <a:solidFill>
            <a:srgbClr val="CFE2F3"/>
          </a:solid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 name="Shape 14"/>
        <p:cNvGrpSpPr/>
        <p:nvPr/>
      </p:nvGrpSpPr>
      <p:grpSpPr>
        <a:xfrm>
          <a:off x="0" y="0"/>
          <a:ext cx="0" cy="0"/>
          <a:chOff x="0" y="0"/>
          <a:chExt cx="0" cy="0"/>
        </a:xfrm>
      </p:grpSpPr>
      <p:sp>
        <p:nvSpPr>
          <p:cNvPr id="15" name="Google Shape;15;p3"/>
          <p:cNvSpPr/>
          <p:nvPr/>
        </p:nvSpPr>
        <p:spPr>
          <a:xfrm>
            <a:off x="80700" y="2651100"/>
            <a:ext cx="8982600" cy="24117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3"/>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
        <p:nvSpPr>
          <p:cNvPr id="17" name="Google Shape;17;p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0" name="Google Shape;20;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21" name="Google Shape;21;p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4" name="Google Shape;24;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5" name="Google Shape;25;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6" name="Google Shape;26;p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9" name="Google Shape;29;p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2" name="Google Shape;32;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3" name="Google Shape;33;p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rgbClr val="CFE2F3"/>
        </a:solidFill>
      </p:bgPr>
    </p:bg>
    <p:spTree>
      <p:nvGrpSpPr>
        <p:cNvPr id="34" name="Shape 34"/>
        <p:cNvGrpSpPr/>
        <p:nvPr/>
      </p:nvGrpSpPr>
      <p:grpSpPr>
        <a:xfrm>
          <a:off x="0" y="0"/>
          <a:ext cx="0" cy="0"/>
          <a:chOff x="0" y="0"/>
          <a:chExt cx="0" cy="0"/>
        </a:xfrm>
      </p:grpSpPr>
      <p:sp>
        <p:nvSpPr>
          <p:cNvPr id="35" name="Google Shape;35;p8"/>
          <p:cNvSpPr txBox="1"/>
          <p:nvPr>
            <p:ph type="title"/>
          </p:nvPr>
        </p:nvSpPr>
        <p:spPr>
          <a:xfrm>
            <a:off x="490250" y="526350"/>
            <a:ext cx="5604000" cy="4090800"/>
          </a:xfrm>
          <a:prstGeom prst="rect">
            <a:avLst/>
          </a:prstGeom>
        </p:spPr>
        <p:txBody>
          <a:bodyPr anchorCtr="0" anchor="ctr" bIns="91425" lIns="91425" spcFirstLastPara="1" rIns="91425" wrap="square" tIns="91425">
            <a:noAutofit/>
          </a:bodyPr>
          <a:lstStyle>
            <a:lvl1pPr lvl="0">
              <a:spcBef>
                <a:spcPts val="0"/>
              </a:spcBef>
              <a:spcAft>
                <a:spcPts val="0"/>
              </a:spcAft>
              <a:buClr>
                <a:srgbClr val="434343"/>
              </a:buClr>
              <a:buSzPts val="4800"/>
              <a:buNone/>
              <a:defRPr sz="4800">
                <a:solidFill>
                  <a:srgbClr val="434343"/>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6" name="Google Shape;36;p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9"/>
          <p:cNvSpPr/>
          <p:nvPr/>
        </p:nvSpPr>
        <p:spPr>
          <a:xfrm>
            <a:off x="4636800" y="80700"/>
            <a:ext cx="4426500" cy="49821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9" name="Google Shape;39;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0" name="Google Shape;40;p9"/>
          <p:cNvSpPr txBox="1"/>
          <p:nvPr>
            <p:ph type="title"/>
          </p:nvPr>
        </p:nvSpPr>
        <p:spPr>
          <a:xfrm>
            <a:off x="265500" y="1181700"/>
            <a:ext cx="4045200" cy="1533600"/>
          </a:xfrm>
          <a:prstGeom prst="rect">
            <a:avLst/>
          </a:prstGeom>
        </p:spPr>
        <p:txBody>
          <a:bodyPr anchorCtr="0" anchor="b" bIns="91425" lIns="91425" spcFirstLastPara="1" rIns="91425" wrap="square" tIns="91425">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41" name="Google Shape;41;p9"/>
          <p:cNvSpPr txBox="1"/>
          <p:nvPr>
            <p:ph idx="1" type="subTitle"/>
          </p:nvPr>
        </p:nvSpPr>
        <p:spPr>
          <a:xfrm>
            <a:off x="265500" y="27690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2" name="Google Shape;42;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rgbClr val="434343"/>
              </a:buClr>
              <a:buSzPts val="1800"/>
              <a:buChar char="●"/>
              <a:defRPr>
                <a:solidFill>
                  <a:srgbClr val="434343"/>
                </a:solidFill>
              </a:defRPr>
            </a:lvl1pPr>
            <a:lvl2pPr indent="-317500" lvl="1" marL="914400">
              <a:spcBef>
                <a:spcPts val="1600"/>
              </a:spcBef>
              <a:spcAft>
                <a:spcPts val="0"/>
              </a:spcAft>
              <a:buClr>
                <a:srgbClr val="434343"/>
              </a:buClr>
              <a:buSzPts val="1400"/>
              <a:buChar char="○"/>
              <a:defRPr>
                <a:solidFill>
                  <a:srgbClr val="434343"/>
                </a:solidFill>
              </a:defRPr>
            </a:lvl2pPr>
            <a:lvl3pPr indent="-317500" lvl="2" marL="1371600">
              <a:spcBef>
                <a:spcPts val="1600"/>
              </a:spcBef>
              <a:spcAft>
                <a:spcPts val="0"/>
              </a:spcAft>
              <a:buClr>
                <a:srgbClr val="434343"/>
              </a:buClr>
              <a:buSzPts val="1400"/>
              <a:buChar char="■"/>
              <a:defRPr>
                <a:solidFill>
                  <a:srgbClr val="434343"/>
                </a:solidFill>
              </a:defRPr>
            </a:lvl3pPr>
            <a:lvl4pPr indent="-317500" lvl="3" marL="1828800">
              <a:spcBef>
                <a:spcPts val="1600"/>
              </a:spcBef>
              <a:spcAft>
                <a:spcPts val="0"/>
              </a:spcAft>
              <a:buClr>
                <a:srgbClr val="434343"/>
              </a:buClr>
              <a:buSzPts val="1400"/>
              <a:buChar char="●"/>
              <a:defRPr>
                <a:solidFill>
                  <a:srgbClr val="434343"/>
                </a:solidFill>
              </a:defRPr>
            </a:lvl4pPr>
            <a:lvl5pPr indent="-317500" lvl="4" marL="2286000">
              <a:spcBef>
                <a:spcPts val="1600"/>
              </a:spcBef>
              <a:spcAft>
                <a:spcPts val="0"/>
              </a:spcAft>
              <a:buClr>
                <a:srgbClr val="434343"/>
              </a:buClr>
              <a:buSzPts val="1400"/>
              <a:buChar char="○"/>
              <a:defRPr>
                <a:solidFill>
                  <a:srgbClr val="434343"/>
                </a:solidFill>
              </a:defRPr>
            </a:lvl5pPr>
            <a:lvl6pPr indent="-317500" lvl="5" marL="2743200">
              <a:spcBef>
                <a:spcPts val="1600"/>
              </a:spcBef>
              <a:spcAft>
                <a:spcPts val="0"/>
              </a:spcAft>
              <a:buClr>
                <a:srgbClr val="434343"/>
              </a:buClr>
              <a:buSzPts val="1400"/>
              <a:buChar char="■"/>
              <a:defRPr>
                <a:solidFill>
                  <a:srgbClr val="434343"/>
                </a:solidFill>
              </a:defRPr>
            </a:lvl6pPr>
            <a:lvl7pPr indent="-317500" lvl="6" marL="3200400">
              <a:spcBef>
                <a:spcPts val="1600"/>
              </a:spcBef>
              <a:spcAft>
                <a:spcPts val="0"/>
              </a:spcAft>
              <a:buClr>
                <a:srgbClr val="434343"/>
              </a:buClr>
              <a:buSzPts val="1400"/>
              <a:buChar char="●"/>
              <a:defRPr>
                <a:solidFill>
                  <a:srgbClr val="434343"/>
                </a:solidFill>
              </a:defRPr>
            </a:lvl7pPr>
            <a:lvl8pPr indent="-317500" lvl="7" marL="3657600">
              <a:spcBef>
                <a:spcPts val="1600"/>
              </a:spcBef>
              <a:spcAft>
                <a:spcPts val="0"/>
              </a:spcAft>
              <a:buClr>
                <a:srgbClr val="434343"/>
              </a:buClr>
              <a:buSzPts val="1400"/>
              <a:buChar char="○"/>
              <a:defRPr>
                <a:solidFill>
                  <a:srgbClr val="434343"/>
                </a:solidFill>
              </a:defRPr>
            </a:lvl8pPr>
            <a:lvl9pPr indent="-317500" lvl="8" marL="4114800">
              <a:spcBef>
                <a:spcPts val="1600"/>
              </a:spcBef>
              <a:spcAft>
                <a:spcPts val="1600"/>
              </a:spcAft>
              <a:buClr>
                <a:srgbClr val="434343"/>
              </a:buClr>
              <a:buSzPts val="1400"/>
              <a:buChar char="■"/>
              <a:defRPr>
                <a:solidFill>
                  <a:srgbClr val="434343"/>
                </a:solidFill>
              </a:defRPr>
            </a:lvl9pPr>
          </a:lstStyle>
          <a:p/>
        </p:txBody>
      </p:sp>
      <p:sp>
        <p:nvSpPr>
          <p:cNvPr id="43" name="Google Shape;43;p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4" name="Shape 44"/>
        <p:cNvGrpSpPr/>
        <p:nvPr/>
      </p:nvGrpSpPr>
      <p:grpSpPr>
        <a:xfrm>
          <a:off x="0" y="0"/>
          <a:ext cx="0" cy="0"/>
          <a:chOff x="0" y="0"/>
          <a:chExt cx="0" cy="0"/>
        </a:xfrm>
      </p:grpSpPr>
      <p:sp>
        <p:nvSpPr>
          <p:cNvPr id="45" name="Google Shape;45;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100"/>
              <a:buNone/>
              <a:defRPr sz="2100"/>
            </a:lvl1pPr>
          </a:lstStyle>
          <a:p/>
        </p:txBody>
      </p:sp>
      <p:sp>
        <p:nvSpPr>
          <p:cNvPr id="46" name="Google Shape;46;p1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7" name="Shape 47"/>
        <p:cNvGrpSpPr/>
        <p:nvPr/>
      </p:nvGrpSpPr>
      <p:grpSpPr>
        <a:xfrm>
          <a:off x="0" y="0"/>
          <a:ext cx="0" cy="0"/>
          <a:chOff x="0" y="0"/>
          <a:chExt cx="0" cy="0"/>
        </a:xfrm>
      </p:grpSpPr>
      <p:sp>
        <p:nvSpPr>
          <p:cNvPr id="48" name="Google Shape;48;p11"/>
          <p:cNvSpPr/>
          <p:nvPr/>
        </p:nvSpPr>
        <p:spPr>
          <a:xfrm>
            <a:off x="80700" y="2651100"/>
            <a:ext cx="8982600" cy="2411700"/>
          </a:xfrm>
          <a:prstGeom prst="rect">
            <a:avLst/>
          </a:prstGeom>
          <a:solidFill>
            <a:srgbClr val="CFE2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11"/>
          <p:cNvSpPr txBox="1"/>
          <p:nvPr>
            <p:ph hasCustomPrompt="1" type="title"/>
          </p:nvPr>
        </p:nvSpPr>
        <p:spPr>
          <a:xfrm>
            <a:off x="311700" y="743001"/>
            <a:ext cx="8520600" cy="20064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Font typeface="Source Sans Pro"/>
              <a:buNone/>
              <a:defRPr sz="12000">
                <a:latin typeface="Source Sans Pro"/>
                <a:ea typeface="Source Sans Pro"/>
                <a:cs typeface="Source Sans Pro"/>
                <a:sym typeface="Source Sans Pro"/>
              </a:defRPr>
            </a:lvl1pPr>
            <a:lvl2pPr lvl="1" algn="ctr">
              <a:spcBef>
                <a:spcPts val="0"/>
              </a:spcBef>
              <a:spcAft>
                <a:spcPts val="0"/>
              </a:spcAft>
              <a:buSzPts val="12000"/>
              <a:buFont typeface="Source Sans Pro"/>
              <a:buNone/>
              <a:defRPr sz="12000">
                <a:latin typeface="Source Sans Pro"/>
                <a:ea typeface="Source Sans Pro"/>
                <a:cs typeface="Source Sans Pro"/>
                <a:sym typeface="Source Sans Pro"/>
              </a:defRPr>
            </a:lvl2pPr>
            <a:lvl3pPr lvl="2" algn="ctr">
              <a:spcBef>
                <a:spcPts val="0"/>
              </a:spcBef>
              <a:spcAft>
                <a:spcPts val="0"/>
              </a:spcAft>
              <a:buSzPts val="12000"/>
              <a:buFont typeface="Source Sans Pro"/>
              <a:buNone/>
              <a:defRPr sz="12000">
                <a:latin typeface="Source Sans Pro"/>
                <a:ea typeface="Source Sans Pro"/>
                <a:cs typeface="Source Sans Pro"/>
                <a:sym typeface="Source Sans Pro"/>
              </a:defRPr>
            </a:lvl3pPr>
            <a:lvl4pPr lvl="3" algn="ctr">
              <a:spcBef>
                <a:spcPts val="0"/>
              </a:spcBef>
              <a:spcAft>
                <a:spcPts val="0"/>
              </a:spcAft>
              <a:buSzPts val="12000"/>
              <a:buFont typeface="Source Sans Pro"/>
              <a:buNone/>
              <a:defRPr sz="12000">
                <a:latin typeface="Source Sans Pro"/>
                <a:ea typeface="Source Sans Pro"/>
                <a:cs typeface="Source Sans Pro"/>
                <a:sym typeface="Source Sans Pro"/>
              </a:defRPr>
            </a:lvl4pPr>
            <a:lvl5pPr lvl="4" algn="ctr">
              <a:spcBef>
                <a:spcPts val="0"/>
              </a:spcBef>
              <a:spcAft>
                <a:spcPts val="0"/>
              </a:spcAft>
              <a:buSzPts val="12000"/>
              <a:buFont typeface="Source Sans Pro"/>
              <a:buNone/>
              <a:defRPr sz="12000">
                <a:latin typeface="Source Sans Pro"/>
                <a:ea typeface="Source Sans Pro"/>
                <a:cs typeface="Source Sans Pro"/>
                <a:sym typeface="Source Sans Pro"/>
              </a:defRPr>
            </a:lvl5pPr>
            <a:lvl6pPr lvl="5" algn="ctr">
              <a:spcBef>
                <a:spcPts val="0"/>
              </a:spcBef>
              <a:spcAft>
                <a:spcPts val="0"/>
              </a:spcAft>
              <a:buSzPts val="12000"/>
              <a:buFont typeface="Source Sans Pro"/>
              <a:buNone/>
              <a:defRPr sz="12000">
                <a:latin typeface="Source Sans Pro"/>
                <a:ea typeface="Source Sans Pro"/>
                <a:cs typeface="Source Sans Pro"/>
                <a:sym typeface="Source Sans Pro"/>
              </a:defRPr>
            </a:lvl6pPr>
            <a:lvl7pPr lvl="6" algn="ctr">
              <a:spcBef>
                <a:spcPts val="0"/>
              </a:spcBef>
              <a:spcAft>
                <a:spcPts val="0"/>
              </a:spcAft>
              <a:buSzPts val="12000"/>
              <a:buFont typeface="Source Sans Pro"/>
              <a:buNone/>
              <a:defRPr sz="12000">
                <a:latin typeface="Source Sans Pro"/>
                <a:ea typeface="Source Sans Pro"/>
                <a:cs typeface="Source Sans Pro"/>
                <a:sym typeface="Source Sans Pro"/>
              </a:defRPr>
            </a:lvl7pPr>
            <a:lvl8pPr lvl="7" algn="ctr">
              <a:spcBef>
                <a:spcPts val="0"/>
              </a:spcBef>
              <a:spcAft>
                <a:spcPts val="0"/>
              </a:spcAft>
              <a:buSzPts val="12000"/>
              <a:buFont typeface="Source Sans Pro"/>
              <a:buNone/>
              <a:defRPr sz="12000">
                <a:latin typeface="Source Sans Pro"/>
                <a:ea typeface="Source Sans Pro"/>
                <a:cs typeface="Source Sans Pro"/>
                <a:sym typeface="Source Sans Pro"/>
              </a:defRPr>
            </a:lvl8pPr>
            <a:lvl9pPr lvl="8" algn="ctr">
              <a:spcBef>
                <a:spcPts val="0"/>
              </a:spcBef>
              <a:spcAft>
                <a:spcPts val="0"/>
              </a:spcAft>
              <a:buSzPts val="12000"/>
              <a:buFont typeface="Source Sans Pro"/>
              <a:buNone/>
              <a:defRPr sz="12000">
                <a:latin typeface="Source Sans Pro"/>
                <a:ea typeface="Source Sans Pro"/>
                <a:cs typeface="Source Sans Pro"/>
                <a:sym typeface="Source Sans Pro"/>
              </a:defRPr>
            </a:lvl9pPr>
          </a:lstStyle>
          <a:p>
            <a:r>
              <a:t>xx%</a:t>
            </a:r>
          </a:p>
        </p:txBody>
      </p:sp>
      <p:sp>
        <p:nvSpPr>
          <p:cNvPr id="50" name="Google Shape;50;p11"/>
          <p:cNvSpPr txBox="1"/>
          <p:nvPr>
            <p:ph idx="1" type="body"/>
          </p:nvPr>
        </p:nvSpPr>
        <p:spPr>
          <a:xfrm>
            <a:off x="311700" y="2845182"/>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rgbClr val="434343"/>
              </a:buClr>
              <a:buSzPts val="1800"/>
              <a:buChar char="●"/>
              <a:defRPr>
                <a:solidFill>
                  <a:srgbClr val="434343"/>
                </a:solidFill>
              </a:defRPr>
            </a:lvl1pPr>
            <a:lvl2pPr indent="-317500" lvl="1" marL="914400" algn="ctr">
              <a:spcBef>
                <a:spcPts val="1600"/>
              </a:spcBef>
              <a:spcAft>
                <a:spcPts val="0"/>
              </a:spcAft>
              <a:buClr>
                <a:srgbClr val="434343"/>
              </a:buClr>
              <a:buSzPts val="1400"/>
              <a:buChar char="○"/>
              <a:defRPr>
                <a:solidFill>
                  <a:srgbClr val="434343"/>
                </a:solidFill>
              </a:defRPr>
            </a:lvl2pPr>
            <a:lvl3pPr indent="-317500" lvl="2" marL="1371600" algn="ctr">
              <a:spcBef>
                <a:spcPts val="1600"/>
              </a:spcBef>
              <a:spcAft>
                <a:spcPts val="0"/>
              </a:spcAft>
              <a:buClr>
                <a:srgbClr val="434343"/>
              </a:buClr>
              <a:buSzPts val="1400"/>
              <a:buChar char="■"/>
              <a:defRPr>
                <a:solidFill>
                  <a:srgbClr val="434343"/>
                </a:solidFill>
              </a:defRPr>
            </a:lvl3pPr>
            <a:lvl4pPr indent="-317500" lvl="3" marL="1828800" algn="ctr">
              <a:spcBef>
                <a:spcPts val="1600"/>
              </a:spcBef>
              <a:spcAft>
                <a:spcPts val="0"/>
              </a:spcAft>
              <a:buClr>
                <a:srgbClr val="434343"/>
              </a:buClr>
              <a:buSzPts val="1400"/>
              <a:buChar char="●"/>
              <a:defRPr>
                <a:solidFill>
                  <a:srgbClr val="434343"/>
                </a:solidFill>
              </a:defRPr>
            </a:lvl4pPr>
            <a:lvl5pPr indent="-317500" lvl="4" marL="2286000" algn="ctr">
              <a:spcBef>
                <a:spcPts val="1600"/>
              </a:spcBef>
              <a:spcAft>
                <a:spcPts val="0"/>
              </a:spcAft>
              <a:buClr>
                <a:srgbClr val="434343"/>
              </a:buClr>
              <a:buSzPts val="1400"/>
              <a:buChar char="○"/>
              <a:defRPr>
                <a:solidFill>
                  <a:srgbClr val="434343"/>
                </a:solidFill>
              </a:defRPr>
            </a:lvl5pPr>
            <a:lvl6pPr indent="-317500" lvl="5" marL="2743200" algn="ctr">
              <a:spcBef>
                <a:spcPts val="1600"/>
              </a:spcBef>
              <a:spcAft>
                <a:spcPts val="0"/>
              </a:spcAft>
              <a:buClr>
                <a:schemeClr val="lt1"/>
              </a:buClr>
              <a:buSzPts val="1400"/>
              <a:buChar char="■"/>
              <a:defRPr>
                <a:solidFill>
                  <a:schemeClr val="lt1"/>
                </a:solidFill>
              </a:defRPr>
            </a:lvl6pPr>
            <a:lvl7pPr indent="-317500" lvl="6" marL="3200400" algn="ctr">
              <a:spcBef>
                <a:spcPts val="1600"/>
              </a:spcBef>
              <a:spcAft>
                <a:spcPts val="0"/>
              </a:spcAft>
              <a:buClr>
                <a:schemeClr val="lt1"/>
              </a:buClr>
              <a:buSzPts val="1400"/>
              <a:buChar char="●"/>
              <a:defRPr>
                <a:solidFill>
                  <a:schemeClr val="lt1"/>
                </a:solidFill>
              </a:defRPr>
            </a:lvl7pPr>
            <a:lvl8pPr indent="-317500" lvl="7" marL="3657600" algn="ctr">
              <a:spcBef>
                <a:spcPts val="1600"/>
              </a:spcBef>
              <a:spcAft>
                <a:spcPts val="0"/>
              </a:spcAft>
              <a:buClr>
                <a:schemeClr val="lt1"/>
              </a:buClr>
              <a:buSzPts val="1400"/>
              <a:buChar char="○"/>
              <a:defRPr>
                <a:solidFill>
                  <a:schemeClr val="lt1"/>
                </a:solidFill>
              </a:defRPr>
            </a:lvl8pPr>
            <a:lvl9pPr indent="-317500" lvl="8" marL="4114800" algn="ctr">
              <a:spcBef>
                <a:spcPts val="1600"/>
              </a:spcBef>
              <a:spcAft>
                <a:spcPts val="1600"/>
              </a:spcAft>
              <a:buClr>
                <a:schemeClr val="lt1"/>
              </a:buClr>
              <a:buSzPts val="1400"/>
              <a:buChar char="■"/>
              <a:defRPr>
                <a:solidFill>
                  <a:schemeClr val="lt1"/>
                </a:solidFill>
              </a:defRPr>
            </a:lvl9pPr>
          </a:lstStyle>
          <a:p/>
        </p:txBody>
      </p:sp>
      <p:sp>
        <p:nvSpPr>
          <p:cNvPr id="51" name="Google Shape;51;p1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plum">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6234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1pPr>
            <a:lvl2pPr lvl="1">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2pPr>
            <a:lvl3pPr lvl="2">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3pPr>
            <a:lvl4pPr lvl="3">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4pPr>
            <a:lvl5pPr lvl="4">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5pPr>
            <a:lvl6pPr lvl="5">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6pPr>
            <a:lvl7pPr lvl="6">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7pPr>
            <a:lvl8pPr lvl="7">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8pPr>
            <a:lvl9pPr lvl="8">
              <a:spcBef>
                <a:spcPts val="0"/>
              </a:spcBef>
              <a:spcAft>
                <a:spcPts val="0"/>
              </a:spcAft>
              <a:buClr>
                <a:schemeClr val="dk2"/>
              </a:buClr>
              <a:buSzPts val="3000"/>
              <a:buFont typeface="Raleway"/>
              <a:buNone/>
              <a:defRPr b="1" sz="30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rgbClr val="434343"/>
              </a:buClr>
              <a:buSzPts val="1800"/>
              <a:buFont typeface="Source Sans Pro"/>
              <a:buChar char="●"/>
              <a:defRPr sz="1800">
                <a:solidFill>
                  <a:srgbClr val="434343"/>
                </a:solidFill>
                <a:latin typeface="Source Sans Pro"/>
                <a:ea typeface="Source Sans Pro"/>
                <a:cs typeface="Source Sans Pro"/>
                <a:sym typeface="Source Sans Pro"/>
              </a:defRPr>
            </a:lvl1pPr>
            <a:lvl2pPr indent="-317500" lvl="1" marL="9144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2pPr>
            <a:lvl3pPr indent="-317500" lvl="2" marL="13716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3pPr>
            <a:lvl4pPr indent="-317500" lvl="3" marL="18288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4pPr>
            <a:lvl5pPr indent="-317500" lvl="4" marL="22860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5pPr>
            <a:lvl6pPr indent="-317500" lvl="5" marL="27432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6pPr>
            <a:lvl7pPr indent="-317500" lvl="6" marL="32004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7pPr>
            <a:lvl8pPr indent="-317500" lvl="7" marL="3657600">
              <a:lnSpc>
                <a:spcPct val="115000"/>
              </a:lnSpc>
              <a:spcBef>
                <a:spcPts val="1600"/>
              </a:spcBef>
              <a:spcAft>
                <a:spcPts val="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8pPr>
            <a:lvl9pPr indent="-317500" lvl="8" marL="4114800">
              <a:lnSpc>
                <a:spcPct val="115000"/>
              </a:lnSpc>
              <a:spcBef>
                <a:spcPts val="1600"/>
              </a:spcBef>
              <a:spcAft>
                <a:spcPts val="1600"/>
              </a:spcAft>
              <a:buClr>
                <a:srgbClr val="434343"/>
              </a:buClr>
              <a:buSzPts val="1400"/>
              <a:buFont typeface="Source Sans Pro"/>
              <a:buChar char="■"/>
              <a:defRPr>
                <a:solidFill>
                  <a:srgbClr val="434343"/>
                </a:solidFill>
                <a:latin typeface="Source Sans Pro"/>
                <a:ea typeface="Source Sans Pro"/>
                <a:cs typeface="Source Sans Pro"/>
                <a:sym typeface="Source Sans Pro"/>
              </a:defRPr>
            </a:lvl9pPr>
          </a:lstStyle>
          <a:p/>
        </p:txBody>
      </p:sp>
      <p:sp>
        <p:nvSpPr>
          <p:cNvPr id="8" name="Google Shape;8;p1"/>
          <p:cNvSpPr txBox="1"/>
          <p:nvPr>
            <p:ph idx="12" type="sldNum"/>
          </p:nvPr>
        </p:nvSpPr>
        <p:spPr>
          <a:xfrm>
            <a:off x="8497999" y="4688759"/>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lt2"/>
                </a:solidFill>
                <a:latin typeface="Source Sans Pro"/>
                <a:ea typeface="Source Sans Pro"/>
                <a:cs typeface="Source Sans Pro"/>
                <a:sym typeface="Source Sans Pro"/>
              </a:defRPr>
            </a:lvl1pPr>
            <a:lvl2pPr lvl="1" algn="r">
              <a:buNone/>
              <a:defRPr sz="1000">
                <a:solidFill>
                  <a:schemeClr val="lt2"/>
                </a:solidFill>
                <a:latin typeface="Source Sans Pro"/>
                <a:ea typeface="Source Sans Pro"/>
                <a:cs typeface="Source Sans Pro"/>
                <a:sym typeface="Source Sans Pro"/>
              </a:defRPr>
            </a:lvl2pPr>
            <a:lvl3pPr lvl="2" algn="r">
              <a:buNone/>
              <a:defRPr sz="1000">
                <a:solidFill>
                  <a:schemeClr val="lt2"/>
                </a:solidFill>
                <a:latin typeface="Source Sans Pro"/>
                <a:ea typeface="Source Sans Pro"/>
                <a:cs typeface="Source Sans Pro"/>
                <a:sym typeface="Source Sans Pro"/>
              </a:defRPr>
            </a:lvl3pPr>
            <a:lvl4pPr lvl="3" algn="r">
              <a:buNone/>
              <a:defRPr sz="1000">
                <a:solidFill>
                  <a:schemeClr val="lt2"/>
                </a:solidFill>
                <a:latin typeface="Source Sans Pro"/>
                <a:ea typeface="Source Sans Pro"/>
                <a:cs typeface="Source Sans Pro"/>
                <a:sym typeface="Source Sans Pro"/>
              </a:defRPr>
            </a:lvl4pPr>
            <a:lvl5pPr lvl="4" algn="r">
              <a:buNone/>
              <a:defRPr sz="1000">
                <a:solidFill>
                  <a:schemeClr val="lt2"/>
                </a:solidFill>
                <a:latin typeface="Source Sans Pro"/>
                <a:ea typeface="Source Sans Pro"/>
                <a:cs typeface="Source Sans Pro"/>
                <a:sym typeface="Source Sans Pro"/>
              </a:defRPr>
            </a:lvl5pPr>
            <a:lvl6pPr lvl="5" algn="r">
              <a:buNone/>
              <a:defRPr sz="1000">
                <a:solidFill>
                  <a:schemeClr val="lt2"/>
                </a:solidFill>
                <a:latin typeface="Source Sans Pro"/>
                <a:ea typeface="Source Sans Pro"/>
                <a:cs typeface="Source Sans Pro"/>
                <a:sym typeface="Source Sans Pro"/>
              </a:defRPr>
            </a:lvl6pPr>
            <a:lvl7pPr lvl="6" algn="r">
              <a:buNone/>
              <a:defRPr sz="1000">
                <a:solidFill>
                  <a:schemeClr val="lt2"/>
                </a:solidFill>
                <a:latin typeface="Source Sans Pro"/>
                <a:ea typeface="Source Sans Pro"/>
                <a:cs typeface="Source Sans Pro"/>
                <a:sym typeface="Source Sans Pro"/>
              </a:defRPr>
            </a:lvl7pPr>
            <a:lvl8pPr lvl="7" algn="r">
              <a:buNone/>
              <a:defRPr sz="1000">
                <a:solidFill>
                  <a:schemeClr val="lt2"/>
                </a:solidFill>
                <a:latin typeface="Source Sans Pro"/>
                <a:ea typeface="Source Sans Pro"/>
                <a:cs typeface="Source Sans Pro"/>
                <a:sym typeface="Source Sans Pro"/>
              </a:defRPr>
            </a:lvl8pPr>
            <a:lvl9pPr lvl="8" algn="r">
              <a:buNone/>
              <a:defRPr sz="1000">
                <a:solidFill>
                  <a:schemeClr val="lt2"/>
                </a:solidFill>
                <a:latin typeface="Source Sans Pro"/>
                <a:ea typeface="Source Sans Pro"/>
                <a:cs typeface="Source Sans Pro"/>
                <a:sym typeface="Source Sans Pr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developer.mozilla.org/en-US/docs/Web/CSS" TargetMode="External"/><Relationship Id="rId4" Type="http://schemas.openxmlformats.org/officeDocument/2006/relationships/hyperlink" Target="https://jigsaw.w3.org/css-valid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www.w3.org/TR/cs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31.png"/><Relationship Id="rId4" Type="http://schemas.openxmlformats.org/officeDocument/2006/relationships/image" Target="../media/image12.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hyperlink" Target="https://www.w3schools.com/css/css_syntax.as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hyperlink" Target="https://developer.mozilla.org/en-US/docs/Web/CSS/Reference/Selectors/Attribute_selector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8.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s://www.w3.org/TR/css-color-3/" TargetMode="External"/><Relationship Id="rId4" Type="http://schemas.openxmlformats.org/officeDocument/2006/relationships/image" Target="../media/image19.png"/><Relationship Id="rId5"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hyperlink" Target="https://developer.mozilla.org/en-US/docs/Web/CSS/Reference/Properties/text-align" TargetMode="External"/><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s://developer.mozilla.org/en-US/docs/Web/CSS/Reference/Properties/text-decoratio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hyperlink" Target="https://developer.mozilla.org/en-US/docs/Web/CSS/Reference/Properties/text-transfor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32.png"/><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hyperlink" Target="https://developer.mozilla.org/en-US/docs/Web/CSS/Reference/Properties/letter-spacing" TargetMode="External"/><Relationship Id="rId4" Type="http://schemas.openxmlformats.org/officeDocument/2006/relationships/hyperlink" Target="https://developer.mozilla.org/en-US/docs/Web/CSS/Reference/Properties/word-spacing" TargetMode="External"/><Relationship Id="rId5" Type="http://schemas.openxmlformats.org/officeDocument/2006/relationships/hyperlink" Target="https://developer.mozilla.org/en-US/docs/Web/CSS/Reference/Properties/line-height"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36.png"/><Relationship Id="rId4" Type="http://schemas.openxmlformats.org/officeDocument/2006/relationships/image" Target="../media/image29.png"/><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34.png"/><Relationship Id="rId5"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hyperlink" Target="https://developer.mozilla.org/en-US/docs/Web/CSS/Guides/Values_and_units/Using_math_functions"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39.png"/><Relationship Id="rId5"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5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43.png"/><Relationship Id="rId4" Type="http://schemas.openxmlformats.org/officeDocument/2006/relationships/image" Target="../media/image45.png"/><Relationship Id="rId5"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55.png"/><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62.png"/><Relationship Id="rId6" Type="http://schemas.openxmlformats.org/officeDocument/2006/relationships/image" Target="../media/image5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 Id="rId3" Type="http://schemas.openxmlformats.org/officeDocument/2006/relationships/image" Target="../media/image56.png"/><Relationship Id="rId4" Type="http://schemas.openxmlformats.org/officeDocument/2006/relationships/image" Target="../media/image54.png"/><Relationship Id="rId5" Type="http://schemas.openxmlformats.org/officeDocument/2006/relationships/image" Target="../media/image7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eveloper.mozilla.org/en-US/docs/Web/CSS/Reference/Properties/opacity"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hyperlink" Target="https://developer.mozilla.org/en-US/docs/Web/CSS/Reference/Values/color_value" TargetMode="External"/><Relationship Id="rId4" Type="http://schemas.openxmlformats.org/officeDocument/2006/relationships/image" Target="../media/image5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hyperlink" Target="https://developer.mozilla.org/en-US/docs/Web/CSS/Reference/Values/image" TargetMode="External"/><Relationship Id="rId4" Type="http://schemas.openxmlformats.org/officeDocument/2006/relationships/hyperlink" Target="https://developer.mozilla.org/en-US/docs/Web/CSS/Reference/Properties/background-image"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hyperlink" Target="https://developer.mozilla.org/en-US/docs/Web/CSS/Reference/Values/gradient"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hyperlink" Target="https://developer.mozilla.org/en-US/docs/Web/CSS/Guides/Masking/Introducti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6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slide" Target="/ppt/slides/slide81.xml"/><Relationship Id="rId4" Type="http://schemas.openxmlformats.org/officeDocument/2006/relationships/hyperlink" Target="https://developer.mozilla.org/en-US/docs/Web/CSS/Reference/Properties/float"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hyperlink" Target="https://developer.mozilla.org/en-US/docs/Web/CSS/Reference/Properties/outline" TargetMode="External"/><Relationship Id="rId4" Type="http://schemas.openxmlformats.org/officeDocument/2006/relationships/hyperlink" Target="https://developer.mozilla.org/en-US/docs/Web/CSS/Reference/Properties/box-shadow"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hyperlink" Target="https://developer.mozilla.org/en-US/docs/Web/CSS/Reference/Properties/display"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slide" Target="/ppt/slides/slide81.xml"/><Relationship Id="rId4" Type="http://schemas.openxmlformats.org/officeDocument/2006/relationships/hyperlink" Target="https://developer.mozilla.org/en-US/docs/Web/CSS/Guides/Display/Block_and_inline_layout" TargetMode="External"/><Relationship Id="rId5" Type="http://schemas.openxmlformats.org/officeDocument/2006/relationships/image" Target="../media/image61.png"/><Relationship Id="rId6" Type="http://schemas.openxmlformats.org/officeDocument/2006/relationships/image" Target="../media/image6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 Id="rId3" Type="http://schemas.openxmlformats.org/officeDocument/2006/relationships/slide" Target="/ppt/slides/slide8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hyperlink" Target="https://developer.mozilla.org/en-US/docs/Web/CSS/Reference/Properties/position"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hyperlink" Target="https://developer.mozilla.org/en-US/docs/Web/CSS/Reference/Properties/z-index"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hyperlink" Target="https://developer.mozilla.org/en-US/docs/Web/CSS/Guides/Table" TargetMode="External"/><Relationship Id="rId4" Type="http://schemas.openxmlformats.org/officeDocument/2006/relationships/hyperlink" Target="https://developer.mozilla.org/en-US/docs/Web/CSS/Guides/Lists" TargetMode="External"/><Relationship Id="rId5" Type="http://schemas.openxmlformats.org/officeDocument/2006/relationships/hyperlink" Target="https://developer.mozilla.org/en-US/docs/Web/CSS/Guides/Images" TargetMode="External"/><Relationship Id="rId6" Type="http://schemas.openxmlformats.org/officeDocument/2006/relationships/hyperlink" Target="https://developer.mozilla.org/en-US/docs/Web/CSS/Guides/Filter_effects"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 Id="rId3" Type="http://schemas.openxmlformats.org/officeDocument/2006/relationships/hyperlink" Target="https://developer.mozilla.org/en-US/docs/Learn_web_development/Core/Styling_basics/Handling_conflicts" TargetMode="External"/><Relationship Id="rId4" Type="http://schemas.openxmlformats.org/officeDocument/2006/relationships/hyperlink" Target="https://developer.mozilla.org/en-US/docs/Web/CSS/Guides/Cascade/Introduction"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 Id="rId3" Type="http://schemas.openxmlformats.org/officeDocument/2006/relationships/hyperlink" Target="https://developer.mozilla.org/en-US/docs/Web/CSS/Reference/Selectors/Pseudo-classes"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 Id="rId3" Type="http://schemas.openxmlformats.org/officeDocument/2006/relationships/hyperlink" Target="https://developer.mozilla.org/en-US/docs/Web/CSS/Reference/Selectors/Pseudo-elements"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 Id="rId3" Type="http://schemas.openxmlformats.org/officeDocument/2006/relationships/slide" Target="/ppt/slides/slide63.xml"/><Relationship Id="rId4" Type="http://schemas.openxmlformats.org/officeDocument/2006/relationships/hyperlink" Target="https://developer.mozilla.org/en-US/docs/Web/CSS/Guides/Display/In_flow_and_out_of_flow" TargetMode="External"/><Relationship Id="rId5" Type="http://schemas.openxmlformats.org/officeDocument/2006/relationships/slide" Target="/ppt/slides/slide5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 Id="rId3" Type="http://schemas.openxmlformats.org/officeDocument/2006/relationships/hyperlink" Target="https://developer.mozilla.org/en-US/docs/Web/CSS/Guides/Multicol_layout/Basic_concepts"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3.xml"/><Relationship Id="rId3" Type="http://schemas.openxmlformats.org/officeDocument/2006/relationships/image" Target="../media/image7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4.xml"/><Relationship Id="rId3" Type="http://schemas.openxmlformats.org/officeDocument/2006/relationships/image" Target="../media/image8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 Id="rId3" Type="http://schemas.openxmlformats.org/officeDocument/2006/relationships/slide" Target="/ppt/slides/slide64.xml"/><Relationship Id="rId4" Type="http://schemas.openxmlformats.org/officeDocument/2006/relationships/image" Target="../media/image66.png"/><Relationship Id="rId5" Type="http://schemas.openxmlformats.org/officeDocument/2006/relationships/image" Target="../media/image59.png"/><Relationship Id="rId6" Type="http://schemas.openxmlformats.org/officeDocument/2006/relationships/hyperlink" Target="https://css-tricks.com/snippets/css/a-guide-to-flexbox/"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 Id="rId3" Type="http://schemas.openxmlformats.org/officeDocument/2006/relationships/image" Target="../media/image65.png"/><Relationship Id="rId4" Type="http://schemas.openxmlformats.org/officeDocument/2006/relationships/hyperlink" Target="https://developer.mozilla.org/en-US/docs/Learn_web_development/Core/CSS_layout/Flexbox"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 Id="rId3" Type="http://schemas.openxmlformats.org/officeDocument/2006/relationships/image" Target="../media/image69.png"/><Relationship Id="rId4" Type="http://schemas.openxmlformats.org/officeDocument/2006/relationships/image" Target="../media/image76.png"/><Relationship Id="rId5" Type="http://schemas.openxmlformats.org/officeDocument/2006/relationships/image" Target="../media/image6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 Id="rId3" Type="http://schemas.openxmlformats.org/officeDocument/2006/relationships/image" Target="../media/image77.png"/><Relationship Id="rId4" Type="http://schemas.openxmlformats.org/officeDocument/2006/relationships/hyperlink" Target="https://www.w3schools.com/cssref/playdemo.php?filename=playcss_justify-content&amp;preval=flex-star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 Id="rId3" Type="http://schemas.openxmlformats.org/officeDocument/2006/relationships/hyperlink" Target="https://developer.mozilla.org/en-US/docs/Web/CSS/Reference/Properties/align-content" TargetMode="External"/><Relationship Id="rId4" Type="http://schemas.openxmlformats.org/officeDocument/2006/relationships/image" Target="../media/image7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 Id="rId3" Type="http://schemas.openxmlformats.org/officeDocument/2006/relationships/hyperlink" Target="https://www.w3schools.com/cssref/playdemo.php?filename=playcss_align-items" TargetMode="External"/><Relationship Id="rId4" Type="http://schemas.openxmlformats.org/officeDocument/2006/relationships/image" Target="../media/image6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 Id="rId3" Type="http://schemas.openxmlformats.org/officeDocument/2006/relationships/image" Target="../media/image7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 Id="rId3" Type="http://schemas.openxmlformats.org/officeDocument/2006/relationships/image" Target="../media/image8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 Id="rId3" Type="http://schemas.openxmlformats.org/officeDocument/2006/relationships/image" Target="../media/image7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 Id="rId3" Type="http://schemas.openxmlformats.org/officeDocument/2006/relationships/image" Target="../media/image82.png"/><Relationship Id="rId4" Type="http://schemas.openxmlformats.org/officeDocument/2006/relationships/image" Target="../media/image79.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 Id="rId3" Type="http://schemas.openxmlformats.org/officeDocument/2006/relationships/image" Target="../media/image8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 Id="rId3" Type="http://schemas.openxmlformats.org/officeDocument/2006/relationships/hyperlink" Target="https://developer.mozilla.org/en-US/docs/Web/CSS/Guides/Grid_layout/Basic_concepts#nesting_grids" TargetMode="External"/><Relationship Id="rId4" Type="http://schemas.openxmlformats.org/officeDocument/2006/relationships/hyperlink" Target="https://developer.mozilla.org/en-US/docs/Web/CSS/Guides/Animations" TargetMode="External"/><Relationship Id="rId5" Type="http://schemas.openxmlformats.org/officeDocument/2006/relationships/hyperlink" Target="https://developer.mozilla.org/en-US/docs/Web/CSS/Guides/Transforms"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 Id="rId3" Type="http://schemas.openxmlformats.org/officeDocument/2006/relationships/image" Target="../media/image78.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 Id="rId3" Type="http://schemas.openxmlformats.org/officeDocument/2006/relationships/hyperlink" Target="https://developer.mozilla.org/en-US/docs/Web/CSS/Reference/At-rules/@media#media_features"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 Id="rId3" Type="http://schemas.openxmlformats.org/officeDocument/2006/relationships/hyperlink" Target="https://developer.mozilla.org/en-US/docs/Web/CSS/Guides/Containment/Container_queries" TargetMode="External"/><Relationship Id="rId4" Type="http://schemas.openxmlformats.org/officeDocument/2006/relationships/hyperlink" Target="https://www.w3schools.com/howto/howto_css_responsive_text.asp" TargetMode="External"/><Relationship Id="rId5" Type="http://schemas.openxmlformats.org/officeDocument/2006/relationships/hyperlink" Target="https://blog.logrocket.com/elements-responsive-typography/"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 Id="rId3" Type="http://schemas.openxmlformats.org/officeDocument/2006/relationships/hyperlink" Target="https://developer.mozilla.org/en-US/docs/Web/CSS/Guides/Cascading_variables/Using_custom_properties" TargetMode="External"/><Relationship Id="rId4" Type="http://schemas.openxmlformats.org/officeDocument/2006/relationships/hyperlink" Target="https://developer.mozilla.org/en-US/docs/Web/CSS/Reference/Values/Functions" TargetMode="External"/><Relationship Id="rId5" Type="http://schemas.openxmlformats.org/officeDocument/2006/relationships/hyperlink" Target="https://css-tricks.com/functions-in-css/"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 Id="rId3" Type="http://schemas.openxmlformats.org/officeDocument/2006/relationships/hyperlink" Target="https://developer.mozilla.org/en-US/docs/Web/CSS/Guides/Masking/Introduction"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 Id="rId3" Type="http://schemas.openxmlformats.org/officeDocument/2006/relationships/hyperlink" Target="https://developer.mozilla.org/en-US/docs/Web/CSS/Reference/Properties/outline" TargetMode="External"/><Relationship Id="rId4" Type="http://schemas.openxmlformats.org/officeDocument/2006/relationships/hyperlink" Target="https://developer.mozilla.org/en-US/docs/Web/CSS/Reference/Properties/box-shadow"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 Id="rId3" Type="http://schemas.openxmlformats.org/officeDocument/2006/relationships/hyperlink" Target="https://developer.mozilla.org/en-US/docs/Web/CSS/Guides/Table" TargetMode="External"/><Relationship Id="rId4" Type="http://schemas.openxmlformats.org/officeDocument/2006/relationships/hyperlink" Target="https://developer.mozilla.org/en-US/docs/Web/CSS/Guides/Lists" TargetMode="External"/><Relationship Id="rId5" Type="http://schemas.openxmlformats.org/officeDocument/2006/relationships/hyperlink" Target="https://developer.mozilla.org/en-US/docs/Web/CSS/Guides/Images" TargetMode="External"/><Relationship Id="rId6" Type="http://schemas.openxmlformats.org/officeDocument/2006/relationships/hyperlink" Target="https://developer.mozilla.org/en-US/docs/Web/CSS/Guides/Filter_effects" TargetMode="Externa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 Id="rId3" Type="http://schemas.openxmlformats.org/officeDocument/2006/relationships/hyperlink" Target="https://developer.mozilla.org/en-US/docs/Web/CSS/Guides/Grid_layout/Basic_concepts#nesting_grids" TargetMode="External"/><Relationship Id="rId4" Type="http://schemas.openxmlformats.org/officeDocument/2006/relationships/hyperlink" Target="https://developer.mozilla.org/en-US/docs/Web/CSS/Guides/Animations" TargetMode="External"/><Relationship Id="rId5" Type="http://schemas.openxmlformats.org/officeDocument/2006/relationships/hyperlink" Target="https://developer.mozilla.org/en-US/docs/Web/CSS/Guides/Transforms"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 Id="rId3"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13"/>
          <p:cNvSpPr txBox="1"/>
          <p:nvPr>
            <p:ph type="ctrTitle"/>
          </p:nvPr>
        </p:nvSpPr>
        <p:spPr>
          <a:xfrm>
            <a:off x="485875" y="264475"/>
            <a:ext cx="8183700" cy="1281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Cascade</a:t>
            </a:r>
            <a:r>
              <a:rPr lang="en"/>
              <a:t> Style Sheet (CSS)</a:t>
            </a:r>
            <a:endParaRPr/>
          </a:p>
        </p:txBody>
      </p:sp>
      <p:sp>
        <p:nvSpPr>
          <p:cNvPr id="59" name="Google Shape;59;p13"/>
          <p:cNvSpPr txBox="1"/>
          <p:nvPr>
            <p:ph idx="1" type="subTitle"/>
          </p:nvPr>
        </p:nvSpPr>
        <p:spPr>
          <a:xfrm>
            <a:off x="485875" y="1595275"/>
            <a:ext cx="8183700" cy="10038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a:t>Ci-Wei Lan </a:t>
            </a:r>
            <a:r>
              <a:rPr lang="en"/>
              <a:t>藍啟維</a:t>
            </a:r>
            <a:endParaRPr/>
          </a:p>
          <a:p>
            <a:pPr indent="0" lvl="0" marL="0" rtl="0" algn="l">
              <a:lnSpc>
                <a:spcPct val="150000"/>
              </a:lnSpc>
              <a:spcBef>
                <a:spcPts val="0"/>
              </a:spcBef>
              <a:spcAft>
                <a:spcPts val="0"/>
              </a:spcAft>
              <a:buNone/>
            </a:pPr>
            <a:r>
              <a:rPr lang="en" sz="2000"/>
              <a:t>Dept. of CSE, NTOU</a:t>
            </a:r>
            <a:endParaRPr sz="20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Outlines</a:t>
            </a:r>
            <a:endParaRPr/>
          </a:p>
        </p:txBody>
      </p:sp>
      <p:sp>
        <p:nvSpPr>
          <p:cNvPr id="65" name="Google Shape;65;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Control a website's appearance with style sheets.</a:t>
            </a:r>
            <a:endParaRPr/>
          </a:p>
          <a:p>
            <a:pPr indent="-342900" lvl="0" marL="457200" rtl="0" algn="l">
              <a:spcBef>
                <a:spcPts val="0"/>
              </a:spcBef>
              <a:spcAft>
                <a:spcPts val="0"/>
              </a:spcAft>
              <a:buSzPts val="1800"/>
              <a:buChar char="●"/>
            </a:pPr>
            <a:r>
              <a:rPr lang="en"/>
              <a:t> Use a style sheet to give all the pages of a website the same look and feel.</a:t>
            </a:r>
            <a:endParaRPr/>
          </a:p>
          <a:p>
            <a:pPr indent="-342900" lvl="0" marL="457200" rtl="0" algn="l">
              <a:spcBef>
                <a:spcPts val="0"/>
              </a:spcBef>
              <a:spcAft>
                <a:spcPts val="0"/>
              </a:spcAft>
              <a:buSzPts val="1800"/>
              <a:buChar char="●"/>
            </a:pPr>
            <a:r>
              <a:rPr lang="en"/>
              <a:t> Use the class attribute to apply styles.</a:t>
            </a:r>
            <a:endParaRPr/>
          </a:p>
          <a:p>
            <a:pPr indent="-342900" lvl="0" marL="457200" rtl="0" algn="l">
              <a:spcBef>
                <a:spcPts val="0"/>
              </a:spcBef>
              <a:spcAft>
                <a:spcPts val="0"/>
              </a:spcAft>
              <a:buSzPts val="1800"/>
              <a:buChar char="●"/>
            </a:pPr>
            <a:r>
              <a:rPr lang="en"/>
              <a:t> Specify the precise font, size, color and other properties of displayed text.</a:t>
            </a:r>
            <a:endParaRPr/>
          </a:p>
          <a:p>
            <a:pPr indent="-342900" lvl="0" marL="457200" rtl="0" algn="l">
              <a:spcBef>
                <a:spcPts val="0"/>
              </a:spcBef>
              <a:spcAft>
                <a:spcPts val="0"/>
              </a:spcAft>
              <a:buSzPts val="1800"/>
              <a:buChar char="●"/>
            </a:pPr>
            <a:r>
              <a:rPr lang="en"/>
              <a:t> Specify element backgrounds and colors.</a:t>
            </a:r>
            <a:endParaRPr/>
          </a:p>
          <a:p>
            <a:pPr indent="-342900" lvl="0" marL="457200" rtl="0" algn="l">
              <a:spcBef>
                <a:spcPts val="0"/>
              </a:spcBef>
              <a:spcAft>
                <a:spcPts val="0"/>
              </a:spcAft>
              <a:buSzPts val="1800"/>
              <a:buChar char="●"/>
            </a:pPr>
            <a:r>
              <a:rPr lang="en"/>
              <a:t> Understand the box model and how to control margins, borders and padding.</a:t>
            </a:r>
            <a:endParaRPr/>
          </a:p>
          <a:p>
            <a:pPr indent="-342900" lvl="0" marL="457200" rtl="0" algn="l">
              <a:spcBef>
                <a:spcPts val="0"/>
              </a:spcBef>
              <a:spcAft>
                <a:spcPts val="0"/>
              </a:spcAft>
              <a:buSzPts val="1800"/>
              <a:buChar char="●"/>
            </a:pPr>
            <a:r>
              <a:rPr lang="en"/>
              <a:t> Use style sheets to separate presentation from content.</a:t>
            </a:r>
            <a:endParaRPr/>
          </a:p>
        </p:txBody>
      </p:sp>
      <p:sp>
        <p:nvSpPr>
          <p:cNvPr id="66" name="Google Shape;66;p1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900"/>
              <a:t>Cascading Style Sheets (CSS)</a:t>
            </a:r>
            <a:endParaRPr sz="2900"/>
          </a:p>
        </p:txBody>
      </p:sp>
      <p:sp>
        <p:nvSpPr>
          <p:cNvPr id="72" name="Google Shape;72;p1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3" name="Google Shape;73;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a:t>
            </a:r>
            <a:r>
              <a:rPr lang="en"/>
              <a:t> stylesheet language used to describe the presentation of a document written in HTML or XML (including XML dialects such as SVG, MathML or XHTML).</a:t>
            </a:r>
            <a:endParaRPr/>
          </a:p>
          <a:p>
            <a:pPr indent="-342900" lvl="0" marL="457200" rtl="0" algn="l">
              <a:spcBef>
                <a:spcPts val="0"/>
              </a:spcBef>
              <a:spcAft>
                <a:spcPts val="0"/>
              </a:spcAft>
              <a:buSzPts val="1800"/>
              <a:buChar char="●"/>
            </a:pPr>
            <a:r>
              <a:rPr lang="en"/>
              <a:t>Previously, the development of various parts of CSS specification was done synchronously, which allowed the versioning of the latest recommendations. You might have heard about CSS1, CSS2.1, or even CSS3. There will never be a CSS3 or a CSS4; rather, everything is now just "CSS" with individual CSS modules having version numbers.</a:t>
            </a:r>
            <a:endParaRPr/>
          </a:p>
          <a:p>
            <a:pPr indent="-342900" lvl="0" marL="457200" rtl="0" algn="l">
              <a:spcBef>
                <a:spcPts val="0"/>
              </a:spcBef>
              <a:spcAft>
                <a:spcPts val="0"/>
              </a:spcAft>
              <a:buSzPts val="1800"/>
              <a:buChar char="●"/>
            </a:pPr>
            <a:r>
              <a:rPr lang="en"/>
              <a:t>CSS syntax reference: </a:t>
            </a:r>
            <a:r>
              <a:rPr lang="en" u="sng">
                <a:solidFill>
                  <a:schemeClr val="hlink"/>
                </a:solidFill>
                <a:hlinkClick r:id="rId3"/>
              </a:rPr>
              <a:t>https://developer.mozilla.org/en-US/docs/Web/CSS</a:t>
            </a:r>
            <a:r>
              <a:rPr lang="en"/>
              <a:t> </a:t>
            </a:r>
            <a:endParaRPr/>
          </a:p>
          <a:p>
            <a:pPr indent="-342900" lvl="0" marL="457200" rtl="0" algn="l">
              <a:spcBef>
                <a:spcPts val="0"/>
              </a:spcBef>
              <a:spcAft>
                <a:spcPts val="0"/>
              </a:spcAft>
              <a:buSzPts val="1800"/>
              <a:buChar char="●"/>
            </a:pPr>
            <a:r>
              <a:rPr lang="en"/>
              <a:t>CSS syntax validation: </a:t>
            </a:r>
            <a:r>
              <a:rPr lang="en" u="sng">
                <a:solidFill>
                  <a:schemeClr val="hlink"/>
                </a:solidFill>
                <a:hlinkClick r:id="rId4"/>
              </a:rPr>
              <a:t>https://jigsaw.w3.org/css-validator/</a:t>
            </a:r>
            <a:r>
              <a:rPr lang="en"/>
              <a:t>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CSS Official Definition</a:t>
            </a:r>
            <a:endParaRPr/>
          </a:p>
        </p:txBody>
      </p:sp>
      <p:sp>
        <p:nvSpPr>
          <p:cNvPr id="79" name="Google Shape;79;p1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80" name="Google Shape;80;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317183" lvl="0" marL="457200" rtl="0" algn="l">
              <a:spcBef>
                <a:spcPts val="0"/>
              </a:spcBef>
              <a:spcAft>
                <a:spcPts val="0"/>
              </a:spcAft>
              <a:buSzPct val="100000"/>
              <a:buChar char="●"/>
            </a:pPr>
            <a:r>
              <a:rPr lang="en"/>
              <a:t>As of 2026, Cascading Style Sheets (CSS) is defined by the following specifications.</a:t>
            </a:r>
            <a:endParaRPr/>
          </a:p>
          <a:p>
            <a:pPr indent="-317183" lvl="0" marL="457200" rtl="0" algn="l">
              <a:spcBef>
                <a:spcPts val="0"/>
              </a:spcBef>
              <a:spcAft>
                <a:spcPts val="0"/>
              </a:spcAft>
              <a:buSzPct val="100000"/>
              <a:buChar char="●"/>
            </a:pPr>
            <a:r>
              <a:rPr lang="en"/>
              <a:t>CSS Level 2, latest revision (including errata) [CSS2]</a:t>
            </a:r>
            <a:endParaRPr/>
          </a:p>
          <a:p>
            <a:pPr indent="-297498" lvl="1" marL="914400" rtl="0" algn="l">
              <a:spcBef>
                <a:spcPts val="0"/>
              </a:spcBef>
              <a:spcAft>
                <a:spcPts val="0"/>
              </a:spcAft>
              <a:buSzPct val="100000"/>
              <a:buChar char="○"/>
            </a:pPr>
            <a:r>
              <a:rPr lang="en"/>
              <a:t>This defines the core of CSS, parts of which are overridden by later specifications. We recommend in particular reading Chapter 2, which introduces some of the basic concepts of CSS and its design principles.</a:t>
            </a:r>
            <a:endParaRPr/>
          </a:p>
          <a:p>
            <a:pPr indent="-317183" lvl="0" marL="457200" rtl="0" algn="l">
              <a:spcBef>
                <a:spcPts val="0"/>
              </a:spcBef>
              <a:spcAft>
                <a:spcPts val="0"/>
              </a:spcAft>
              <a:buSzPct val="100000"/>
              <a:buChar char="●"/>
            </a:pPr>
            <a:r>
              <a:rPr lang="en"/>
              <a:t>CSS Syntax Module Level 3 [CSS-SYNTAX-3]</a:t>
            </a:r>
            <a:endParaRPr/>
          </a:p>
          <a:p>
            <a:pPr indent="-297498" lvl="1" marL="914400" rtl="0" algn="l">
              <a:spcBef>
                <a:spcPts val="0"/>
              </a:spcBef>
              <a:spcAft>
                <a:spcPts val="0"/>
              </a:spcAft>
              <a:buSzPct val="100000"/>
              <a:buChar char="○"/>
            </a:pPr>
            <a:r>
              <a:rPr lang="en"/>
              <a:t>Replaces CSS2§4.1, CSS2§4.2, CSS2§4.4, and CSS2§G, redefining how CSS is parsed.</a:t>
            </a:r>
            <a:endParaRPr/>
          </a:p>
          <a:p>
            <a:pPr indent="-317183" lvl="0" marL="457200" rtl="0" algn="l">
              <a:spcBef>
                <a:spcPts val="0"/>
              </a:spcBef>
              <a:spcAft>
                <a:spcPts val="0"/>
              </a:spcAft>
              <a:buSzPct val="100000"/>
              <a:buChar char="●"/>
            </a:pPr>
            <a:r>
              <a:rPr lang="en"/>
              <a:t>CSS Style Attributes [CSS-STYLE-ATTR]</a:t>
            </a:r>
            <a:endParaRPr/>
          </a:p>
          <a:p>
            <a:pPr indent="-297498" lvl="1" marL="914400" rtl="0" algn="l">
              <a:spcBef>
                <a:spcPts val="0"/>
              </a:spcBef>
              <a:spcAft>
                <a:spcPts val="0"/>
              </a:spcAft>
              <a:buSzPct val="100000"/>
              <a:buChar char="○"/>
            </a:pPr>
            <a:r>
              <a:rPr lang="en"/>
              <a:t>Defines how CSS declarations can be embedded in markup attributes.</a:t>
            </a:r>
            <a:endParaRPr/>
          </a:p>
          <a:p>
            <a:pPr indent="-317183" lvl="0" marL="457200" rtl="0" algn="l">
              <a:spcBef>
                <a:spcPts val="0"/>
              </a:spcBef>
              <a:spcAft>
                <a:spcPts val="0"/>
              </a:spcAft>
              <a:buSzPct val="100000"/>
              <a:buChar char="●"/>
            </a:pPr>
            <a:r>
              <a:rPr lang="en"/>
              <a:t>Media Queries Level 3 [CSS3-MEDIAQUERIES]</a:t>
            </a:r>
            <a:endParaRPr/>
          </a:p>
          <a:p>
            <a:pPr indent="-297498" lvl="1" marL="914400" rtl="0" algn="l">
              <a:spcBef>
                <a:spcPts val="0"/>
              </a:spcBef>
              <a:spcAft>
                <a:spcPts val="0"/>
              </a:spcAft>
              <a:buSzPct val="100000"/>
              <a:buChar char="○"/>
            </a:pPr>
            <a:r>
              <a:rPr lang="en"/>
              <a:t>Replaces CSS2§7.3 and expands on the syntax for media-specific styles.</a:t>
            </a:r>
            <a:endParaRPr/>
          </a:p>
          <a:p>
            <a:pPr indent="-317183" lvl="0" marL="457200" rtl="0" algn="l">
              <a:spcBef>
                <a:spcPts val="0"/>
              </a:spcBef>
              <a:spcAft>
                <a:spcPts val="0"/>
              </a:spcAft>
              <a:buSzPct val="100000"/>
              <a:buChar char="●"/>
            </a:pPr>
            <a:r>
              <a:rPr lang="en"/>
              <a:t>CSS Conditional Rules Module Level 3 [CSS-CONDITIONAL-3]</a:t>
            </a:r>
            <a:endParaRPr/>
          </a:p>
          <a:p>
            <a:pPr indent="-297498" lvl="1" marL="914400" rtl="0" algn="l">
              <a:spcBef>
                <a:spcPts val="0"/>
              </a:spcBef>
              <a:spcAft>
                <a:spcPts val="0"/>
              </a:spcAft>
              <a:buSzPct val="100000"/>
              <a:buChar char="○"/>
            </a:pPr>
            <a:r>
              <a:rPr lang="en"/>
              <a:t>Extends and supersedes CSS2§7.2, updating the definition of @media rules to allow nesting and introducing the @supports rule for feature-support queries.</a:t>
            </a:r>
            <a:endParaRPr/>
          </a:p>
          <a:p>
            <a:pPr indent="-317183" lvl="0" marL="457200" rtl="0" algn="l">
              <a:spcBef>
                <a:spcPts val="0"/>
              </a:spcBef>
              <a:spcAft>
                <a:spcPts val="0"/>
              </a:spcAft>
              <a:buSzPct val="100000"/>
              <a:buChar char="●"/>
            </a:pPr>
            <a:r>
              <a:rPr lang="en"/>
              <a:t>Selectors Level 3 [SELECTORS-3]</a:t>
            </a:r>
            <a:endParaRPr/>
          </a:p>
          <a:p>
            <a:pPr indent="-297498" lvl="1" marL="914400" rtl="0" algn="l">
              <a:spcBef>
                <a:spcPts val="0"/>
              </a:spcBef>
              <a:spcAft>
                <a:spcPts val="0"/>
              </a:spcAft>
              <a:buSzPct val="100000"/>
              <a:buChar char="○"/>
            </a:pPr>
            <a:r>
              <a:rPr lang="en"/>
              <a:t>Replaces CSS2§5 and CSS2§6.4.3, defining an extended range of selectors.</a:t>
            </a:r>
            <a:endParaRPr/>
          </a:p>
          <a:p>
            <a:pPr indent="-317183" lvl="0" marL="457200" rtl="0" algn="l">
              <a:spcBef>
                <a:spcPts val="0"/>
              </a:spcBef>
              <a:spcAft>
                <a:spcPts val="0"/>
              </a:spcAft>
              <a:buSzPct val="100000"/>
              <a:buChar char="●"/>
            </a:pPr>
            <a:r>
              <a:rPr lang="en"/>
              <a:t>CSS Namespaces Module Level 3 [CSS3-NAMESPACE]</a:t>
            </a:r>
            <a:endParaRPr/>
          </a:p>
          <a:p>
            <a:pPr indent="-297498" lvl="1" marL="914400" rtl="0" algn="l">
              <a:spcBef>
                <a:spcPts val="0"/>
              </a:spcBef>
              <a:spcAft>
                <a:spcPts val="0"/>
              </a:spcAft>
              <a:buSzPct val="100000"/>
              <a:buChar char="○"/>
            </a:pPr>
            <a:r>
              <a:rPr lang="en"/>
              <a:t>Introduces an @namespace rule to allow namespace-prefixed selectors.</a:t>
            </a:r>
            <a:endParaRPr/>
          </a:p>
          <a:p>
            <a:pPr indent="-317183" lvl="0" marL="457200" rtl="0" algn="l">
              <a:spcBef>
                <a:spcPts val="0"/>
              </a:spcBef>
              <a:spcAft>
                <a:spcPts val="0"/>
              </a:spcAft>
              <a:buSzPct val="100000"/>
              <a:buChar char="●"/>
            </a:pPr>
            <a:r>
              <a:rPr lang="en" u="sng">
                <a:solidFill>
                  <a:schemeClr val="hlink"/>
                </a:solidFill>
                <a:hlinkClick r:id="rId3"/>
              </a:rPr>
              <a:t>https://www.w3.org/TR/css/</a:t>
            </a:r>
            <a:r>
              <a:rPr lang="en"/>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Approaches of Combining HTML with CSS</a:t>
            </a:r>
            <a:endParaRPr/>
          </a:p>
        </p:txBody>
      </p:sp>
      <p:sp>
        <p:nvSpPr>
          <p:cNvPr id="86" name="Google Shape;86;p1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87" name="Google Shape;87;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
              <a:t>Independent CSS files (External CSS)</a:t>
            </a:r>
            <a:endParaRPr/>
          </a:p>
          <a:p>
            <a:pPr indent="-317500" lvl="1" marL="914400" rtl="0" algn="l">
              <a:spcBef>
                <a:spcPts val="0"/>
              </a:spcBef>
              <a:spcAft>
                <a:spcPts val="0"/>
              </a:spcAft>
              <a:buSzPts val="1400"/>
              <a:buChar char="○"/>
            </a:pPr>
            <a:r>
              <a:rPr lang="en"/>
              <a:t>Add a &lt;link&gt; element within &lt;head&gt; element in HTML files. Set the rel attribute as ‘stylesheet’ and the href attribute as URL.</a:t>
            </a:r>
            <a:endParaRPr/>
          </a:p>
          <a:p>
            <a:pPr indent="-342900" lvl="0" marL="457200" rtl="0" algn="l">
              <a:spcBef>
                <a:spcPts val="0"/>
              </a:spcBef>
              <a:spcAft>
                <a:spcPts val="0"/>
              </a:spcAft>
              <a:buSzPts val="1800"/>
              <a:buChar char="●"/>
            </a:pPr>
            <a:r>
              <a:rPr lang="en"/>
              <a:t>Embedded CSS codes (Internal CSS)</a:t>
            </a:r>
            <a:endParaRPr/>
          </a:p>
          <a:p>
            <a:pPr indent="-317500" lvl="1" marL="914400" rtl="0" algn="l">
              <a:spcBef>
                <a:spcPts val="0"/>
              </a:spcBef>
              <a:spcAft>
                <a:spcPts val="0"/>
              </a:spcAft>
              <a:buSzPts val="1400"/>
              <a:buChar char="○"/>
            </a:pPr>
            <a:r>
              <a:rPr lang="en"/>
              <a:t>Add a &lt;style&gt; element within &lt;head&gt; element in HTML files. Describe CSS rules within &lt;style&gt; element.</a:t>
            </a:r>
            <a:endParaRPr/>
          </a:p>
          <a:p>
            <a:pPr indent="-342900" lvl="0" marL="457200" rtl="0" algn="l">
              <a:spcBef>
                <a:spcPts val="0"/>
              </a:spcBef>
              <a:spcAft>
                <a:spcPts val="0"/>
              </a:spcAft>
              <a:buSzPts val="1800"/>
              <a:buChar char="●"/>
            </a:pPr>
            <a:r>
              <a:rPr lang="en"/>
              <a:t>Inline CSS codes</a:t>
            </a:r>
            <a:endParaRPr/>
          </a:p>
          <a:p>
            <a:pPr indent="-317500" lvl="1" marL="914400" rtl="0" algn="l">
              <a:spcBef>
                <a:spcPts val="0"/>
              </a:spcBef>
              <a:spcAft>
                <a:spcPts val="0"/>
              </a:spcAft>
              <a:buSzPts val="1400"/>
              <a:buChar char="○"/>
            </a:pPr>
            <a:r>
              <a:rPr lang="en"/>
              <a:t>Add the style attribute of element where CSS takes effect. Set the style value as property:value paris.</a:t>
            </a:r>
            <a:endParaRPr/>
          </a:p>
          <a:p>
            <a:pPr indent="-342900" lvl="0" marL="457200" rtl="0" algn="l">
              <a:spcBef>
                <a:spcPts val="0"/>
              </a:spcBef>
              <a:spcAft>
                <a:spcPts val="0"/>
              </a:spcAft>
              <a:buSzPts val="1800"/>
              <a:buChar char="●"/>
            </a:pPr>
            <a:r>
              <a:rPr lang="en"/>
              <a:t>CSS at-rule</a:t>
            </a:r>
            <a:endParaRPr/>
          </a:p>
          <a:p>
            <a:pPr indent="-317500" lvl="1" marL="914400" rtl="0" algn="l">
              <a:spcBef>
                <a:spcPts val="0"/>
              </a:spcBef>
              <a:spcAft>
                <a:spcPts val="0"/>
              </a:spcAft>
              <a:buSzPts val="1400"/>
              <a:buChar char="○"/>
            </a:pPr>
            <a:r>
              <a:rPr lang="en"/>
              <a:t>In the beginning of either independent CSS files or embedded CSS section by @import url.</a:t>
            </a:r>
            <a:endParaRPr/>
          </a:p>
          <a:p>
            <a:pPr indent="-317500" lvl="2" marL="1371600" rtl="0" algn="l">
              <a:spcBef>
                <a:spcPts val="0"/>
              </a:spcBef>
              <a:spcAft>
                <a:spcPts val="0"/>
              </a:spcAft>
              <a:buSzPts val="1400"/>
              <a:buChar char="■"/>
            </a:pPr>
            <a:r>
              <a:rPr lang="en"/>
              <a:t>Url: </a:t>
            </a:r>
            <a:r>
              <a:rPr lang="en"/>
              <a:t>Is a &lt;string&gt; or a &lt;url&gt; type representing the location of the resource to import. The URL may be absolute or relative.</a:t>
            </a:r>
            <a:endParaRPr/>
          </a:p>
          <a:p>
            <a:pPr indent="-317500" lvl="2" marL="1371600" rtl="0" algn="l">
              <a:spcBef>
                <a:spcPts val="0"/>
              </a:spcBef>
              <a:spcAft>
                <a:spcPts val="0"/>
              </a:spcAft>
              <a:buSzPts val="1400"/>
              <a:buChar char="■"/>
            </a:pPr>
            <a:r>
              <a:rPr lang="en"/>
              <a:t>@import "custom.css";</a:t>
            </a:r>
            <a:endParaRPr/>
          </a:p>
          <a:p>
            <a:pPr indent="-317500" lvl="2" marL="1371600" rtl="0" algn="l">
              <a:spcBef>
                <a:spcPts val="0"/>
              </a:spcBef>
              <a:spcAft>
                <a:spcPts val="0"/>
              </a:spcAft>
              <a:buSzPts val="1400"/>
              <a:buChar char="■"/>
            </a:pPr>
            <a:r>
              <a:rPr lang="en"/>
              <a:t>@import url("chrome://communicator/skin/communicator.css");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Syntax of Applying CSS to HTML</a:t>
            </a:r>
            <a:endParaRPr/>
          </a:p>
        </p:txBody>
      </p:sp>
      <p:sp>
        <p:nvSpPr>
          <p:cNvPr id="93" name="Google Shape;93;p1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94" name="Google Shape;94;p18"/>
          <p:cNvPicPr preferRelativeResize="0"/>
          <p:nvPr/>
        </p:nvPicPr>
        <p:blipFill>
          <a:blip r:embed="rId3">
            <a:alphaModFix/>
          </a:blip>
          <a:stretch>
            <a:fillRect/>
          </a:stretch>
        </p:blipFill>
        <p:spPr>
          <a:xfrm>
            <a:off x="238800" y="2113725"/>
            <a:ext cx="3770473" cy="916050"/>
          </a:xfrm>
          <a:prstGeom prst="rect">
            <a:avLst/>
          </a:prstGeom>
          <a:noFill/>
          <a:ln cap="flat" cmpd="sng" w="9525">
            <a:solidFill>
              <a:schemeClr val="dk2"/>
            </a:solidFill>
            <a:prstDash val="solid"/>
            <a:round/>
            <a:headEnd len="sm" w="sm" type="none"/>
            <a:tailEnd len="sm" w="sm" type="none"/>
          </a:ln>
        </p:spPr>
      </p:pic>
      <p:pic>
        <p:nvPicPr>
          <p:cNvPr id="95" name="Google Shape;95;p18"/>
          <p:cNvPicPr preferRelativeResize="0"/>
          <p:nvPr/>
        </p:nvPicPr>
        <p:blipFill>
          <a:blip r:embed="rId4">
            <a:alphaModFix/>
          </a:blip>
          <a:stretch>
            <a:fillRect/>
          </a:stretch>
        </p:blipFill>
        <p:spPr>
          <a:xfrm>
            <a:off x="4135362" y="1124350"/>
            <a:ext cx="4919538" cy="2463038"/>
          </a:xfrm>
          <a:prstGeom prst="rect">
            <a:avLst/>
          </a:prstGeom>
          <a:noFill/>
          <a:ln cap="flat" cmpd="sng" w="9525">
            <a:solidFill>
              <a:schemeClr val="dk2"/>
            </a:solidFill>
            <a:prstDash val="solid"/>
            <a:round/>
            <a:headEnd len="sm" w="sm" type="none"/>
            <a:tailEnd len="sm" w="sm" type="none"/>
          </a:ln>
        </p:spPr>
      </p:pic>
      <p:pic>
        <p:nvPicPr>
          <p:cNvPr id="96" name="Google Shape;96;p18"/>
          <p:cNvPicPr preferRelativeResize="0"/>
          <p:nvPr/>
        </p:nvPicPr>
        <p:blipFill>
          <a:blip r:embed="rId5">
            <a:alphaModFix/>
          </a:blip>
          <a:stretch>
            <a:fillRect/>
          </a:stretch>
        </p:blipFill>
        <p:spPr>
          <a:xfrm>
            <a:off x="311700" y="3896300"/>
            <a:ext cx="6115050" cy="8572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CSS Rulesets and Comment Syntax</a:t>
            </a:r>
            <a:endParaRPr/>
          </a:p>
          <a:p>
            <a:pPr indent="0" lvl="0" marL="0" rtl="0" algn="l">
              <a:spcBef>
                <a:spcPts val="0"/>
              </a:spcBef>
              <a:spcAft>
                <a:spcPts val="0"/>
              </a:spcAft>
              <a:buNone/>
            </a:pPr>
            <a:r>
              <a:t/>
            </a:r>
            <a:endParaRPr/>
          </a:p>
        </p:txBody>
      </p:sp>
      <p:sp>
        <p:nvSpPr>
          <p:cNvPr id="102" name="Google Shape;102;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CSS ruleset (or rule) has two main parts: a selector, and one or more declarations.</a:t>
            </a:r>
            <a:endParaRPr/>
          </a:p>
          <a:p>
            <a:pPr indent="-342900" lvl="0" marL="457200" rtl="0" algn="l">
              <a:spcBef>
                <a:spcPts val="0"/>
              </a:spcBef>
              <a:spcAft>
                <a:spcPts val="0"/>
              </a:spcAft>
              <a:buSzPts val="1800"/>
              <a:buChar char="●"/>
            </a:pPr>
            <a:r>
              <a:rPr lang="en"/>
              <a:t>Both single and multiline comments are represented by the pair of /*...*/.</a:t>
            </a:r>
            <a:endParaRPr/>
          </a:p>
          <a:p>
            <a:pPr indent="-317500" lvl="1" marL="914400" rtl="0" algn="l">
              <a:spcBef>
                <a:spcPts val="0"/>
              </a:spcBef>
              <a:spcAft>
                <a:spcPts val="0"/>
              </a:spcAft>
              <a:buSzPts val="1400"/>
              <a:buChar char="○"/>
            </a:pPr>
            <a:r>
              <a:rPr lang="en"/>
              <a:t>Cannot be nested</a:t>
            </a:r>
            <a:endParaRPr/>
          </a:p>
        </p:txBody>
      </p:sp>
      <p:sp>
        <p:nvSpPr>
          <p:cNvPr id="103" name="Google Shape;103;p1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04" name="Google Shape;104;p19"/>
          <p:cNvPicPr preferRelativeResize="0"/>
          <p:nvPr/>
        </p:nvPicPr>
        <p:blipFill>
          <a:blip r:embed="rId3">
            <a:alphaModFix/>
          </a:blip>
          <a:stretch>
            <a:fillRect/>
          </a:stretch>
        </p:blipFill>
        <p:spPr>
          <a:xfrm>
            <a:off x="1435275" y="2687125"/>
            <a:ext cx="5467350" cy="1181100"/>
          </a:xfrm>
          <a:prstGeom prst="rect">
            <a:avLst/>
          </a:prstGeom>
          <a:noFill/>
          <a:ln>
            <a:noFill/>
          </a:ln>
        </p:spPr>
      </p:pic>
      <p:sp>
        <p:nvSpPr>
          <p:cNvPr id="105" name="Google Shape;105;p19"/>
          <p:cNvSpPr txBox="1"/>
          <p:nvPr/>
        </p:nvSpPr>
        <p:spPr>
          <a:xfrm>
            <a:off x="1520100" y="4021525"/>
            <a:ext cx="52977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Source: CSS Syntax, W3Schools, </a:t>
            </a:r>
            <a:r>
              <a:rPr lang="en" sz="1200" u="sng">
                <a:solidFill>
                  <a:schemeClr val="hlink"/>
                </a:solidFill>
                <a:latin typeface="Source Sans Pro"/>
                <a:ea typeface="Source Sans Pro"/>
                <a:cs typeface="Source Sans Pro"/>
                <a:sym typeface="Source Sans Pro"/>
                <a:hlinkClick r:id="rId4"/>
              </a:rPr>
              <a:t>https://www.w3schools.com/css/css_syntax.asp</a:t>
            </a:r>
            <a:r>
              <a:rPr lang="en" sz="1200">
                <a:solidFill>
                  <a:srgbClr val="434343"/>
                </a:solidFill>
                <a:latin typeface="Source Sans Pro"/>
                <a:ea typeface="Source Sans Pro"/>
                <a:cs typeface="Source Sans Pro"/>
                <a:sym typeface="Source Sans Pro"/>
              </a:rPr>
              <a:t> </a:t>
            </a:r>
            <a:endParaRPr sz="12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0"/>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Selectors </a:t>
            </a:r>
            <a:r>
              <a:rPr lang="en"/>
              <a:t>─ Basic</a:t>
            </a:r>
            <a:r>
              <a:rPr lang="en"/>
              <a:t> </a:t>
            </a:r>
            <a:endParaRPr/>
          </a:p>
        </p:txBody>
      </p:sp>
      <p:sp>
        <p:nvSpPr>
          <p:cNvPr id="111" name="Google Shape;111;p2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Basic Selectors ─ Type Selector</a:t>
            </a:r>
            <a:endParaRPr/>
          </a:p>
          <a:p>
            <a:pPr indent="0" lvl="0" marL="0" rtl="0" algn="l">
              <a:spcBef>
                <a:spcPts val="0"/>
              </a:spcBef>
              <a:spcAft>
                <a:spcPts val="0"/>
              </a:spcAft>
              <a:buNone/>
            </a:pPr>
            <a:r>
              <a:t/>
            </a:r>
            <a:endParaRPr/>
          </a:p>
        </p:txBody>
      </p:sp>
      <p:sp>
        <p:nvSpPr>
          <p:cNvPr id="117" name="Google Shape;117;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CSS type selector matches elements by node name. In other words, it selects all elements of the given type within a document.</a:t>
            </a:r>
            <a:endParaRPr/>
          </a:p>
          <a:p>
            <a:pPr indent="-342900" lvl="0" marL="457200" rtl="0" algn="l">
              <a:spcBef>
                <a:spcPts val="0"/>
              </a:spcBef>
              <a:spcAft>
                <a:spcPts val="0"/>
              </a:spcAft>
              <a:buSzPts val="1800"/>
              <a:buChar char="●"/>
            </a:pPr>
            <a:r>
              <a:rPr lang="en"/>
              <a:t>The universal selector, denoted with an asterisk (*), is a special type selector that selects all elements.</a:t>
            </a:r>
            <a:endParaRPr/>
          </a:p>
          <a:p>
            <a:pPr indent="-342900" lvl="0" marL="457200" rtl="0" algn="l">
              <a:spcBef>
                <a:spcPts val="0"/>
              </a:spcBef>
              <a:spcAft>
                <a:spcPts val="0"/>
              </a:spcAft>
              <a:buSzPts val="1800"/>
              <a:buChar char="●"/>
            </a:pPr>
            <a:r>
              <a:rPr lang="en"/>
              <a:t>Grouping selectors: Using </a:t>
            </a:r>
            <a:r>
              <a:rPr lang="en"/>
              <a:t>comma to separate selectors.</a:t>
            </a:r>
            <a:endParaRPr/>
          </a:p>
          <a:p>
            <a:pPr indent="-342900" lvl="0" marL="457200" rtl="0" algn="l">
              <a:spcBef>
                <a:spcPts val="0"/>
              </a:spcBef>
              <a:spcAft>
                <a:spcPts val="0"/>
              </a:spcAft>
              <a:buSzPts val="1800"/>
              <a:buChar char="●"/>
            </a:pPr>
            <a:r>
              <a:rPr lang="en"/>
              <a:t>Syntax: element { style properties }</a:t>
            </a:r>
            <a:endParaRPr/>
          </a:p>
        </p:txBody>
      </p:sp>
      <p:sp>
        <p:nvSpPr>
          <p:cNvPr id="118" name="Google Shape;118;p2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19" name="Google Shape;119;p21"/>
          <p:cNvPicPr preferRelativeResize="0"/>
          <p:nvPr/>
        </p:nvPicPr>
        <p:blipFill>
          <a:blip r:embed="rId3">
            <a:alphaModFix/>
          </a:blip>
          <a:stretch>
            <a:fillRect/>
          </a:stretch>
        </p:blipFill>
        <p:spPr>
          <a:xfrm>
            <a:off x="2201800" y="3309998"/>
            <a:ext cx="2476104" cy="1694176"/>
          </a:xfrm>
          <a:prstGeom prst="rect">
            <a:avLst/>
          </a:prstGeom>
          <a:noFill/>
          <a:ln cap="flat" cmpd="sng" w="6850">
            <a:solidFill>
              <a:schemeClr val="dk2"/>
            </a:solidFill>
            <a:prstDash val="solid"/>
            <a:round/>
            <a:headEnd len="sm" w="sm" type="none"/>
            <a:tailEnd len="sm" w="sm" type="none"/>
          </a:ln>
        </p:spPr>
      </p:pic>
      <p:pic>
        <p:nvPicPr>
          <p:cNvPr id="120" name="Google Shape;120;p21"/>
          <p:cNvPicPr preferRelativeResize="0"/>
          <p:nvPr/>
        </p:nvPicPr>
        <p:blipFill>
          <a:blip r:embed="rId4">
            <a:alphaModFix/>
          </a:blip>
          <a:stretch>
            <a:fillRect/>
          </a:stretch>
        </p:blipFill>
        <p:spPr>
          <a:xfrm>
            <a:off x="4939699" y="2962425"/>
            <a:ext cx="2002500" cy="20417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Basic Selectors ─ Class Selector</a:t>
            </a:r>
            <a:endParaRPr/>
          </a:p>
          <a:p>
            <a:pPr indent="0" lvl="0" marL="0" rtl="0" algn="l">
              <a:spcBef>
                <a:spcPts val="0"/>
              </a:spcBef>
              <a:spcAft>
                <a:spcPts val="0"/>
              </a:spcAft>
              <a:buNone/>
            </a:pPr>
            <a:r>
              <a:t/>
            </a:r>
            <a:endParaRPr/>
          </a:p>
        </p:txBody>
      </p:sp>
      <p:sp>
        <p:nvSpPr>
          <p:cNvPr id="126" name="Google Shape;126;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CSS class selector matches elements based on the contents of their class attribute.</a:t>
            </a:r>
            <a:endParaRPr/>
          </a:p>
          <a:p>
            <a:pPr indent="-342900" lvl="0" marL="457200" rtl="0" algn="l">
              <a:spcBef>
                <a:spcPts val="0"/>
              </a:spcBef>
              <a:spcAft>
                <a:spcPts val="0"/>
              </a:spcAft>
              <a:buSzPts val="1800"/>
              <a:buChar char="●"/>
            </a:pPr>
            <a:r>
              <a:rPr lang="en"/>
              <a:t>The class_name value must be a valid CSS identifier. HTML class attributes which are not valid CSS identifiers must be escaped before they can be used in class selectors.</a:t>
            </a:r>
            <a:endParaRPr/>
          </a:p>
          <a:p>
            <a:pPr indent="-342900" lvl="0" marL="457200" rtl="0" algn="l">
              <a:spcBef>
                <a:spcPts val="0"/>
              </a:spcBef>
              <a:spcAft>
                <a:spcPts val="0"/>
              </a:spcAft>
              <a:buSzPts val="1800"/>
              <a:buChar char="●"/>
            </a:pPr>
            <a:r>
              <a:rPr lang="en"/>
              <a:t>Syntax: </a:t>
            </a:r>
            <a:r>
              <a:rPr lang="en"/>
              <a:t>.class_name {  /* … */ </a:t>
            </a:r>
            <a:r>
              <a:rPr lang="en"/>
              <a:t>}</a:t>
            </a:r>
            <a:endParaRPr/>
          </a:p>
        </p:txBody>
      </p:sp>
      <p:sp>
        <p:nvSpPr>
          <p:cNvPr id="127" name="Google Shape;127;p2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28" name="Google Shape;128;p22"/>
          <p:cNvPicPr preferRelativeResize="0"/>
          <p:nvPr/>
        </p:nvPicPr>
        <p:blipFill>
          <a:blip r:embed="rId3">
            <a:alphaModFix/>
          </a:blip>
          <a:stretch>
            <a:fillRect/>
          </a:stretch>
        </p:blipFill>
        <p:spPr>
          <a:xfrm>
            <a:off x="1290625" y="3423175"/>
            <a:ext cx="2076450" cy="838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Basic Selectors ─ Id Selector</a:t>
            </a:r>
            <a:endParaRPr/>
          </a:p>
          <a:p>
            <a:pPr indent="0" lvl="0" marL="0" rtl="0" algn="l">
              <a:spcBef>
                <a:spcPts val="0"/>
              </a:spcBef>
              <a:spcAft>
                <a:spcPts val="0"/>
              </a:spcAft>
              <a:buNone/>
            </a:pPr>
            <a:r>
              <a:t/>
            </a:r>
            <a:endParaRPr/>
          </a:p>
        </p:txBody>
      </p:sp>
      <p:sp>
        <p:nvSpPr>
          <p:cNvPr id="134" name="Google Shape;134;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CSS ID selector matches an element based on the value of the element's id attribute.</a:t>
            </a:r>
            <a:endParaRPr/>
          </a:p>
          <a:p>
            <a:pPr indent="-342900" lvl="0" marL="457200" rtl="0" algn="l">
              <a:spcBef>
                <a:spcPts val="0"/>
              </a:spcBef>
              <a:spcAft>
                <a:spcPts val="0"/>
              </a:spcAft>
              <a:buSzPts val="1800"/>
              <a:buChar char="●"/>
            </a:pPr>
            <a:r>
              <a:rPr lang="en"/>
              <a:t>The id_value value must be a valid CSS identifier. HTML id attributes which are not valid CSS identifiers must be escaped before they can be used in ID selectors.</a:t>
            </a:r>
            <a:endParaRPr/>
          </a:p>
          <a:p>
            <a:pPr indent="-342900" lvl="0" marL="457200" rtl="0" algn="l">
              <a:spcBef>
                <a:spcPts val="0"/>
              </a:spcBef>
              <a:spcAft>
                <a:spcPts val="0"/>
              </a:spcAft>
              <a:buSzPts val="1800"/>
              <a:buChar char="●"/>
            </a:pPr>
            <a:r>
              <a:rPr lang="en"/>
              <a:t>Syntax: #id_value {  /* … */ }</a:t>
            </a:r>
            <a:endParaRPr/>
          </a:p>
        </p:txBody>
      </p:sp>
      <p:sp>
        <p:nvSpPr>
          <p:cNvPr id="135" name="Google Shape;135;p2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36" name="Google Shape;136;p23"/>
          <p:cNvPicPr preferRelativeResize="0"/>
          <p:nvPr/>
        </p:nvPicPr>
        <p:blipFill>
          <a:blip r:embed="rId3">
            <a:alphaModFix/>
          </a:blip>
          <a:stretch>
            <a:fillRect/>
          </a:stretch>
        </p:blipFill>
        <p:spPr>
          <a:xfrm>
            <a:off x="476250" y="4616125"/>
            <a:ext cx="8191500" cy="257175"/>
          </a:xfrm>
          <a:prstGeom prst="rect">
            <a:avLst/>
          </a:prstGeom>
          <a:noFill/>
          <a:ln cap="flat" cmpd="sng" w="9525">
            <a:solidFill>
              <a:schemeClr val="dk2"/>
            </a:solidFill>
            <a:prstDash val="solid"/>
            <a:round/>
            <a:headEnd len="sm" w="sm" type="none"/>
            <a:tailEnd len="sm" w="sm" type="none"/>
          </a:ln>
        </p:spPr>
      </p:pic>
      <p:pic>
        <p:nvPicPr>
          <p:cNvPr id="137" name="Google Shape;137;p23"/>
          <p:cNvPicPr preferRelativeResize="0"/>
          <p:nvPr/>
        </p:nvPicPr>
        <p:blipFill>
          <a:blip r:embed="rId4">
            <a:alphaModFix/>
          </a:blip>
          <a:stretch>
            <a:fillRect/>
          </a:stretch>
        </p:blipFill>
        <p:spPr>
          <a:xfrm>
            <a:off x="528773" y="3041987"/>
            <a:ext cx="4043225" cy="1229519"/>
          </a:xfrm>
          <a:prstGeom prst="rect">
            <a:avLst/>
          </a:prstGeom>
          <a:noFill/>
          <a:ln cap="flat" cmpd="sng" w="9525">
            <a:solidFill>
              <a:schemeClr val="dk2"/>
            </a:solidFill>
            <a:prstDash val="solid"/>
            <a:round/>
            <a:headEnd len="sm" w="sm" type="none"/>
            <a:tailEnd len="sm" w="sm" type="none"/>
          </a:ln>
        </p:spPr>
      </p:pic>
      <p:pic>
        <p:nvPicPr>
          <p:cNvPr id="138" name="Google Shape;138;p23"/>
          <p:cNvPicPr preferRelativeResize="0"/>
          <p:nvPr/>
        </p:nvPicPr>
        <p:blipFill>
          <a:blip r:embed="rId5">
            <a:alphaModFix/>
          </a:blip>
          <a:stretch>
            <a:fillRect/>
          </a:stretch>
        </p:blipFill>
        <p:spPr>
          <a:xfrm>
            <a:off x="5217025" y="3271800"/>
            <a:ext cx="3576500" cy="45220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Basic Selectors ─ Compound Selector</a:t>
            </a:r>
            <a:endParaRPr/>
          </a:p>
          <a:p>
            <a:pPr indent="0" lvl="0" marL="0" rtl="0" algn="l">
              <a:spcBef>
                <a:spcPts val="0"/>
              </a:spcBef>
              <a:spcAft>
                <a:spcPts val="0"/>
              </a:spcAft>
              <a:buNone/>
            </a:pPr>
            <a:r>
              <a:t/>
            </a:r>
            <a:endParaRPr/>
          </a:p>
        </p:txBody>
      </p:sp>
      <p:sp>
        <p:nvSpPr>
          <p:cNvPr id="144" name="Google Shape;144;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compound selector is a sequence of simple selectors that are not separated by a combinator.</a:t>
            </a:r>
            <a:endParaRPr/>
          </a:p>
          <a:p>
            <a:pPr indent="-342900" lvl="0" marL="457200" rtl="0" algn="l">
              <a:spcBef>
                <a:spcPts val="0"/>
              </a:spcBef>
              <a:spcAft>
                <a:spcPts val="0"/>
              </a:spcAft>
              <a:buSzPts val="1800"/>
              <a:buChar char="●"/>
            </a:pPr>
            <a:r>
              <a:rPr lang="en"/>
              <a:t>A given element is said to match a compound selector when the element matches all the simple selectors in the compound selector.</a:t>
            </a:r>
            <a:endParaRPr/>
          </a:p>
          <a:p>
            <a:pPr indent="-342900" lvl="0" marL="457200" rtl="0" algn="l">
              <a:spcBef>
                <a:spcPts val="0"/>
              </a:spcBef>
              <a:spcAft>
                <a:spcPts val="0"/>
              </a:spcAft>
              <a:buSzPts val="1800"/>
              <a:buChar char="●"/>
            </a:pPr>
            <a:r>
              <a:rPr lang="en"/>
              <a:t>In a compound selector, the type selector or universal selector must come first in the sequence of selectors. Only one type selector or universal selector is allowed in the sequence.</a:t>
            </a:r>
            <a:endParaRPr/>
          </a:p>
        </p:txBody>
      </p:sp>
      <p:sp>
        <p:nvSpPr>
          <p:cNvPr id="145" name="Google Shape;145;p2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a:blip r:embed="rId3">
            <a:alphaModFix/>
          </a:blip>
          <a:stretch>
            <a:fillRect/>
          </a:stretch>
        </p:blipFill>
        <p:spPr>
          <a:xfrm>
            <a:off x="1261773" y="3599398"/>
            <a:ext cx="4133125" cy="1243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Basic Selectors ─ Attribute Selector</a:t>
            </a:r>
            <a:endParaRPr/>
          </a:p>
          <a:p>
            <a:pPr indent="0" lvl="0" marL="0" rtl="0" algn="l">
              <a:spcBef>
                <a:spcPts val="0"/>
              </a:spcBef>
              <a:spcAft>
                <a:spcPts val="0"/>
              </a:spcAft>
              <a:buNone/>
            </a:pPr>
            <a:r>
              <a:t/>
            </a:r>
            <a:endParaRPr/>
          </a:p>
        </p:txBody>
      </p:sp>
      <p:sp>
        <p:nvSpPr>
          <p:cNvPr id="152" name="Google Shape;152;p2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fontScale="85000"/>
          </a:bodyPr>
          <a:lstStyle/>
          <a:p>
            <a:pPr indent="-304165" lvl="0" marL="457200" rtl="0" algn="l">
              <a:spcBef>
                <a:spcPts val="0"/>
              </a:spcBef>
              <a:spcAft>
                <a:spcPts val="0"/>
              </a:spcAft>
              <a:buSzPct val="100000"/>
              <a:buChar char="●"/>
            </a:pPr>
            <a:r>
              <a:rPr lang="en"/>
              <a:t>M</a:t>
            </a:r>
            <a:r>
              <a:rPr lang="en"/>
              <a:t>atches elements based on the element having a given attribute explicitly set, with options for defining an attribute value or substring value match.</a:t>
            </a:r>
            <a:endParaRPr/>
          </a:p>
          <a:p>
            <a:pPr indent="-293370" lvl="1" marL="914400" rtl="0" algn="l">
              <a:spcBef>
                <a:spcPts val="0"/>
              </a:spcBef>
              <a:spcAft>
                <a:spcPts val="0"/>
              </a:spcAft>
              <a:buSzPct val="100000"/>
              <a:buChar char="○"/>
            </a:pPr>
            <a:r>
              <a:rPr lang="en"/>
              <a:t>A universal element * is added if no element is specified. This may increase performance concerns due to global DOM traversal.</a:t>
            </a:r>
            <a:endParaRPr/>
          </a:p>
          <a:p>
            <a:pPr indent="-304165" lvl="0" marL="457200" rtl="0" algn="l">
              <a:spcBef>
                <a:spcPts val="0"/>
              </a:spcBef>
              <a:spcAft>
                <a:spcPts val="0"/>
              </a:spcAft>
              <a:buSzPct val="100000"/>
              <a:buChar char="●"/>
            </a:pPr>
            <a:r>
              <a:rPr lang="en"/>
              <a:t>[attr]: elements with an attribute name of attr.</a:t>
            </a:r>
            <a:endParaRPr/>
          </a:p>
          <a:p>
            <a:pPr indent="-304165" lvl="0" marL="457200" rtl="0" algn="l">
              <a:spcBef>
                <a:spcPts val="0"/>
              </a:spcBef>
              <a:spcAft>
                <a:spcPts val="0"/>
              </a:spcAft>
              <a:buSzPct val="100000"/>
              <a:buChar char="●"/>
            </a:pPr>
            <a:r>
              <a:rPr lang="en"/>
              <a:t>[attr=value]: elements with an attribute name of attr whose value is exactly value.</a:t>
            </a:r>
            <a:endParaRPr/>
          </a:p>
          <a:p>
            <a:pPr indent="-304165" lvl="0" marL="457200" rtl="0" algn="l">
              <a:spcBef>
                <a:spcPts val="0"/>
              </a:spcBef>
              <a:spcAft>
                <a:spcPts val="0"/>
              </a:spcAft>
              <a:buSzPct val="100000"/>
              <a:buChar char="●"/>
            </a:pPr>
            <a:r>
              <a:rPr lang="en"/>
              <a:t>[attr~=value]: elements with an attribute name of attr whose value is a whitespace-separated list of words, one of which is exactly value.</a:t>
            </a:r>
            <a:endParaRPr/>
          </a:p>
          <a:p>
            <a:pPr indent="-304165" lvl="0" marL="457200" rtl="0" algn="l">
              <a:spcBef>
                <a:spcPts val="0"/>
              </a:spcBef>
              <a:spcAft>
                <a:spcPts val="0"/>
              </a:spcAft>
              <a:buSzPct val="100000"/>
              <a:buChar char="●"/>
            </a:pPr>
            <a:r>
              <a:rPr lang="en"/>
              <a:t>[attr|=value]: elements with an attribute name of attr whose value can be exactly value or can begin with value immediately followed by a hyphen, - (U+002D). It is often used for language subcode matches.</a:t>
            </a:r>
            <a:endParaRPr/>
          </a:p>
        </p:txBody>
      </p:sp>
      <p:sp>
        <p:nvSpPr>
          <p:cNvPr id="153" name="Google Shape;153;p2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154" name="Google Shape;154;p2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fontScale="92500" lnSpcReduction="20000"/>
          </a:bodyPr>
          <a:lstStyle/>
          <a:p>
            <a:pPr indent="-310833" lvl="0" marL="457200" rtl="0" algn="l">
              <a:spcBef>
                <a:spcPts val="0"/>
              </a:spcBef>
              <a:spcAft>
                <a:spcPts val="0"/>
              </a:spcAft>
              <a:buSzPct val="100000"/>
              <a:buChar char="●"/>
            </a:pPr>
            <a:r>
              <a:rPr lang="en"/>
              <a:t>[attr^=value]: elements with an attribute name of attr whose value is prefixed (preceded) by value.</a:t>
            </a:r>
            <a:endParaRPr/>
          </a:p>
          <a:p>
            <a:pPr indent="-310833" lvl="0" marL="457200" rtl="0" algn="l">
              <a:spcBef>
                <a:spcPts val="0"/>
              </a:spcBef>
              <a:spcAft>
                <a:spcPts val="0"/>
              </a:spcAft>
              <a:buSzPct val="100000"/>
              <a:buChar char="●"/>
            </a:pPr>
            <a:r>
              <a:rPr lang="en"/>
              <a:t>[attr$=value]: elements with an attribute name of attr whose value is suffixed (followed) by value.</a:t>
            </a:r>
            <a:endParaRPr/>
          </a:p>
          <a:p>
            <a:pPr indent="-310833" lvl="0" marL="457200" rtl="0" algn="l">
              <a:spcBef>
                <a:spcPts val="0"/>
              </a:spcBef>
              <a:spcAft>
                <a:spcPts val="0"/>
              </a:spcAft>
              <a:buSzPct val="100000"/>
              <a:buChar char="●"/>
            </a:pPr>
            <a:r>
              <a:rPr lang="en"/>
              <a:t>[attr*=value]: elements with an attribute name of attr whose value contains at least one occurrence of value within the string.</a:t>
            </a:r>
            <a:endParaRPr/>
          </a:p>
          <a:p>
            <a:pPr indent="-310833" lvl="0" marL="457200" rtl="0" algn="l">
              <a:spcBef>
                <a:spcPts val="0"/>
              </a:spcBef>
              <a:spcAft>
                <a:spcPts val="0"/>
              </a:spcAft>
              <a:buSzPct val="100000"/>
              <a:buChar char="●"/>
            </a:pPr>
            <a:r>
              <a:rPr lang="en"/>
              <a:t>[attr operator value i]: Adding an i (or I) before the closing bracket causes the value to be compared case-insensitively (for characters within the ASCII range).</a:t>
            </a:r>
            <a:endParaRPr/>
          </a:p>
          <a:p>
            <a:pPr indent="-310833" lvl="0" marL="457200" rtl="0" algn="l">
              <a:spcBef>
                <a:spcPts val="0"/>
              </a:spcBef>
              <a:spcAft>
                <a:spcPts val="0"/>
              </a:spcAft>
              <a:buSzPct val="100000"/>
              <a:buChar char="●"/>
            </a:pPr>
            <a:r>
              <a:rPr lang="en"/>
              <a:t>[attr operator value s]: Adding an s (or S) before the closing bracket causes the value to be compared case-sensitively (for characters within the ASCII range).</a:t>
            </a:r>
            <a:endParaRPr/>
          </a:p>
          <a:p>
            <a:pPr indent="-310833" lvl="0" marL="457200" rtl="0" algn="l">
              <a:spcBef>
                <a:spcPts val="0"/>
              </a:spcBef>
              <a:spcAft>
                <a:spcPts val="0"/>
              </a:spcAft>
              <a:buSzPct val="100000"/>
              <a:buChar char="●"/>
            </a:pPr>
            <a:r>
              <a:rPr lang="en" u="sng">
                <a:solidFill>
                  <a:schemeClr val="hlink"/>
                </a:solidFill>
                <a:hlinkClick r:id="rId3"/>
              </a:rPr>
              <a:t>https://developer.mozilla.org/en-US/docs/Web/CSS/Reference/Selectors/Attribute_selectors</a:t>
            </a:r>
            <a:r>
              <a:rPr lang="en"/>
              <a:t>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6"/>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Selectors ─ Combinator </a:t>
            </a:r>
            <a:endParaRPr/>
          </a:p>
        </p:txBody>
      </p:sp>
      <p:sp>
        <p:nvSpPr>
          <p:cNvPr id="160" name="Google Shape;160;p2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Combinator</a:t>
            </a:r>
            <a:r>
              <a:rPr lang="en"/>
              <a:t> Selectors ─ Descendent</a:t>
            </a:r>
            <a:endParaRPr/>
          </a:p>
          <a:p>
            <a:pPr indent="0" lvl="0" marL="0" rtl="0" algn="l">
              <a:spcBef>
                <a:spcPts val="0"/>
              </a:spcBef>
              <a:spcAft>
                <a:spcPts val="0"/>
              </a:spcAft>
              <a:buNone/>
            </a:pPr>
            <a:r>
              <a:t/>
            </a:r>
            <a:endParaRPr/>
          </a:p>
        </p:txBody>
      </p:sp>
      <p:sp>
        <p:nvSpPr>
          <p:cNvPr id="166" name="Google Shape;166;p2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167" name="Google Shape;167;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a:t>
            </a:r>
            <a:r>
              <a:rPr lang="en"/>
              <a:t>enoted with one or more spaces (typically one), selects nodes that are descendants of the first element, e.g. elements matched by the second selector are selected.</a:t>
            </a:r>
            <a:endParaRPr/>
          </a:p>
          <a:p>
            <a:pPr indent="-342900" lvl="0" marL="457200" rtl="0" algn="l">
              <a:spcBef>
                <a:spcPts val="0"/>
              </a:spcBef>
              <a:spcAft>
                <a:spcPts val="0"/>
              </a:spcAft>
              <a:buSzPts val="1800"/>
              <a:buChar char="●"/>
            </a:pPr>
            <a:r>
              <a:rPr lang="en"/>
              <a:t>Syntax: selector1 selector2 {  /* property declarations */ }</a:t>
            </a:r>
            <a:endParaRPr/>
          </a:p>
        </p:txBody>
      </p:sp>
      <p:pic>
        <p:nvPicPr>
          <p:cNvPr id="168" name="Google Shape;168;p27"/>
          <p:cNvPicPr preferRelativeResize="0"/>
          <p:nvPr/>
        </p:nvPicPr>
        <p:blipFill>
          <a:blip r:embed="rId3">
            <a:alphaModFix/>
          </a:blip>
          <a:stretch>
            <a:fillRect/>
          </a:stretch>
        </p:blipFill>
        <p:spPr>
          <a:xfrm>
            <a:off x="972500" y="2632200"/>
            <a:ext cx="2865400" cy="1703425"/>
          </a:xfrm>
          <a:prstGeom prst="rect">
            <a:avLst/>
          </a:prstGeom>
          <a:noFill/>
          <a:ln cap="flat" cmpd="sng" w="9525">
            <a:solidFill>
              <a:schemeClr val="dk2"/>
            </a:solidFill>
            <a:prstDash val="solid"/>
            <a:round/>
            <a:headEnd len="sm" w="sm" type="none"/>
            <a:tailEnd len="sm" w="sm" type="none"/>
          </a:ln>
        </p:spPr>
      </p:pic>
      <p:pic>
        <p:nvPicPr>
          <p:cNvPr id="169" name="Google Shape;169;p27"/>
          <p:cNvPicPr preferRelativeResize="0"/>
          <p:nvPr/>
        </p:nvPicPr>
        <p:blipFill>
          <a:blip r:embed="rId4">
            <a:alphaModFix/>
          </a:blip>
          <a:stretch>
            <a:fillRect/>
          </a:stretch>
        </p:blipFill>
        <p:spPr>
          <a:xfrm>
            <a:off x="4249725" y="2632200"/>
            <a:ext cx="2070200" cy="2309775"/>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Combinator Selectors ─ Child</a:t>
            </a:r>
            <a:endParaRPr/>
          </a:p>
          <a:p>
            <a:pPr indent="0" lvl="0" marL="0" rtl="0" algn="l">
              <a:spcBef>
                <a:spcPts val="0"/>
              </a:spcBef>
              <a:spcAft>
                <a:spcPts val="0"/>
              </a:spcAft>
              <a:buNone/>
            </a:pPr>
            <a:r>
              <a:t/>
            </a:r>
            <a:endParaRPr/>
          </a:p>
        </p:txBody>
      </p:sp>
      <p:sp>
        <p:nvSpPr>
          <p:cNvPr id="175" name="Google Shape;175;p2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176" name="Google Shape;176;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Denoted with one or more spaces (typically one), selects nodes that are descendants of the first element, e.g. elements matched by the second selector are selected.</a:t>
            </a:r>
            <a:endParaRPr/>
          </a:p>
          <a:p>
            <a:pPr indent="-342900" lvl="0" marL="457200" rtl="0" algn="l">
              <a:spcBef>
                <a:spcPts val="0"/>
              </a:spcBef>
              <a:spcAft>
                <a:spcPts val="0"/>
              </a:spcAft>
              <a:buSzPts val="1800"/>
              <a:buChar char="●"/>
            </a:pPr>
            <a:r>
              <a:rPr lang="en"/>
              <a:t>D</a:t>
            </a:r>
            <a:r>
              <a:rPr lang="en"/>
              <a:t>irect children of the first element are selected.</a:t>
            </a:r>
            <a:endParaRPr/>
          </a:p>
          <a:p>
            <a:pPr indent="-342900" lvl="0" marL="457200" rtl="0" algn="l">
              <a:spcBef>
                <a:spcPts val="0"/>
              </a:spcBef>
              <a:spcAft>
                <a:spcPts val="0"/>
              </a:spcAft>
              <a:buSzPts val="1800"/>
              <a:buChar char="●"/>
            </a:pPr>
            <a:r>
              <a:rPr lang="en"/>
              <a:t>Syntax: selector1 &gt; selector2 {  /* property declarations */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Combinator Selectors ─ Subsequent Sibling</a:t>
            </a:r>
            <a:endParaRPr/>
          </a:p>
          <a:p>
            <a:pPr indent="0" lvl="0" marL="0" rtl="0" algn="l">
              <a:spcBef>
                <a:spcPts val="0"/>
              </a:spcBef>
              <a:spcAft>
                <a:spcPts val="0"/>
              </a:spcAft>
              <a:buNone/>
            </a:pPr>
            <a:r>
              <a:t/>
            </a:r>
            <a:endParaRPr/>
          </a:p>
        </p:txBody>
      </p:sp>
      <p:sp>
        <p:nvSpPr>
          <p:cNvPr id="182" name="Google Shape;182;p2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183" name="Google Shape;183;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subsequent-sibling combinator (~, a tilde) separates two selectors and matches all instances of the second element that follow the first element (not necessarily immediately) and share the same parent element.</a:t>
            </a:r>
            <a:endParaRPr/>
          </a:p>
          <a:p>
            <a:pPr indent="-342900" lvl="0" marL="457200" rtl="0" algn="l">
              <a:spcBef>
                <a:spcPts val="0"/>
              </a:spcBef>
              <a:spcAft>
                <a:spcPts val="0"/>
              </a:spcAft>
              <a:buSzPts val="1800"/>
              <a:buChar char="●"/>
            </a:pPr>
            <a:r>
              <a:rPr lang="en"/>
              <a:t>Syntax: </a:t>
            </a:r>
            <a:r>
              <a:rPr lang="en"/>
              <a:t>former_element ~ target_element { style properties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Subsequent Sibling</a:t>
            </a:r>
            <a:endParaRPr/>
          </a:p>
          <a:p>
            <a:pPr indent="0" lvl="0" marL="0" rtl="0" algn="l">
              <a:spcBef>
                <a:spcPts val="0"/>
              </a:spcBef>
              <a:spcAft>
                <a:spcPts val="0"/>
              </a:spcAft>
              <a:buNone/>
            </a:pPr>
            <a:r>
              <a:t/>
            </a:r>
            <a:endParaRPr/>
          </a:p>
        </p:txBody>
      </p:sp>
      <p:sp>
        <p:nvSpPr>
          <p:cNvPr id="189" name="Google Shape;189;p3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190" name="Google Shape;190;p30"/>
          <p:cNvPicPr preferRelativeResize="0"/>
          <p:nvPr/>
        </p:nvPicPr>
        <p:blipFill>
          <a:blip r:embed="rId3">
            <a:alphaModFix/>
          </a:blip>
          <a:stretch>
            <a:fillRect/>
          </a:stretch>
        </p:blipFill>
        <p:spPr>
          <a:xfrm>
            <a:off x="548825" y="1267172"/>
            <a:ext cx="5136225" cy="1874600"/>
          </a:xfrm>
          <a:prstGeom prst="rect">
            <a:avLst/>
          </a:prstGeom>
          <a:noFill/>
          <a:ln cap="flat" cmpd="sng" w="9525">
            <a:solidFill>
              <a:schemeClr val="dk2"/>
            </a:solidFill>
            <a:prstDash val="solid"/>
            <a:round/>
            <a:headEnd len="sm" w="sm" type="none"/>
            <a:tailEnd len="sm" w="sm" type="none"/>
          </a:ln>
        </p:spPr>
      </p:pic>
      <p:pic>
        <p:nvPicPr>
          <p:cNvPr id="191" name="Google Shape;191;p30"/>
          <p:cNvPicPr preferRelativeResize="0"/>
          <p:nvPr/>
        </p:nvPicPr>
        <p:blipFill>
          <a:blip r:embed="rId4">
            <a:alphaModFix/>
          </a:blip>
          <a:stretch>
            <a:fillRect/>
          </a:stretch>
        </p:blipFill>
        <p:spPr>
          <a:xfrm>
            <a:off x="548825" y="3340525"/>
            <a:ext cx="7639050" cy="127635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3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Combinator Selectors ─ Next Sibling</a:t>
            </a:r>
            <a:endParaRPr/>
          </a:p>
          <a:p>
            <a:pPr indent="0" lvl="0" marL="0" rtl="0" algn="l">
              <a:spcBef>
                <a:spcPts val="0"/>
              </a:spcBef>
              <a:spcAft>
                <a:spcPts val="0"/>
              </a:spcAft>
              <a:buNone/>
            </a:pPr>
            <a:r>
              <a:t/>
            </a:r>
            <a:endParaRPr/>
          </a:p>
        </p:txBody>
      </p:sp>
      <p:sp>
        <p:nvSpPr>
          <p:cNvPr id="197" name="Google Shape;197;p3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198" name="Google Shape;198;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a:t>
            </a:r>
            <a:r>
              <a:rPr lang="en"/>
              <a:t>enoted by the plus symbol (+), is similar to the subsequent-sibling. However, given A + B, it only matches B if B is immediately preceded by A, with both sharing the same parent.</a:t>
            </a:r>
            <a:endParaRPr/>
          </a:p>
          <a:p>
            <a:pPr indent="-342900" lvl="0" marL="457200" rtl="0" algn="l">
              <a:spcBef>
                <a:spcPts val="0"/>
              </a:spcBef>
              <a:spcAft>
                <a:spcPts val="0"/>
              </a:spcAft>
              <a:buSzPts val="1800"/>
              <a:buChar char="●"/>
            </a:pPr>
            <a:r>
              <a:rPr lang="en"/>
              <a:t>Syntax: former_element + target_element { style properties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2"/>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Property ─ Text</a:t>
            </a:r>
            <a:endParaRPr/>
          </a:p>
        </p:txBody>
      </p:sp>
      <p:sp>
        <p:nvSpPr>
          <p:cNvPr id="204" name="Google Shape;204;p3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Color</a:t>
            </a:r>
            <a:endParaRPr/>
          </a:p>
        </p:txBody>
      </p:sp>
      <p:sp>
        <p:nvSpPr>
          <p:cNvPr id="210" name="Google Shape;210;p3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11" name="Google Shape;211;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Color names and hexadecimal codes may be used as the color property value.</a:t>
            </a:r>
            <a:endParaRPr/>
          </a:p>
          <a:p>
            <a:pPr indent="-342900" lvl="0" marL="457200" rtl="0" algn="l">
              <a:spcBef>
                <a:spcPts val="0"/>
              </a:spcBef>
              <a:spcAft>
                <a:spcPts val="0"/>
              </a:spcAft>
              <a:buSzPts val="1800"/>
              <a:buChar char="●"/>
            </a:pPr>
            <a:r>
              <a:rPr lang="en"/>
              <a:t>CSS Color Module Level 3</a:t>
            </a:r>
            <a:endParaRPr/>
          </a:p>
          <a:p>
            <a:pPr indent="-317500" lvl="1" marL="914400" rtl="0" algn="l">
              <a:spcBef>
                <a:spcPts val="0"/>
              </a:spcBef>
              <a:spcAft>
                <a:spcPts val="0"/>
              </a:spcAft>
              <a:buSzPts val="1400"/>
              <a:buChar char="○"/>
            </a:pPr>
            <a:r>
              <a:rPr lang="en" u="sng">
                <a:solidFill>
                  <a:schemeClr val="hlink"/>
                </a:solidFill>
                <a:hlinkClick r:id="rId3"/>
              </a:rPr>
              <a:t>https://www.w3.org/TR/css-color-3/</a:t>
            </a:r>
            <a:r>
              <a:rPr lang="en"/>
              <a:t> </a:t>
            </a:r>
            <a:endParaRPr/>
          </a:p>
        </p:txBody>
      </p:sp>
      <p:pic>
        <p:nvPicPr>
          <p:cNvPr id="212" name="Google Shape;212;p33"/>
          <p:cNvPicPr preferRelativeResize="0"/>
          <p:nvPr/>
        </p:nvPicPr>
        <p:blipFill>
          <a:blip r:embed="rId4">
            <a:alphaModFix/>
          </a:blip>
          <a:stretch>
            <a:fillRect/>
          </a:stretch>
        </p:blipFill>
        <p:spPr>
          <a:xfrm>
            <a:off x="4372400" y="1678801"/>
            <a:ext cx="2539650" cy="3271750"/>
          </a:xfrm>
          <a:prstGeom prst="rect">
            <a:avLst/>
          </a:prstGeom>
          <a:noFill/>
          <a:ln cap="flat" cmpd="sng" w="9525">
            <a:solidFill>
              <a:schemeClr val="dk2"/>
            </a:solidFill>
            <a:prstDash val="solid"/>
            <a:round/>
            <a:headEnd len="sm" w="sm" type="none"/>
            <a:tailEnd len="sm" w="sm" type="none"/>
          </a:ln>
        </p:spPr>
      </p:pic>
      <p:pic>
        <p:nvPicPr>
          <p:cNvPr id="213" name="Google Shape;213;p33"/>
          <p:cNvPicPr preferRelativeResize="0"/>
          <p:nvPr/>
        </p:nvPicPr>
        <p:blipFill>
          <a:blip r:embed="rId5">
            <a:alphaModFix/>
          </a:blip>
          <a:stretch>
            <a:fillRect/>
          </a:stretch>
        </p:blipFill>
        <p:spPr>
          <a:xfrm>
            <a:off x="846938" y="2826463"/>
            <a:ext cx="2981325" cy="2124075"/>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RGBA Colors</a:t>
            </a:r>
            <a:endParaRPr/>
          </a:p>
        </p:txBody>
      </p:sp>
      <p:sp>
        <p:nvSpPr>
          <p:cNvPr id="219" name="Google Shape;219;p3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20" name="Google Shape;220;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RGBA is an extension of RGB that adds an alpha channel for transparency.</a:t>
            </a:r>
            <a:endParaRPr/>
          </a:p>
          <a:p>
            <a:pPr indent="-342900" lvl="0" marL="457200" rtl="0" algn="l">
              <a:spcBef>
                <a:spcPts val="0"/>
              </a:spcBef>
              <a:spcAft>
                <a:spcPts val="0"/>
              </a:spcAft>
              <a:buSzPts val="1800"/>
              <a:buChar char="●"/>
            </a:pPr>
            <a:r>
              <a:rPr lang="en"/>
              <a:t>Syntax: rgba(red, green, blue, alpha)</a:t>
            </a:r>
            <a:endParaRPr/>
          </a:p>
          <a:p>
            <a:pPr indent="-317500" lvl="1" marL="914400" rtl="0" algn="l">
              <a:spcBef>
                <a:spcPts val="0"/>
              </a:spcBef>
              <a:spcAft>
                <a:spcPts val="0"/>
              </a:spcAft>
              <a:buSzPts val="1400"/>
              <a:buChar char="○"/>
            </a:pPr>
            <a:r>
              <a:rPr lang="en"/>
              <a:t>red, green, blue: values from 0–255 or percentages.</a:t>
            </a:r>
            <a:endParaRPr/>
          </a:p>
          <a:p>
            <a:pPr indent="-317500" lvl="1" marL="914400" rtl="0" algn="l">
              <a:spcBef>
                <a:spcPts val="0"/>
              </a:spcBef>
              <a:spcAft>
                <a:spcPts val="0"/>
              </a:spcAft>
              <a:buSzPts val="1400"/>
              <a:buChar char="○"/>
            </a:pPr>
            <a:r>
              <a:rPr lang="en"/>
              <a:t>alpha: value between 0.0 (fully transparent) and 1.0 (fully opaque).</a:t>
            </a:r>
            <a:endParaRPr/>
          </a:p>
        </p:txBody>
      </p:sp>
      <p:pic>
        <p:nvPicPr>
          <p:cNvPr id="221" name="Google Shape;221;p34"/>
          <p:cNvPicPr preferRelativeResize="0"/>
          <p:nvPr/>
        </p:nvPicPr>
        <p:blipFill>
          <a:blip r:embed="rId3">
            <a:alphaModFix/>
          </a:blip>
          <a:stretch>
            <a:fillRect/>
          </a:stretch>
        </p:blipFill>
        <p:spPr>
          <a:xfrm>
            <a:off x="813525" y="2571738"/>
            <a:ext cx="4800600" cy="962025"/>
          </a:xfrm>
          <a:prstGeom prst="rect">
            <a:avLst/>
          </a:prstGeom>
          <a:noFill/>
          <a:ln cap="flat" cmpd="sng" w="9525">
            <a:solidFill>
              <a:schemeClr val="dk2"/>
            </a:solidFill>
            <a:prstDash val="solid"/>
            <a:round/>
            <a:headEnd len="sm" w="sm" type="none"/>
            <a:tailEnd len="sm" w="sm" type="none"/>
          </a:ln>
        </p:spPr>
      </p:pic>
      <p:pic>
        <p:nvPicPr>
          <p:cNvPr id="222" name="Google Shape;222;p34"/>
          <p:cNvPicPr preferRelativeResize="0"/>
          <p:nvPr/>
        </p:nvPicPr>
        <p:blipFill>
          <a:blip r:embed="rId4">
            <a:alphaModFix/>
          </a:blip>
          <a:stretch>
            <a:fillRect/>
          </a:stretch>
        </p:blipFill>
        <p:spPr>
          <a:xfrm>
            <a:off x="813525" y="3703200"/>
            <a:ext cx="7639050" cy="93345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HSLA and HSL Colors</a:t>
            </a:r>
            <a:endParaRPr/>
          </a:p>
        </p:txBody>
      </p:sp>
      <p:sp>
        <p:nvSpPr>
          <p:cNvPr id="228" name="Google Shape;228;p3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29" name="Google Shape;229;p3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HSL stands for Hue, Saturation and Lightness.</a:t>
            </a:r>
            <a:endParaRPr/>
          </a:p>
          <a:p>
            <a:pPr indent="-342900" lvl="0" marL="457200" rtl="0" algn="l">
              <a:spcBef>
                <a:spcPts val="0"/>
              </a:spcBef>
              <a:spcAft>
                <a:spcPts val="0"/>
              </a:spcAft>
              <a:buSzPts val="1800"/>
              <a:buChar char="●"/>
            </a:pPr>
            <a:r>
              <a:rPr lang="en"/>
              <a:t>HSLA adds an alpha channel for transparency.</a:t>
            </a:r>
            <a:endParaRPr/>
          </a:p>
          <a:p>
            <a:pPr indent="-342900" lvl="0" marL="457200" rtl="0" algn="l">
              <a:spcBef>
                <a:spcPts val="0"/>
              </a:spcBef>
              <a:spcAft>
                <a:spcPts val="0"/>
              </a:spcAft>
              <a:buSzPts val="1800"/>
              <a:buChar char="●"/>
            </a:pPr>
            <a:r>
              <a:rPr lang="en"/>
              <a:t>Syntax:</a:t>
            </a:r>
            <a:endParaRPr/>
          </a:p>
          <a:p>
            <a:pPr indent="-317500" lvl="1" marL="914400" rtl="0" algn="l">
              <a:spcBef>
                <a:spcPts val="0"/>
              </a:spcBef>
              <a:spcAft>
                <a:spcPts val="0"/>
              </a:spcAft>
              <a:buSzPts val="1400"/>
              <a:buChar char="○"/>
            </a:pPr>
            <a:r>
              <a:rPr lang="en"/>
              <a:t>hsl(hue, saturation, lightness)</a:t>
            </a:r>
            <a:endParaRPr/>
          </a:p>
          <a:p>
            <a:pPr indent="-317500" lvl="1" marL="914400" rtl="0" algn="l">
              <a:spcBef>
                <a:spcPts val="0"/>
              </a:spcBef>
              <a:spcAft>
                <a:spcPts val="0"/>
              </a:spcAft>
              <a:buSzPts val="1400"/>
              <a:buChar char="○"/>
            </a:pPr>
            <a:r>
              <a:rPr lang="en"/>
              <a:t>hsla(hue, saturation, lightness, alpha)</a:t>
            </a:r>
            <a:endParaRPr/>
          </a:p>
          <a:p>
            <a:pPr indent="-342900" lvl="0" marL="457200" rtl="0" algn="l">
              <a:spcBef>
                <a:spcPts val="0"/>
              </a:spcBef>
              <a:spcAft>
                <a:spcPts val="0"/>
              </a:spcAft>
              <a:buSzPts val="1800"/>
              <a:buChar char="●"/>
            </a:pPr>
            <a:r>
              <a:rPr lang="en"/>
              <a:t>Parameters:</a:t>
            </a:r>
            <a:endParaRPr/>
          </a:p>
          <a:p>
            <a:pPr indent="-317500" lvl="1" marL="914400" rtl="0" algn="l">
              <a:spcBef>
                <a:spcPts val="0"/>
              </a:spcBef>
              <a:spcAft>
                <a:spcPts val="0"/>
              </a:spcAft>
              <a:buSzPts val="1400"/>
              <a:buChar char="○"/>
            </a:pPr>
            <a:r>
              <a:rPr lang="en"/>
              <a:t>hue: angle on the color wheel (0–360deg).</a:t>
            </a:r>
            <a:endParaRPr/>
          </a:p>
          <a:p>
            <a:pPr indent="-317500" lvl="1" marL="914400" rtl="0" algn="l">
              <a:spcBef>
                <a:spcPts val="0"/>
              </a:spcBef>
              <a:spcAft>
                <a:spcPts val="0"/>
              </a:spcAft>
              <a:buSzPts val="1400"/>
              <a:buChar char="○"/>
            </a:pPr>
            <a:r>
              <a:rPr lang="en"/>
              <a:t>saturation: percentage (0% = gray, 100% = full color).</a:t>
            </a:r>
            <a:endParaRPr/>
          </a:p>
          <a:p>
            <a:pPr indent="-317500" lvl="1" marL="914400" rtl="0" algn="l">
              <a:spcBef>
                <a:spcPts val="0"/>
              </a:spcBef>
              <a:spcAft>
                <a:spcPts val="0"/>
              </a:spcAft>
              <a:buSzPts val="1400"/>
              <a:buChar char="○"/>
            </a:pPr>
            <a:r>
              <a:rPr lang="en"/>
              <a:t>lightness: percentage (0% = black, 50% = normal, 100% = white).</a:t>
            </a:r>
            <a:endParaRPr/>
          </a:p>
          <a:p>
            <a:pPr indent="-317500" lvl="1" marL="914400" rtl="0" algn="l">
              <a:spcBef>
                <a:spcPts val="0"/>
              </a:spcBef>
              <a:spcAft>
                <a:spcPts val="0"/>
              </a:spcAft>
              <a:buSzPts val="1400"/>
              <a:buChar char="○"/>
            </a:pPr>
            <a:r>
              <a:rPr lang="en"/>
              <a:t>alpha: transparency, 0–1.</a:t>
            </a:r>
            <a:endParaRPr/>
          </a:p>
        </p:txBody>
      </p:sp>
      <p:pic>
        <p:nvPicPr>
          <p:cNvPr id="230" name="Google Shape;230;p35"/>
          <p:cNvPicPr preferRelativeResize="0"/>
          <p:nvPr/>
        </p:nvPicPr>
        <p:blipFill>
          <a:blip r:embed="rId3">
            <a:alphaModFix/>
          </a:blip>
          <a:stretch>
            <a:fillRect/>
          </a:stretch>
        </p:blipFill>
        <p:spPr>
          <a:xfrm>
            <a:off x="4248674" y="3848975"/>
            <a:ext cx="2861550" cy="114050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Direction</a:t>
            </a:r>
            <a:endParaRPr/>
          </a:p>
        </p:txBody>
      </p:sp>
      <p:sp>
        <p:nvSpPr>
          <p:cNvPr id="236" name="Google Shape;236;p3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37" name="Google Shape;237;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direction CSS property sets the direction of text, table and grid columns, and horizontal overflow.</a:t>
            </a:r>
            <a:endParaRPr/>
          </a:p>
          <a:p>
            <a:pPr indent="-342900" lvl="0" marL="457200" rtl="0" algn="l">
              <a:spcBef>
                <a:spcPts val="0"/>
              </a:spcBef>
              <a:spcAft>
                <a:spcPts val="0"/>
              </a:spcAft>
              <a:buSzPts val="1800"/>
              <a:buChar char="●"/>
            </a:pPr>
            <a:r>
              <a:rPr lang="en"/>
              <a:t>Use rtl for languages written from right to left (like Hebrew or Arabic), and ltr for those written from left to right (like English and most other languages).</a:t>
            </a:r>
            <a:endParaRPr/>
          </a:p>
        </p:txBody>
      </p:sp>
      <p:pic>
        <p:nvPicPr>
          <p:cNvPr id="238" name="Google Shape;238;p36"/>
          <p:cNvPicPr preferRelativeResize="0"/>
          <p:nvPr/>
        </p:nvPicPr>
        <p:blipFill>
          <a:blip r:embed="rId3">
            <a:alphaModFix/>
          </a:blip>
          <a:stretch>
            <a:fillRect/>
          </a:stretch>
        </p:blipFill>
        <p:spPr>
          <a:xfrm>
            <a:off x="220875" y="2571750"/>
            <a:ext cx="2609750" cy="1110025"/>
          </a:xfrm>
          <a:prstGeom prst="rect">
            <a:avLst/>
          </a:prstGeom>
          <a:noFill/>
          <a:ln cap="flat" cmpd="sng" w="9525">
            <a:solidFill>
              <a:schemeClr val="dk2"/>
            </a:solidFill>
            <a:prstDash val="solid"/>
            <a:round/>
            <a:headEnd len="sm" w="sm" type="none"/>
            <a:tailEnd len="sm" w="sm" type="none"/>
          </a:ln>
        </p:spPr>
      </p:pic>
      <p:pic>
        <p:nvPicPr>
          <p:cNvPr id="239" name="Google Shape;239;p36"/>
          <p:cNvPicPr preferRelativeResize="0"/>
          <p:nvPr/>
        </p:nvPicPr>
        <p:blipFill>
          <a:blip r:embed="rId4">
            <a:alphaModFix/>
          </a:blip>
          <a:stretch>
            <a:fillRect/>
          </a:stretch>
        </p:blipFill>
        <p:spPr>
          <a:xfrm>
            <a:off x="2949074" y="2571749"/>
            <a:ext cx="2095825" cy="2504325"/>
          </a:xfrm>
          <a:prstGeom prst="rect">
            <a:avLst/>
          </a:prstGeom>
          <a:noFill/>
          <a:ln cap="flat" cmpd="sng" w="9525">
            <a:solidFill>
              <a:schemeClr val="dk2"/>
            </a:solidFill>
            <a:prstDash val="solid"/>
            <a:round/>
            <a:headEnd len="sm" w="sm" type="none"/>
            <a:tailEnd len="sm" w="sm" type="none"/>
          </a:ln>
        </p:spPr>
      </p:pic>
      <p:pic>
        <p:nvPicPr>
          <p:cNvPr id="240" name="Google Shape;240;p36"/>
          <p:cNvPicPr preferRelativeResize="0"/>
          <p:nvPr/>
        </p:nvPicPr>
        <p:blipFill>
          <a:blip r:embed="rId5">
            <a:alphaModFix/>
          </a:blip>
          <a:stretch>
            <a:fillRect/>
          </a:stretch>
        </p:blipFill>
        <p:spPr>
          <a:xfrm>
            <a:off x="5427220" y="3233583"/>
            <a:ext cx="2913050" cy="118065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3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Text-align</a:t>
            </a:r>
            <a:endParaRPr/>
          </a:p>
        </p:txBody>
      </p:sp>
      <p:sp>
        <p:nvSpPr>
          <p:cNvPr id="246" name="Google Shape;246;p3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47" name="Google Shape;247;p3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a:t>
            </a:r>
            <a:r>
              <a:rPr lang="en"/>
              <a:t>ets the horizontal alignment of the inline-level content inside a block element or table-cell box. </a:t>
            </a:r>
            <a:endParaRPr/>
          </a:p>
          <a:p>
            <a:pPr indent="-342900" lvl="0" marL="457200" rtl="0" algn="l">
              <a:spcBef>
                <a:spcPts val="0"/>
              </a:spcBef>
              <a:spcAft>
                <a:spcPts val="0"/>
              </a:spcAft>
              <a:buSzPts val="1800"/>
              <a:buChar char="●"/>
            </a:pPr>
            <a:r>
              <a:rPr lang="en"/>
              <a:t>Visualized demo of different values.</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https://developer.mozilla.org/en-US/docs/Web/CSS/Reference/Properties/text-align</a:t>
            </a:r>
            <a:r>
              <a:rPr lang="en"/>
              <a:t> </a:t>
            </a:r>
            <a:endParaRPr/>
          </a:p>
        </p:txBody>
      </p:sp>
      <p:pic>
        <p:nvPicPr>
          <p:cNvPr id="248" name="Google Shape;248;p37"/>
          <p:cNvPicPr preferRelativeResize="0"/>
          <p:nvPr/>
        </p:nvPicPr>
        <p:blipFill>
          <a:blip r:embed="rId4">
            <a:alphaModFix/>
          </a:blip>
          <a:stretch>
            <a:fillRect/>
          </a:stretch>
        </p:blipFill>
        <p:spPr>
          <a:xfrm>
            <a:off x="311700" y="3036150"/>
            <a:ext cx="2609750" cy="1110025"/>
          </a:xfrm>
          <a:prstGeom prst="rect">
            <a:avLst/>
          </a:prstGeom>
          <a:noFill/>
          <a:ln cap="flat" cmpd="sng" w="9525">
            <a:solidFill>
              <a:schemeClr val="dk2"/>
            </a:solidFill>
            <a:prstDash val="solid"/>
            <a:round/>
            <a:headEnd len="sm" w="sm" type="none"/>
            <a:tailEnd len="sm" w="sm" type="none"/>
          </a:ln>
        </p:spPr>
      </p:pic>
      <p:pic>
        <p:nvPicPr>
          <p:cNvPr id="249" name="Google Shape;249;p37"/>
          <p:cNvPicPr preferRelativeResize="0"/>
          <p:nvPr/>
        </p:nvPicPr>
        <p:blipFill>
          <a:blip r:embed="rId5">
            <a:alphaModFix/>
          </a:blip>
          <a:stretch>
            <a:fillRect/>
          </a:stretch>
        </p:blipFill>
        <p:spPr>
          <a:xfrm>
            <a:off x="5518045" y="3697983"/>
            <a:ext cx="2913050" cy="1180650"/>
          </a:xfrm>
          <a:prstGeom prst="rect">
            <a:avLst/>
          </a:prstGeom>
          <a:noFill/>
          <a:ln cap="flat" cmpd="sng" w="9525">
            <a:solidFill>
              <a:srgbClr val="FF9900"/>
            </a:solidFill>
            <a:prstDash val="solid"/>
            <a:round/>
            <a:headEnd len="sm" w="sm" type="none"/>
            <a:tailEnd len="sm" w="sm" type="none"/>
          </a:ln>
        </p:spPr>
      </p:pic>
      <p:pic>
        <p:nvPicPr>
          <p:cNvPr id="250" name="Google Shape;250;p37"/>
          <p:cNvPicPr preferRelativeResize="0"/>
          <p:nvPr/>
        </p:nvPicPr>
        <p:blipFill>
          <a:blip r:embed="rId6">
            <a:alphaModFix/>
          </a:blip>
          <a:stretch>
            <a:fillRect/>
          </a:stretch>
        </p:blipFill>
        <p:spPr>
          <a:xfrm>
            <a:off x="3243214" y="2974999"/>
            <a:ext cx="1763637" cy="21073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3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Text-Decoration</a:t>
            </a:r>
            <a:endParaRPr/>
          </a:p>
        </p:txBody>
      </p:sp>
      <p:sp>
        <p:nvSpPr>
          <p:cNvPr id="256" name="Google Shape;256;p3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57" name="Google Shape;257;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a:t>
            </a:r>
            <a:r>
              <a:rPr lang="en"/>
              <a:t>ets the appearance of decorative lines on text.</a:t>
            </a:r>
            <a:endParaRPr/>
          </a:p>
          <a:p>
            <a:pPr indent="-342900" lvl="0" marL="457200" rtl="0" algn="l">
              <a:spcBef>
                <a:spcPts val="0"/>
              </a:spcBef>
              <a:spcAft>
                <a:spcPts val="0"/>
              </a:spcAft>
              <a:buSzPts val="1800"/>
              <a:buChar char="●"/>
            </a:pPr>
            <a:r>
              <a:rPr lang="en"/>
              <a:t>It is a shorthand for text-decoration-line, text-decoration-color, text-decoration-style, and the newer text-decoration-thickness property.</a:t>
            </a:r>
            <a:endParaRPr/>
          </a:p>
          <a:p>
            <a:pPr indent="-317500" lvl="1" marL="914400" rtl="0" algn="l">
              <a:spcBef>
                <a:spcPts val="0"/>
              </a:spcBef>
              <a:spcAft>
                <a:spcPts val="0"/>
              </a:spcAft>
              <a:buSzPts val="1400"/>
              <a:buChar char="○"/>
            </a:pPr>
            <a:r>
              <a:rPr lang="en"/>
              <a:t>The order of values does not matter.</a:t>
            </a:r>
            <a:endParaRPr/>
          </a:p>
          <a:p>
            <a:pPr indent="-342900" lvl="0" marL="457200" rtl="0" algn="l">
              <a:spcBef>
                <a:spcPts val="0"/>
              </a:spcBef>
              <a:spcAft>
                <a:spcPts val="0"/>
              </a:spcAft>
              <a:buSzPts val="1800"/>
              <a:buChar char="●"/>
            </a:pPr>
            <a:r>
              <a:rPr lang="en"/>
              <a:t>Visualized demo of different values.</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https://developer.mozilla.org/en-US/docs/Web/CSS/Reference/Properties/text-decoration</a:t>
            </a:r>
            <a:r>
              <a:rPr lang="en"/>
              <a:t>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3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Text-Decoration</a:t>
            </a:r>
            <a:endParaRPr/>
          </a:p>
          <a:p>
            <a:pPr indent="0" lvl="0" marL="0" rtl="0" algn="l">
              <a:spcBef>
                <a:spcPts val="0"/>
              </a:spcBef>
              <a:spcAft>
                <a:spcPts val="0"/>
              </a:spcAft>
              <a:buNone/>
            </a:pPr>
            <a:r>
              <a:t/>
            </a:r>
            <a:endParaRPr/>
          </a:p>
        </p:txBody>
      </p:sp>
      <p:sp>
        <p:nvSpPr>
          <p:cNvPr id="263" name="Google Shape;263;p3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264" name="Google Shape;264;p39"/>
          <p:cNvPicPr preferRelativeResize="0"/>
          <p:nvPr/>
        </p:nvPicPr>
        <p:blipFill>
          <a:blip r:embed="rId3">
            <a:alphaModFix/>
          </a:blip>
          <a:stretch>
            <a:fillRect/>
          </a:stretch>
        </p:blipFill>
        <p:spPr>
          <a:xfrm>
            <a:off x="873300" y="1115538"/>
            <a:ext cx="3230769" cy="3770276"/>
          </a:xfrm>
          <a:prstGeom prst="rect">
            <a:avLst/>
          </a:prstGeom>
          <a:noFill/>
          <a:ln cap="flat" cmpd="sng" w="9525">
            <a:solidFill>
              <a:schemeClr val="dk2"/>
            </a:solidFill>
            <a:prstDash val="solid"/>
            <a:round/>
            <a:headEnd len="sm" w="sm" type="none"/>
            <a:tailEnd len="sm" w="sm" type="none"/>
          </a:ln>
        </p:spPr>
      </p:pic>
      <p:pic>
        <p:nvPicPr>
          <p:cNvPr id="265" name="Google Shape;265;p39"/>
          <p:cNvPicPr preferRelativeResize="0"/>
          <p:nvPr/>
        </p:nvPicPr>
        <p:blipFill>
          <a:blip r:embed="rId4">
            <a:alphaModFix/>
          </a:blip>
          <a:stretch>
            <a:fillRect/>
          </a:stretch>
        </p:blipFill>
        <p:spPr>
          <a:xfrm>
            <a:off x="4394169" y="1895763"/>
            <a:ext cx="4219575" cy="220980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Text-Transform</a:t>
            </a:r>
            <a:endParaRPr/>
          </a:p>
        </p:txBody>
      </p:sp>
      <p:sp>
        <p:nvSpPr>
          <p:cNvPr id="271" name="Google Shape;271;p4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72" name="Google Shape;272;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text-transform CSS property specifies how to capitalize an element's text.</a:t>
            </a:r>
            <a:endParaRPr/>
          </a:p>
          <a:p>
            <a:pPr indent="-342900" lvl="0" marL="457200" rtl="0" algn="l">
              <a:spcBef>
                <a:spcPts val="0"/>
              </a:spcBef>
              <a:spcAft>
                <a:spcPts val="0"/>
              </a:spcAft>
              <a:buSzPts val="1800"/>
              <a:buChar char="●"/>
            </a:pPr>
            <a:r>
              <a:rPr lang="en"/>
              <a:t>Values: none; capitalize; uppercase; lowercase; full-width; full-size-kana; math-auto;</a:t>
            </a:r>
            <a:endParaRPr/>
          </a:p>
          <a:p>
            <a:pPr indent="-342900" lvl="0" marL="457200" rtl="0" algn="l">
              <a:spcBef>
                <a:spcPts val="0"/>
              </a:spcBef>
              <a:spcAft>
                <a:spcPts val="0"/>
              </a:spcAft>
              <a:buSzPts val="1800"/>
              <a:buChar char="●"/>
            </a:pPr>
            <a:r>
              <a:rPr lang="en"/>
              <a:t>The text-transform property takes into account language-specific case mapping rules. </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https://developer.mozilla.org/en-US/docs/Web/CSS/Reference/Properties/text-transform</a:t>
            </a:r>
            <a:r>
              <a:rPr lang="en"/>
              <a:t>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4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Text-Transform</a:t>
            </a:r>
            <a:endParaRPr/>
          </a:p>
          <a:p>
            <a:pPr indent="0" lvl="0" marL="0" rtl="0" algn="l">
              <a:spcBef>
                <a:spcPts val="0"/>
              </a:spcBef>
              <a:spcAft>
                <a:spcPts val="0"/>
              </a:spcAft>
              <a:buNone/>
            </a:pPr>
            <a:r>
              <a:t/>
            </a:r>
            <a:endParaRPr/>
          </a:p>
        </p:txBody>
      </p:sp>
      <p:sp>
        <p:nvSpPr>
          <p:cNvPr id="278" name="Google Shape;278;p4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279" name="Google Shape;279;p41"/>
          <p:cNvPicPr preferRelativeResize="0"/>
          <p:nvPr/>
        </p:nvPicPr>
        <p:blipFill>
          <a:blip r:embed="rId3">
            <a:alphaModFix/>
          </a:blip>
          <a:stretch>
            <a:fillRect/>
          </a:stretch>
        </p:blipFill>
        <p:spPr>
          <a:xfrm>
            <a:off x="938100" y="1107425"/>
            <a:ext cx="2926451" cy="3770275"/>
          </a:xfrm>
          <a:prstGeom prst="rect">
            <a:avLst/>
          </a:prstGeom>
          <a:noFill/>
          <a:ln cap="flat" cmpd="sng" w="9525">
            <a:solidFill>
              <a:schemeClr val="dk2"/>
            </a:solidFill>
            <a:prstDash val="solid"/>
            <a:round/>
            <a:headEnd len="sm" w="sm" type="none"/>
            <a:tailEnd len="sm" w="sm" type="none"/>
          </a:ln>
        </p:spPr>
      </p:pic>
      <p:pic>
        <p:nvPicPr>
          <p:cNvPr id="280" name="Google Shape;280;p41"/>
          <p:cNvPicPr preferRelativeResize="0"/>
          <p:nvPr/>
        </p:nvPicPr>
        <p:blipFill>
          <a:blip r:embed="rId4">
            <a:alphaModFix/>
          </a:blip>
          <a:stretch>
            <a:fillRect/>
          </a:stretch>
        </p:blipFill>
        <p:spPr>
          <a:xfrm>
            <a:off x="4332851" y="1468563"/>
            <a:ext cx="3467100" cy="304800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Text Spacing</a:t>
            </a:r>
            <a:endParaRPr/>
          </a:p>
        </p:txBody>
      </p:sp>
      <p:sp>
        <p:nvSpPr>
          <p:cNvPr id="286" name="Google Shape;286;p4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287" name="Google Shape;287;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a:t>
            </a:r>
            <a:r>
              <a:rPr lang="en"/>
              <a:t>djusts the space between characters, words, and lines of text by fine-tuning the horizontal and vertical spacing within text elements. Properties include letter-spacing, word-spacing, and line-height.</a:t>
            </a:r>
            <a:endParaRPr/>
          </a:p>
          <a:p>
            <a:pPr indent="-342900" lvl="0" marL="457200" rtl="0" algn="l">
              <a:spcBef>
                <a:spcPts val="0"/>
              </a:spcBef>
              <a:spcAft>
                <a:spcPts val="0"/>
              </a:spcAft>
              <a:buSzPts val="1800"/>
              <a:buChar char="●"/>
            </a:pPr>
            <a:r>
              <a:rPr lang="en"/>
              <a:t>Check examples at MDN:</a:t>
            </a:r>
            <a:endParaRPr/>
          </a:p>
          <a:p>
            <a:pPr indent="-317500" lvl="1" marL="914400" rtl="0" algn="l">
              <a:spcBef>
                <a:spcPts val="0"/>
              </a:spcBef>
              <a:spcAft>
                <a:spcPts val="0"/>
              </a:spcAft>
              <a:buSzPts val="1400"/>
              <a:buChar char="○"/>
            </a:pPr>
            <a:r>
              <a:rPr lang="en"/>
              <a:t>L</a:t>
            </a:r>
            <a:r>
              <a:rPr lang="en"/>
              <a:t>etter-spacing (Arabic script expect connected letters): </a:t>
            </a:r>
            <a:r>
              <a:rPr lang="en" u="sng">
                <a:solidFill>
                  <a:schemeClr val="hlink"/>
                </a:solidFill>
                <a:hlinkClick r:id="rId3"/>
              </a:rPr>
              <a:t>https://developer.mozilla.org/en-US/docs/Web/CSS/Reference/Properties/letter-spacing</a:t>
            </a:r>
            <a:endParaRPr/>
          </a:p>
          <a:p>
            <a:pPr indent="-317500" lvl="1" marL="914400" rtl="0" algn="l">
              <a:spcBef>
                <a:spcPts val="0"/>
              </a:spcBef>
              <a:spcAft>
                <a:spcPts val="0"/>
              </a:spcAft>
              <a:buSzPts val="1400"/>
              <a:buChar char="○"/>
            </a:pPr>
            <a:r>
              <a:rPr lang="en"/>
              <a:t>Word-spacing: </a:t>
            </a:r>
            <a:r>
              <a:rPr lang="en" u="sng">
                <a:solidFill>
                  <a:schemeClr val="hlink"/>
                </a:solidFill>
                <a:hlinkClick r:id="rId4"/>
              </a:rPr>
              <a:t>https://developer.mozilla.org/en-US/docs/Web/CSS/Reference/Properties/word-spacing</a:t>
            </a:r>
            <a:r>
              <a:rPr lang="en"/>
              <a:t> </a:t>
            </a:r>
            <a:endParaRPr/>
          </a:p>
          <a:p>
            <a:pPr indent="-317500" lvl="1" marL="914400" rtl="0" algn="l">
              <a:spcBef>
                <a:spcPts val="0"/>
              </a:spcBef>
              <a:spcAft>
                <a:spcPts val="0"/>
              </a:spcAft>
              <a:buSzPts val="1400"/>
              <a:buChar char="○"/>
            </a:pPr>
            <a:r>
              <a:rPr lang="en"/>
              <a:t>Line-height (Space between lines in vertical writing modes): </a:t>
            </a:r>
            <a:r>
              <a:rPr lang="en" u="sng">
                <a:solidFill>
                  <a:schemeClr val="hlink"/>
                </a:solidFill>
                <a:hlinkClick r:id="rId5"/>
              </a:rPr>
              <a:t>https://developer.mozilla.org/en-US/docs/Web/CSS/Reference/Properties/line-height</a:t>
            </a:r>
            <a:r>
              <a:rPr lang="en"/>
              <a:t>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Letter-Spacing</a:t>
            </a:r>
            <a:endParaRPr/>
          </a:p>
          <a:p>
            <a:pPr indent="0" lvl="0" marL="0" rtl="0" algn="l">
              <a:spcBef>
                <a:spcPts val="0"/>
              </a:spcBef>
              <a:spcAft>
                <a:spcPts val="0"/>
              </a:spcAft>
              <a:buNone/>
            </a:pPr>
            <a:r>
              <a:t/>
            </a:r>
            <a:endParaRPr/>
          </a:p>
        </p:txBody>
      </p:sp>
      <p:sp>
        <p:nvSpPr>
          <p:cNvPr id="293" name="Google Shape;293;p4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294" name="Google Shape;294;p43"/>
          <p:cNvPicPr preferRelativeResize="0"/>
          <p:nvPr/>
        </p:nvPicPr>
        <p:blipFill>
          <a:blip r:embed="rId3">
            <a:alphaModFix/>
          </a:blip>
          <a:stretch>
            <a:fillRect/>
          </a:stretch>
        </p:blipFill>
        <p:spPr>
          <a:xfrm>
            <a:off x="273900" y="1224600"/>
            <a:ext cx="7953375" cy="666750"/>
          </a:xfrm>
          <a:prstGeom prst="rect">
            <a:avLst/>
          </a:prstGeom>
          <a:noFill/>
          <a:ln cap="flat" cmpd="sng" w="9525">
            <a:solidFill>
              <a:schemeClr val="dk2"/>
            </a:solidFill>
            <a:prstDash val="solid"/>
            <a:round/>
            <a:headEnd len="sm" w="sm" type="none"/>
            <a:tailEnd len="sm" w="sm" type="none"/>
          </a:ln>
        </p:spPr>
      </p:pic>
      <p:pic>
        <p:nvPicPr>
          <p:cNvPr id="295" name="Google Shape;295;p43"/>
          <p:cNvPicPr preferRelativeResize="0"/>
          <p:nvPr/>
        </p:nvPicPr>
        <p:blipFill>
          <a:blip r:embed="rId4">
            <a:alphaModFix/>
          </a:blip>
          <a:stretch>
            <a:fillRect/>
          </a:stretch>
        </p:blipFill>
        <p:spPr>
          <a:xfrm>
            <a:off x="2884025" y="2788113"/>
            <a:ext cx="6162675" cy="1133475"/>
          </a:xfrm>
          <a:prstGeom prst="rect">
            <a:avLst/>
          </a:prstGeom>
          <a:noFill/>
          <a:ln cap="flat" cmpd="sng" w="9525">
            <a:solidFill>
              <a:srgbClr val="FF9900"/>
            </a:solidFill>
            <a:prstDash val="solid"/>
            <a:round/>
            <a:headEnd len="sm" w="sm" type="none"/>
            <a:tailEnd len="sm" w="sm" type="none"/>
          </a:ln>
        </p:spPr>
      </p:pic>
      <p:pic>
        <p:nvPicPr>
          <p:cNvPr id="296" name="Google Shape;296;p43"/>
          <p:cNvPicPr preferRelativeResize="0"/>
          <p:nvPr/>
        </p:nvPicPr>
        <p:blipFill>
          <a:blip r:embed="rId5">
            <a:alphaModFix/>
          </a:blip>
          <a:stretch>
            <a:fillRect/>
          </a:stretch>
        </p:blipFill>
        <p:spPr>
          <a:xfrm>
            <a:off x="273900" y="2222800"/>
            <a:ext cx="2301900" cy="1974199"/>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Word-Spacing</a:t>
            </a:r>
            <a:endParaRPr/>
          </a:p>
          <a:p>
            <a:pPr indent="0" lvl="0" marL="0" rtl="0" algn="l">
              <a:spcBef>
                <a:spcPts val="0"/>
              </a:spcBef>
              <a:spcAft>
                <a:spcPts val="0"/>
              </a:spcAft>
              <a:buNone/>
            </a:pPr>
            <a:r>
              <a:t/>
            </a:r>
            <a:endParaRPr/>
          </a:p>
        </p:txBody>
      </p:sp>
      <p:sp>
        <p:nvSpPr>
          <p:cNvPr id="302" name="Google Shape;302;p4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03" name="Google Shape;303;p44"/>
          <p:cNvPicPr preferRelativeResize="0"/>
          <p:nvPr/>
        </p:nvPicPr>
        <p:blipFill>
          <a:blip r:embed="rId3">
            <a:alphaModFix/>
          </a:blip>
          <a:stretch>
            <a:fillRect/>
          </a:stretch>
        </p:blipFill>
        <p:spPr>
          <a:xfrm>
            <a:off x="784200" y="2786400"/>
            <a:ext cx="2148200" cy="1947800"/>
          </a:xfrm>
          <a:prstGeom prst="rect">
            <a:avLst/>
          </a:prstGeom>
          <a:noFill/>
          <a:ln cap="flat" cmpd="sng" w="9525">
            <a:solidFill>
              <a:schemeClr val="dk2"/>
            </a:solidFill>
            <a:prstDash val="solid"/>
            <a:round/>
            <a:headEnd len="sm" w="sm" type="none"/>
            <a:tailEnd len="sm" w="sm" type="none"/>
          </a:ln>
        </p:spPr>
      </p:pic>
      <p:pic>
        <p:nvPicPr>
          <p:cNvPr id="304" name="Google Shape;304;p44"/>
          <p:cNvPicPr preferRelativeResize="0"/>
          <p:nvPr/>
        </p:nvPicPr>
        <p:blipFill>
          <a:blip r:embed="rId4">
            <a:alphaModFix/>
          </a:blip>
          <a:stretch>
            <a:fillRect/>
          </a:stretch>
        </p:blipFill>
        <p:spPr>
          <a:xfrm>
            <a:off x="444000" y="1755425"/>
            <a:ext cx="7743825" cy="638175"/>
          </a:xfrm>
          <a:prstGeom prst="rect">
            <a:avLst/>
          </a:prstGeom>
          <a:noFill/>
          <a:ln cap="flat" cmpd="sng" w="9525">
            <a:solidFill>
              <a:schemeClr val="dk2"/>
            </a:solidFill>
            <a:prstDash val="solid"/>
            <a:round/>
            <a:headEnd len="sm" w="sm" type="none"/>
            <a:tailEnd len="sm" w="sm" type="none"/>
          </a:ln>
        </p:spPr>
      </p:pic>
      <p:pic>
        <p:nvPicPr>
          <p:cNvPr id="305" name="Google Shape;305;p44"/>
          <p:cNvPicPr preferRelativeResize="0"/>
          <p:nvPr/>
        </p:nvPicPr>
        <p:blipFill>
          <a:blip r:embed="rId5">
            <a:alphaModFix/>
          </a:blip>
          <a:stretch>
            <a:fillRect/>
          </a:stretch>
        </p:blipFill>
        <p:spPr>
          <a:xfrm>
            <a:off x="3481625" y="3184625"/>
            <a:ext cx="5478999" cy="1003075"/>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Line-Height</a:t>
            </a:r>
            <a:endParaRPr/>
          </a:p>
          <a:p>
            <a:pPr indent="0" lvl="0" marL="0" rtl="0" algn="l">
              <a:spcBef>
                <a:spcPts val="0"/>
              </a:spcBef>
              <a:spcAft>
                <a:spcPts val="0"/>
              </a:spcAft>
              <a:buNone/>
            </a:pPr>
            <a:r>
              <a:t/>
            </a:r>
            <a:endParaRPr/>
          </a:p>
        </p:txBody>
      </p:sp>
      <p:sp>
        <p:nvSpPr>
          <p:cNvPr id="311" name="Google Shape;311;p4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12" name="Google Shape;312;p45"/>
          <p:cNvPicPr preferRelativeResize="0"/>
          <p:nvPr/>
        </p:nvPicPr>
        <p:blipFill>
          <a:blip r:embed="rId3">
            <a:alphaModFix/>
          </a:blip>
          <a:stretch>
            <a:fillRect/>
          </a:stretch>
        </p:blipFill>
        <p:spPr>
          <a:xfrm>
            <a:off x="3596400" y="2897638"/>
            <a:ext cx="5020500" cy="1224125"/>
          </a:xfrm>
          <a:prstGeom prst="rect">
            <a:avLst/>
          </a:prstGeom>
          <a:noFill/>
          <a:ln cap="flat" cmpd="sng" w="9525">
            <a:solidFill>
              <a:srgbClr val="FF9900"/>
            </a:solidFill>
            <a:prstDash val="solid"/>
            <a:round/>
            <a:headEnd len="sm" w="sm" type="none"/>
            <a:tailEnd len="sm" w="sm" type="none"/>
          </a:ln>
        </p:spPr>
      </p:pic>
      <p:pic>
        <p:nvPicPr>
          <p:cNvPr id="313" name="Google Shape;313;p45"/>
          <p:cNvPicPr preferRelativeResize="0"/>
          <p:nvPr/>
        </p:nvPicPr>
        <p:blipFill>
          <a:blip r:embed="rId4">
            <a:alphaModFix/>
          </a:blip>
          <a:stretch>
            <a:fillRect/>
          </a:stretch>
        </p:blipFill>
        <p:spPr>
          <a:xfrm>
            <a:off x="207500" y="1779725"/>
            <a:ext cx="8839200" cy="550931"/>
          </a:xfrm>
          <a:prstGeom prst="rect">
            <a:avLst/>
          </a:prstGeom>
          <a:noFill/>
          <a:ln cap="flat" cmpd="sng" w="9525">
            <a:solidFill>
              <a:schemeClr val="dk2"/>
            </a:solidFill>
            <a:prstDash val="solid"/>
            <a:round/>
            <a:headEnd len="sm" w="sm" type="none"/>
            <a:tailEnd len="sm" w="sm" type="none"/>
          </a:ln>
        </p:spPr>
      </p:pic>
      <p:pic>
        <p:nvPicPr>
          <p:cNvPr id="314" name="Google Shape;314;p45"/>
          <p:cNvPicPr preferRelativeResize="0"/>
          <p:nvPr/>
        </p:nvPicPr>
        <p:blipFill>
          <a:blip r:embed="rId5">
            <a:alphaModFix/>
          </a:blip>
          <a:stretch>
            <a:fillRect/>
          </a:stretch>
        </p:blipFill>
        <p:spPr>
          <a:xfrm>
            <a:off x="894350" y="2571751"/>
            <a:ext cx="1640875" cy="18828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4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Sizing Unit</a:t>
            </a:r>
            <a:endParaRPr/>
          </a:p>
        </p:txBody>
      </p:sp>
      <p:sp>
        <p:nvSpPr>
          <p:cNvPr id="320" name="Google Shape;320;p4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321" name="Google Shape;321;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334328" lvl="0" marL="457200" rtl="0" algn="l">
              <a:spcBef>
                <a:spcPts val="0"/>
              </a:spcBef>
              <a:spcAft>
                <a:spcPts val="0"/>
              </a:spcAft>
              <a:buSzPct val="100000"/>
              <a:buChar char="●"/>
            </a:pPr>
            <a:r>
              <a:rPr lang="en"/>
              <a:t>Absolute Units</a:t>
            </a:r>
            <a:endParaRPr/>
          </a:p>
          <a:p>
            <a:pPr indent="-310832" lvl="1" marL="914400" rtl="0" algn="l">
              <a:spcBef>
                <a:spcPts val="0"/>
              </a:spcBef>
              <a:spcAft>
                <a:spcPts val="0"/>
              </a:spcAft>
              <a:buSzPct val="100000"/>
              <a:buChar char="○"/>
            </a:pPr>
            <a:r>
              <a:rPr lang="en"/>
              <a:t>px: Fixed pixel size. Best for borders, icons, shadows. Avoid for font sizes (hurts accessibility).</a:t>
            </a:r>
            <a:endParaRPr/>
          </a:p>
          <a:p>
            <a:pPr indent="-310832" lvl="1" marL="914400" rtl="0" algn="l">
              <a:spcBef>
                <a:spcPts val="0"/>
              </a:spcBef>
              <a:spcAft>
                <a:spcPts val="0"/>
              </a:spcAft>
              <a:buSzPct val="100000"/>
              <a:buChar char="○"/>
            </a:pPr>
            <a:r>
              <a:rPr lang="en"/>
              <a:t>pt, pc: Print typography units. Use only when matching print/PDF.</a:t>
            </a:r>
            <a:endParaRPr/>
          </a:p>
          <a:p>
            <a:pPr indent="-310832" lvl="2" marL="1371600" rtl="0" algn="l">
              <a:spcBef>
                <a:spcPts val="0"/>
              </a:spcBef>
              <a:spcAft>
                <a:spcPts val="0"/>
              </a:spcAft>
              <a:buSzPct val="100000"/>
              <a:buChar char="■"/>
            </a:pPr>
            <a:r>
              <a:rPr lang="en"/>
              <a:t>pt (points; 1 pt = 1/72 in)</a:t>
            </a:r>
            <a:endParaRPr/>
          </a:p>
          <a:p>
            <a:pPr indent="-310832" lvl="2" marL="1371600" rtl="0" algn="l">
              <a:spcBef>
                <a:spcPts val="0"/>
              </a:spcBef>
              <a:spcAft>
                <a:spcPts val="0"/>
              </a:spcAft>
              <a:buSzPct val="100000"/>
              <a:buChar char="■"/>
            </a:pPr>
            <a:r>
              <a:rPr lang="en"/>
              <a:t>pc (picas; 1 pc = 12 pt)</a:t>
            </a:r>
            <a:endParaRPr/>
          </a:p>
          <a:p>
            <a:pPr indent="-310832" lvl="1" marL="914400" rtl="0" algn="l">
              <a:spcBef>
                <a:spcPts val="0"/>
              </a:spcBef>
              <a:spcAft>
                <a:spcPts val="0"/>
              </a:spcAft>
              <a:buSzPct val="100000"/>
              <a:buChar char="○"/>
            </a:pPr>
            <a:r>
              <a:rPr lang="en"/>
              <a:t>cm, mm, in: Physical units. Reliable only in print contexts, not screens.</a:t>
            </a:r>
            <a:endParaRPr/>
          </a:p>
          <a:p>
            <a:pPr indent="-334328" lvl="0" marL="457200" rtl="0" algn="l">
              <a:spcBef>
                <a:spcPts val="0"/>
              </a:spcBef>
              <a:spcAft>
                <a:spcPts val="0"/>
              </a:spcAft>
              <a:buSzPct val="100000"/>
              <a:buChar char="●"/>
            </a:pPr>
            <a:r>
              <a:rPr lang="en"/>
              <a:t>Relative Units</a:t>
            </a:r>
            <a:endParaRPr/>
          </a:p>
          <a:p>
            <a:pPr indent="-310832" lvl="1" marL="914400" rtl="0" algn="l">
              <a:spcBef>
                <a:spcPts val="0"/>
              </a:spcBef>
              <a:spcAft>
                <a:spcPts val="0"/>
              </a:spcAft>
              <a:buSzPct val="100000"/>
              <a:buChar char="○"/>
            </a:pPr>
            <a:r>
              <a:rPr lang="en"/>
              <a:t>%: Relative to parent element. Great for fluid widths/heights.</a:t>
            </a:r>
            <a:endParaRPr/>
          </a:p>
          <a:p>
            <a:pPr indent="-310832" lvl="1" marL="914400" rtl="0" algn="l">
              <a:spcBef>
                <a:spcPts val="0"/>
              </a:spcBef>
              <a:spcAft>
                <a:spcPts val="0"/>
              </a:spcAft>
              <a:buSzPct val="100000"/>
              <a:buChar char="○"/>
            </a:pPr>
            <a:r>
              <a:rPr lang="en"/>
              <a:t>em: Relative to parent font size. Good for component spacing, but beware compounding in nested elements.</a:t>
            </a:r>
            <a:endParaRPr/>
          </a:p>
          <a:p>
            <a:pPr indent="-310832" lvl="2" marL="1371600" rtl="0" algn="l">
              <a:spcBef>
                <a:spcPts val="0"/>
              </a:spcBef>
              <a:spcAft>
                <a:spcPts val="0"/>
              </a:spcAft>
              <a:buSzPct val="100000"/>
              <a:buChar char="■"/>
            </a:pPr>
            <a:r>
              <a:rPr lang="en"/>
              <a:t>1em is equal to the current font size</a:t>
            </a:r>
            <a:endParaRPr/>
          </a:p>
          <a:p>
            <a:pPr indent="-310832" lvl="2" marL="1371600" rtl="0" algn="l">
              <a:spcBef>
                <a:spcPts val="0"/>
              </a:spcBef>
              <a:spcAft>
                <a:spcPts val="0"/>
              </a:spcAft>
              <a:buSzPct val="100000"/>
              <a:buChar char="■"/>
            </a:pPr>
            <a:r>
              <a:rPr lang="en"/>
              <a:t>Nested elements multiply values</a:t>
            </a:r>
            <a:endParaRPr/>
          </a:p>
          <a:p>
            <a:pPr indent="-310832" lvl="1" marL="914400" rtl="0" algn="l">
              <a:spcBef>
                <a:spcPts val="0"/>
              </a:spcBef>
              <a:spcAft>
                <a:spcPts val="0"/>
              </a:spcAft>
              <a:buSzPct val="100000"/>
              <a:buChar char="○"/>
            </a:pPr>
            <a:r>
              <a:rPr lang="en"/>
              <a:t>rem: Relative to root &lt;html&gt; font size. Best for font sizes and global spacing systems.</a:t>
            </a:r>
            <a:endParaRPr/>
          </a:p>
          <a:p>
            <a:pPr indent="-310832" lvl="1" marL="914400" rtl="0" algn="l">
              <a:spcBef>
                <a:spcPts val="0"/>
              </a:spcBef>
              <a:spcAft>
                <a:spcPts val="0"/>
              </a:spcAft>
              <a:buSzPct val="100000"/>
              <a:buChar char="○"/>
            </a:pPr>
            <a:r>
              <a:rPr lang="en"/>
              <a:t>ch: Width of “0” character. Useful for text line length control.</a:t>
            </a:r>
            <a:endParaRPr/>
          </a:p>
          <a:p>
            <a:pPr indent="-334328" lvl="0" marL="457200" rtl="0" algn="l">
              <a:spcBef>
                <a:spcPts val="0"/>
              </a:spcBef>
              <a:spcAft>
                <a:spcPts val="0"/>
              </a:spcAft>
              <a:buSzPct val="100000"/>
              <a:buChar char="●"/>
            </a:pPr>
            <a:r>
              <a:rPr lang="en"/>
              <a:t>Functions</a:t>
            </a:r>
            <a:endParaRPr/>
          </a:p>
          <a:p>
            <a:pPr indent="-310832" lvl="1" marL="914400" rtl="0" algn="l">
              <a:spcBef>
                <a:spcPts val="0"/>
              </a:spcBef>
              <a:spcAft>
                <a:spcPts val="0"/>
              </a:spcAft>
              <a:buSzPct val="100000"/>
              <a:buChar char="○"/>
            </a:pPr>
            <a:r>
              <a:rPr lang="en"/>
              <a:t>Using min(), max(), clamp() etc., e.g. width: max(50px, 50%); width: clamp(20%, 1px, 80%);</a:t>
            </a:r>
            <a:endParaRPr/>
          </a:p>
          <a:p>
            <a:pPr indent="-310832" lvl="1" marL="914400" rtl="0" algn="l">
              <a:spcBef>
                <a:spcPts val="0"/>
              </a:spcBef>
              <a:spcAft>
                <a:spcPts val="0"/>
              </a:spcAft>
              <a:buSzPct val="100000"/>
              <a:buChar char="○"/>
            </a:pPr>
            <a:r>
              <a:rPr lang="en" u="sng">
                <a:solidFill>
                  <a:schemeClr val="hlink"/>
                </a:solidFill>
                <a:hlinkClick r:id="rId3"/>
              </a:rPr>
              <a:t>https://developer.mozilla.org/en-US/docs/Web/CSS/Guides/Values_and_units/Using_math_functions</a:t>
            </a:r>
            <a:r>
              <a:rPr lang="en"/>
              <a:t>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4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Font</a:t>
            </a:r>
            <a:endParaRPr/>
          </a:p>
        </p:txBody>
      </p:sp>
      <p:sp>
        <p:nvSpPr>
          <p:cNvPr id="327" name="Google Shape;327;p4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328" name="Google Shape;328;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font CSS shorthand property sets all the different properties of an element's font.</a:t>
            </a:r>
            <a:endParaRPr/>
          </a:p>
          <a:p>
            <a:pPr indent="-342900" lvl="0" marL="457200" rtl="0" algn="l">
              <a:spcBef>
                <a:spcPts val="0"/>
              </a:spcBef>
              <a:spcAft>
                <a:spcPts val="0"/>
              </a:spcAft>
              <a:buSzPts val="1800"/>
              <a:buChar char="●"/>
            </a:pPr>
            <a:r>
              <a:rPr lang="en"/>
              <a:t>Alternatively, it sets an element's font to a system font.</a:t>
            </a:r>
            <a:endParaRPr/>
          </a:p>
          <a:p>
            <a:pPr indent="-342900" lvl="0" marL="457200" rtl="0" algn="l">
              <a:spcBef>
                <a:spcPts val="0"/>
              </a:spcBef>
              <a:spcAft>
                <a:spcPts val="0"/>
              </a:spcAft>
              <a:buSzPts val="1800"/>
              <a:buChar char="●"/>
            </a:pPr>
            <a:r>
              <a:rPr lang="en"/>
              <a:t>This property is a shorthand for the following CSS properties: </a:t>
            </a:r>
            <a:r>
              <a:rPr lang="en"/>
              <a:t>font-style, font-variant, font-weight, font-stretch, font-width, font-size</a:t>
            </a:r>
            <a:r>
              <a:rPr b="1" lang="en">
                <a:solidFill>
                  <a:srgbClr val="0000FF"/>
                </a:solidFill>
              </a:rPr>
              <a:t>/</a:t>
            </a:r>
            <a:r>
              <a:rPr lang="en"/>
              <a:t>line-height, </a:t>
            </a:r>
            <a:r>
              <a:rPr lang="en"/>
              <a:t>font-family.</a:t>
            </a:r>
            <a:endParaRPr/>
          </a:p>
          <a:p>
            <a:pPr indent="-317500" lvl="1" marL="914400" rtl="0" algn="l">
              <a:spcBef>
                <a:spcPts val="0"/>
              </a:spcBef>
              <a:spcAft>
                <a:spcPts val="0"/>
              </a:spcAft>
              <a:buSzPts val="1400"/>
              <a:buChar char="○"/>
            </a:pPr>
            <a:r>
              <a:rPr lang="en"/>
              <a:t>The order of values does matter!</a:t>
            </a:r>
            <a:endParaRPr/>
          </a:p>
          <a:p>
            <a:pPr indent="-317500" lvl="1" marL="914400" rtl="0" algn="l">
              <a:spcBef>
                <a:spcPts val="0"/>
              </a:spcBef>
              <a:spcAft>
                <a:spcPts val="0"/>
              </a:spcAft>
              <a:buSzPts val="1400"/>
              <a:buChar char="○"/>
            </a:pPr>
            <a:r>
              <a:rPr lang="en"/>
              <a:t>If the value is missing, browsers reset the element to their initial defaults.</a:t>
            </a:r>
            <a:endParaRPr/>
          </a:p>
          <a:p>
            <a:pPr indent="-342900" lvl="0" marL="457200" rtl="0" algn="l">
              <a:spcBef>
                <a:spcPts val="0"/>
              </a:spcBef>
              <a:spcAft>
                <a:spcPts val="0"/>
              </a:spcAft>
              <a:buSzPts val="1800"/>
              <a:buChar char="●"/>
            </a:pPr>
            <a:r>
              <a:rPr lang="en"/>
              <a:t>The value is either a shorthand specifying the various font-related properties or a single &lt;system-font-family-name&gt; keyword.</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4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a:t>
            </a:r>
            <a:r>
              <a:rPr lang="en"/>
              <a:t>s</a:t>
            </a:r>
            <a:r>
              <a:rPr lang="en"/>
              <a:t>ystem-</a:t>
            </a:r>
            <a:r>
              <a:rPr lang="en"/>
              <a:t>f</a:t>
            </a:r>
            <a:r>
              <a:rPr lang="en"/>
              <a:t>ont-family-name</a:t>
            </a:r>
            <a:endParaRPr/>
          </a:p>
        </p:txBody>
      </p:sp>
      <p:sp>
        <p:nvSpPr>
          <p:cNvPr id="334" name="Google Shape;334;p4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335" name="Google Shape;335;p4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c</a:t>
            </a:r>
            <a:r>
              <a:rPr lang="en"/>
              <a:t>aption</a:t>
            </a:r>
            <a:endParaRPr/>
          </a:p>
          <a:p>
            <a:pPr indent="-317500" lvl="1" marL="914400" rtl="0" algn="l">
              <a:spcBef>
                <a:spcPts val="0"/>
              </a:spcBef>
              <a:spcAft>
                <a:spcPts val="0"/>
              </a:spcAft>
              <a:buSzPts val="1400"/>
              <a:buChar char="○"/>
            </a:pPr>
            <a:r>
              <a:rPr lang="en"/>
              <a:t>The system font used for captioned controls (buttons, drop-downs, etc.).</a:t>
            </a:r>
            <a:endParaRPr/>
          </a:p>
          <a:p>
            <a:pPr indent="-342900" lvl="0" marL="457200" rtl="0" algn="l">
              <a:spcBef>
                <a:spcPts val="0"/>
              </a:spcBef>
              <a:spcAft>
                <a:spcPts val="0"/>
              </a:spcAft>
              <a:buSzPts val="1800"/>
              <a:buChar char="●"/>
            </a:pPr>
            <a:r>
              <a:rPr lang="en"/>
              <a:t>icon</a:t>
            </a:r>
            <a:endParaRPr/>
          </a:p>
          <a:p>
            <a:pPr indent="-317500" lvl="1" marL="914400" rtl="0" algn="l">
              <a:spcBef>
                <a:spcPts val="0"/>
              </a:spcBef>
              <a:spcAft>
                <a:spcPts val="0"/>
              </a:spcAft>
              <a:buSzPts val="1400"/>
              <a:buChar char="○"/>
            </a:pPr>
            <a:r>
              <a:rPr lang="en"/>
              <a:t>The system font used to label icons.</a:t>
            </a:r>
            <a:endParaRPr/>
          </a:p>
          <a:p>
            <a:pPr indent="-342900" lvl="0" marL="457200" rtl="0" algn="l">
              <a:spcBef>
                <a:spcPts val="0"/>
              </a:spcBef>
              <a:spcAft>
                <a:spcPts val="0"/>
              </a:spcAft>
              <a:buSzPts val="1800"/>
              <a:buChar char="●"/>
            </a:pPr>
            <a:r>
              <a:rPr lang="en"/>
              <a:t>menu</a:t>
            </a:r>
            <a:endParaRPr/>
          </a:p>
          <a:p>
            <a:pPr indent="-317500" lvl="1" marL="914400" rtl="0" algn="l">
              <a:spcBef>
                <a:spcPts val="0"/>
              </a:spcBef>
              <a:spcAft>
                <a:spcPts val="0"/>
              </a:spcAft>
              <a:buSzPts val="1400"/>
              <a:buChar char="○"/>
            </a:pPr>
            <a:r>
              <a:rPr lang="en"/>
              <a:t>The system font used in menus (e.g., dropdown menus and menu lists).</a:t>
            </a:r>
            <a:endParaRPr/>
          </a:p>
          <a:p>
            <a:pPr indent="-342900" lvl="0" marL="457200" rtl="0" algn="l">
              <a:spcBef>
                <a:spcPts val="0"/>
              </a:spcBef>
              <a:spcAft>
                <a:spcPts val="0"/>
              </a:spcAft>
              <a:buSzPts val="1800"/>
              <a:buChar char="●"/>
            </a:pPr>
            <a:r>
              <a:rPr lang="en"/>
              <a:t>message-box</a:t>
            </a:r>
            <a:endParaRPr/>
          </a:p>
          <a:p>
            <a:pPr indent="-317500" lvl="1" marL="914400" rtl="0" algn="l">
              <a:spcBef>
                <a:spcPts val="0"/>
              </a:spcBef>
              <a:spcAft>
                <a:spcPts val="0"/>
              </a:spcAft>
              <a:buSzPts val="1400"/>
              <a:buChar char="○"/>
            </a:pPr>
            <a:r>
              <a:rPr lang="en"/>
              <a:t>The system font used in dialog boxes.</a:t>
            </a:r>
            <a:endParaRPr/>
          </a:p>
          <a:p>
            <a:pPr indent="-342900" lvl="0" marL="457200" rtl="0" algn="l">
              <a:spcBef>
                <a:spcPts val="0"/>
              </a:spcBef>
              <a:spcAft>
                <a:spcPts val="0"/>
              </a:spcAft>
              <a:buSzPts val="1800"/>
              <a:buChar char="●"/>
            </a:pPr>
            <a:r>
              <a:rPr lang="en"/>
              <a:t>small-caption</a:t>
            </a:r>
            <a:endParaRPr/>
          </a:p>
          <a:p>
            <a:pPr indent="-317500" lvl="1" marL="914400" rtl="0" algn="l">
              <a:spcBef>
                <a:spcPts val="0"/>
              </a:spcBef>
              <a:spcAft>
                <a:spcPts val="0"/>
              </a:spcAft>
              <a:buSzPts val="1400"/>
              <a:buChar char="○"/>
            </a:pPr>
            <a:r>
              <a:rPr lang="en"/>
              <a:t>The system font used for labeling small controls.</a:t>
            </a:r>
            <a:endParaRPr/>
          </a:p>
          <a:p>
            <a:pPr indent="-342900" lvl="0" marL="457200" rtl="0" algn="l">
              <a:spcBef>
                <a:spcPts val="0"/>
              </a:spcBef>
              <a:spcAft>
                <a:spcPts val="0"/>
              </a:spcAft>
              <a:buSzPts val="1800"/>
              <a:buChar char="●"/>
            </a:pPr>
            <a:r>
              <a:rPr lang="en"/>
              <a:t>status-bar</a:t>
            </a:r>
            <a:endParaRPr/>
          </a:p>
          <a:p>
            <a:pPr indent="-317500" lvl="1" marL="914400" rtl="0" algn="l">
              <a:spcBef>
                <a:spcPts val="0"/>
              </a:spcBef>
              <a:spcAft>
                <a:spcPts val="0"/>
              </a:spcAft>
              <a:buSzPts val="1400"/>
              <a:buChar char="○"/>
            </a:pPr>
            <a:r>
              <a:rPr lang="en"/>
              <a:t>The system font used in window status bars.</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4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Normal Font </a:t>
            </a:r>
            <a:endParaRPr/>
          </a:p>
          <a:p>
            <a:pPr indent="0" lvl="0" marL="0" rtl="0" algn="l">
              <a:spcBef>
                <a:spcPts val="0"/>
              </a:spcBef>
              <a:spcAft>
                <a:spcPts val="0"/>
              </a:spcAft>
              <a:buNone/>
            </a:pPr>
            <a:r>
              <a:t/>
            </a:r>
            <a:endParaRPr/>
          </a:p>
        </p:txBody>
      </p:sp>
      <p:sp>
        <p:nvSpPr>
          <p:cNvPr id="341" name="Google Shape;341;p4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42" name="Google Shape;342;p49"/>
          <p:cNvPicPr preferRelativeResize="0"/>
          <p:nvPr/>
        </p:nvPicPr>
        <p:blipFill>
          <a:blip r:embed="rId3">
            <a:alphaModFix/>
          </a:blip>
          <a:stretch>
            <a:fillRect/>
          </a:stretch>
        </p:blipFill>
        <p:spPr>
          <a:xfrm>
            <a:off x="840900" y="1382825"/>
            <a:ext cx="7543800" cy="866775"/>
          </a:xfrm>
          <a:prstGeom prst="rect">
            <a:avLst/>
          </a:prstGeom>
          <a:noFill/>
          <a:ln cap="flat" cmpd="sng" w="9525">
            <a:solidFill>
              <a:schemeClr val="dk2"/>
            </a:solidFill>
            <a:prstDash val="solid"/>
            <a:round/>
            <a:headEnd len="sm" w="sm" type="none"/>
            <a:tailEnd len="sm" w="sm" type="none"/>
          </a:ln>
        </p:spPr>
      </p:pic>
      <p:pic>
        <p:nvPicPr>
          <p:cNvPr id="343" name="Google Shape;343;p49"/>
          <p:cNvPicPr preferRelativeResize="0"/>
          <p:nvPr/>
        </p:nvPicPr>
        <p:blipFill>
          <a:blip r:embed="rId4">
            <a:alphaModFix/>
          </a:blip>
          <a:stretch>
            <a:fillRect/>
          </a:stretch>
        </p:blipFill>
        <p:spPr>
          <a:xfrm>
            <a:off x="840900" y="2564000"/>
            <a:ext cx="5534025" cy="704850"/>
          </a:xfrm>
          <a:prstGeom prst="rect">
            <a:avLst/>
          </a:prstGeom>
          <a:noFill/>
          <a:ln cap="flat" cmpd="sng" w="9525">
            <a:solidFill>
              <a:schemeClr val="dk2"/>
            </a:solidFill>
            <a:prstDash val="solid"/>
            <a:round/>
            <a:headEnd len="sm" w="sm" type="none"/>
            <a:tailEnd len="sm" w="sm" type="none"/>
          </a:ln>
        </p:spPr>
      </p:pic>
      <p:pic>
        <p:nvPicPr>
          <p:cNvPr id="344" name="Google Shape;344;p49"/>
          <p:cNvPicPr preferRelativeResize="0"/>
          <p:nvPr/>
        </p:nvPicPr>
        <p:blipFill>
          <a:blip r:embed="rId5">
            <a:alphaModFix/>
          </a:blip>
          <a:stretch>
            <a:fillRect/>
          </a:stretch>
        </p:blipFill>
        <p:spPr>
          <a:xfrm>
            <a:off x="831375" y="3712850"/>
            <a:ext cx="5553075" cy="809625"/>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p5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Italic and Weighted Font </a:t>
            </a:r>
            <a:endParaRPr/>
          </a:p>
          <a:p>
            <a:pPr indent="0" lvl="0" marL="0" rtl="0" algn="l">
              <a:spcBef>
                <a:spcPts val="0"/>
              </a:spcBef>
              <a:spcAft>
                <a:spcPts val="0"/>
              </a:spcAft>
              <a:buNone/>
            </a:pPr>
            <a:r>
              <a:t/>
            </a:r>
            <a:endParaRPr/>
          </a:p>
        </p:txBody>
      </p:sp>
      <p:sp>
        <p:nvSpPr>
          <p:cNvPr id="350" name="Google Shape;350;p5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51" name="Google Shape;351;p50"/>
          <p:cNvPicPr preferRelativeResize="0"/>
          <p:nvPr/>
        </p:nvPicPr>
        <p:blipFill>
          <a:blip r:embed="rId3">
            <a:alphaModFix/>
          </a:blip>
          <a:stretch>
            <a:fillRect/>
          </a:stretch>
        </p:blipFill>
        <p:spPr>
          <a:xfrm>
            <a:off x="617650" y="3407825"/>
            <a:ext cx="5429250" cy="819150"/>
          </a:xfrm>
          <a:prstGeom prst="rect">
            <a:avLst/>
          </a:prstGeom>
          <a:noFill/>
          <a:ln cap="flat" cmpd="sng" w="9525">
            <a:solidFill>
              <a:srgbClr val="FF9900"/>
            </a:solidFill>
            <a:prstDash val="solid"/>
            <a:round/>
            <a:headEnd len="sm" w="sm" type="none"/>
            <a:tailEnd len="sm" w="sm" type="none"/>
          </a:ln>
        </p:spPr>
      </p:pic>
      <p:pic>
        <p:nvPicPr>
          <p:cNvPr id="352" name="Google Shape;352;p50"/>
          <p:cNvPicPr preferRelativeResize="0"/>
          <p:nvPr/>
        </p:nvPicPr>
        <p:blipFill>
          <a:blip r:embed="rId4">
            <a:alphaModFix/>
          </a:blip>
          <a:stretch>
            <a:fillRect/>
          </a:stretch>
        </p:blipFill>
        <p:spPr>
          <a:xfrm>
            <a:off x="617660" y="1268450"/>
            <a:ext cx="8002465" cy="819150"/>
          </a:xfrm>
          <a:prstGeom prst="rect">
            <a:avLst/>
          </a:prstGeom>
          <a:noFill/>
          <a:ln cap="flat" cmpd="sng" w="9525">
            <a:solidFill>
              <a:schemeClr val="dk2"/>
            </a:solidFill>
            <a:prstDash val="solid"/>
            <a:round/>
            <a:headEnd len="sm" w="sm" type="none"/>
            <a:tailEnd len="sm" w="sm" type="none"/>
          </a:ln>
        </p:spPr>
      </p:pic>
      <p:pic>
        <p:nvPicPr>
          <p:cNvPr id="353" name="Google Shape;353;p50"/>
          <p:cNvPicPr preferRelativeResize="0"/>
          <p:nvPr/>
        </p:nvPicPr>
        <p:blipFill>
          <a:blip r:embed="rId5">
            <a:alphaModFix/>
          </a:blip>
          <a:stretch>
            <a:fillRect/>
          </a:stretch>
        </p:blipFill>
        <p:spPr>
          <a:xfrm>
            <a:off x="617650" y="2377700"/>
            <a:ext cx="6477000" cy="68580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5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Font Width</a:t>
            </a:r>
            <a:endParaRPr/>
          </a:p>
          <a:p>
            <a:pPr indent="0" lvl="0" marL="0" rtl="0" algn="l">
              <a:spcBef>
                <a:spcPts val="0"/>
              </a:spcBef>
              <a:spcAft>
                <a:spcPts val="0"/>
              </a:spcAft>
              <a:buNone/>
            </a:pPr>
            <a:r>
              <a:t/>
            </a:r>
            <a:endParaRPr/>
          </a:p>
        </p:txBody>
      </p:sp>
      <p:sp>
        <p:nvSpPr>
          <p:cNvPr id="359" name="Google Shape;359;p5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60" name="Google Shape;360;p51"/>
          <p:cNvPicPr preferRelativeResize="0"/>
          <p:nvPr/>
        </p:nvPicPr>
        <p:blipFill>
          <a:blip r:embed="rId3">
            <a:alphaModFix/>
          </a:blip>
          <a:stretch>
            <a:fillRect/>
          </a:stretch>
        </p:blipFill>
        <p:spPr>
          <a:xfrm>
            <a:off x="832800" y="1253225"/>
            <a:ext cx="7296150" cy="819150"/>
          </a:xfrm>
          <a:prstGeom prst="rect">
            <a:avLst/>
          </a:prstGeom>
          <a:noFill/>
          <a:ln cap="flat" cmpd="sng" w="9525">
            <a:solidFill>
              <a:schemeClr val="dk2"/>
            </a:solidFill>
            <a:prstDash val="solid"/>
            <a:round/>
            <a:headEnd len="sm" w="sm" type="none"/>
            <a:tailEnd len="sm" w="sm" type="none"/>
          </a:ln>
        </p:spPr>
      </p:pic>
      <p:pic>
        <p:nvPicPr>
          <p:cNvPr id="361" name="Google Shape;361;p51"/>
          <p:cNvPicPr preferRelativeResize="0"/>
          <p:nvPr/>
        </p:nvPicPr>
        <p:blipFill>
          <a:blip r:embed="rId4">
            <a:alphaModFix/>
          </a:blip>
          <a:stretch>
            <a:fillRect/>
          </a:stretch>
        </p:blipFill>
        <p:spPr>
          <a:xfrm>
            <a:off x="832800" y="2402975"/>
            <a:ext cx="5200650" cy="752475"/>
          </a:xfrm>
          <a:prstGeom prst="rect">
            <a:avLst/>
          </a:prstGeom>
          <a:noFill/>
          <a:ln cap="flat" cmpd="sng" w="9525">
            <a:solidFill>
              <a:schemeClr val="dk2"/>
            </a:solidFill>
            <a:prstDash val="solid"/>
            <a:round/>
            <a:headEnd len="sm" w="sm" type="none"/>
            <a:tailEnd len="sm" w="sm" type="none"/>
          </a:ln>
        </p:spPr>
      </p:pic>
      <p:pic>
        <p:nvPicPr>
          <p:cNvPr id="362" name="Google Shape;362;p51"/>
          <p:cNvPicPr preferRelativeResize="0"/>
          <p:nvPr/>
        </p:nvPicPr>
        <p:blipFill>
          <a:blip r:embed="rId5">
            <a:alphaModFix/>
          </a:blip>
          <a:stretch>
            <a:fillRect/>
          </a:stretch>
        </p:blipFill>
        <p:spPr>
          <a:xfrm>
            <a:off x="832800" y="3639950"/>
            <a:ext cx="8010525" cy="885825"/>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System Font</a:t>
            </a:r>
            <a:endParaRPr/>
          </a:p>
          <a:p>
            <a:pPr indent="0" lvl="0" marL="0" rtl="0" algn="l">
              <a:spcBef>
                <a:spcPts val="0"/>
              </a:spcBef>
              <a:spcAft>
                <a:spcPts val="0"/>
              </a:spcAft>
              <a:buNone/>
            </a:pPr>
            <a:r>
              <a:t/>
            </a:r>
            <a:endParaRPr/>
          </a:p>
        </p:txBody>
      </p:sp>
      <p:sp>
        <p:nvSpPr>
          <p:cNvPr id="368" name="Google Shape;368;p5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69" name="Google Shape;369;p52"/>
          <p:cNvPicPr preferRelativeResize="0"/>
          <p:nvPr/>
        </p:nvPicPr>
        <p:blipFill>
          <a:blip r:embed="rId3">
            <a:alphaModFix/>
          </a:blip>
          <a:stretch>
            <a:fillRect/>
          </a:stretch>
        </p:blipFill>
        <p:spPr>
          <a:xfrm>
            <a:off x="857100" y="3660050"/>
            <a:ext cx="5572125" cy="1028700"/>
          </a:xfrm>
          <a:prstGeom prst="rect">
            <a:avLst/>
          </a:prstGeom>
          <a:noFill/>
          <a:ln cap="flat" cmpd="sng" w="9525">
            <a:solidFill>
              <a:srgbClr val="FF9900"/>
            </a:solidFill>
            <a:prstDash val="solid"/>
            <a:round/>
            <a:headEnd len="sm" w="sm" type="none"/>
            <a:tailEnd len="sm" w="sm" type="none"/>
          </a:ln>
        </p:spPr>
      </p:pic>
      <p:pic>
        <p:nvPicPr>
          <p:cNvPr id="370" name="Google Shape;370;p52"/>
          <p:cNvPicPr preferRelativeResize="0"/>
          <p:nvPr/>
        </p:nvPicPr>
        <p:blipFill>
          <a:blip r:embed="rId4">
            <a:alphaModFix/>
          </a:blip>
          <a:stretch>
            <a:fillRect/>
          </a:stretch>
        </p:blipFill>
        <p:spPr>
          <a:xfrm>
            <a:off x="152400" y="2411525"/>
            <a:ext cx="8448675" cy="638175"/>
          </a:xfrm>
          <a:prstGeom prst="rect">
            <a:avLst/>
          </a:prstGeom>
          <a:noFill/>
          <a:ln cap="flat" cmpd="sng" w="9525">
            <a:solidFill>
              <a:schemeClr val="dk2"/>
            </a:solidFill>
            <a:prstDash val="solid"/>
            <a:round/>
            <a:headEnd len="sm" w="sm" type="none"/>
            <a:tailEnd len="sm" w="sm" type="none"/>
          </a:ln>
        </p:spPr>
      </p:pic>
      <p:pic>
        <p:nvPicPr>
          <p:cNvPr id="371" name="Google Shape;371;p52"/>
          <p:cNvPicPr preferRelativeResize="0"/>
          <p:nvPr/>
        </p:nvPicPr>
        <p:blipFill>
          <a:blip r:embed="rId5">
            <a:alphaModFix/>
          </a:blip>
          <a:stretch>
            <a:fillRect/>
          </a:stretch>
        </p:blipFill>
        <p:spPr>
          <a:xfrm>
            <a:off x="152400" y="1552925"/>
            <a:ext cx="8839200" cy="738607"/>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5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System Font Keywords</a:t>
            </a:r>
            <a:endParaRPr/>
          </a:p>
          <a:p>
            <a:pPr indent="0" lvl="0" marL="0" rtl="0" algn="l">
              <a:spcBef>
                <a:spcPts val="0"/>
              </a:spcBef>
              <a:spcAft>
                <a:spcPts val="0"/>
              </a:spcAft>
              <a:buNone/>
            </a:pPr>
            <a:r>
              <a:t/>
            </a:r>
            <a:endParaRPr/>
          </a:p>
        </p:txBody>
      </p:sp>
      <p:sp>
        <p:nvSpPr>
          <p:cNvPr id="377" name="Google Shape;377;p5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78" name="Google Shape;378;p53"/>
          <p:cNvPicPr preferRelativeResize="0"/>
          <p:nvPr/>
        </p:nvPicPr>
        <p:blipFill>
          <a:blip r:embed="rId3">
            <a:alphaModFix/>
          </a:blip>
          <a:stretch>
            <a:fillRect/>
          </a:stretch>
        </p:blipFill>
        <p:spPr>
          <a:xfrm>
            <a:off x="719400" y="1139825"/>
            <a:ext cx="2179553" cy="3770275"/>
          </a:xfrm>
          <a:prstGeom prst="rect">
            <a:avLst/>
          </a:prstGeom>
          <a:noFill/>
          <a:ln cap="flat" cmpd="sng" w="9525">
            <a:solidFill>
              <a:schemeClr val="dk2"/>
            </a:solidFill>
            <a:prstDash val="solid"/>
            <a:round/>
            <a:headEnd len="sm" w="sm" type="none"/>
            <a:tailEnd len="sm" w="sm" type="none"/>
          </a:ln>
        </p:spPr>
      </p:pic>
      <p:pic>
        <p:nvPicPr>
          <p:cNvPr id="379" name="Google Shape;379;p53"/>
          <p:cNvPicPr preferRelativeResize="0"/>
          <p:nvPr/>
        </p:nvPicPr>
        <p:blipFill>
          <a:blip r:embed="rId4">
            <a:alphaModFix/>
          </a:blip>
          <a:stretch>
            <a:fillRect/>
          </a:stretch>
        </p:blipFill>
        <p:spPr>
          <a:xfrm>
            <a:off x="3095828" y="1139825"/>
            <a:ext cx="5402184" cy="3770275"/>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5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Google Font</a:t>
            </a:r>
            <a:endParaRPr/>
          </a:p>
          <a:p>
            <a:pPr indent="0" lvl="0" marL="0" rtl="0" algn="l">
              <a:spcBef>
                <a:spcPts val="0"/>
              </a:spcBef>
              <a:spcAft>
                <a:spcPts val="0"/>
              </a:spcAft>
              <a:buNone/>
            </a:pPr>
            <a:r>
              <a:t/>
            </a:r>
            <a:endParaRPr/>
          </a:p>
        </p:txBody>
      </p:sp>
      <p:sp>
        <p:nvSpPr>
          <p:cNvPr id="385" name="Google Shape;385;p5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86" name="Google Shape;386;p54"/>
          <p:cNvPicPr preferRelativeResize="0"/>
          <p:nvPr/>
        </p:nvPicPr>
        <p:blipFill>
          <a:blip r:embed="rId3">
            <a:alphaModFix/>
          </a:blip>
          <a:stretch>
            <a:fillRect/>
          </a:stretch>
        </p:blipFill>
        <p:spPr>
          <a:xfrm>
            <a:off x="311700" y="1237025"/>
            <a:ext cx="5753100" cy="257175"/>
          </a:xfrm>
          <a:prstGeom prst="rect">
            <a:avLst/>
          </a:prstGeom>
          <a:noFill/>
          <a:ln cap="flat" cmpd="sng" w="9525">
            <a:solidFill>
              <a:schemeClr val="dk2"/>
            </a:solidFill>
            <a:prstDash val="solid"/>
            <a:round/>
            <a:headEnd len="sm" w="sm" type="none"/>
            <a:tailEnd len="sm" w="sm" type="none"/>
          </a:ln>
        </p:spPr>
      </p:pic>
      <p:pic>
        <p:nvPicPr>
          <p:cNvPr id="387" name="Google Shape;387;p54"/>
          <p:cNvPicPr preferRelativeResize="0"/>
          <p:nvPr/>
        </p:nvPicPr>
        <p:blipFill>
          <a:blip r:embed="rId4">
            <a:alphaModFix/>
          </a:blip>
          <a:stretch>
            <a:fillRect/>
          </a:stretch>
        </p:blipFill>
        <p:spPr>
          <a:xfrm>
            <a:off x="311700" y="2220288"/>
            <a:ext cx="3006600" cy="2590725"/>
          </a:xfrm>
          <a:prstGeom prst="rect">
            <a:avLst/>
          </a:prstGeom>
          <a:noFill/>
          <a:ln cap="flat" cmpd="sng" w="9525">
            <a:solidFill>
              <a:schemeClr val="dk2"/>
            </a:solidFill>
            <a:prstDash val="solid"/>
            <a:round/>
            <a:headEnd len="sm" w="sm" type="none"/>
            <a:tailEnd len="sm" w="sm" type="none"/>
          </a:ln>
        </p:spPr>
      </p:pic>
      <p:pic>
        <p:nvPicPr>
          <p:cNvPr id="388" name="Google Shape;388;p54"/>
          <p:cNvPicPr preferRelativeResize="0"/>
          <p:nvPr/>
        </p:nvPicPr>
        <p:blipFill rotWithShape="1">
          <a:blip r:embed="rId5">
            <a:alphaModFix/>
          </a:blip>
          <a:srcRect b="0" l="0" r="22076" t="0"/>
          <a:stretch/>
        </p:blipFill>
        <p:spPr>
          <a:xfrm>
            <a:off x="3985200" y="2364500"/>
            <a:ext cx="4374001" cy="1540900"/>
          </a:xfrm>
          <a:prstGeom prst="rect">
            <a:avLst/>
          </a:prstGeom>
          <a:noFill/>
          <a:ln cap="flat" cmpd="sng" w="9525">
            <a:solidFill>
              <a:srgbClr val="FF9900"/>
            </a:solidFill>
            <a:prstDash val="solid"/>
            <a:round/>
            <a:headEnd len="sm" w="sm" type="none"/>
            <a:tailEnd len="sm" w="sm" type="none"/>
          </a:ln>
        </p:spPr>
      </p:pic>
      <p:pic>
        <p:nvPicPr>
          <p:cNvPr id="389" name="Google Shape;389;p54"/>
          <p:cNvPicPr preferRelativeResize="0"/>
          <p:nvPr/>
        </p:nvPicPr>
        <p:blipFill>
          <a:blip r:embed="rId6">
            <a:alphaModFix/>
          </a:blip>
          <a:stretch>
            <a:fillRect/>
          </a:stretch>
        </p:blipFill>
        <p:spPr>
          <a:xfrm>
            <a:off x="311700" y="1578000"/>
            <a:ext cx="8659873" cy="39360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sp>
        <p:nvSpPr>
          <p:cNvPr id="394" name="Google Shape;394;p5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Web Font</a:t>
            </a:r>
            <a:endParaRPr/>
          </a:p>
          <a:p>
            <a:pPr indent="0" lvl="0" marL="0" rtl="0" algn="l">
              <a:spcBef>
                <a:spcPts val="0"/>
              </a:spcBef>
              <a:spcAft>
                <a:spcPts val="0"/>
              </a:spcAft>
              <a:buNone/>
            </a:pPr>
            <a:r>
              <a:t/>
            </a:r>
            <a:endParaRPr/>
          </a:p>
        </p:txBody>
      </p:sp>
      <p:sp>
        <p:nvSpPr>
          <p:cNvPr id="395" name="Google Shape;395;p5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396" name="Google Shape;396;p55"/>
          <p:cNvPicPr preferRelativeResize="0"/>
          <p:nvPr/>
        </p:nvPicPr>
        <p:blipFill>
          <a:blip r:embed="rId3">
            <a:alphaModFix/>
          </a:blip>
          <a:stretch>
            <a:fillRect/>
          </a:stretch>
        </p:blipFill>
        <p:spPr>
          <a:xfrm>
            <a:off x="897600" y="1285625"/>
            <a:ext cx="5543550" cy="180975"/>
          </a:xfrm>
          <a:prstGeom prst="rect">
            <a:avLst/>
          </a:prstGeom>
          <a:noFill/>
          <a:ln cap="flat" cmpd="sng" w="9525">
            <a:solidFill>
              <a:schemeClr val="dk2"/>
            </a:solidFill>
            <a:prstDash val="solid"/>
            <a:round/>
            <a:headEnd len="sm" w="sm" type="none"/>
            <a:tailEnd len="sm" w="sm" type="none"/>
          </a:ln>
        </p:spPr>
      </p:pic>
      <p:pic>
        <p:nvPicPr>
          <p:cNvPr id="397" name="Google Shape;397;p55"/>
          <p:cNvPicPr preferRelativeResize="0"/>
          <p:nvPr/>
        </p:nvPicPr>
        <p:blipFill>
          <a:blip r:embed="rId4">
            <a:alphaModFix/>
          </a:blip>
          <a:stretch>
            <a:fillRect/>
          </a:stretch>
        </p:blipFill>
        <p:spPr>
          <a:xfrm>
            <a:off x="897600" y="1602800"/>
            <a:ext cx="7987201" cy="1324750"/>
          </a:xfrm>
          <a:prstGeom prst="rect">
            <a:avLst/>
          </a:prstGeom>
          <a:noFill/>
          <a:ln cap="flat" cmpd="sng" w="9525">
            <a:solidFill>
              <a:schemeClr val="dk2"/>
            </a:solidFill>
            <a:prstDash val="solid"/>
            <a:round/>
            <a:headEnd len="sm" w="sm" type="none"/>
            <a:tailEnd len="sm" w="sm" type="none"/>
          </a:ln>
        </p:spPr>
      </p:pic>
      <p:pic>
        <p:nvPicPr>
          <p:cNvPr id="398" name="Google Shape;398;p55"/>
          <p:cNvPicPr preferRelativeResize="0"/>
          <p:nvPr/>
        </p:nvPicPr>
        <p:blipFill>
          <a:blip r:embed="rId5">
            <a:alphaModFix/>
          </a:blip>
          <a:stretch>
            <a:fillRect/>
          </a:stretch>
        </p:blipFill>
        <p:spPr>
          <a:xfrm>
            <a:off x="897600" y="3274350"/>
            <a:ext cx="4038600" cy="81915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5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Textual Property ─ Opacity</a:t>
            </a:r>
            <a:endParaRPr/>
          </a:p>
        </p:txBody>
      </p:sp>
      <p:sp>
        <p:nvSpPr>
          <p:cNvPr id="404" name="Google Shape;404;p5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405" name="Google Shape;405;p5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opacity CSS property sets the opacity of an element. Opacity is the degree to which content behind an element is hidden, and is the opposite of transparency.</a:t>
            </a:r>
            <a:endParaRPr/>
          </a:p>
          <a:p>
            <a:pPr indent="-342900" lvl="0" marL="457200" rtl="0" algn="l">
              <a:spcBef>
                <a:spcPts val="0"/>
              </a:spcBef>
              <a:spcAft>
                <a:spcPts val="0"/>
              </a:spcAft>
              <a:buSzPts val="1800"/>
              <a:buChar char="●"/>
            </a:pPr>
            <a:r>
              <a:rPr lang="en"/>
              <a:t>A &lt;number&gt; in the range 0.0 to 1.0, inclusive, or a &lt;percentage&gt; in the range 0% to 100%, inclusive, representing the opacity of the channel (that is, the value of its alpha channel). Any value outside the interval, though valid, is clamped to the nearest limit in the range.</a:t>
            </a:r>
            <a:endParaRPr/>
          </a:p>
          <a:p>
            <a:pPr indent="-342900" lvl="0" marL="457200" rtl="0" algn="l">
              <a:spcBef>
                <a:spcPts val="0"/>
              </a:spcBef>
              <a:spcAft>
                <a:spcPts val="0"/>
              </a:spcAft>
              <a:buSzPts val="1800"/>
              <a:buChar char="●"/>
            </a:pPr>
            <a:r>
              <a:rPr lang="en"/>
              <a:t>Check examples at </a:t>
            </a:r>
            <a:r>
              <a:rPr lang="en" u="sng">
                <a:solidFill>
                  <a:schemeClr val="hlink"/>
                </a:solidFill>
                <a:hlinkClick r:id="rId3"/>
              </a:rPr>
              <a:t>https://developer.mozilla.org/en-US/docs/Web/CSS/Reference/Properties/opacity</a:t>
            </a:r>
            <a:r>
              <a:rPr lang="en"/>
              <a:t>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9" name="Shape 409"/>
        <p:cNvGrpSpPr/>
        <p:nvPr/>
      </p:nvGrpSpPr>
      <p:grpSpPr>
        <a:xfrm>
          <a:off x="0" y="0"/>
          <a:ext cx="0" cy="0"/>
          <a:chOff x="0" y="0"/>
          <a:chExt cx="0" cy="0"/>
        </a:xfrm>
      </p:grpSpPr>
      <p:sp>
        <p:nvSpPr>
          <p:cNvPr id="410" name="Google Shape;410;p57"/>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Property</a:t>
            </a:r>
            <a:r>
              <a:rPr lang="en"/>
              <a:t> ─ </a:t>
            </a:r>
            <a:r>
              <a:rPr lang="en"/>
              <a:t>Background </a:t>
            </a:r>
            <a:r>
              <a:rPr lang="en"/>
              <a:t>Appearance</a:t>
            </a:r>
            <a:endParaRPr/>
          </a:p>
        </p:txBody>
      </p:sp>
      <p:sp>
        <p:nvSpPr>
          <p:cNvPr id="411" name="Google Shape;411;p5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sp>
        <p:nvSpPr>
          <p:cNvPr id="416" name="Google Shape;416;p5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Background Properties ─ background-color</a:t>
            </a:r>
            <a:endParaRPr/>
          </a:p>
        </p:txBody>
      </p:sp>
      <p:sp>
        <p:nvSpPr>
          <p:cNvPr id="417" name="Google Shape;417;p5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418" name="Google Shape;418;p5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Specifies a single &lt;color&gt; value.</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https://developer.mozilla.org/en-US/docs/Web/CSS/Reference/Values/color_value</a:t>
            </a:r>
            <a:r>
              <a:rPr lang="en"/>
              <a:t> </a:t>
            </a:r>
            <a:endParaRPr/>
          </a:p>
          <a:p>
            <a:pPr indent="-342900" lvl="0" marL="457200" rtl="0" algn="l">
              <a:spcBef>
                <a:spcPts val="0"/>
              </a:spcBef>
              <a:spcAft>
                <a:spcPts val="0"/>
              </a:spcAft>
              <a:buSzPts val="1800"/>
              <a:buChar char="●"/>
            </a:pPr>
            <a:r>
              <a:rPr lang="en"/>
              <a:t>It is rendered behind any background-image that is specified.</a:t>
            </a:r>
            <a:endParaRPr/>
          </a:p>
        </p:txBody>
      </p:sp>
      <p:pic>
        <p:nvPicPr>
          <p:cNvPr id="419" name="Google Shape;419;p58"/>
          <p:cNvPicPr preferRelativeResize="0"/>
          <p:nvPr/>
        </p:nvPicPr>
        <p:blipFill>
          <a:blip r:embed="rId4">
            <a:alphaModFix/>
          </a:blip>
          <a:stretch>
            <a:fillRect/>
          </a:stretch>
        </p:blipFill>
        <p:spPr>
          <a:xfrm>
            <a:off x="1314350" y="2228400"/>
            <a:ext cx="3960600" cy="268000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p5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Background Properties ─ background-image</a:t>
            </a:r>
            <a:endParaRPr/>
          </a:p>
        </p:txBody>
      </p:sp>
      <p:sp>
        <p:nvSpPr>
          <p:cNvPr id="425" name="Google Shape;425;p5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426" name="Google Shape;426;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Each background image is specified either as the keyword none or as an &lt;image&gt; value.</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https://developer.mozilla.org/en-US/docs/Web/CSS/Reference/Values/image</a:t>
            </a:r>
            <a:r>
              <a:rPr lang="en"/>
              <a:t> </a:t>
            </a:r>
            <a:endParaRPr/>
          </a:p>
          <a:p>
            <a:pPr indent="-317500" lvl="2" marL="1371600" rtl="0" algn="l">
              <a:spcBef>
                <a:spcPts val="0"/>
              </a:spcBef>
              <a:spcAft>
                <a:spcPts val="0"/>
              </a:spcAft>
              <a:buSzPts val="1400"/>
              <a:buChar char="■"/>
            </a:pPr>
            <a:r>
              <a:rPr lang="en"/>
              <a:t>A &lt;gradient&gt; data type is a kind of &lt;image&gt; data type.</a:t>
            </a:r>
            <a:endParaRPr/>
          </a:p>
          <a:p>
            <a:pPr indent="-317500" lvl="1" marL="914400" rtl="0" algn="l">
              <a:spcBef>
                <a:spcPts val="0"/>
              </a:spcBef>
              <a:spcAft>
                <a:spcPts val="0"/>
              </a:spcAft>
              <a:buSzPts val="1400"/>
              <a:buChar char="○"/>
            </a:pPr>
            <a:r>
              <a:rPr lang="en"/>
              <a:t>Specifies the URL of the image, in the format url(file_location)</a:t>
            </a:r>
            <a:endParaRPr/>
          </a:p>
          <a:p>
            <a:pPr indent="-342900" lvl="0" marL="457200" rtl="0" algn="l">
              <a:spcBef>
                <a:spcPts val="0"/>
              </a:spcBef>
              <a:spcAft>
                <a:spcPts val="0"/>
              </a:spcAft>
              <a:buSzPts val="1800"/>
              <a:buChar char="●"/>
            </a:pPr>
            <a:r>
              <a:rPr lang="en"/>
              <a:t>To specify multiple background images, supply multiple values, separated by a comma.</a:t>
            </a:r>
            <a:endParaRPr/>
          </a:p>
          <a:p>
            <a:pPr indent="-317500" lvl="1" marL="914400" rtl="0" algn="l">
              <a:spcBef>
                <a:spcPts val="0"/>
              </a:spcBef>
              <a:spcAft>
                <a:spcPts val="0"/>
              </a:spcAft>
              <a:buSzPts val="1400"/>
              <a:buChar char="○"/>
            </a:pPr>
            <a:r>
              <a:rPr lang="en"/>
              <a:t>The first layer specified is drawn as if it is closest to the user.</a:t>
            </a:r>
            <a:endParaRPr/>
          </a:p>
          <a:p>
            <a:pPr indent="-342900" lvl="0" marL="457200" rtl="0" algn="l">
              <a:spcBef>
                <a:spcPts val="0"/>
              </a:spcBef>
              <a:spcAft>
                <a:spcPts val="0"/>
              </a:spcAft>
              <a:buSzPts val="1800"/>
              <a:buChar char="●"/>
            </a:pPr>
            <a:r>
              <a:rPr lang="en"/>
              <a:t>Check examples at </a:t>
            </a:r>
            <a:r>
              <a:rPr lang="en" u="sng">
                <a:solidFill>
                  <a:schemeClr val="hlink"/>
                </a:solidFill>
                <a:hlinkClick r:id="rId4"/>
              </a:rPr>
              <a:t>https://developer.mozilla.org/en-US/docs/Web/CSS/Reference/Properties/background-image</a:t>
            </a:r>
            <a:r>
              <a:rPr lang="en"/>
              <a:t> </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900"/>
              <a:t>Background Properties ─ </a:t>
            </a:r>
            <a:r>
              <a:rPr lang="en" sz="2900"/>
              <a:t>&lt;gradient&gt; data type</a:t>
            </a:r>
            <a:endParaRPr sz="2900"/>
          </a:p>
        </p:txBody>
      </p:sp>
      <p:sp>
        <p:nvSpPr>
          <p:cNvPr id="432" name="Google Shape;432;p6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433" name="Google Shape;433;p6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&lt;gradient&gt; data type is defined with one of the function types listed below.</a:t>
            </a:r>
            <a:endParaRPr/>
          </a:p>
          <a:p>
            <a:pPr indent="-317500" lvl="1" marL="914400" rtl="0" algn="l">
              <a:spcBef>
                <a:spcPts val="0"/>
              </a:spcBef>
              <a:spcAft>
                <a:spcPts val="0"/>
              </a:spcAft>
              <a:buSzPts val="1400"/>
              <a:buChar char="○"/>
            </a:pPr>
            <a:r>
              <a:rPr lang="en"/>
              <a:t>linear-gradient(), radial-gradient(), conic-gradient(), repeating-linear-gradient(), repeating-radial-gradient(), and repeating-conic-gradient().</a:t>
            </a:r>
            <a:endParaRPr/>
          </a:p>
          <a:p>
            <a:pPr indent="-317500" lvl="1" marL="914400" rtl="0" algn="l">
              <a:spcBef>
                <a:spcPts val="0"/>
              </a:spcBef>
              <a:spcAft>
                <a:spcPts val="0"/>
              </a:spcAft>
              <a:buSzPts val="1400"/>
              <a:buChar char="○"/>
            </a:pPr>
            <a:r>
              <a:rPr lang="en"/>
              <a:t>A CSS gradient has no intrinsic dimensions; i.e., it has no natural or preferred size, nor a preferred ratio. Its concrete size will match the size of the element to which it applies.</a:t>
            </a:r>
            <a:endParaRPr/>
          </a:p>
          <a:p>
            <a:pPr indent="-342900" lvl="0" marL="457200" rtl="0" algn="l">
              <a:spcBef>
                <a:spcPts val="0"/>
              </a:spcBef>
              <a:spcAft>
                <a:spcPts val="0"/>
              </a:spcAft>
              <a:buSzPts val="1800"/>
              <a:buChar char="●"/>
            </a:pPr>
            <a:r>
              <a:rPr lang="en"/>
              <a:t>Check examples at </a:t>
            </a:r>
            <a:r>
              <a:rPr lang="en" u="sng">
                <a:solidFill>
                  <a:schemeClr val="hlink"/>
                </a:solidFill>
                <a:hlinkClick r:id="rId3"/>
              </a:rPr>
              <a:t>https://developer.mozilla.org/en-US/docs/Web/CSS/Reference/Values/gradient</a:t>
            </a:r>
            <a:r>
              <a:rPr lang="en"/>
              <a:t> </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900"/>
              <a:t>Background Properties ─ background-position</a:t>
            </a:r>
            <a:endParaRPr sz="2900"/>
          </a:p>
        </p:txBody>
      </p:sp>
      <p:sp>
        <p:nvSpPr>
          <p:cNvPr id="439" name="Google Shape;439;p6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440" name="Google Shape;440;p61"/>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Places the image on the page top, bottom, center, left and right individually or in combination for vertical and horizontal positioning.</a:t>
            </a:r>
            <a:endParaRPr/>
          </a:p>
          <a:p>
            <a:pPr indent="-304800" lvl="1" marL="914400" rtl="0" algn="l">
              <a:spcBef>
                <a:spcPts val="0"/>
              </a:spcBef>
              <a:spcAft>
                <a:spcPts val="0"/>
              </a:spcAft>
              <a:buSzPts val="1200"/>
              <a:buChar char="○"/>
            </a:pPr>
            <a:r>
              <a:rPr lang="en"/>
              <a:t>background-position: top;</a:t>
            </a:r>
            <a:endParaRPr/>
          </a:p>
          <a:p>
            <a:pPr indent="-304800" lvl="1" marL="914400" rtl="0" algn="l">
              <a:spcBef>
                <a:spcPts val="0"/>
              </a:spcBef>
              <a:spcAft>
                <a:spcPts val="0"/>
              </a:spcAft>
              <a:buSzPts val="1200"/>
              <a:buChar char="○"/>
            </a:pPr>
            <a:r>
              <a:rPr lang="en"/>
              <a:t>background-position: bottom;</a:t>
            </a:r>
            <a:endParaRPr/>
          </a:p>
          <a:p>
            <a:pPr indent="-304800" lvl="1" marL="914400" rtl="0" algn="l">
              <a:spcBef>
                <a:spcPts val="0"/>
              </a:spcBef>
              <a:spcAft>
                <a:spcPts val="0"/>
              </a:spcAft>
              <a:buSzPts val="1200"/>
              <a:buChar char="○"/>
            </a:pPr>
            <a:r>
              <a:rPr lang="en"/>
              <a:t>background-position: left;</a:t>
            </a:r>
            <a:endParaRPr/>
          </a:p>
          <a:p>
            <a:pPr indent="-304800" lvl="1" marL="914400" rtl="0" algn="l">
              <a:spcBef>
                <a:spcPts val="0"/>
              </a:spcBef>
              <a:spcAft>
                <a:spcPts val="0"/>
              </a:spcAft>
              <a:buSzPts val="1200"/>
              <a:buChar char="○"/>
            </a:pPr>
            <a:r>
              <a:rPr lang="en"/>
              <a:t>background-position: right;</a:t>
            </a:r>
            <a:endParaRPr/>
          </a:p>
          <a:p>
            <a:pPr indent="-304800" lvl="1" marL="914400" rtl="0" algn="l">
              <a:spcBef>
                <a:spcPts val="0"/>
              </a:spcBef>
              <a:spcAft>
                <a:spcPts val="0"/>
              </a:spcAft>
              <a:buSzPts val="1200"/>
              <a:buChar char="○"/>
            </a:pPr>
            <a:r>
              <a:rPr lang="en"/>
              <a:t>background-position: center;</a:t>
            </a:r>
            <a:endParaRPr/>
          </a:p>
          <a:p>
            <a:pPr indent="-317500" lvl="0" marL="457200" rtl="0" algn="l">
              <a:spcBef>
                <a:spcPts val="0"/>
              </a:spcBef>
              <a:spcAft>
                <a:spcPts val="0"/>
              </a:spcAft>
              <a:buSzPts val="1400"/>
              <a:buChar char="●"/>
            </a:pPr>
            <a:r>
              <a:rPr lang="en"/>
              <a:t>You can also position by using lengths</a:t>
            </a:r>
            <a:endParaRPr/>
          </a:p>
          <a:p>
            <a:pPr indent="-304800" lvl="1" marL="914400" rtl="0" algn="l">
              <a:spcBef>
                <a:spcPts val="0"/>
              </a:spcBef>
              <a:spcAft>
                <a:spcPts val="0"/>
              </a:spcAft>
              <a:buSzPts val="1200"/>
              <a:buChar char="○"/>
            </a:pPr>
            <a:r>
              <a:rPr lang="en"/>
              <a:t>background-position: 0 0;</a:t>
            </a:r>
            <a:endParaRPr/>
          </a:p>
          <a:p>
            <a:pPr indent="-304800" lvl="1" marL="914400" rtl="0" algn="l">
              <a:spcBef>
                <a:spcPts val="0"/>
              </a:spcBef>
              <a:spcAft>
                <a:spcPts val="0"/>
              </a:spcAft>
              <a:buSzPts val="1200"/>
              <a:buChar char="○"/>
            </a:pPr>
            <a:r>
              <a:rPr lang="en"/>
              <a:t>background-position: 1cm 2cm;</a:t>
            </a:r>
            <a:endParaRPr/>
          </a:p>
          <a:p>
            <a:pPr indent="-304800" lvl="1" marL="914400" rtl="0" algn="l">
              <a:spcBef>
                <a:spcPts val="0"/>
              </a:spcBef>
              <a:spcAft>
                <a:spcPts val="0"/>
              </a:spcAft>
              <a:buSzPts val="1200"/>
              <a:buChar char="○"/>
            </a:pPr>
            <a:r>
              <a:rPr lang="en"/>
              <a:t>background-position: 10ch 8em;</a:t>
            </a:r>
            <a:endParaRPr/>
          </a:p>
        </p:txBody>
      </p:sp>
      <p:sp>
        <p:nvSpPr>
          <p:cNvPr id="441" name="Google Shape;441;p61"/>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Multiple images</a:t>
            </a:r>
            <a:endParaRPr/>
          </a:p>
          <a:p>
            <a:pPr indent="-304800" lvl="1" marL="914400" rtl="0" algn="l">
              <a:spcBef>
                <a:spcPts val="0"/>
              </a:spcBef>
              <a:spcAft>
                <a:spcPts val="0"/>
              </a:spcAft>
              <a:buSzPts val="1200"/>
              <a:buChar char="○"/>
            </a:pPr>
            <a:r>
              <a:rPr lang="en"/>
              <a:t>background-position:  0 0, center;</a:t>
            </a:r>
            <a:endParaRPr/>
          </a:p>
          <a:p>
            <a:pPr indent="-317500" lvl="0" marL="457200" rtl="0" algn="l">
              <a:spcBef>
                <a:spcPts val="0"/>
              </a:spcBef>
              <a:spcAft>
                <a:spcPts val="0"/>
              </a:spcAft>
              <a:buSzPts val="1400"/>
              <a:buChar char="●"/>
            </a:pPr>
            <a:r>
              <a:rPr lang="en"/>
              <a:t>Edge offsets values</a:t>
            </a:r>
            <a:endParaRPr/>
          </a:p>
          <a:p>
            <a:pPr indent="-304800" lvl="1" marL="914400" rtl="0" algn="l">
              <a:spcBef>
                <a:spcPts val="0"/>
              </a:spcBef>
              <a:spcAft>
                <a:spcPts val="0"/>
              </a:spcAft>
              <a:buSzPts val="1200"/>
              <a:buChar char="○"/>
            </a:pPr>
            <a:r>
              <a:rPr lang="en"/>
              <a:t>background-position: bottom 10px right 20px;</a:t>
            </a:r>
            <a:endParaRPr/>
          </a:p>
          <a:p>
            <a:pPr indent="-304800" lvl="1" marL="914400" rtl="0" algn="l">
              <a:spcBef>
                <a:spcPts val="0"/>
              </a:spcBef>
              <a:spcAft>
                <a:spcPts val="0"/>
              </a:spcAft>
              <a:buSzPts val="1200"/>
              <a:buChar char="○"/>
            </a:pPr>
            <a:r>
              <a:rPr lang="en"/>
              <a:t>background-position: right 3em bottom 10px;</a:t>
            </a:r>
            <a:endParaRPr/>
          </a:p>
          <a:p>
            <a:pPr indent="-304800" lvl="1" marL="914400" rtl="0" algn="l">
              <a:spcBef>
                <a:spcPts val="0"/>
              </a:spcBef>
              <a:spcAft>
                <a:spcPts val="0"/>
              </a:spcAft>
              <a:buSzPts val="1200"/>
              <a:buChar char="○"/>
            </a:pPr>
            <a:r>
              <a:rPr lang="en"/>
              <a:t>background-position: bottom 10px right;</a:t>
            </a:r>
            <a:endParaRPr/>
          </a:p>
          <a:p>
            <a:pPr indent="-304800" lvl="1" marL="914400" rtl="0" algn="l">
              <a:spcBef>
                <a:spcPts val="0"/>
              </a:spcBef>
              <a:spcAft>
                <a:spcPts val="0"/>
              </a:spcAft>
              <a:buSzPts val="1200"/>
              <a:buChar char="○"/>
            </a:pPr>
            <a:r>
              <a:rPr lang="en"/>
              <a:t>background-position: top right 10px;</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6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900"/>
              <a:t>Background Properties ─ background-repeat</a:t>
            </a:r>
            <a:endParaRPr sz="2900"/>
          </a:p>
        </p:txBody>
      </p:sp>
      <p:sp>
        <p:nvSpPr>
          <p:cNvPr id="447" name="Google Shape;447;p6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448" name="Google Shape;448;p6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a:t>
            </a:r>
            <a:r>
              <a:rPr lang="en"/>
              <a:t>ontrols the tiling of the background image.</a:t>
            </a:r>
            <a:endParaRPr/>
          </a:p>
          <a:p>
            <a:pPr indent="-342900" lvl="0" marL="457200" rtl="0" algn="l">
              <a:spcBef>
                <a:spcPts val="0"/>
              </a:spcBef>
              <a:spcAft>
                <a:spcPts val="0"/>
              </a:spcAft>
              <a:buSzPts val="1800"/>
              <a:buChar char="●"/>
            </a:pPr>
            <a:r>
              <a:rPr lang="en"/>
              <a:t>no-repeat: displays one copy of the background image on screen</a:t>
            </a:r>
            <a:endParaRPr/>
          </a:p>
          <a:p>
            <a:pPr indent="-342900" lvl="0" marL="457200" rtl="0" algn="l">
              <a:spcBef>
                <a:spcPts val="0"/>
              </a:spcBef>
              <a:spcAft>
                <a:spcPts val="0"/>
              </a:spcAft>
              <a:buSzPts val="1800"/>
              <a:buChar char="●"/>
            </a:pPr>
            <a:r>
              <a:rPr lang="en"/>
              <a:t>repeat (the default): tiles the image vertically and horizontally</a:t>
            </a:r>
            <a:endParaRPr/>
          </a:p>
          <a:p>
            <a:pPr indent="-342900" lvl="0" marL="457200" rtl="0" algn="l">
              <a:spcBef>
                <a:spcPts val="0"/>
              </a:spcBef>
              <a:spcAft>
                <a:spcPts val="0"/>
              </a:spcAft>
              <a:buSzPts val="1800"/>
              <a:buChar char="●"/>
            </a:pPr>
            <a:r>
              <a:rPr lang="en"/>
              <a:t>repeat-x: tiles the image only horizontally</a:t>
            </a:r>
            <a:endParaRPr/>
          </a:p>
          <a:p>
            <a:pPr indent="-342900" lvl="0" marL="457200" rtl="0" algn="l">
              <a:spcBef>
                <a:spcPts val="0"/>
              </a:spcBef>
              <a:spcAft>
                <a:spcPts val="0"/>
              </a:spcAft>
              <a:buSzPts val="1800"/>
              <a:buChar char="●"/>
            </a:pPr>
            <a:r>
              <a:rPr lang="en"/>
              <a:t>repeat-y: tile the image only vertically</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6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700"/>
              <a:t>Background Properties ─ </a:t>
            </a:r>
            <a:r>
              <a:rPr lang="en" sz="2700"/>
              <a:t>background-attachment</a:t>
            </a:r>
            <a:endParaRPr sz="2700"/>
          </a:p>
        </p:txBody>
      </p:sp>
      <p:sp>
        <p:nvSpPr>
          <p:cNvPr id="454" name="Google Shape;454;p6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455" name="Google Shape;455;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a:t>
            </a:r>
            <a:r>
              <a:rPr lang="en"/>
              <a:t>ets whether a background image is fixed or scrolls with the rest of the page</a:t>
            </a:r>
            <a:endParaRPr/>
          </a:p>
          <a:p>
            <a:pPr indent="-342900" lvl="0" marL="457200" rtl="0" algn="l">
              <a:spcBef>
                <a:spcPts val="0"/>
              </a:spcBef>
              <a:spcAft>
                <a:spcPts val="0"/>
              </a:spcAft>
              <a:buSzPts val="1800"/>
              <a:buChar char="●"/>
            </a:pPr>
            <a:r>
              <a:rPr lang="en"/>
              <a:t>Scroll (</a:t>
            </a:r>
            <a:r>
              <a:rPr lang="en"/>
              <a:t>default)</a:t>
            </a:r>
            <a:endParaRPr/>
          </a:p>
          <a:p>
            <a:pPr indent="-317500" lvl="1" marL="914400" rtl="0" algn="l">
              <a:spcBef>
                <a:spcPts val="0"/>
              </a:spcBef>
              <a:spcAft>
                <a:spcPts val="0"/>
              </a:spcAft>
              <a:buSzPts val="1400"/>
              <a:buChar char="○"/>
            </a:pPr>
            <a:r>
              <a:rPr lang="en"/>
              <a:t>Scrolling the browser window will not move the image from its set position.</a:t>
            </a:r>
            <a:endParaRPr/>
          </a:p>
          <a:p>
            <a:pPr indent="-342900" lvl="0" marL="457200" rtl="0" algn="l">
              <a:spcBef>
                <a:spcPts val="0"/>
              </a:spcBef>
              <a:spcAft>
                <a:spcPts val="0"/>
              </a:spcAft>
              <a:buSzPts val="1800"/>
              <a:buChar char="●"/>
            </a:pPr>
            <a:r>
              <a:rPr lang="en"/>
              <a:t>Fixed</a:t>
            </a:r>
            <a:endParaRPr/>
          </a:p>
          <a:p>
            <a:pPr indent="-317500" lvl="1" marL="914400" rtl="0" algn="l">
              <a:spcBef>
                <a:spcPts val="0"/>
              </a:spcBef>
              <a:spcAft>
                <a:spcPts val="0"/>
              </a:spcAft>
              <a:buSzPts val="1400"/>
              <a:buChar char="○"/>
            </a:pPr>
            <a:r>
              <a:rPr lang="en"/>
              <a:t>Fixes the image in the position specified by background-position.</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sp>
        <p:nvSpPr>
          <p:cNvPr id="460" name="Google Shape;460;p6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Try it Yourself ─ Masking Practices</a:t>
            </a:r>
            <a:endParaRPr/>
          </a:p>
          <a:p>
            <a:pPr indent="0" lvl="0" marL="0" rtl="0" algn="l">
              <a:spcBef>
                <a:spcPts val="0"/>
              </a:spcBef>
              <a:spcAft>
                <a:spcPts val="0"/>
              </a:spcAft>
              <a:buNone/>
            </a:pPr>
            <a:r>
              <a:t/>
            </a:r>
            <a:endParaRPr/>
          </a:p>
        </p:txBody>
      </p:sp>
      <p:sp>
        <p:nvSpPr>
          <p:cNvPr id="461" name="Google Shape;461;p6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462" name="Google Shape;462;p6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Play around CSS masking properties</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https://developer.mozilla.org/en-US/docs/Web/CSS/Guides/Masking/Introduction</a:t>
            </a:r>
            <a:r>
              <a:rPr lang="en"/>
              <a:t> </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65"/>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500"/>
              <a:t>Box Model ─ Elements as Rectangles </a:t>
            </a:r>
            <a:endParaRPr sz="3500"/>
          </a:p>
        </p:txBody>
      </p:sp>
      <p:sp>
        <p:nvSpPr>
          <p:cNvPr id="468" name="Google Shape;468;p6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6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Box Model and Text Flow</a:t>
            </a:r>
            <a:endParaRPr/>
          </a:p>
        </p:txBody>
      </p:sp>
      <p:sp>
        <p:nvSpPr>
          <p:cNvPr id="474" name="Google Shape;474;p6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475" name="Google Shape;475;p6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HTML elements have a virtual box drawn around them based on the box model. </a:t>
            </a:r>
            <a:endParaRPr/>
          </a:p>
          <a:p>
            <a:pPr indent="-342900" lvl="0" marL="457200" rtl="0" algn="l">
              <a:spcBef>
                <a:spcPts val="0"/>
              </a:spcBef>
              <a:spcAft>
                <a:spcPts val="0"/>
              </a:spcAft>
              <a:buSzPts val="1800"/>
              <a:buChar char="●"/>
            </a:pPr>
            <a:r>
              <a:rPr lang="en"/>
              <a:t>When the browser renders an element using the box model, the content is surrounded by padding, a margin and a border.</a:t>
            </a:r>
            <a:endParaRPr/>
          </a:p>
          <a:p>
            <a:pPr indent="-342900" lvl="0" marL="457200" rtl="0" algn="l">
              <a:spcBef>
                <a:spcPts val="0"/>
              </a:spcBef>
              <a:spcAft>
                <a:spcPts val="0"/>
              </a:spcAft>
              <a:buSzPts val="1800"/>
              <a:buChar char="●"/>
            </a:pPr>
            <a:r>
              <a:rPr lang="en"/>
              <a:t>Box width and height properties:</a:t>
            </a:r>
            <a:endParaRPr/>
          </a:p>
          <a:p>
            <a:pPr indent="-317500" lvl="1" marL="914400" rtl="0" algn="l">
              <a:spcBef>
                <a:spcPts val="0"/>
              </a:spcBef>
              <a:spcAft>
                <a:spcPts val="0"/>
              </a:spcAft>
              <a:buSzPts val="1400"/>
              <a:buChar char="○"/>
            </a:pPr>
            <a:r>
              <a:rPr lang="en"/>
              <a:t>Dimensions of elements on a page can be set with CSS by using properties height and width. </a:t>
            </a:r>
            <a:endParaRPr/>
          </a:p>
          <a:p>
            <a:pPr indent="-317500" lvl="1" marL="914400" rtl="0" algn="l">
              <a:spcBef>
                <a:spcPts val="0"/>
              </a:spcBef>
              <a:spcAft>
                <a:spcPts val="0"/>
              </a:spcAft>
              <a:buSzPts val="1400"/>
              <a:buChar char="○"/>
            </a:pPr>
            <a:r>
              <a:rPr lang="en"/>
              <a:t>Their values can be relative or absolute</a:t>
            </a:r>
            <a:endParaRPr/>
          </a:p>
          <a:p>
            <a:pPr indent="-342900" lvl="0" marL="457200" rtl="0" algn="l">
              <a:spcBef>
                <a:spcPts val="0"/>
              </a:spcBef>
              <a:spcAft>
                <a:spcPts val="0"/>
              </a:spcAft>
              <a:buSzPts val="1800"/>
              <a:buChar char="●"/>
            </a:pPr>
            <a:r>
              <a:rPr lang="en"/>
              <a:t>Content might sometimes exceed the set boundaries, in which case the element must be made large enough for all the content to fit.</a:t>
            </a:r>
            <a:endParaRPr/>
          </a:p>
          <a:p>
            <a:pPr indent="-317500" lvl="1" marL="914400" rtl="0" algn="l">
              <a:spcBef>
                <a:spcPts val="0"/>
              </a:spcBef>
              <a:spcAft>
                <a:spcPts val="0"/>
              </a:spcAft>
              <a:buSzPts val="1400"/>
              <a:buChar char="○"/>
            </a:pPr>
            <a:r>
              <a:rPr lang="en"/>
              <a:t>Sets the overflow property to scroll, which adds scroll bars if the text overflows the boundaries.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6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Box Model </a:t>
            </a:r>
            <a:r>
              <a:rPr lang="en"/>
              <a:t>─ Padding and Margin </a:t>
            </a:r>
            <a:r>
              <a:rPr lang="en"/>
              <a:t>Properties</a:t>
            </a:r>
            <a:endParaRPr/>
          </a:p>
        </p:txBody>
      </p:sp>
      <p:sp>
        <p:nvSpPr>
          <p:cNvPr id="481" name="Google Shape;481;p6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482" name="Google Shape;482;p6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Padding</a:t>
            </a:r>
            <a:endParaRPr/>
          </a:p>
          <a:p>
            <a:pPr indent="-317500" lvl="1" marL="914400" rtl="0" algn="l">
              <a:spcBef>
                <a:spcPts val="0"/>
              </a:spcBef>
              <a:spcAft>
                <a:spcPts val="0"/>
              </a:spcAft>
              <a:buSzPts val="1400"/>
              <a:buChar char="○"/>
            </a:pPr>
            <a:r>
              <a:rPr lang="en"/>
              <a:t>The padding property determines the distance between the content inside an element and the edge of the element</a:t>
            </a:r>
            <a:endParaRPr/>
          </a:p>
          <a:p>
            <a:pPr indent="-317500" lvl="1" marL="914400" rtl="0" algn="l">
              <a:spcBef>
                <a:spcPts val="0"/>
              </a:spcBef>
              <a:spcAft>
                <a:spcPts val="0"/>
              </a:spcAft>
              <a:buSzPts val="1400"/>
              <a:buChar char="○"/>
            </a:pPr>
            <a:r>
              <a:rPr lang="en"/>
              <a:t>Padding be set for each side of the box by using padding-top, padding-right, padding-left and padding-bottom.</a:t>
            </a:r>
            <a:endParaRPr/>
          </a:p>
          <a:p>
            <a:pPr indent="-342900" lvl="0" marL="457200" rtl="0" algn="l">
              <a:spcBef>
                <a:spcPts val="0"/>
              </a:spcBef>
              <a:spcAft>
                <a:spcPts val="0"/>
              </a:spcAft>
              <a:buSzPts val="1800"/>
              <a:buChar char="●"/>
            </a:pPr>
            <a:r>
              <a:rPr lang="en"/>
              <a:t>Margin</a:t>
            </a:r>
            <a:endParaRPr/>
          </a:p>
          <a:p>
            <a:pPr indent="-317500" lvl="1" marL="914400" rtl="0" algn="l">
              <a:spcBef>
                <a:spcPts val="0"/>
              </a:spcBef>
              <a:spcAft>
                <a:spcPts val="0"/>
              </a:spcAft>
              <a:buSzPts val="1400"/>
              <a:buChar char="○"/>
            </a:pPr>
            <a:r>
              <a:rPr lang="en"/>
              <a:t>Determines the distance between the element’s edge and any outside text.</a:t>
            </a:r>
            <a:endParaRPr/>
          </a:p>
          <a:p>
            <a:pPr indent="-317500" lvl="1" marL="914400" rtl="0" algn="l">
              <a:spcBef>
                <a:spcPts val="0"/>
              </a:spcBef>
              <a:spcAft>
                <a:spcPts val="0"/>
              </a:spcAft>
              <a:buSzPts val="1400"/>
              <a:buChar char="○"/>
            </a:pPr>
            <a:r>
              <a:rPr lang="en"/>
              <a:t>Margins for individual sides of an element can be specified by using margin-top, margin-right, margin-left and margin-bottom.</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6" name="Shape 486"/>
        <p:cNvGrpSpPr/>
        <p:nvPr/>
      </p:nvGrpSpPr>
      <p:grpSpPr>
        <a:xfrm>
          <a:off x="0" y="0"/>
          <a:ext cx="0" cy="0"/>
          <a:chOff x="0" y="0"/>
          <a:chExt cx="0" cy="0"/>
        </a:xfrm>
      </p:grpSpPr>
      <p:sp>
        <p:nvSpPr>
          <p:cNvPr id="487" name="Google Shape;487;p6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Box Model ─ Border Properties</a:t>
            </a:r>
            <a:endParaRPr/>
          </a:p>
        </p:txBody>
      </p:sp>
      <p:sp>
        <p:nvSpPr>
          <p:cNvPr id="488" name="Google Shape;488;p6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489" name="Google Shape;489;p6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border is controlled using the properties: </a:t>
            </a:r>
            <a:endParaRPr/>
          </a:p>
          <a:p>
            <a:pPr indent="-342900" lvl="0" marL="457200" rtl="0" algn="l">
              <a:spcBef>
                <a:spcPts val="0"/>
              </a:spcBef>
              <a:spcAft>
                <a:spcPts val="0"/>
              </a:spcAft>
              <a:buSzPts val="1800"/>
              <a:buChar char="●"/>
            </a:pPr>
            <a:r>
              <a:rPr lang="en"/>
              <a:t>Border-width</a:t>
            </a:r>
            <a:endParaRPr/>
          </a:p>
          <a:p>
            <a:pPr indent="-317500" lvl="1" marL="914400" rtl="0" algn="l">
              <a:spcBef>
                <a:spcPts val="0"/>
              </a:spcBef>
              <a:spcAft>
                <a:spcPts val="0"/>
              </a:spcAft>
              <a:buSzPts val="1400"/>
              <a:buChar char="○"/>
            </a:pPr>
            <a:r>
              <a:rPr lang="en"/>
              <a:t>May be set to any of the CSS lengths or to the predefined value of thin, medium or thick . </a:t>
            </a:r>
            <a:endParaRPr/>
          </a:p>
          <a:p>
            <a:pPr indent="-342900" lvl="0" marL="457200" rtl="0" algn="l">
              <a:spcBef>
                <a:spcPts val="0"/>
              </a:spcBef>
              <a:spcAft>
                <a:spcPts val="0"/>
              </a:spcAft>
              <a:buSzPts val="1800"/>
              <a:buChar char="●"/>
            </a:pPr>
            <a:r>
              <a:rPr lang="en"/>
              <a:t>Border-color</a:t>
            </a:r>
            <a:endParaRPr/>
          </a:p>
          <a:p>
            <a:pPr indent="-317500" lvl="1" marL="914400" rtl="0" algn="l">
              <a:spcBef>
                <a:spcPts val="0"/>
              </a:spcBef>
              <a:spcAft>
                <a:spcPts val="0"/>
              </a:spcAft>
              <a:buSzPts val="1400"/>
              <a:buChar char="○"/>
            </a:pPr>
            <a:r>
              <a:rPr lang="en"/>
              <a:t>Sets the color used for the border</a:t>
            </a:r>
            <a:endParaRPr/>
          </a:p>
          <a:p>
            <a:pPr indent="-342900" lvl="0" marL="457200" rtl="0" algn="l">
              <a:spcBef>
                <a:spcPts val="0"/>
              </a:spcBef>
              <a:spcAft>
                <a:spcPts val="0"/>
              </a:spcAft>
              <a:buSzPts val="1800"/>
              <a:buChar char="●"/>
            </a:pPr>
            <a:r>
              <a:rPr lang="en"/>
              <a:t>Border-style</a:t>
            </a:r>
            <a:endParaRPr/>
          </a:p>
          <a:p>
            <a:pPr indent="-317500" lvl="1" marL="914400" rtl="0" algn="l">
              <a:spcBef>
                <a:spcPts val="0"/>
              </a:spcBef>
              <a:spcAft>
                <a:spcPts val="0"/>
              </a:spcAft>
              <a:buSzPts val="1400"/>
              <a:buChar char="○"/>
            </a:pPr>
            <a:r>
              <a:rPr lang="en"/>
              <a:t>Options are: none, hidden, dotted, dashed, solid, double, groove, ridge, inset and outset</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6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Inspection by Developer Tool in Browser</a:t>
            </a:r>
            <a:endParaRPr/>
          </a:p>
        </p:txBody>
      </p:sp>
      <p:sp>
        <p:nvSpPr>
          <p:cNvPr id="495" name="Google Shape;495;p6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496" name="Google Shape;496;p69"/>
          <p:cNvPicPr preferRelativeResize="0"/>
          <p:nvPr/>
        </p:nvPicPr>
        <p:blipFill>
          <a:blip r:embed="rId3">
            <a:alphaModFix/>
          </a:blip>
          <a:stretch>
            <a:fillRect/>
          </a:stretch>
        </p:blipFill>
        <p:spPr>
          <a:xfrm>
            <a:off x="4302075" y="2501650"/>
            <a:ext cx="3128100" cy="2288450"/>
          </a:xfrm>
          <a:prstGeom prst="rect">
            <a:avLst/>
          </a:prstGeom>
          <a:noFill/>
          <a:ln>
            <a:noFill/>
          </a:ln>
        </p:spPr>
      </p:pic>
      <p:sp>
        <p:nvSpPr>
          <p:cNvPr id="497" name="Google Shape;497;p69"/>
          <p:cNvSpPr txBox="1"/>
          <p:nvPr/>
        </p:nvSpPr>
        <p:spPr>
          <a:xfrm>
            <a:off x="508225" y="2683200"/>
            <a:ext cx="3171900" cy="201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en" sz="1050">
                <a:solidFill>
                  <a:srgbClr val="1F1F1F"/>
                </a:solidFill>
                <a:highlight>
                  <a:srgbClr val="FFFFFF"/>
                </a:highlight>
                <a:latin typeface="Courier New"/>
                <a:ea typeface="Courier New"/>
                <a:cs typeface="Courier New"/>
                <a:sym typeface="Courier New"/>
              </a:rPr>
              <a:t>h1 {</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display</a:t>
            </a:r>
            <a:r>
              <a:rPr i="1" lang="en" sz="1050">
                <a:solidFill>
                  <a:srgbClr val="1F1F1F"/>
                </a:solidFill>
                <a:highlight>
                  <a:srgbClr val="FFFFFF"/>
                </a:highlight>
                <a:latin typeface="Courier New"/>
                <a:ea typeface="Courier New"/>
                <a:cs typeface="Courier New"/>
                <a:sym typeface="Courier New"/>
              </a:rPr>
              <a:t>: block;</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font-size</a:t>
            </a:r>
            <a:r>
              <a:rPr i="1" lang="en" sz="1050">
                <a:solidFill>
                  <a:srgbClr val="1F1F1F"/>
                </a:solidFill>
                <a:highlight>
                  <a:srgbClr val="FFFFFF"/>
                </a:highlight>
                <a:latin typeface="Courier New"/>
                <a:ea typeface="Courier New"/>
                <a:cs typeface="Courier New"/>
                <a:sym typeface="Courier New"/>
              </a:rPr>
              <a:t>: 2em;</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margin-block-start</a:t>
            </a:r>
            <a:r>
              <a:rPr i="1" lang="en" sz="1050">
                <a:solidFill>
                  <a:srgbClr val="1F1F1F"/>
                </a:solidFill>
                <a:highlight>
                  <a:srgbClr val="FFFFFF"/>
                </a:highlight>
                <a:latin typeface="Courier New"/>
                <a:ea typeface="Courier New"/>
                <a:cs typeface="Courier New"/>
                <a:sym typeface="Courier New"/>
              </a:rPr>
              <a:t>: 0.67em;</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margin-block-end</a:t>
            </a:r>
            <a:r>
              <a:rPr i="1" lang="en" sz="1050">
                <a:solidFill>
                  <a:srgbClr val="1F1F1F"/>
                </a:solidFill>
                <a:highlight>
                  <a:srgbClr val="FFFFFF"/>
                </a:highlight>
                <a:latin typeface="Courier New"/>
                <a:ea typeface="Courier New"/>
                <a:cs typeface="Courier New"/>
                <a:sym typeface="Courier New"/>
              </a:rPr>
              <a:t>: 0.67em;</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margin-inline-start</a:t>
            </a:r>
            <a:r>
              <a:rPr i="1" lang="en" sz="1050">
                <a:solidFill>
                  <a:srgbClr val="1F1F1F"/>
                </a:solidFill>
                <a:highlight>
                  <a:srgbClr val="FFFFFF"/>
                </a:highlight>
                <a:latin typeface="Courier New"/>
                <a:ea typeface="Courier New"/>
                <a:cs typeface="Courier New"/>
                <a:sym typeface="Courier New"/>
              </a:rPr>
              <a:t>: 0px;</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margin-inline-end</a:t>
            </a:r>
            <a:r>
              <a:rPr i="1" lang="en" sz="1050">
                <a:solidFill>
                  <a:srgbClr val="1F1F1F"/>
                </a:solidFill>
                <a:highlight>
                  <a:srgbClr val="FFFFFF"/>
                </a:highlight>
                <a:latin typeface="Courier New"/>
                <a:ea typeface="Courier New"/>
                <a:cs typeface="Courier New"/>
                <a:sym typeface="Courier New"/>
              </a:rPr>
              <a:t>: 0px;</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font-weight</a:t>
            </a:r>
            <a:r>
              <a:rPr i="1" lang="en" sz="1050">
                <a:solidFill>
                  <a:srgbClr val="1F1F1F"/>
                </a:solidFill>
                <a:highlight>
                  <a:srgbClr val="FFFFFF"/>
                </a:highlight>
                <a:latin typeface="Courier New"/>
                <a:ea typeface="Courier New"/>
                <a:cs typeface="Courier New"/>
                <a:sym typeface="Courier New"/>
              </a:rPr>
              <a:t>: bold;</a:t>
            </a:r>
            <a:endParaRPr i="1" sz="1050">
              <a:solidFill>
                <a:srgbClr val="1F1F1F"/>
              </a:solidFill>
              <a:highlight>
                <a:srgbClr val="FFFFFF"/>
              </a:highlight>
              <a:latin typeface="Courier New"/>
              <a:ea typeface="Courier New"/>
              <a:cs typeface="Courier New"/>
              <a:sym typeface="Courier New"/>
            </a:endParaRPr>
          </a:p>
          <a:p>
            <a:pPr indent="-228600" lvl="0" marL="457200" marR="38100" rtl="0" algn="l">
              <a:lnSpc>
                <a:spcPct val="115000"/>
              </a:lnSpc>
              <a:spcBef>
                <a:spcPts val="0"/>
              </a:spcBef>
              <a:spcAft>
                <a:spcPts val="0"/>
              </a:spcAft>
              <a:buClr>
                <a:srgbClr val="1F1F1F"/>
              </a:buClr>
              <a:buSzPts val="1050"/>
              <a:buFont typeface="Courier New"/>
              <a:buNone/>
            </a:pPr>
            <a:r>
              <a:rPr i="1" lang="en" sz="1050">
                <a:solidFill>
                  <a:srgbClr val="1F1F1F"/>
                </a:solidFill>
                <a:highlight>
                  <a:srgbClr val="FFFFFF"/>
                </a:highlight>
                <a:latin typeface="Courier New"/>
                <a:ea typeface="Courier New"/>
                <a:cs typeface="Courier New"/>
                <a:sym typeface="Courier New"/>
              </a:rPr>
              <a:t>   </a:t>
            </a:r>
            <a:r>
              <a:rPr i="1" lang="en" sz="1050">
                <a:solidFill>
                  <a:srgbClr val="DC362E"/>
                </a:solidFill>
                <a:highlight>
                  <a:srgbClr val="FFFFFF"/>
                </a:highlight>
                <a:latin typeface="Courier New"/>
                <a:ea typeface="Courier New"/>
                <a:cs typeface="Courier New"/>
                <a:sym typeface="Courier New"/>
              </a:rPr>
              <a:t>unicode-bidi</a:t>
            </a:r>
            <a:r>
              <a:rPr i="1" lang="en" sz="1050">
                <a:solidFill>
                  <a:srgbClr val="1F1F1F"/>
                </a:solidFill>
                <a:highlight>
                  <a:srgbClr val="FFFFFF"/>
                </a:highlight>
                <a:latin typeface="Courier New"/>
                <a:ea typeface="Courier New"/>
                <a:cs typeface="Courier New"/>
                <a:sym typeface="Courier New"/>
              </a:rPr>
              <a:t>: isolate;</a:t>
            </a:r>
            <a:endParaRPr i="1" sz="1050">
              <a:solidFill>
                <a:srgbClr val="1F1F1F"/>
              </a:solidFill>
              <a:highlight>
                <a:srgbClr val="FFFFFF"/>
              </a:highlight>
              <a:latin typeface="Courier New"/>
              <a:ea typeface="Courier New"/>
              <a:cs typeface="Courier New"/>
              <a:sym typeface="Courier New"/>
            </a:endParaRPr>
          </a:p>
          <a:p>
            <a:pPr indent="0" lvl="0" marL="0" rtl="0" algn="l">
              <a:lnSpc>
                <a:spcPct val="115000"/>
              </a:lnSpc>
              <a:spcBef>
                <a:spcPts val="0"/>
              </a:spcBef>
              <a:spcAft>
                <a:spcPts val="0"/>
              </a:spcAft>
              <a:buNone/>
            </a:pPr>
            <a:r>
              <a:rPr i="1" lang="en" sz="1050">
                <a:solidFill>
                  <a:srgbClr val="1F1F1F"/>
                </a:solidFill>
                <a:highlight>
                  <a:srgbClr val="FFFFFF"/>
                </a:highlight>
                <a:latin typeface="Courier New"/>
                <a:ea typeface="Courier New"/>
                <a:cs typeface="Courier New"/>
                <a:sym typeface="Courier New"/>
              </a:rPr>
              <a:t>}</a:t>
            </a:r>
            <a:endParaRPr i="1" sz="1050">
              <a:solidFill>
                <a:srgbClr val="1F1F1F"/>
              </a:solidFill>
              <a:highlight>
                <a:srgbClr val="FFFFFF"/>
              </a:highlight>
              <a:latin typeface="Courier New"/>
              <a:ea typeface="Courier New"/>
              <a:cs typeface="Courier New"/>
              <a:sym typeface="Courier New"/>
            </a:endParaRPr>
          </a:p>
        </p:txBody>
      </p:sp>
      <p:pic>
        <p:nvPicPr>
          <p:cNvPr id="498" name="Google Shape;498;p69"/>
          <p:cNvPicPr preferRelativeResize="0"/>
          <p:nvPr/>
        </p:nvPicPr>
        <p:blipFill>
          <a:blip r:embed="rId4">
            <a:alphaModFix/>
          </a:blip>
          <a:stretch>
            <a:fillRect/>
          </a:stretch>
        </p:blipFill>
        <p:spPr>
          <a:xfrm>
            <a:off x="266325" y="1474550"/>
            <a:ext cx="8193200" cy="802523"/>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7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CSS Conflicting</a:t>
            </a:r>
            <a:endParaRPr/>
          </a:p>
        </p:txBody>
      </p:sp>
      <p:sp>
        <p:nvSpPr>
          <p:cNvPr id="504" name="Google Shape;504;p7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05" name="Google Shape;505;p7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Styles may be defined by a user, an author or a user agent. </a:t>
            </a:r>
            <a:endParaRPr/>
          </a:p>
          <a:p>
            <a:pPr indent="-317500" lvl="1" marL="914400" rtl="0" algn="l">
              <a:spcBef>
                <a:spcPts val="0"/>
              </a:spcBef>
              <a:spcAft>
                <a:spcPts val="0"/>
              </a:spcAft>
              <a:buSzPts val="1400"/>
              <a:buChar char="○"/>
            </a:pPr>
            <a:r>
              <a:rPr lang="en"/>
              <a:t>User style sheet</a:t>
            </a:r>
            <a:endParaRPr/>
          </a:p>
          <a:p>
            <a:pPr indent="-317500" lvl="2" marL="1371600" rtl="0" algn="l">
              <a:spcBef>
                <a:spcPts val="0"/>
              </a:spcBef>
              <a:spcAft>
                <a:spcPts val="0"/>
              </a:spcAft>
              <a:buSzPts val="1400"/>
              <a:buChar char="■"/>
            </a:pPr>
            <a:r>
              <a:rPr lang="en"/>
              <a:t>A user agent may also allow a user to create a customized set of styles to use by default, or for specific documents.</a:t>
            </a:r>
            <a:endParaRPr/>
          </a:p>
          <a:p>
            <a:pPr indent="-317500" lvl="1" marL="914400" rtl="0" algn="l">
              <a:spcBef>
                <a:spcPts val="0"/>
              </a:spcBef>
              <a:spcAft>
                <a:spcPts val="0"/>
              </a:spcAft>
              <a:buSzPts val="1400"/>
              <a:buChar char="○"/>
            </a:pPr>
            <a:r>
              <a:rPr lang="en"/>
              <a:t>Author style sheets</a:t>
            </a:r>
            <a:endParaRPr/>
          </a:p>
          <a:p>
            <a:pPr indent="-317500" lvl="2" marL="1371600" rtl="0" algn="l">
              <a:spcBef>
                <a:spcPts val="0"/>
              </a:spcBef>
              <a:spcAft>
                <a:spcPts val="0"/>
              </a:spcAft>
              <a:buSzPts val="1400"/>
              <a:buChar char="■"/>
            </a:pPr>
            <a:r>
              <a:rPr lang="en"/>
              <a:t>that are linked to the document via a link element, specified using a style element within the document’s head element, or specified within an element style attribute </a:t>
            </a:r>
            <a:endParaRPr/>
          </a:p>
          <a:p>
            <a:pPr indent="-317500" lvl="1" marL="914400" rtl="0" algn="l">
              <a:spcBef>
                <a:spcPts val="0"/>
              </a:spcBef>
              <a:spcAft>
                <a:spcPts val="0"/>
              </a:spcAft>
              <a:buSzPts val="1400"/>
              <a:buChar char="○"/>
            </a:pPr>
            <a:r>
              <a:rPr lang="en"/>
              <a:t>User Agent (typically a web browser) style sheets</a:t>
            </a:r>
            <a:endParaRPr/>
          </a:p>
          <a:p>
            <a:pPr indent="-317500" lvl="2" marL="1371600" rtl="0" algn="l">
              <a:spcBef>
                <a:spcPts val="0"/>
              </a:spcBef>
              <a:spcAft>
                <a:spcPts val="0"/>
              </a:spcAft>
              <a:buSzPts val="1400"/>
              <a:buChar char="■"/>
            </a:pPr>
            <a:r>
              <a:rPr lang="en"/>
              <a:t>the default sets of declarations applied by the user agent</a:t>
            </a:r>
            <a:endParaRPr/>
          </a:p>
          <a:p>
            <a:pPr indent="-342900" lvl="0" marL="457200" rtl="0" algn="l">
              <a:spcBef>
                <a:spcPts val="0"/>
              </a:spcBef>
              <a:spcAft>
                <a:spcPts val="0"/>
              </a:spcAft>
              <a:buSzPts val="1800"/>
              <a:buChar char="●"/>
            </a:pPr>
            <a:r>
              <a:rPr lang="en"/>
              <a:t>Priority: author &gt; user &gt; user agent</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sp>
        <p:nvSpPr>
          <p:cNvPr id="510" name="Google Shape;510;p7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Box Model ─ Float Property</a:t>
            </a:r>
            <a:endParaRPr/>
          </a:p>
        </p:txBody>
      </p:sp>
      <p:sp>
        <p:nvSpPr>
          <p:cNvPr id="511" name="Google Shape;511;p7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12" name="Google Shape;512;p7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Floating allows you to move an element to one side of the screen; other content in the document then flows around the floated element.</a:t>
            </a:r>
            <a:endParaRPr/>
          </a:p>
          <a:p>
            <a:pPr indent="-317500" lvl="1" marL="914400" rtl="0" algn="l">
              <a:spcBef>
                <a:spcPts val="0"/>
              </a:spcBef>
              <a:spcAft>
                <a:spcPts val="0"/>
              </a:spcAft>
              <a:buSzPts val="1400"/>
              <a:buChar char="○"/>
            </a:pPr>
            <a:r>
              <a:rPr lang="en"/>
              <a:t>Values: none, left or right.</a:t>
            </a:r>
            <a:endParaRPr/>
          </a:p>
          <a:p>
            <a:pPr indent="-317500" lvl="1" marL="914400" rtl="0" algn="l">
              <a:spcBef>
                <a:spcPts val="0"/>
              </a:spcBef>
              <a:spcAft>
                <a:spcPts val="0"/>
              </a:spcAft>
              <a:buSzPts val="1400"/>
              <a:buChar char="○"/>
            </a:pPr>
            <a:r>
              <a:rPr lang="en"/>
              <a:t>Absolutely positioned elements ignores the float property!</a:t>
            </a:r>
            <a:endParaRPr/>
          </a:p>
          <a:p>
            <a:pPr indent="-317500" lvl="1" marL="914400" rtl="0" algn="l">
              <a:spcBef>
                <a:spcPts val="0"/>
              </a:spcBef>
              <a:spcAft>
                <a:spcPts val="0"/>
              </a:spcAft>
              <a:buSzPts val="1400"/>
              <a:buChar char="○"/>
            </a:pPr>
            <a:r>
              <a:rPr lang="en"/>
              <a:t>It’s a legacy layout technique – now prefer Flexbox/Grid for layout; use float mainly for text wrap.</a:t>
            </a:r>
            <a:endParaRPr/>
          </a:p>
          <a:p>
            <a:pPr indent="-342900" lvl="0" marL="457200" rtl="0" algn="l">
              <a:spcBef>
                <a:spcPts val="0"/>
              </a:spcBef>
              <a:spcAft>
                <a:spcPts val="0"/>
              </a:spcAft>
              <a:buSzPts val="1800"/>
              <a:buChar char="●"/>
            </a:pPr>
            <a:r>
              <a:rPr lang="en"/>
              <a:t>CSS Float Theory (Out of </a:t>
            </a:r>
            <a:r>
              <a:rPr lang="en" u="sng">
                <a:solidFill>
                  <a:schemeClr val="hlink"/>
                </a:solidFill>
                <a:hlinkClick action="ppaction://hlinksldjump" r:id="rId3"/>
              </a:rPr>
              <a:t>normal flow</a:t>
            </a:r>
            <a:r>
              <a:rPr lang="en"/>
              <a:t> in terms of box model)</a:t>
            </a:r>
            <a:endParaRPr/>
          </a:p>
          <a:p>
            <a:pPr indent="-317500" lvl="1" marL="914400" rtl="0" algn="l">
              <a:spcBef>
                <a:spcPts val="0"/>
              </a:spcBef>
              <a:spcAft>
                <a:spcPts val="0"/>
              </a:spcAft>
              <a:buSzPts val="1400"/>
              <a:buChar char="○"/>
            </a:pPr>
            <a:r>
              <a:rPr lang="en"/>
              <a:t>When we float an element it is shifted to the right or to the left until it reaches the edge of the containing block.</a:t>
            </a:r>
            <a:endParaRPr/>
          </a:p>
          <a:p>
            <a:pPr indent="-317500" lvl="1" marL="914400" rtl="0" algn="l">
              <a:spcBef>
                <a:spcPts val="0"/>
              </a:spcBef>
              <a:spcAft>
                <a:spcPts val="0"/>
              </a:spcAft>
              <a:buSzPts val="1400"/>
              <a:buChar char="○"/>
            </a:pPr>
            <a:r>
              <a:rPr lang="en"/>
              <a:t>If we then float another element nearby in the same direction, it will be shifted until its edge reaches the edge of the first floating element.</a:t>
            </a:r>
            <a:endParaRPr/>
          </a:p>
          <a:p>
            <a:pPr indent="-317500" lvl="1" marL="914400" rtl="0" algn="l">
              <a:spcBef>
                <a:spcPts val="0"/>
              </a:spcBef>
              <a:spcAft>
                <a:spcPts val="0"/>
              </a:spcAft>
              <a:buSzPts val="1400"/>
              <a:buChar char="○"/>
            </a:pPr>
            <a:r>
              <a:rPr lang="en"/>
              <a:t>When there is insufficient space on the line, they are shifted downward until they fit.</a:t>
            </a:r>
            <a:endParaRPr/>
          </a:p>
          <a:p>
            <a:pPr indent="-317500" lvl="1" marL="914400" rtl="0" algn="l">
              <a:spcBef>
                <a:spcPts val="0"/>
              </a:spcBef>
              <a:spcAft>
                <a:spcPts val="0"/>
              </a:spcAft>
              <a:buSzPts val="1400"/>
              <a:buChar char="○"/>
            </a:pPr>
            <a:r>
              <a:rPr lang="en" u="sng">
                <a:solidFill>
                  <a:schemeClr val="hlink"/>
                </a:solidFill>
                <a:hlinkClick r:id="rId4"/>
              </a:rPr>
              <a:t>https://developer.mozilla.org/en-US/docs/Web/CSS/Reference/Properties/float</a:t>
            </a:r>
            <a:r>
              <a:rPr lang="en"/>
              <a:t> </a:t>
            </a:r>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7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Try it Yourself ─ Box Model Practices</a:t>
            </a:r>
            <a:endParaRPr/>
          </a:p>
          <a:p>
            <a:pPr indent="0" lvl="0" marL="0" rtl="0" algn="l">
              <a:spcBef>
                <a:spcPts val="0"/>
              </a:spcBef>
              <a:spcAft>
                <a:spcPts val="0"/>
              </a:spcAft>
              <a:buNone/>
            </a:pPr>
            <a:r>
              <a:t/>
            </a:r>
            <a:endParaRPr/>
          </a:p>
        </p:txBody>
      </p:sp>
      <p:sp>
        <p:nvSpPr>
          <p:cNvPr id="518" name="Google Shape;518;p7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19" name="Google Shape;519;p7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Play around more box model properties</a:t>
            </a:r>
            <a:endParaRPr/>
          </a:p>
          <a:p>
            <a:pPr indent="-317500" lvl="1" marL="914400" rtl="0" algn="l">
              <a:spcBef>
                <a:spcPts val="0"/>
              </a:spcBef>
              <a:spcAft>
                <a:spcPts val="0"/>
              </a:spcAft>
              <a:buSzPts val="1400"/>
              <a:buChar char="○"/>
            </a:pPr>
            <a:r>
              <a:rPr lang="en"/>
              <a:t>Outline: </a:t>
            </a:r>
            <a:r>
              <a:rPr lang="en" u="sng">
                <a:solidFill>
                  <a:schemeClr val="hlink"/>
                </a:solidFill>
                <a:hlinkClick r:id="rId3"/>
              </a:rPr>
              <a:t>https://developer.mozilla.org/en-US/docs/Web/CSS/Reference/Properties/outline</a:t>
            </a:r>
            <a:r>
              <a:rPr lang="en"/>
              <a:t> </a:t>
            </a:r>
            <a:endParaRPr/>
          </a:p>
          <a:p>
            <a:pPr indent="-317500" lvl="1" marL="914400" rtl="0" algn="l">
              <a:spcBef>
                <a:spcPts val="0"/>
              </a:spcBef>
              <a:spcAft>
                <a:spcPts val="0"/>
              </a:spcAft>
              <a:buSzPts val="1400"/>
              <a:buChar char="○"/>
            </a:pPr>
            <a:r>
              <a:rPr lang="en"/>
              <a:t>Box shadow: </a:t>
            </a:r>
            <a:r>
              <a:rPr lang="en" u="sng">
                <a:solidFill>
                  <a:schemeClr val="hlink"/>
                </a:solidFill>
                <a:hlinkClick r:id="rId4"/>
              </a:rPr>
              <a:t>https://developer.mozilla.org/en-US/docs/Web/CSS/Reference/Properties/box-shadow</a:t>
            </a:r>
            <a:r>
              <a:rPr lang="en"/>
              <a:t> </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3"/>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Display and Position </a:t>
            </a:r>
            <a:endParaRPr/>
          </a:p>
        </p:txBody>
      </p:sp>
      <p:sp>
        <p:nvSpPr>
          <p:cNvPr id="525" name="Google Shape;525;p7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9" name="Shape 529"/>
        <p:cNvGrpSpPr/>
        <p:nvPr/>
      </p:nvGrpSpPr>
      <p:grpSpPr>
        <a:xfrm>
          <a:off x="0" y="0"/>
          <a:ext cx="0" cy="0"/>
          <a:chOff x="0" y="0"/>
          <a:chExt cx="0" cy="0"/>
        </a:xfrm>
      </p:grpSpPr>
      <p:sp>
        <p:nvSpPr>
          <p:cNvPr id="530" name="Google Shape;530;p7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Display Property</a:t>
            </a:r>
            <a:endParaRPr/>
          </a:p>
        </p:txBody>
      </p:sp>
      <p:sp>
        <p:nvSpPr>
          <p:cNvPr id="531" name="Google Shape;531;p7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32" name="Google Shape;532;p7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334328" lvl="0" marL="457200" rtl="0" algn="l">
              <a:spcBef>
                <a:spcPts val="0"/>
              </a:spcBef>
              <a:spcAft>
                <a:spcPts val="0"/>
              </a:spcAft>
              <a:buSzPct val="100000"/>
              <a:buChar char="●"/>
            </a:pPr>
            <a:r>
              <a:rPr lang="en"/>
              <a:t>The display property sets whether an element is treated as a block or inline box and the layout used for its children, such as flow layout, grid or flex.</a:t>
            </a:r>
            <a:endParaRPr/>
          </a:p>
          <a:p>
            <a:pPr indent="-310832" lvl="1" marL="914400" rtl="0" algn="l">
              <a:spcBef>
                <a:spcPts val="0"/>
              </a:spcBef>
              <a:spcAft>
                <a:spcPts val="0"/>
              </a:spcAft>
              <a:buSzPct val="100000"/>
              <a:buChar char="○"/>
            </a:pPr>
            <a:r>
              <a:rPr lang="en"/>
              <a:t>Formally, the display property sets an element's inner and outer display types.</a:t>
            </a:r>
            <a:endParaRPr/>
          </a:p>
          <a:p>
            <a:pPr indent="-334328" lvl="0" marL="457200" rtl="0" algn="l">
              <a:spcBef>
                <a:spcPts val="0"/>
              </a:spcBef>
              <a:spcAft>
                <a:spcPts val="0"/>
              </a:spcAft>
              <a:buSzPct val="100000"/>
              <a:buChar char="●"/>
            </a:pPr>
            <a:r>
              <a:rPr lang="en"/>
              <a:t>The outer type sets an element's participation in flow layout; the inner type sets the layout of children.</a:t>
            </a:r>
            <a:endParaRPr/>
          </a:p>
          <a:p>
            <a:pPr indent="-310832" lvl="1" marL="914400" rtl="0" algn="l">
              <a:spcBef>
                <a:spcPts val="0"/>
              </a:spcBef>
              <a:spcAft>
                <a:spcPts val="0"/>
              </a:spcAft>
              <a:buSzPct val="100000"/>
              <a:buChar char="○"/>
            </a:pPr>
            <a:r>
              <a:rPr lang="en"/>
              <a:t>The inner value defaults to flow if only outer value is specified.</a:t>
            </a:r>
            <a:endParaRPr/>
          </a:p>
          <a:p>
            <a:pPr indent="-310832" lvl="1" marL="914400" rtl="0" algn="l">
              <a:spcBef>
                <a:spcPts val="0"/>
              </a:spcBef>
              <a:spcAft>
                <a:spcPts val="0"/>
              </a:spcAft>
              <a:buSzPct val="100000"/>
              <a:buChar char="○"/>
            </a:pPr>
            <a:r>
              <a:rPr lang="en"/>
              <a:t>Mostly the outer value defaults to block if only inner value is specified (exception like ruby).</a:t>
            </a:r>
            <a:endParaRPr/>
          </a:p>
          <a:p>
            <a:pPr indent="-334328" lvl="0" marL="457200" rtl="0" algn="l">
              <a:spcBef>
                <a:spcPts val="0"/>
              </a:spcBef>
              <a:spcAft>
                <a:spcPts val="0"/>
              </a:spcAft>
              <a:buSzPct val="100000"/>
              <a:buChar char="●"/>
            </a:pPr>
            <a:r>
              <a:rPr lang="en"/>
              <a:t>The CSS display property is specified using keyword values.</a:t>
            </a:r>
            <a:endParaRPr/>
          </a:p>
          <a:p>
            <a:pPr indent="-310832" lvl="1" marL="914400" rtl="0" algn="l">
              <a:spcBef>
                <a:spcPts val="0"/>
              </a:spcBef>
              <a:spcAft>
                <a:spcPts val="0"/>
              </a:spcAft>
              <a:buSzPct val="100000"/>
              <a:buChar char="○"/>
            </a:pPr>
            <a:r>
              <a:rPr lang="en"/>
              <a:t>For browser compatibility, you may use the single-value syntax as a fallback for multi-keyword syntax.</a:t>
            </a:r>
            <a:endParaRPr/>
          </a:p>
          <a:p>
            <a:pPr indent="-310832" lvl="1" marL="914400" rtl="0" algn="l">
              <a:spcBef>
                <a:spcPts val="0"/>
              </a:spcBef>
              <a:spcAft>
                <a:spcPts val="0"/>
              </a:spcAft>
              <a:buSzPct val="100000"/>
              <a:buChar char="○"/>
            </a:pPr>
            <a:r>
              <a:rPr lang="en"/>
              <a:t>.container {</a:t>
            </a:r>
            <a:endParaRPr/>
          </a:p>
          <a:p>
            <a:pPr indent="-310832" lvl="1" marL="914400" rtl="0" algn="l">
              <a:spcBef>
                <a:spcPts val="0"/>
              </a:spcBef>
              <a:spcAft>
                <a:spcPts val="0"/>
              </a:spcAft>
              <a:buSzPct val="100000"/>
              <a:buChar char="○"/>
            </a:pPr>
            <a:r>
              <a:rPr lang="en"/>
              <a:t>  display: inline-flex;</a:t>
            </a:r>
            <a:endParaRPr/>
          </a:p>
          <a:p>
            <a:pPr indent="-310832" lvl="1" marL="914400" rtl="0" algn="l">
              <a:spcBef>
                <a:spcPts val="0"/>
              </a:spcBef>
              <a:spcAft>
                <a:spcPts val="0"/>
              </a:spcAft>
              <a:buSzPct val="100000"/>
              <a:buChar char="○"/>
            </a:pPr>
            <a:r>
              <a:rPr lang="en"/>
              <a:t>  display: inline flex;</a:t>
            </a:r>
            <a:endParaRPr/>
          </a:p>
          <a:p>
            <a:pPr indent="-310832" lvl="1" marL="914400" rtl="0" algn="l">
              <a:spcBef>
                <a:spcPts val="0"/>
              </a:spcBef>
              <a:spcAft>
                <a:spcPts val="0"/>
              </a:spcAft>
              <a:buSzPct val="100000"/>
              <a:buChar char="○"/>
            </a:pPr>
            <a:r>
              <a:rPr lang="en"/>
              <a:t>}</a:t>
            </a:r>
            <a:endParaRPr/>
          </a:p>
          <a:p>
            <a:pPr indent="-334328" lvl="0" marL="457200" rtl="0" algn="l">
              <a:spcBef>
                <a:spcPts val="0"/>
              </a:spcBef>
              <a:spcAft>
                <a:spcPts val="0"/>
              </a:spcAft>
              <a:buSzPct val="100000"/>
              <a:buChar char="●"/>
            </a:pPr>
            <a:r>
              <a:rPr lang="en"/>
              <a:t>Some values of display are fully defined in their own individual specifications</a:t>
            </a:r>
            <a:endParaRPr/>
          </a:p>
          <a:p>
            <a:pPr indent="-310832" lvl="1" marL="914400" rtl="0" algn="l">
              <a:spcBef>
                <a:spcPts val="0"/>
              </a:spcBef>
              <a:spcAft>
                <a:spcPts val="0"/>
              </a:spcAft>
              <a:buSzPct val="100000"/>
              <a:buChar char="○"/>
            </a:pPr>
            <a:r>
              <a:rPr lang="en" u="sng">
                <a:solidFill>
                  <a:schemeClr val="hlink"/>
                </a:solidFill>
                <a:hlinkClick r:id="rId3"/>
              </a:rPr>
              <a:t>https://developer.mozilla.org/en-US/docs/Web/CSS/Reference/Properties/display</a:t>
            </a:r>
            <a:r>
              <a:rPr lang="en"/>
              <a:t> </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sp>
        <p:nvSpPr>
          <p:cNvPr id="537" name="Google Shape;537;p7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Display Property ─ Outside</a:t>
            </a:r>
            <a:endParaRPr/>
          </a:p>
        </p:txBody>
      </p:sp>
      <p:sp>
        <p:nvSpPr>
          <p:cNvPr id="538" name="Google Shape;538;p7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39" name="Google Shape;539;p7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a:t>
            </a:r>
            <a:r>
              <a:rPr lang="en"/>
              <a:t>lock</a:t>
            </a:r>
            <a:endParaRPr/>
          </a:p>
          <a:p>
            <a:pPr indent="-317500" lvl="1" marL="914400" rtl="0" algn="l">
              <a:spcBef>
                <a:spcPts val="0"/>
              </a:spcBef>
              <a:spcAft>
                <a:spcPts val="0"/>
              </a:spcAft>
              <a:buSzPts val="1400"/>
              <a:buChar char="○"/>
            </a:pPr>
            <a:r>
              <a:rPr lang="en"/>
              <a:t>Generates a block box, line breaks both before and after the element when in the normal flow.</a:t>
            </a:r>
            <a:endParaRPr/>
          </a:p>
          <a:p>
            <a:pPr indent="-342900" lvl="0" marL="457200" rtl="0" algn="l">
              <a:spcBef>
                <a:spcPts val="0"/>
              </a:spcBef>
              <a:spcAft>
                <a:spcPts val="0"/>
              </a:spcAft>
              <a:buSzPts val="1800"/>
              <a:buChar char="●"/>
            </a:pPr>
            <a:r>
              <a:rPr lang="en"/>
              <a:t>Inline</a:t>
            </a:r>
            <a:endParaRPr/>
          </a:p>
          <a:p>
            <a:pPr indent="-317500" lvl="1" marL="914400" rtl="0" algn="l">
              <a:spcBef>
                <a:spcPts val="0"/>
              </a:spcBef>
              <a:spcAft>
                <a:spcPts val="0"/>
              </a:spcAft>
              <a:buSzPts val="1400"/>
              <a:buChar char="○"/>
            </a:pPr>
            <a:r>
              <a:rPr lang="en"/>
              <a:t>Generates one or more inline boxes that do not generate line breaks before or after themselves. </a:t>
            </a:r>
            <a:endParaRPr/>
          </a:p>
          <a:p>
            <a:pPr indent="-342900" lvl="0" marL="457200" rtl="0" algn="l">
              <a:spcBef>
                <a:spcPts val="0"/>
              </a:spcBef>
              <a:spcAft>
                <a:spcPts val="0"/>
              </a:spcAft>
              <a:buSzPts val="1800"/>
              <a:buChar char="●"/>
            </a:pPr>
            <a:r>
              <a:rPr lang="en"/>
              <a:t>Block and inline layout in </a:t>
            </a:r>
            <a:r>
              <a:rPr lang="en" u="sng">
                <a:solidFill>
                  <a:schemeClr val="hlink"/>
                </a:solidFill>
                <a:hlinkClick action="ppaction://hlinksldjump" r:id="rId3"/>
              </a:rPr>
              <a:t>normal flow</a:t>
            </a:r>
            <a:endParaRPr/>
          </a:p>
          <a:p>
            <a:pPr indent="-317500" lvl="1" marL="914400" rtl="0" algn="l">
              <a:spcBef>
                <a:spcPts val="0"/>
              </a:spcBef>
              <a:spcAft>
                <a:spcPts val="0"/>
              </a:spcAft>
              <a:buSzPts val="1400"/>
              <a:buChar char="○"/>
            </a:pPr>
            <a:r>
              <a:rPr lang="en" u="sng">
                <a:solidFill>
                  <a:schemeClr val="hlink"/>
                </a:solidFill>
                <a:hlinkClick r:id="rId4"/>
              </a:rPr>
              <a:t>https://developer.mozilla.org/en-US/docs/Web/CSS/Guides/Display/Block_and_inline_layout</a:t>
            </a:r>
            <a:r>
              <a:rPr lang="en"/>
              <a:t> </a:t>
            </a:r>
            <a:endParaRPr/>
          </a:p>
        </p:txBody>
      </p:sp>
      <p:grpSp>
        <p:nvGrpSpPr>
          <p:cNvPr id="540" name="Google Shape;540;p75"/>
          <p:cNvGrpSpPr/>
          <p:nvPr/>
        </p:nvGrpSpPr>
        <p:grpSpPr>
          <a:xfrm>
            <a:off x="1051468" y="3009750"/>
            <a:ext cx="2359700" cy="2051098"/>
            <a:chOff x="1051468" y="3009750"/>
            <a:chExt cx="2359700" cy="2051098"/>
          </a:xfrm>
        </p:grpSpPr>
        <p:pic>
          <p:nvPicPr>
            <p:cNvPr id="541" name="Google Shape;541;p75"/>
            <p:cNvPicPr preferRelativeResize="0"/>
            <p:nvPr/>
          </p:nvPicPr>
          <p:blipFill>
            <a:blip r:embed="rId5">
              <a:alphaModFix/>
            </a:blip>
            <a:stretch>
              <a:fillRect/>
            </a:stretch>
          </p:blipFill>
          <p:spPr>
            <a:xfrm>
              <a:off x="1051468" y="3009750"/>
              <a:ext cx="2359700" cy="1739650"/>
            </a:xfrm>
            <a:prstGeom prst="rect">
              <a:avLst/>
            </a:prstGeom>
            <a:noFill/>
            <a:ln>
              <a:noFill/>
            </a:ln>
          </p:spPr>
        </p:pic>
        <p:sp>
          <p:nvSpPr>
            <p:cNvPr id="542" name="Google Shape;542;p75"/>
            <p:cNvSpPr txBox="1"/>
            <p:nvPr/>
          </p:nvSpPr>
          <p:spPr>
            <a:xfrm>
              <a:off x="1518975" y="4691548"/>
              <a:ext cx="1424700" cy="369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Horizontal writing</a:t>
              </a:r>
              <a:endParaRPr sz="1200"/>
            </a:p>
          </p:txBody>
        </p:sp>
      </p:grpSp>
      <p:grpSp>
        <p:nvGrpSpPr>
          <p:cNvPr id="543" name="Google Shape;543;p75"/>
          <p:cNvGrpSpPr/>
          <p:nvPr/>
        </p:nvGrpSpPr>
        <p:grpSpPr>
          <a:xfrm>
            <a:off x="4337050" y="3009750"/>
            <a:ext cx="1929918" cy="2038762"/>
            <a:chOff x="4337050" y="3009750"/>
            <a:chExt cx="1929918" cy="2038762"/>
          </a:xfrm>
        </p:grpSpPr>
        <p:pic>
          <p:nvPicPr>
            <p:cNvPr id="544" name="Google Shape;544;p75"/>
            <p:cNvPicPr preferRelativeResize="0"/>
            <p:nvPr/>
          </p:nvPicPr>
          <p:blipFill>
            <a:blip r:embed="rId6">
              <a:alphaModFix/>
            </a:blip>
            <a:stretch>
              <a:fillRect/>
            </a:stretch>
          </p:blipFill>
          <p:spPr>
            <a:xfrm>
              <a:off x="4337050" y="3009750"/>
              <a:ext cx="1929918" cy="1739650"/>
            </a:xfrm>
            <a:prstGeom prst="rect">
              <a:avLst/>
            </a:prstGeom>
            <a:noFill/>
            <a:ln>
              <a:noFill/>
            </a:ln>
          </p:spPr>
        </p:pic>
        <p:sp>
          <p:nvSpPr>
            <p:cNvPr id="545" name="Google Shape;545;p75"/>
            <p:cNvSpPr txBox="1"/>
            <p:nvPr/>
          </p:nvSpPr>
          <p:spPr>
            <a:xfrm>
              <a:off x="4609312" y="4679212"/>
              <a:ext cx="1385400" cy="369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0"/>
                </a:spcBef>
                <a:spcAft>
                  <a:spcPts val="1600"/>
                </a:spcAft>
                <a:buNone/>
              </a:pPr>
              <a:r>
                <a:rPr lang="en" sz="1200">
                  <a:solidFill>
                    <a:srgbClr val="434343"/>
                  </a:solidFill>
                  <a:latin typeface="Source Sans Pro"/>
                  <a:ea typeface="Source Sans Pro"/>
                  <a:cs typeface="Source Sans Pro"/>
                  <a:sym typeface="Source Sans Pro"/>
                </a:rPr>
                <a:t>Vertical</a:t>
              </a:r>
              <a:r>
                <a:rPr lang="en" sz="1200">
                  <a:solidFill>
                    <a:srgbClr val="434343"/>
                  </a:solidFill>
                  <a:latin typeface="Source Sans Pro"/>
                  <a:ea typeface="Source Sans Pro"/>
                  <a:cs typeface="Source Sans Pro"/>
                  <a:sym typeface="Source Sans Pro"/>
                </a:rPr>
                <a:t> writing</a:t>
              </a:r>
              <a:endParaRPr sz="1200">
                <a:solidFill>
                  <a:schemeClr val="dk2"/>
                </a:solidFill>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7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Display Property ─ Inside</a:t>
            </a:r>
            <a:endParaRPr/>
          </a:p>
        </p:txBody>
      </p:sp>
      <p:sp>
        <p:nvSpPr>
          <p:cNvPr id="551" name="Google Shape;551;p7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52" name="Google Shape;552;p7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334328" lvl="0" marL="457200" rtl="0" algn="l">
              <a:spcBef>
                <a:spcPts val="0"/>
              </a:spcBef>
              <a:spcAft>
                <a:spcPts val="0"/>
              </a:spcAft>
              <a:buSzPct val="100000"/>
              <a:buChar char="●"/>
            </a:pPr>
            <a:r>
              <a:rPr lang="en"/>
              <a:t>F</a:t>
            </a:r>
            <a:r>
              <a:rPr lang="en"/>
              <a:t>low</a:t>
            </a:r>
            <a:endParaRPr/>
          </a:p>
          <a:p>
            <a:pPr indent="-310832" lvl="1" marL="914400" rtl="0" algn="l">
              <a:spcBef>
                <a:spcPts val="0"/>
              </a:spcBef>
              <a:spcAft>
                <a:spcPts val="0"/>
              </a:spcAft>
              <a:buSzPct val="100000"/>
              <a:buChar char="○"/>
            </a:pPr>
            <a:r>
              <a:rPr lang="en"/>
              <a:t>The element lays out its contents using flow layout (block-and-inline layout).</a:t>
            </a:r>
            <a:endParaRPr/>
          </a:p>
          <a:p>
            <a:pPr indent="-334328" lvl="0" marL="457200" rtl="0" algn="l">
              <a:spcBef>
                <a:spcPts val="0"/>
              </a:spcBef>
              <a:spcAft>
                <a:spcPts val="0"/>
              </a:spcAft>
              <a:buSzPct val="100000"/>
              <a:buChar char="●"/>
            </a:pPr>
            <a:r>
              <a:rPr lang="en"/>
              <a:t>Flow-root</a:t>
            </a:r>
            <a:endParaRPr/>
          </a:p>
          <a:p>
            <a:pPr indent="-310832" lvl="1" marL="914400" rtl="0" algn="l">
              <a:spcBef>
                <a:spcPts val="0"/>
              </a:spcBef>
              <a:spcAft>
                <a:spcPts val="0"/>
              </a:spcAft>
              <a:buSzPct val="100000"/>
              <a:buChar char="○"/>
            </a:pPr>
            <a:r>
              <a:rPr lang="en"/>
              <a:t>The element generates a block box that establishes a new block formatting context, defining where the formatting root lies.</a:t>
            </a:r>
            <a:endParaRPr/>
          </a:p>
          <a:p>
            <a:pPr indent="-334328" lvl="0" marL="457200" rtl="0" algn="l">
              <a:spcBef>
                <a:spcPts val="0"/>
              </a:spcBef>
              <a:spcAft>
                <a:spcPts val="0"/>
              </a:spcAft>
              <a:buSzPct val="100000"/>
              <a:buChar char="●"/>
            </a:pPr>
            <a:r>
              <a:rPr lang="en"/>
              <a:t>Table</a:t>
            </a:r>
            <a:endParaRPr/>
          </a:p>
          <a:p>
            <a:pPr indent="-310832" lvl="1" marL="914400" rtl="0" algn="l">
              <a:spcBef>
                <a:spcPts val="0"/>
              </a:spcBef>
              <a:spcAft>
                <a:spcPts val="0"/>
              </a:spcAft>
              <a:buSzPct val="100000"/>
              <a:buChar char="○"/>
            </a:pPr>
            <a:r>
              <a:rPr lang="en"/>
              <a:t>These elements behave like HTML &lt;table&gt; elements. It defines a block-level box.</a:t>
            </a:r>
            <a:endParaRPr/>
          </a:p>
          <a:p>
            <a:pPr indent="-334328" lvl="0" marL="457200" rtl="0" algn="l">
              <a:spcBef>
                <a:spcPts val="0"/>
              </a:spcBef>
              <a:spcAft>
                <a:spcPts val="0"/>
              </a:spcAft>
              <a:buSzPct val="100000"/>
              <a:buChar char="●"/>
            </a:pPr>
            <a:r>
              <a:rPr lang="en" u="sng">
                <a:solidFill>
                  <a:schemeClr val="hlink"/>
                </a:solidFill>
                <a:hlinkClick action="ppaction://hlinksldjump" r:id="rId3"/>
              </a:rPr>
              <a:t>Flex</a:t>
            </a:r>
            <a:endParaRPr/>
          </a:p>
          <a:p>
            <a:pPr indent="-310832" lvl="1" marL="914400" rtl="0" algn="l">
              <a:spcBef>
                <a:spcPts val="0"/>
              </a:spcBef>
              <a:spcAft>
                <a:spcPts val="0"/>
              </a:spcAft>
              <a:buSzPct val="100000"/>
              <a:buChar char="○"/>
            </a:pPr>
            <a:r>
              <a:rPr lang="en"/>
              <a:t>The element behaves like a block-level element and lays out its content according to the flexbox model.</a:t>
            </a:r>
            <a:endParaRPr/>
          </a:p>
          <a:p>
            <a:pPr indent="-334328" lvl="0" marL="457200" rtl="0" algn="l">
              <a:spcBef>
                <a:spcPts val="0"/>
              </a:spcBef>
              <a:spcAft>
                <a:spcPts val="0"/>
              </a:spcAft>
              <a:buSzPct val="100000"/>
              <a:buChar char="●"/>
            </a:pPr>
            <a:r>
              <a:rPr lang="en"/>
              <a:t>Grid</a:t>
            </a:r>
            <a:endParaRPr/>
          </a:p>
          <a:p>
            <a:pPr indent="-310832" lvl="1" marL="914400" rtl="0" algn="l">
              <a:spcBef>
                <a:spcPts val="0"/>
              </a:spcBef>
              <a:spcAft>
                <a:spcPts val="0"/>
              </a:spcAft>
              <a:buSzPct val="100000"/>
              <a:buChar char="○"/>
            </a:pPr>
            <a:r>
              <a:rPr lang="en"/>
              <a:t>The element behaves like a block-level element and lays out its content according to the grid model.</a:t>
            </a:r>
            <a:endParaRPr/>
          </a:p>
          <a:p>
            <a:pPr indent="-334328" lvl="0" marL="457200" rtl="0" algn="l">
              <a:spcBef>
                <a:spcPts val="0"/>
              </a:spcBef>
              <a:spcAft>
                <a:spcPts val="0"/>
              </a:spcAft>
              <a:buSzPct val="100000"/>
              <a:buChar char="●"/>
            </a:pPr>
            <a:r>
              <a:rPr lang="en"/>
              <a:t>Ruby</a:t>
            </a:r>
            <a:endParaRPr/>
          </a:p>
          <a:p>
            <a:pPr indent="-310832" lvl="1" marL="914400" rtl="0" algn="l">
              <a:spcBef>
                <a:spcPts val="0"/>
              </a:spcBef>
              <a:spcAft>
                <a:spcPts val="0"/>
              </a:spcAft>
              <a:buSzPct val="100000"/>
              <a:buChar char="○"/>
            </a:pPr>
            <a:r>
              <a:rPr lang="en"/>
              <a:t>The element behaves like an inline-level element and lays out its content according to the ruby formatting model. It behaves like the corresponding HTML &lt;ruby&gt; elements.</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sp>
        <p:nvSpPr>
          <p:cNvPr id="557" name="Google Shape;557;p7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Display Property ─ List Item</a:t>
            </a:r>
            <a:endParaRPr/>
          </a:p>
        </p:txBody>
      </p:sp>
      <p:sp>
        <p:nvSpPr>
          <p:cNvPr id="558" name="Google Shape;558;p7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59" name="Google Shape;559;p7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element generates a block box for the content and a separate list-item inline box.</a:t>
            </a:r>
            <a:endParaRPr/>
          </a:p>
          <a:p>
            <a:pPr indent="-317500" lvl="1" marL="914400" rtl="0" algn="l">
              <a:spcBef>
                <a:spcPts val="0"/>
              </a:spcBef>
              <a:spcAft>
                <a:spcPts val="0"/>
              </a:spcAft>
              <a:buSzPts val="1400"/>
              <a:buChar char="○"/>
            </a:pPr>
            <a:r>
              <a:rPr lang="en"/>
              <a:t>Generates a ::marker pseudo-element with the content specified by its list-style properties (for example a bullet point) together with a principal box of the specified type for its own contents.</a:t>
            </a:r>
            <a:endParaRPr/>
          </a:p>
          <a:p>
            <a:pPr indent="-342900" lvl="0" marL="457200" rtl="0" algn="l">
              <a:spcBef>
                <a:spcPts val="0"/>
              </a:spcBef>
              <a:spcAft>
                <a:spcPts val="0"/>
              </a:spcAft>
              <a:buSzPts val="1800"/>
              <a:buChar char="●"/>
            </a:pPr>
            <a:r>
              <a:rPr lang="en"/>
              <a:t>A single value of list-item will cause the element to behave like a list item. This can be used together with list-style-type and list-style-position.</a:t>
            </a:r>
            <a:endParaRPr/>
          </a:p>
        </p:txBody>
      </p:sp>
      <p:sp>
        <p:nvSpPr>
          <p:cNvPr id="560" name="Google Shape;560;p77"/>
          <p:cNvSpPr txBox="1"/>
          <p:nvPr/>
        </p:nvSpPr>
        <p:spPr>
          <a:xfrm>
            <a:off x="911300" y="3084350"/>
            <a:ext cx="3000000" cy="12930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.fake-list {</a:t>
            </a:r>
            <a:endParaRPr sz="1800">
              <a:solidFill>
                <a:srgbClr val="434343"/>
              </a:solidFill>
              <a:latin typeface="Source Sans Pro"/>
              <a:ea typeface="Source Sans Pro"/>
              <a:cs typeface="Source Sans Pro"/>
              <a:sym typeface="Source Sans Pro"/>
            </a:endParaRPr>
          </a:p>
          <a:p>
            <a:pPr indent="0" lvl="0" marL="0" rtl="0" algn="l">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  display: list-item;</a:t>
            </a:r>
            <a:endParaRPr sz="1800">
              <a:solidFill>
                <a:srgbClr val="434343"/>
              </a:solidFill>
              <a:latin typeface="Source Sans Pro"/>
              <a:ea typeface="Source Sans Pro"/>
              <a:cs typeface="Source Sans Pro"/>
              <a:sym typeface="Source Sans Pro"/>
            </a:endParaRPr>
          </a:p>
          <a:p>
            <a:pPr indent="0" lvl="0" marL="0" rtl="0" algn="l">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  list-style-position: inside;</a:t>
            </a:r>
            <a:endParaRPr sz="1800">
              <a:solidFill>
                <a:srgbClr val="434343"/>
              </a:solidFill>
              <a:latin typeface="Source Sans Pro"/>
              <a:ea typeface="Source Sans Pro"/>
              <a:cs typeface="Source Sans Pro"/>
              <a:sym typeface="Source Sans Pro"/>
            </a:endParaRPr>
          </a:p>
          <a:p>
            <a:pPr indent="0" lvl="0" marL="0" rtl="0" algn="l">
              <a:lnSpc>
                <a:spcPct val="100000"/>
              </a:lnSpc>
              <a:spcBef>
                <a:spcPts val="0"/>
              </a:spcBef>
              <a:spcAft>
                <a:spcPts val="0"/>
              </a:spcAft>
              <a:buNone/>
            </a:pPr>
            <a:r>
              <a:rPr lang="en" sz="1800">
                <a:solidFill>
                  <a:srgbClr val="434343"/>
                </a:solidFill>
                <a:latin typeface="Source Sans Pro"/>
                <a:ea typeface="Source Sans Pro"/>
                <a:cs typeface="Source Sans Pro"/>
                <a:sym typeface="Source Sans Pro"/>
              </a:rPr>
              <a:t>}</a:t>
            </a: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sp>
        <p:nvSpPr>
          <p:cNvPr id="565" name="Google Shape;565;p7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Display Property ─ Box</a:t>
            </a:r>
            <a:endParaRPr/>
          </a:p>
        </p:txBody>
      </p:sp>
      <p:sp>
        <p:nvSpPr>
          <p:cNvPr id="566" name="Google Shape;566;p7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67" name="Google Shape;567;p7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C</a:t>
            </a:r>
            <a:r>
              <a:rPr lang="en"/>
              <a:t>ontents</a:t>
            </a:r>
            <a:endParaRPr/>
          </a:p>
          <a:p>
            <a:pPr indent="-317500" lvl="1" marL="914400" rtl="0" algn="l">
              <a:spcBef>
                <a:spcPts val="0"/>
              </a:spcBef>
              <a:spcAft>
                <a:spcPts val="0"/>
              </a:spcAft>
              <a:buSzPts val="1400"/>
              <a:buChar char="○"/>
            </a:pPr>
            <a:r>
              <a:rPr lang="en"/>
              <a:t>These elements don't produce a specific box by themselves. They are replaced by their pseudo-box and their child boxes.</a:t>
            </a:r>
            <a:endParaRPr/>
          </a:p>
          <a:p>
            <a:pPr indent="-317500" lvl="2" marL="1371600" rtl="0" algn="l">
              <a:spcBef>
                <a:spcPts val="0"/>
              </a:spcBef>
              <a:spcAft>
                <a:spcPts val="0"/>
              </a:spcAft>
              <a:buSzPts val="1400"/>
              <a:buChar char="■"/>
            </a:pPr>
            <a:r>
              <a:rPr lang="en"/>
              <a:t>Useful for scenarios with semantic tags or div soups. Styles can be applied to d</a:t>
            </a:r>
            <a:r>
              <a:rPr lang="en"/>
              <a:t>escendants.</a:t>
            </a:r>
            <a:endParaRPr/>
          </a:p>
          <a:p>
            <a:pPr indent="-342900" lvl="0" marL="457200" rtl="0" algn="l">
              <a:spcBef>
                <a:spcPts val="0"/>
              </a:spcBef>
              <a:spcAft>
                <a:spcPts val="0"/>
              </a:spcAft>
              <a:buSzPts val="1800"/>
              <a:buChar char="●"/>
            </a:pPr>
            <a:r>
              <a:rPr lang="en"/>
              <a:t>None</a:t>
            </a:r>
            <a:endParaRPr/>
          </a:p>
          <a:p>
            <a:pPr indent="-317500" lvl="1" marL="914400" rtl="0" algn="l">
              <a:spcBef>
                <a:spcPts val="0"/>
              </a:spcBef>
              <a:spcAft>
                <a:spcPts val="0"/>
              </a:spcAft>
              <a:buSzPts val="1400"/>
              <a:buChar char="○"/>
            </a:pPr>
            <a:r>
              <a:rPr lang="en"/>
              <a:t>Turns off the display of an element so that it has no effect on layout (the document is rendered as though the element did not exist).</a:t>
            </a:r>
            <a:endParaRPr/>
          </a:p>
          <a:p>
            <a:pPr indent="-317500" lvl="1" marL="914400" rtl="0" algn="l">
              <a:spcBef>
                <a:spcPts val="0"/>
              </a:spcBef>
              <a:spcAft>
                <a:spcPts val="0"/>
              </a:spcAft>
              <a:buSzPts val="1400"/>
              <a:buChar char="○"/>
            </a:pPr>
            <a:r>
              <a:rPr lang="en"/>
              <a:t>All descendant elements also have their display turned off.</a:t>
            </a:r>
            <a:endParaRPr/>
          </a:p>
          <a:p>
            <a:pPr indent="-317500" lvl="1" marL="914400" rtl="0" algn="l">
              <a:spcBef>
                <a:spcPts val="0"/>
              </a:spcBef>
              <a:spcAft>
                <a:spcPts val="0"/>
              </a:spcAft>
              <a:buSzPts val="1400"/>
              <a:buChar char="○"/>
            </a:pPr>
            <a:r>
              <a:rPr lang="en"/>
              <a:t>To have an element take up the space that it would normally take, but without actually rendering anything, use the visibility property instead.</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1" name="Shape 571"/>
        <p:cNvGrpSpPr/>
        <p:nvPr/>
      </p:nvGrpSpPr>
      <p:grpSpPr>
        <a:xfrm>
          <a:off x="0" y="0"/>
          <a:ext cx="0" cy="0"/>
          <a:chOff x="0" y="0"/>
          <a:chExt cx="0" cy="0"/>
        </a:xfrm>
      </p:grpSpPr>
      <p:sp>
        <p:nvSpPr>
          <p:cNvPr id="572" name="Google Shape;572;p7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Position Property</a:t>
            </a:r>
            <a:r>
              <a:rPr lang="en"/>
              <a:t> </a:t>
            </a:r>
            <a:endParaRPr/>
          </a:p>
        </p:txBody>
      </p:sp>
      <p:sp>
        <p:nvSpPr>
          <p:cNvPr id="573" name="Google Shape;573;p7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74" name="Google Shape;574;p7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a:bodyPr>
          <a:lstStyle/>
          <a:p>
            <a:pPr indent="-334328" lvl="0" marL="457200" rtl="0" algn="l">
              <a:spcBef>
                <a:spcPts val="0"/>
              </a:spcBef>
              <a:spcAft>
                <a:spcPts val="0"/>
              </a:spcAft>
              <a:buSzPct val="100000"/>
              <a:buChar char="●"/>
            </a:pPr>
            <a:r>
              <a:rPr lang="en"/>
              <a:t>static :  positioned element is always positioned according to the normal flow of the page.</a:t>
            </a:r>
            <a:endParaRPr/>
          </a:p>
          <a:p>
            <a:pPr indent="-310832" lvl="1" marL="914400" rtl="0" algn="l">
              <a:spcBef>
                <a:spcPts val="0"/>
              </a:spcBef>
              <a:spcAft>
                <a:spcPts val="0"/>
              </a:spcAft>
              <a:buSzPct val="100000"/>
              <a:buChar char="○"/>
            </a:pPr>
            <a:r>
              <a:rPr lang="en"/>
              <a:t>The top, right, bottom, left, and z-index properties have no effect.</a:t>
            </a:r>
            <a:endParaRPr/>
          </a:p>
          <a:p>
            <a:pPr indent="-334328" lvl="0" marL="457200" rtl="0" algn="l">
              <a:spcBef>
                <a:spcPts val="0"/>
              </a:spcBef>
              <a:spcAft>
                <a:spcPts val="0"/>
              </a:spcAft>
              <a:buSzPct val="100000"/>
              <a:buChar char="●"/>
            </a:pPr>
            <a:r>
              <a:rPr lang="en"/>
              <a:t>relative: positioned relative to its normal position</a:t>
            </a:r>
            <a:endParaRPr/>
          </a:p>
          <a:p>
            <a:pPr indent="-334328" lvl="0" marL="457200" rtl="0" algn="l">
              <a:spcBef>
                <a:spcPts val="0"/>
              </a:spcBef>
              <a:spcAft>
                <a:spcPts val="0"/>
              </a:spcAft>
              <a:buSzPct val="100000"/>
              <a:buChar char="●"/>
            </a:pPr>
            <a:r>
              <a:rPr lang="en"/>
              <a:t>absolute : positioned relative to the first parent element</a:t>
            </a:r>
            <a:endParaRPr/>
          </a:p>
          <a:p>
            <a:pPr indent="-334328" lvl="0" marL="457200" rtl="0" algn="l">
              <a:spcBef>
                <a:spcPts val="0"/>
              </a:spcBef>
              <a:spcAft>
                <a:spcPts val="0"/>
              </a:spcAft>
              <a:buSzPct val="100000"/>
              <a:buChar char="●"/>
            </a:pPr>
            <a:r>
              <a:rPr lang="en"/>
              <a:t>fixed: positioned relative to the browser window (viewport)</a:t>
            </a:r>
            <a:endParaRPr/>
          </a:p>
          <a:p>
            <a:pPr indent="-334328" lvl="0" marL="457200" rtl="0" algn="l">
              <a:spcBef>
                <a:spcPts val="0"/>
              </a:spcBef>
              <a:spcAft>
                <a:spcPts val="0"/>
              </a:spcAft>
              <a:buSzPct val="100000"/>
              <a:buChar char="●"/>
            </a:pPr>
            <a:r>
              <a:rPr lang="en"/>
              <a:t>s</a:t>
            </a:r>
            <a:r>
              <a:rPr lang="en"/>
              <a:t>ticky: positioned according to the normal flow of the document, and then offset relative to its nearest scrolling ancestor and containing block (nearest block-level ancestor), including table-related elements, based on the values of top, right, bottom, and left.</a:t>
            </a:r>
            <a:endParaRPr/>
          </a:p>
          <a:p>
            <a:pPr indent="-310832" lvl="1" marL="914400" rtl="0" algn="l">
              <a:spcBef>
                <a:spcPts val="0"/>
              </a:spcBef>
              <a:spcAft>
                <a:spcPts val="0"/>
              </a:spcAft>
              <a:buSzPct val="100000"/>
              <a:buChar char="○"/>
            </a:pPr>
            <a:r>
              <a:rPr lang="en"/>
              <a:t>"sticks" to its nearest ancestor that has a "scrolling mechanism"</a:t>
            </a:r>
            <a:endParaRPr/>
          </a:p>
          <a:p>
            <a:pPr indent="-334328" lvl="0" marL="457200" rtl="0" algn="l">
              <a:spcBef>
                <a:spcPts val="0"/>
              </a:spcBef>
              <a:spcAft>
                <a:spcPts val="0"/>
              </a:spcAft>
              <a:buSzPct val="100000"/>
              <a:buChar char="●"/>
            </a:pPr>
            <a:r>
              <a:rPr lang="en"/>
              <a:t>Check examples at </a:t>
            </a:r>
            <a:r>
              <a:rPr lang="en" u="sng">
                <a:solidFill>
                  <a:schemeClr val="hlink"/>
                </a:solidFill>
                <a:hlinkClick r:id="rId3"/>
              </a:rPr>
              <a:t>https://developer.mozilla.org/en-US/docs/Web/CSS/Reference/Properties/position</a:t>
            </a:r>
            <a:r>
              <a:rPr lang="en"/>
              <a:t> </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8" name="Shape 578"/>
        <p:cNvGrpSpPr/>
        <p:nvPr/>
      </p:nvGrpSpPr>
      <p:grpSpPr>
        <a:xfrm>
          <a:off x="0" y="0"/>
          <a:ext cx="0" cy="0"/>
          <a:chOff x="0" y="0"/>
          <a:chExt cx="0" cy="0"/>
        </a:xfrm>
      </p:grpSpPr>
      <p:sp>
        <p:nvSpPr>
          <p:cNvPr id="579" name="Google Shape;579;p8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Position Property ─ z-index</a:t>
            </a:r>
            <a:endParaRPr/>
          </a:p>
        </p:txBody>
      </p:sp>
      <p:sp>
        <p:nvSpPr>
          <p:cNvPr id="580" name="Google Shape;580;p8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581" name="Google Shape;581;p8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z-index (the stack order of an element) property sets the z-order of a positioned element and its descendants or flex and grid items.</a:t>
            </a:r>
            <a:endParaRPr/>
          </a:p>
          <a:p>
            <a:pPr indent="-342900" lvl="0" marL="457200" rtl="0" algn="l">
              <a:spcBef>
                <a:spcPts val="0"/>
              </a:spcBef>
              <a:spcAft>
                <a:spcPts val="0"/>
              </a:spcAft>
              <a:buSzPts val="1800"/>
              <a:buChar char="●"/>
            </a:pPr>
            <a:r>
              <a:rPr lang="en"/>
              <a:t>Overlapping elements with a larger z-index cover those with a smaller one.</a:t>
            </a:r>
            <a:endParaRPr/>
          </a:p>
          <a:p>
            <a:pPr indent="-342900" lvl="0" marL="457200" rtl="0" algn="l">
              <a:spcBef>
                <a:spcPts val="0"/>
              </a:spcBef>
              <a:spcAft>
                <a:spcPts val="0"/>
              </a:spcAft>
              <a:buSzPts val="1800"/>
              <a:buChar char="●"/>
            </a:pPr>
            <a:r>
              <a:rPr lang="en"/>
              <a:t>If two positioned elements overlap without a z-index specified, the element positioned last in the HTML code will be shown on top.</a:t>
            </a:r>
            <a:endParaRPr/>
          </a:p>
          <a:p>
            <a:pPr indent="-342900" lvl="0" marL="457200" rtl="0" algn="l">
              <a:spcBef>
                <a:spcPts val="0"/>
              </a:spcBef>
              <a:spcAft>
                <a:spcPts val="0"/>
              </a:spcAft>
              <a:buSzPts val="1800"/>
              <a:buChar char="●"/>
            </a:pPr>
            <a:r>
              <a:rPr lang="en"/>
              <a:t>Check effects at </a:t>
            </a:r>
            <a:r>
              <a:rPr lang="en" u="sng">
                <a:solidFill>
                  <a:schemeClr val="hlink"/>
                </a:solidFill>
                <a:hlinkClick r:id="rId3"/>
              </a:rPr>
              <a:t>https://developer.mozilla.org/en-US/docs/Web/CSS/Reference/Properties/z-index</a:t>
            </a:r>
            <a:r>
              <a:rPr lang="en"/>
              <a:t> </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8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Try it Yourself ─ Element Specific Effects</a:t>
            </a:r>
            <a:endParaRPr/>
          </a:p>
          <a:p>
            <a:pPr indent="0" lvl="0" marL="0" rtl="0" algn="l">
              <a:spcBef>
                <a:spcPts val="0"/>
              </a:spcBef>
              <a:spcAft>
                <a:spcPts val="0"/>
              </a:spcAft>
              <a:buNone/>
            </a:pPr>
            <a:r>
              <a:t/>
            </a:r>
            <a:endParaRPr/>
          </a:p>
        </p:txBody>
      </p:sp>
      <p:sp>
        <p:nvSpPr>
          <p:cNvPr id="587" name="Google Shape;587;p8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88" name="Google Shape;588;p8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Any two of followings for each element: properties, functions, Pseudo-elements.</a:t>
            </a:r>
            <a:endParaRPr/>
          </a:p>
          <a:p>
            <a:pPr indent="-342900" lvl="0" marL="457200" rtl="0" algn="l">
              <a:spcBef>
                <a:spcPts val="0"/>
              </a:spcBef>
              <a:spcAft>
                <a:spcPts val="0"/>
              </a:spcAft>
              <a:buSzPts val="1800"/>
              <a:buChar char="●"/>
            </a:pPr>
            <a:r>
              <a:rPr lang="en"/>
              <a:t>Table</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https://developer.mozilla.org/en-US/docs/Web/CSS/Guides/Table</a:t>
            </a:r>
            <a:r>
              <a:rPr lang="en"/>
              <a:t> </a:t>
            </a:r>
            <a:endParaRPr/>
          </a:p>
          <a:p>
            <a:pPr indent="-342900" lvl="0" marL="457200" rtl="0" algn="l">
              <a:spcBef>
                <a:spcPts val="0"/>
              </a:spcBef>
              <a:spcAft>
                <a:spcPts val="0"/>
              </a:spcAft>
              <a:buSzPts val="1800"/>
              <a:buChar char="●"/>
            </a:pPr>
            <a:r>
              <a:rPr lang="en"/>
              <a:t>List and Counter</a:t>
            </a:r>
            <a:endParaRPr/>
          </a:p>
          <a:p>
            <a:pPr indent="-317500" lvl="1" marL="914400" rtl="0" algn="l">
              <a:spcBef>
                <a:spcPts val="0"/>
              </a:spcBef>
              <a:spcAft>
                <a:spcPts val="0"/>
              </a:spcAft>
              <a:buSzPts val="1400"/>
              <a:buChar char="○"/>
            </a:pPr>
            <a:r>
              <a:rPr lang="en" u="sng">
                <a:solidFill>
                  <a:schemeClr val="hlink"/>
                </a:solidFill>
                <a:hlinkClick r:id="rId4"/>
              </a:rPr>
              <a:t>https://developer.mozilla.org/en-US/docs/Web/CSS/Guides/Lists</a:t>
            </a:r>
            <a:r>
              <a:rPr lang="en"/>
              <a:t> </a:t>
            </a:r>
            <a:endParaRPr/>
          </a:p>
          <a:p>
            <a:pPr indent="-342900" lvl="0" marL="457200" rtl="0" algn="l">
              <a:spcBef>
                <a:spcPts val="0"/>
              </a:spcBef>
              <a:spcAft>
                <a:spcPts val="0"/>
              </a:spcAft>
              <a:buSzPts val="1800"/>
              <a:buChar char="●"/>
            </a:pPr>
            <a:r>
              <a:rPr lang="en"/>
              <a:t>Image</a:t>
            </a:r>
            <a:endParaRPr/>
          </a:p>
          <a:p>
            <a:pPr indent="-317500" lvl="1" marL="914400" rtl="0" algn="l">
              <a:spcBef>
                <a:spcPts val="0"/>
              </a:spcBef>
              <a:spcAft>
                <a:spcPts val="0"/>
              </a:spcAft>
              <a:buSzPts val="1400"/>
              <a:buChar char="○"/>
            </a:pPr>
            <a:r>
              <a:rPr lang="en" u="sng">
                <a:solidFill>
                  <a:schemeClr val="hlink"/>
                </a:solidFill>
                <a:hlinkClick r:id="rId5"/>
              </a:rPr>
              <a:t>https://developer.mozilla.org/en-US/docs/Web/CSS/Guides/Images</a:t>
            </a:r>
            <a:r>
              <a:rPr lang="en"/>
              <a:t> </a:t>
            </a:r>
            <a:endParaRPr/>
          </a:p>
          <a:p>
            <a:pPr indent="-342900" lvl="0" marL="457200" rtl="0" algn="l">
              <a:spcBef>
                <a:spcPts val="0"/>
              </a:spcBef>
              <a:spcAft>
                <a:spcPts val="0"/>
              </a:spcAft>
              <a:buSzPts val="1800"/>
              <a:buChar char="●"/>
            </a:pPr>
            <a:r>
              <a:rPr lang="en"/>
              <a:t>Filter</a:t>
            </a:r>
            <a:endParaRPr/>
          </a:p>
          <a:p>
            <a:pPr indent="-317500" lvl="1" marL="914400" rtl="0" algn="l">
              <a:spcBef>
                <a:spcPts val="0"/>
              </a:spcBef>
              <a:spcAft>
                <a:spcPts val="0"/>
              </a:spcAft>
              <a:buSzPts val="1400"/>
              <a:buChar char="○"/>
            </a:pPr>
            <a:r>
              <a:rPr lang="en" u="sng">
                <a:solidFill>
                  <a:schemeClr val="hlink"/>
                </a:solidFill>
                <a:hlinkClick r:id="rId6"/>
              </a:rPr>
              <a:t>https://developer.mozilla.org/en-US/docs/Web/CSS/Guides/Filter_effects</a:t>
            </a:r>
            <a:r>
              <a:rPr lang="en"/>
              <a:t> </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82"/>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3200"/>
              <a:t>Mastering the CSS Cascade &amp; Specificity</a:t>
            </a:r>
            <a:endParaRPr sz="3200"/>
          </a:p>
        </p:txBody>
      </p:sp>
      <p:sp>
        <p:nvSpPr>
          <p:cNvPr id="594" name="Google Shape;594;p8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8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5 Steps of the Cascade Algorithm</a:t>
            </a:r>
            <a:endParaRPr/>
          </a:p>
          <a:p>
            <a:pPr indent="0" lvl="0" marL="0" rtl="0" algn="l">
              <a:spcBef>
                <a:spcPts val="0"/>
              </a:spcBef>
              <a:spcAft>
                <a:spcPts val="0"/>
              </a:spcAft>
              <a:buNone/>
            </a:pPr>
            <a:r>
              <a:t/>
            </a:r>
            <a:endParaRPr/>
          </a:p>
        </p:txBody>
      </p:sp>
      <p:sp>
        <p:nvSpPr>
          <p:cNvPr id="600" name="Google Shape;600;p8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When multiple CSS rules target the same HTML element, the browser filters and sorts them using 5 distinct steps:</a:t>
            </a:r>
            <a:endParaRPr/>
          </a:p>
          <a:p>
            <a:pPr indent="-317500" lvl="1" marL="914400" rtl="0" algn="l">
              <a:spcBef>
                <a:spcPts val="0"/>
              </a:spcBef>
              <a:spcAft>
                <a:spcPts val="0"/>
              </a:spcAft>
              <a:buSzPts val="1400"/>
              <a:buChar char="○"/>
            </a:pPr>
            <a:r>
              <a:rPr lang="en"/>
              <a:t>Relevance – Filter out non-matching rules</a:t>
            </a:r>
            <a:endParaRPr/>
          </a:p>
          <a:p>
            <a:pPr indent="-317500" lvl="1" marL="914400" rtl="0" algn="l">
              <a:spcBef>
                <a:spcPts val="0"/>
              </a:spcBef>
              <a:spcAft>
                <a:spcPts val="0"/>
              </a:spcAft>
              <a:buSzPts val="1400"/>
              <a:buChar char="○"/>
            </a:pPr>
            <a:r>
              <a:rPr lang="en"/>
              <a:t>Origin &amp; Importance – Check where the style comes from and if it has !important</a:t>
            </a:r>
            <a:endParaRPr/>
          </a:p>
          <a:p>
            <a:pPr indent="-317500" lvl="1" marL="914400" rtl="0" algn="l">
              <a:spcBef>
                <a:spcPts val="0"/>
              </a:spcBef>
              <a:spcAft>
                <a:spcPts val="0"/>
              </a:spcAft>
              <a:buSzPts val="1400"/>
              <a:buChar char="○"/>
            </a:pPr>
            <a:r>
              <a:rPr lang="en"/>
              <a:t>Specificity – Calculate the weight of the selectors</a:t>
            </a:r>
            <a:endParaRPr/>
          </a:p>
          <a:p>
            <a:pPr indent="-317500" lvl="1" marL="914400" rtl="0" algn="l">
              <a:spcBef>
                <a:spcPts val="0"/>
              </a:spcBef>
              <a:spcAft>
                <a:spcPts val="0"/>
              </a:spcAft>
              <a:buSzPts val="1400"/>
              <a:buChar char="○"/>
            </a:pPr>
            <a:r>
              <a:rPr lang="en"/>
              <a:t>Scoping Proximity – Measure DOM distance within @scope</a:t>
            </a:r>
            <a:endParaRPr/>
          </a:p>
          <a:p>
            <a:pPr indent="-317500" lvl="1" marL="914400" rtl="0" algn="l">
              <a:spcBef>
                <a:spcPts val="0"/>
              </a:spcBef>
              <a:spcAft>
                <a:spcPts val="0"/>
              </a:spcAft>
              <a:buSzPts val="1400"/>
              <a:buChar char="○"/>
            </a:pPr>
            <a:r>
              <a:rPr lang="en"/>
              <a:t>Order of Appearance – Apply the "last one wins" rule if all else is equal</a:t>
            </a:r>
            <a:endParaRPr/>
          </a:p>
        </p:txBody>
      </p:sp>
      <p:sp>
        <p:nvSpPr>
          <p:cNvPr id="601" name="Google Shape;601;p8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sp>
        <p:nvSpPr>
          <p:cNvPr id="606" name="Google Shape;606;p8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Origin &amp; Importance Hierarchy</a:t>
            </a:r>
            <a:endParaRPr/>
          </a:p>
          <a:p>
            <a:pPr indent="0" lvl="0" marL="0" rtl="0" algn="l">
              <a:spcBef>
                <a:spcPts val="0"/>
              </a:spcBef>
              <a:spcAft>
                <a:spcPts val="0"/>
              </a:spcAft>
              <a:buNone/>
            </a:pPr>
            <a:r>
              <a:t/>
            </a:r>
            <a:endParaRPr/>
          </a:p>
        </p:txBody>
      </p:sp>
      <p:sp>
        <p:nvSpPr>
          <p:cNvPr id="607" name="Google Shape;607;p8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Styles are sorted by their source and weight. The order below runs from lowest to highest precedence (the latter overrides the former):</a:t>
            </a:r>
            <a:endParaRPr/>
          </a:p>
          <a:p>
            <a:pPr indent="-317500" lvl="1" marL="914400" rtl="0" algn="l">
              <a:spcBef>
                <a:spcPts val="0"/>
              </a:spcBef>
              <a:spcAft>
                <a:spcPts val="0"/>
              </a:spcAft>
              <a:buSzPts val="1400"/>
              <a:buChar char="○"/>
            </a:pPr>
            <a:r>
              <a:rPr lang="en"/>
              <a:t>User-Agent Styles (Browser defaults)</a:t>
            </a:r>
            <a:endParaRPr/>
          </a:p>
          <a:p>
            <a:pPr indent="-317500" lvl="1" marL="914400" rtl="0" algn="l">
              <a:spcBef>
                <a:spcPts val="0"/>
              </a:spcBef>
              <a:spcAft>
                <a:spcPts val="0"/>
              </a:spcAft>
              <a:buSzPts val="1400"/>
              <a:buChar char="○"/>
            </a:pPr>
            <a:r>
              <a:rPr lang="en"/>
              <a:t>User Styles (Custom browser settings/extensions)</a:t>
            </a:r>
            <a:endParaRPr/>
          </a:p>
          <a:p>
            <a:pPr indent="-317500" lvl="1" marL="914400" rtl="0" algn="l">
              <a:spcBef>
                <a:spcPts val="0"/>
              </a:spcBef>
              <a:spcAft>
                <a:spcPts val="0"/>
              </a:spcAft>
              <a:buSzPts val="1400"/>
              <a:buChar char="○"/>
            </a:pPr>
            <a:r>
              <a:rPr lang="en"/>
              <a:t>Author Styles (Normal) (Styles written by developers—External, Embedded, Inline)</a:t>
            </a:r>
            <a:endParaRPr/>
          </a:p>
          <a:p>
            <a:pPr indent="-317500" lvl="1" marL="914400" rtl="0" algn="l">
              <a:spcBef>
                <a:spcPts val="0"/>
              </a:spcBef>
              <a:spcAft>
                <a:spcPts val="0"/>
              </a:spcAft>
              <a:buSzPts val="1400"/>
              <a:buChar char="○"/>
            </a:pPr>
            <a:r>
              <a:rPr lang="en"/>
              <a:t>CSS Animations (@keyframes execution)</a:t>
            </a:r>
            <a:endParaRPr/>
          </a:p>
          <a:p>
            <a:pPr indent="-317500" lvl="1" marL="914400" rtl="0" algn="l">
              <a:spcBef>
                <a:spcPts val="0"/>
              </a:spcBef>
              <a:spcAft>
                <a:spcPts val="0"/>
              </a:spcAft>
              <a:buSzPts val="1400"/>
              <a:buChar char="○"/>
            </a:pPr>
            <a:r>
              <a:rPr lang="en"/>
              <a:t>Author Styles (!important)</a:t>
            </a:r>
            <a:endParaRPr/>
          </a:p>
          <a:p>
            <a:pPr indent="-317500" lvl="1" marL="914400" rtl="0" algn="l">
              <a:spcBef>
                <a:spcPts val="0"/>
              </a:spcBef>
              <a:spcAft>
                <a:spcPts val="0"/>
              </a:spcAft>
              <a:buSzPts val="1400"/>
              <a:buChar char="○"/>
            </a:pPr>
            <a:r>
              <a:rPr lang="en"/>
              <a:t>User Styles (!important)</a:t>
            </a:r>
            <a:endParaRPr/>
          </a:p>
          <a:p>
            <a:pPr indent="-317500" lvl="1" marL="914400" rtl="0" algn="l">
              <a:spcBef>
                <a:spcPts val="0"/>
              </a:spcBef>
              <a:spcAft>
                <a:spcPts val="0"/>
              </a:spcAft>
              <a:buSzPts val="1400"/>
              <a:buChar char="○"/>
            </a:pPr>
            <a:r>
              <a:rPr lang="en"/>
              <a:t>User-Agent Styles (!important)</a:t>
            </a:r>
            <a:endParaRPr/>
          </a:p>
          <a:p>
            <a:pPr indent="-317500" lvl="1" marL="914400" rtl="0" algn="l">
              <a:spcBef>
                <a:spcPts val="0"/>
              </a:spcBef>
              <a:spcAft>
                <a:spcPts val="0"/>
              </a:spcAft>
              <a:buSzPts val="1400"/>
              <a:buChar char="○"/>
            </a:pPr>
            <a:r>
              <a:rPr lang="en"/>
              <a:t>CSS Transitions (Active state transitions hold the absolute highest priority)</a:t>
            </a:r>
            <a:endParaRPr/>
          </a:p>
        </p:txBody>
      </p:sp>
      <p:sp>
        <p:nvSpPr>
          <p:cNvPr id="608" name="Google Shape;608;p8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8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How @layer Affects Precedence</a:t>
            </a:r>
            <a:endParaRPr/>
          </a:p>
          <a:p>
            <a:pPr indent="0" lvl="0" marL="0" rtl="0" algn="l">
              <a:spcBef>
                <a:spcPts val="0"/>
              </a:spcBef>
              <a:spcAft>
                <a:spcPts val="0"/>
              </a:spcAft>
              <a:buNone/>
            </a:pPr>
            <a:r>
              <a:t/>
            </a:r>
            <a:endParaRPr/>
          </a:p>
        </p:txBody>
      </p:sp>
      <p:sp>
        <p:nvSpPr>
          <p:cNvPr id="614" name="Google Shape;614;p8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Within the same origin (e.g., Author Styles), Cascade Layers modify the priority chain:</a:t>
            </a:r>
            <a:endParaRPr/>
          </a:p>
          <a:p>
            <a:pPr indent="-317500" lvl="1" marL="914400" rtl="0" algn="l">
              <a:spcBef>
                <a:spcPts val="0"/>
              </a:spcBef>
              <a:spcAft>
                <a:spcPts val="0"/>
              </a:spcAft>
              <a:buSzPts val="1400"/>
              <a:buChar char="○"/>
            </a:pPr>
            <a:r>
              <a:rPr lang="en"/>
              <a:t>Normal Styles: Unlayered styles always win over layered styles.</a:t>
            </a:r>
            <a:endParaRPr/>
          </a:p>
          <a:p>
            <a:pPr indent="-317500" lvl="2" marL="1371600" rtl="0" algn="l">
              <a:spcBef>
                <a:spcPts val="0"/>
              </a:spcBef>
              <a:spcAft>
                <a:spcPts val="0"/>
              </a:spcAft>
              <a:buSzPts val="1400"/>
              <a:buChar char="■"/>
            </a:pPr>
            <a:r>
              <a:rPr lang="en"/>
              <a:t>Order: Unlayered &gt; Later Layers &gt; Earlier Layers</a:t>
            </a:r>
            <a:endParaRPr/>
          </a:p>
          <a:p>
            <a:pPr indent="-317500" lvl="1" marL="914400" rtl="0" algn="l">
              <a:spcBef>
                <a:spcPts val="0"/>
              </a:spcBef>
              <a:spcAft>
                <a:spcPts val="0"/>
              </a:spcAft>
              <a:buSzPts val="1400"/>
              <a:buChar char="○"/>
            </a:pPr>
            <a:r>
              <a:rPr lang="en"/>
              <a:t>Important Styles (!important): The logic is completely reversed!</a:t>
            </a:r>
            <a:endParaRPr/>
          </a:p>
          <a:p>
            <a:pPr indent="-317500" lvl="2" marL="1371600" rtl="0" algn="l">
              <a:spcBef>
                <a:spcPts val="0"/>
              </a:spcBef>
              <a:spcAft>
                <a:spcPts val="0"/>
              </a:spcAft>
              <a:buSzPts val="1400"/>
              <a:buChar char="■"/>
            </a:pPr>
            <a:r>
              <a:rPr lang="en"/>
              <a:t>Order: Earlier Layers &gt; Later Layers &gt; Unlayered</a:t>
            </a:r>
            <a:endParaRPr/>
          </a:p>
          <a:p>
            <a:pPr indent="-317500" lvl="1" marL="914400" rtl="0" algn="l">
              <a:spcBef>
                <a:spcPts val="0"/>
              </a:spcBef>
              <a:spcAft>
                <a:spcPts val="0"/>
              </a:spcAft>
              <a:buSzPts val="1400"/>
              <a:buChar char="○"/>
            </a:pPr>
            <a:r>
              <a:rPr lang="en"/>
              <a:t>Inline Styles (style="..."): Higher than any normal layer/unlayered styles, but still overridden by any !important declaration.</a:t>
            </a:r>
            <a:endParaRPr/>
          </a:p>
        </p:txBody>
      </p:sp>
      <p:sp>
        <p:nvSpPr>
          <p:cNvPr id="615" name="Google Shape;615;p8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8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Specificity Scoring System</a:t>
            </a:r>
            <a:endParaRPr/>
          </a:p>
          <a:p>
            <a:pPr indent="0" lvl="0" marL="0" rtl="0" algn="l">
              <a:spcBef>
                <a:spcPts val="0"/>
              </a:spcBef>
              <a:spcAft>
                <a:spcPts val="0"/>
              </a:spcAft>
              <a:buNone/>
            </a:pPr>
            <a:r>
              <a:t/>
            </a:r>
            <a:endParaRPr/>
          </a:p>
        </p:txBody>
      </p:sp>
      <p:sp>
        <p:nvSpPr>
          <p:cNvPr id="621" name="Google Shape;621;p8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If competing rules are in the same origin and layer, the browser calculates a three-column score: (ID, CLASS, TYPE)</a:t>
            </a:r>
            <a:endParaRPr/>
          </a:p>
          <a:p>
            <a:pPr indent="-317500" lvl="1" marL="914400" rtl="0" algn="l">
              <a:spcBef>
                <a:spcPts val="0"/>
              </a:spcBef>
              <a:spcAft>
                <a:spcPts val="0"/>
              </a:spcAft>
              <a:buSzPts val="1400"/>
              <a:buChar char="○"/>
            </a:pPr>
            <a:r>
              <a:rPr lang="en"/>
              <a:t>Compared from left to right, one column at a time. A higher value in a left column wins instantly.</a:t>
            </a:r>
            <a:endParaRPr/>
          </a:p>
          <a:p>
            <a:pPr indent="-317500" lvl="2" marL="1371600" rtl="0" algn="l">
              <a:spcBef>
                <a:spcPts val="0"/>
              </a:spcBef>
              <a:spcAft>
                <a:spcPts val="0"/>
              </a:spcAft>
              <a:buSzPts val="1400"/>
              <a:buChar char="■"/>
            </a:pPr>
            <a:r>
              <a:rPr lang="en"/>
              <a:t>ID Column (1, 0, 0) – Counts ID selectors (e.g., #header).</a:t>
            </a:r>
            <a:endParaRPr/>
          </a:p>
          <a:p>
            <a:pPr indent="-317500" lvl="2" marL="1371600" rtl="0" algn="l">
              <a:spcBef>
                <a:spcPts val="0"/>
              </a:spcBef>
              <a:spcAft>
                <a:spcPts val="0"/>
              </a:spcAft>
              <a:buSzPts val="1400"/>
              <a:buChar char="■"/>
            </a:pPr>
            <a:r>
              <a:rPr lang="en"/>
              <a:t>CLASS Column (0, 1, 0) – Counts Class selectors (.btn), Attribute selectors ([type="text"]), and Pseudo-classes (:hover).</a:t>
            </a:r>
            <a:endParaRPr/>
          </a:p>
          <a:p>
            <a:pPr indent="-317500" lvl="2" marL="1371600" rtl="0" algn="l">
              <a:spcBef>
                <a:spcPts val="0"/>
              </a:spcBef>
              <a:spcAft>
                <a:spcPts val="0"/>
              </a:spcAft>
              <a:buSzPts val="1400"/>
              <a:buChar char="■"/>
            </a:pPr>
            <a:r>
              <a:rPr lang="en"/>
              <a:t>TYPE Column (0, 0, 1) – Counts Element tags (p, div) and Pseudo-elements (::before).</a:t>
            </a:r>
            <a:endParaRPr/>
          </a:p>
          <a:p>
            <a:pPr indent="-317500" lvl="1" marL="914400" rtl="0" algn="l">
              <a:spcBef>
                <a:spcPts val="0"/>
              </a:spcBef>
              <a:spcAft>
                <a:spcPts val="0"/>
              </a:spcAft>
              <a:buSzPts val="1400"/>
              <a:buChar char="○"/>
            </a:pPr>
            <a:r>
              <a:rPr lang="en"/>
              <a:t>Special Score Rules:</a:t>
            </a:r>
            <a:endParaRPr/>
          </a:p>
          <a:p>
            <a:pPr indent="-317500" lvl="2" marL="1371600" rtl="0" algn="l">
              <a:spcBef>
                <a:spcPts val="0"/>
              </a:spcBef>
              <a:spcAft>
                <a:spcPts val="0"/>
              </a:spcAft>
              <a:buSzPts val="1400"/>
              <a:buChar char="■"/>
            </a:pPr>
            <a:r>
              <a:rPr lang="en"/>
              <a:t>Universal selector (*) and :where() pseudo-class have zero weight (0, 0, 0).</a:t>
            </a:r>
            <a:endParaRPr/>
          </a:p>
          <a:p>
            <a:pPr indent="-317500" lvl="2" marL="1371600" rtl="0" algn="l">
              <a:spcBef>
                <a:spcPts val="0"/>
              </a:spcBef>
              <a:spcAft>
                <a:spcPts val="0"/>
              </a:spcAft>
              <a:buSzPts val="1400"/>
              <a:buChar char="■"/>
            </a:pPr>
            <a:r>
              <a:rPr lang="en"/>
              <a:t>:is(), :not(), and :has() have no weight themselves, but they take the weight of their most specific argument.</a:t>
            </a:r>
            <a:endParaRPr/>
          </a:p>
        </p:txBody>
      </p:sp>
      <p:sp>
        <p:nvSpPr>
          <p:cNvPr id="622" name="Google Shape;622;p8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6" name="Shape 626"/>
        <p:cNvGrpSpPr/>
        <p:nvPr/>
      </p:nvGrpSpPr>
      <p:grpSpPr>
        <a:xfrm>
          <a:off x="0" y="0"/>
          <a:ext cx="0" cy="0"/>
          <a:chOff x="0" y="0"/>
          <a:chExt cx="0" cy="0"/>
        </a:xfrm>
      </p:grpSpPr>
      <p:sp>
        <p:nvSpPr>
          <p:cNvPr id="627" name="Google Shape;627;p8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Resolving Equal Specificity</a:t>
            </a:r>
            <a:endParaRPr/>
          </a:p>
          <a:p>
            <a:pPr indent="0" lvl="0" marL="0" rtl="0" algn="l">
              <a:spcBef>
                <a:spcPts val="0"/>
              </a:spcBef>
              <a:spcAft>
                <a:spcPts val="0"/>
              </a:spcAft>
              <a:buNone/>
            </a:pPr>
            <a:r>
              <a:t/>
            </a:r>
            <a:endParaRPr/>
          </a:p>
        </p:txBody>
      </p:sp>
      <p:sp>
        <p:nvSpPr>
          <p:cNvPr id="628" name="Google Shape;628;p8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Scoping Proximity</a:t>
            </a:r>
            <a:endParaRPr/>
          </a:p>
          <a:p>
            <a:pPr indent="-317500" lvl="1" marL="914400" rtl="0" algn="l">
              <a:spcBef>
                <a:spcPts val="0"/>
              </a:spcBef>
              <a:spcAft>
                <a:spcPts val="0"/>
              </a:spcAft>
              <a:buSzPts val="1400"/>
              <a:buChar char="○"/>
            </a:pPr>
            <a:r>
              <a:rPr lang="en"/>
              <a:t>Applies when conflicting rules are inside @scope blocks.</a:t>
            </a:r>
            <a:endParaRPr/>
          </a:p>
          <a:p>
            <a:pPr indent="-317500" lvl="1" marL="914400" rtl="0" algn="l">
              <a:spcBef>
                <a:spcPts val="0"/>
              </a:spcBef>
              <a:spcAft>
                <a:spcPts val="0"/>
              </a:spcAft>
              <a:buSzPts val="1400"/>
              <a:buChar char="○"/>
            </a:pPr>
            <a:r>
              <a:rPr lang="en"/>
              <a:t>The rule with the fewest hops (shortest DOM distance) to its scope root wins.</a:t>
            </a:r>
            <a:endParaRPr/>
          </a:p>
          <a:p>
            <a:pPr indent="-342900" lvl="0" marL="457200" rtl="0" algn="l">
              <a:spcBef>
                <a:spcPts val="0"/>
              </a:spcBef>
              <a:spcAft>
                <a:spcPts val="0"/>
              </a:spcAft>
              <a:buSzPts val="1800"/>
              <a:buChar char="●"/>
            </a:pPr>
            <a:r>
              <a:rPr lang="en"/>
              <a:t>Order of Appearance (The Final Decider)</a:t>
            </a:r>
            <a:endParaRPr/>
          </a:p>
          <a:p>
            <a:pPr indent="-317500" lvl="1" marL="914400" rtl="0" algn="l">
              <a:spcBef>
                <a:spcPts val="0"/>
              </a:spcBef>
              <a:spcAft>
                <a:spcPts val="0"/>
              </a:spcAft>
              <a:buSzPts val="1400"/>
              <a:buChar char="○"/>
            </a:pPr>
            <a:r>
              <a:rPr lang="en"/>
              <a:t>If origin, layer, specificity, and proximity are all identical, the "last one wins" rule applies.</a:t>
            </a:r>
            <a:endParaRPr/>
          </a:p>
          <a:p>
            <a:pPr indent="-317500" lvl="1" marL="914400" rtl="0" algn="l">
              <a:spcBef>
                <a:spcPts val="0"/>
              </a:spcBef>
              <a:spcAft>
                <a:spcPts val="0"/>
              </a:spcAft>
              <a:buSzPts val="1400"/>
              <a:buChar char="○"/>
            </a:pPr>
            <a:r>
              <a:rPr lang="en"/>
              <a:t>The declaration loaded later in the source code (or in a subsequent &lt;link&gt;/&lt;style&gt; tag) overrides the earlier one.</a:t>
            </a:r>
            <a:endParaRPr/>
          </a:p>
        </p:txBody>
      </p:sp>
      <p:sp>
        <p:nvSpPr>
          <p:cNvPr id="629" name="Google Shape;629;p8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3" name="Shape 633"/>
        <p:cNvGrpSpPr/>
        <p:nvPr/>
      </p:nvGrpSpPr>
      <p:grpSpPr>
        <a:xfrm>
          <a:off x="0" y="0"/>
          <a:ext cx="0" cy="0"/>
          <a:chOff x="0" y="0"/>
          <a:chExt cx="0" cy="0"/>
        </a:xfrm>
      </p:grpSpPr>
      <p:sp>
        <p:nvSpPr>
          <p:cNvPr id="634" name="Google Shape;634;p8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Key Rules for Clean Architecture</a:t>
            </a:r>
            <a:endParaRPr/>
          </a:p>
          <a:p>
            <a:pPr indent="0" lvl="0" marL="0" rtl="0" algn="l">
              <a:spcBef>
                <a:spcPts val="0"/>
              </a:spcBef>
              <a:spcAft>
                <a:spcPts val="0"/>
              </a:spcAft>
              <a:buNone/>
            </a:pPr>
            <a:r>
              <a:t/>
            </a:r>
            <a:endParaRPr/>
          </a:p>
        </p:txBody>
      </p:sp>
      <p:sp>
        <p:nvSpPr>
          <p:cNvPr id="635" name="Google Shape;635;p8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Direct Selection &gt; Inheritance: Directly targeted elements always override styles inherited from ancestors (inherited styles have a specificity of 0).</a:t>
            </a:r>
            <a:endParaRPr/>
          </a:p>
          <a:p>
            <a:pPr indent="-342900" lvl="0" marL="457200" rtl="0" algn="l">
              <a:spcBef>
                <a:spcPts val="0"/>
              </a:spcBef>
              <a:spcAft>
                <a:spcPts val="0"/>
              </a:spcAft>
              <a:buSzPts val="1800"/>
              <a:buChar char="●"/>
            </a:pPr>
            <a:r>
              <a:rPr lang="en"/>
              <a:t>Avoid !important Weaponization: Use Cascade Layers (@layer) or manage Specificity instead of relying on !important to force overrides.</a:t>
            </a:r>
            <a:endParaRPr/>
          </a:p>
          <a:p>
            <a:pPr indent="-342900" lvl="0" marL="457200" rtl="0" algn="l">
              <a:spcBef>
                <a:spcPts val="0"/>
              </a:spcBef>
              <a:spcAft>
                <a:spcPts val="0"/>
              </a:spcAft>
              <a:buSzPts val="1800"/>
              <a:buChar char="●"/>
            </a:pPr>
            <a:r>
              <a:rPr lang="en"/>
              <a:t>Keep Specificity Low: Rely on component classes rather than deep nesting or IDs to keep your stylesheets maintainable and flexible.</a:t>
            </a:r>
            <a:endParaRPr/>
          </a:p>
          <a:p>
            <a:pPr indent="-342900" lvl="0" marL="457200" rtl="0" algn="l">
              <a:spcBef>
                <a:spcPts val="0"/>
              </a:spcBef>
              <a:spcAft>
                <a:spcPts val="0"/>
              </a:spcAft>
              <a:buSzPts val="1800"/>
              <a:buChar char="●"/>
            </a:pPr>
            <a:r>
              <a:rPr lang="en"/>
              <a:t>References</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https://developer.mozilla.org/en-US/docs/Learn_web_development/Core/Styling_basics/Handling_conflicts</a:t>
            </a:r>
            <a:r>
              <a:rPr lang="en"/>
              <a:t>  </a:t>
            </a:r>
            <a:endParaRPr/>
          </a:p>
          <a:p>
            <a:pPr indent="-317500" lvl="1" marL="914400" rtl="0" algn="l">
              <a:spcBef>
                <a:spcPts val="0"/>
              </a:spcBef>
              <a:spcAft>
                <a:spcPts val="0"/>
              </a:spcAft>
              <a:buSzPts val="1400"/>
              <a:buChar char="○"/>
            </a:pPr>
            <a:r>
              <a:rPr lang="en" u="sng">
                <a:solidFill>
                  <a:schemeClr val="hlink"/>
                </a:solidFill>
                <a:hlinkClick r:id="rId4"/>
              </a:rPr>
              <a:t>https://developer.mozilla.org/en-US/docs/Web/CSS/Guides/Cascade/Introduction</a:t>
            </a:r>
            <a:r>
              <a:rPr lang="en"/>
              <a:t>  </a:t>
            </a:r>
            <a:endParaRPr/>
          </a:p>
        </p:txBody>
      </p:sp>
      <p:sp>
        <p:nvSpPr>
          <p:cNvPr id="636" name="Google Shape;636;p8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89"/>
          <p:cNvSpPr txBox="1"/>
          <p:nvPr>
            <p:ph type="title"/>
          </p:nvPr>
        </p:nvSpPr>
        <p:spPr>
          <a:xfrm>
            <a:off x="485875" y="1320300"/>
            <a:ext cx="8183700" cy="1179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Advanced Selector ─ </a:t>
            </a:r>
            <a:endParaRPr/>
          </a:p>
          <a:p>
            <a:pPr indent="0" lvl="0" marL="0" rtl="0" algn="l">
              <a:spcBef>
                <a:spcPts val="0"/>
              </a:spcBef>
              <a:spcAft>
                <a:spcPts val="0"/>
              </a:spcAft>
              <a:buNone/>
            </a:pPr>
            <a:r>
              <a:rPr lang="en"/>
              <a:t>Pseudo-Class and -Element  </a:t>
            </a:r>
            <a:endParaRPr/>
          </a:p>
        </p:txBody>
      </p:sp>
      <p:sp>
        <p:nvSpPr>
          <p:cNvPr id="642" name="Google Shape;642;p8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p9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Pseudo-classes</a:t>
            </a:r>
            <a:endParaRPr/>
          </a:p>
        </p:txBody>
      </p:sp>
      <p:sp>
        <p:nvSpPr>
          <p:cNvPr id="648" name="Google Shape;648;p9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649" name="Google Shape;649;p9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 CSS pseudo-class is a keyword added to a selector that lets you select elements based on information that lies outside of the document tree, such as a specific state of the selected element(s).</a:t>
            </a:r>
            <a:endParaRPr/>
          </a:p>
          <a:p>
            <a:pPr indent="-317500" lvl="1" marL="914400" rtl="0" algn="l">
              <a:spcBef>
                <a:spcPts val="0"/>
              </a:spcBef>
              <a:spcAft>
                <a:spcPts val="0"/>
              </a:spcAft>
              <a:buSzPts val="1400"/>
              <a:buChar char="○"/>
            </a:pPr>
            <a:r>
              <a:rPr lang="en"/>
              <a:t>Pseudo-classes let you apply a style to an element not only in relation to the content of the document tree, but also in relation to external factors like the history of the navigator (:visited, for example), the status of its content (like :checked on certain form elements), or the position of the mouse (like :hover, which lets you know if the mouse is over an element or not).</a:t>
            </a:r>
            <a:endParaRPr/>
          </a:p>
          <a:p>
            <a:pPr indent="-317500" lvl="1" marL="914400" rtl="0" algn="l">
              <a:spcBef>
                <a:spcPts val="0"/>
              </a:spcBef>
              <a:spcAft>
                <a:spcPts val="0"/>
              </a:spcAft>
              <a:buSzPts val="1400"/>
              <a:buChar char="○"/>
            </a:pPr>
            <a:r>
              <a:rPr lang="en"/>
              <a:t>A pseudo-class consists of a colon (:) followed by the pseudo-class name (e.g., :hover).</a:t>
            </a:r>
            <a:endParaRPr/>
          </a:p>
          <a:p>
            <a:pPr indent="-342900" lvl="0" marL="457200" rtl="0" algn="l">
              <a:spcBef>
                <a:spcPts val="0"/>
              </a:spcBef>
              <a:spcAft>
                <a:spcPts val="0"/>
              </a:spcAft>
              <a:buSzPts val="1800"/>
              <a:buChar char="●"/>
            </a:pPr>
            <a:r>
              <a:rPr lang="en"/>
              <a:t>Check pseudo-class names at </a:t>
            </a:r>
            <a:r>
              <a:rPr lang="en" u="sng">
                <a:solidFill>
                  <a:schemeClr val="hlink"/>
                </a:solidFill>
                <a:hlinkClick r:id="rId3"/>
              </a:rPr>
              <a:t>https://developer.mozilla.org/en-US/docs/Web/CSS/Reference/Selectors/Pseudo-classes</a:t>
            </a:r>
            <a:r>
              <a:rPr lang="en"/>
              <a:t> </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Pseudo-elements</a:t>
            </a:r>
            <a:endParaRPr/>
          </a:p>
        </p:txBody>
      </p:sp>
      <p:sp>
        <p:nvSpPr>
          <p:cNvPr id="655" name="Google Shape;655;p9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656" name="Google Shape;656;p9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317183" lvl="0" marL="457200" rtl="0" algn="l">
              <a:spcBef>
                <a:spcPts val="0"/>
              </a:spcBef>
              <a:spcAft>
                <a:spcPts val="0"/>
              </a:spcAft>
              <a:buSzPct val="100000"/>
              <a:buChar char="●"/>
            </a:pPr>
            <a:r>
              <a:rPr lang="en"/>
              <a:t>A CSS pseudo-element is a keyword added to a selector that lets you style a specific part of the selected element(s).</a:t>
            </a:r>
            <a:endParaRPr/>
          </a:p>
          <a:p>
            <a:pPr indent="-317183" lvl="0" marL="457200" rtl="0" algn="l">
              <a:spcBef>
                <a:spcPts val="0"/>
              </a:spcBef>
              <a:spcAft>
                <a:spcPts val="0"/>
              </a:spcAft>
              <a:buSzPct val="100000"/>
              <a:buChar char="●"/>
            </a:pPr>
            <a:r>
              <a:rPr lang="en"/>
              <a:t>Syntax</a:t>
            </a:r>
            <a:endParaRPr/>
          </a:p>
          <a:p>
            <a:pPr indent="0" lvl="0" marL="457200" rtl="0" algn="l">
              <a:lnSpc>
                <a:spcPct val="100000"/>
              </a:lnSpc>
              <a:spcBef>
                <a:spcPts val="1000"/>
              </a:spcBef>
              <a:spcAft>
                <a:spcPts val="0"/>
              </a:spcAft>
              <a:buNone/>
            </a:pPr>
            <a:r>
              <a:rPr lang="en"/>
              <a:t>selector::pseudo-element {</a:t>
            </a:r>
            <a:endParaRPr/>
          </a:p>
          <a:p>
            <a:pPr indent="0" lvl="0" marL="457200" rtl="0" algn="l">
              <a:lnSpc>
                <a:spcPct val="100000"/>
              </a:lnSpc>
              <a:spcBef>
                <a:spcPts val="0"/>
              </a:spcBef>
              <a:spcAft>
                <a:spcPts val="0"/>
              </a:spcAft>
              <a:buNone/>
            </a:pPr>
            <a:r>
              <a:rPr lang="en"/>
              <a:t>  property: value;</a:t>
            </a:r>
            <a:endParaRPr/>
          </a:p>
          <a:p>
            <a:pPr indent="0" lvl="0" marL="457200" rtl="0" algn="l">
              <a:lnSpc>
                <a:spcPct val="100000"/>
              </a:lnSpc>
              <a:spcBef>
                <a:spcPts val="0"/>
              </a:spcBef>
              <a:spcAft>
                <a:spcPts val="0"/>
              </a:spcAft>
              <a:buNone/>
            </a:pPr>
            <a:r>
              <a:rPr lang="en"/>
              <a:t>}</a:t>
            </a:r>
            <a:endParaRPr/>
          </a:p>
          <a:p>
            <a:pPr indent="-317183" lvl="0" marL="457200" rtl="0" algn="l">
              <a:lnSpc>
                <a:spcPct val="100000"/>
              </a:lnSpc>
              <a:spcBef>
                <a:spcPts val="1000"/>
              </a:spcBef>
              <a:spcAft>
                <a:spcPts val="0"/>
              </a:spcAft>
              <a:buSzPct val="100000"/>
              <a:buChar char="●"/>
            </a:pPr>
            <a:r>
              <a:rPr lang="en"/>
              <a:t>For example, ::first-line can be used to change the font of the first line of a paragraph.</a:t>
            </a:r>
            <a:endParaRPr/>
          </a:p>
          <a:p>
            <a:pPr indent="0" lvl="0" marL="457200" rtl="0" algn="l">
              <a:lnSpc>
                <a:spcPct val="100000"/>
              </a:lnSpc>
              <a:spcBef>
                <a:spcPts val="1000"/>
              </a:spcBef>
              <a:spcAft>
                <a:spcPts val="0"/>
              </a:spcAft>
              <a:buNone/>
            </a:pPr>
            <a:r>
              <a:rPr lang="en"/>
              <a:t>/* The first line of every &lt;p&gt; element. */</a:t>
            </a:r>
            <a:endParaRPr/>
          </a:p>
          <a:p>
            <a:pPr indent="0" lvl="0" marL="457200" rtl="0" algn="l">
              <a:lnSpc>
                <a:spcPct val="100000"/>
              </a:lnSpc>
              <a:spcBef>
                <a:spcPts val="0"/>
              </a:spcBef>
              <a:spcAft>
                <a:spcPts val="0"/>
              </a:spcAft>
              <a:buNone/>
            </a:pPr>
            <a:r>
              <a:rPr lang="en"/>
              <a:t>p::first-line {</a:t>
            </a:r>
            <a:endParaRPr/>
          </a:p>
          <a:p>
            <a:pPr indent="0" lvl="0" marL="457200" rtl="0" algn="l">
              <a:lnSpc>
                <a:spcPct val="100000"/>
              </a:lnSpc>
              <a:spcBef>
                <a:spcPts val="0"/>
              </a:spcBef>
              <a:spcAft>
                <a:spcPts val="0"/>
              </a:spcAft>
              <a:buNone/>
            </a:pPr>
            <a:r>
              <a:rPr lang="en"/>
              <a:t>  color: blue;</a:t>
            </a:r>
            <a:endParaRPr/>
          </a:p>
          <a:p>
            <a:pPr indent="0" lvl="0" marL="457200" rtl="0" algn="l">
              <a:lnSpc>
                <a:spcPct val="100000"/>
              </a:lnSpc>
              <a:spcBef>
                <a:spcPts val="0"/>
              </a:spcBef>
              <a:spcAft>
                <a:spcPts val="0"/>
              </a:spcAft>
              <a:buNone/>
            </a:pPr>
            <a:r>
              <a:rPr lang="en"/>
              <a:t>  text-transform: uppercase;</a:t>
            </a:r>
            <a:endParaRPr/>
          </a:p>
          <a:p>
            <a:pPr indent="0" lvl="0" marL="457200" rtl="0" algn="l">
              <a:lnSpc>
                <a:spcPct val="100000"/>
              </a:lnSpc>
              <a:spcBef>
                <a:spcPts val="0"/>
              </a:spcBef>
              <a:spcAft>
                <a:spcPts val="0"/>
              </a:spcAft>
              <a:buNone/>
            </a:pPr>
            <a:r>
              <a:rPr lang="en"/>
              <a:t>}</a:t>
            </a:r>
            <a:endParaRPr/>
          </a:p>
          <a:p>
            <a:pPr indent="-317183" lvl="0" marL="457200" rtl="0" algn="l">
              <a:spcBef>
                <a:spcPts val="1000"/>
              </a:spcBef>
              <a:spcAft>
                <a:spcPts val="0"/>
              </a:spcAft>
              <a:buSzPct val="100000"/>
              <a:buChar char="●"/>
            </a:pPr>
            <a:r>
              <a:rPr lang="en"/>
              <a:t>Check pseudo-element names at </a:t>
            </a:r>
            <a:r>
              <a:rPr lang="en" u="sng">
                <a:solidFill>
                  <a:schemeClr val="hlink"/>
                </a:solidFill>
                <a:hlinkClick r:id="rId3"/>
              </a:rPr>
              <a:t>https://developer.mozilla.org/en-US/docs/Web/CSS/Reference/Selectors/Pseudo-elements</a:t>
            </a:r>
            <a:r>
              <a:rPr lang="en"/>
              <a:t> </a:t>
            </a:r>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0" name="Shape 660"/>
        <p:cNvGrpSpPr/>
        <p:nvPr/>
      </p:nvGrpSpPr>
      <p:grpSpPr>
        <a:xfrm>
          <a:off x="0" y="0"/>
          <a:ext cx="0" cy="0"/>
          <a:chOff x="0" y="0"/>
          <a:chExt cx="0" cy="0"/>
        </a:xfrm>
      </p:grpSpPr>
      <p:sp>
        <p:nvSpPr>
          <p:cNvPr id="661" name="Google Shape;661;p92"/>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Layout Design </a:t>
            </a:r>
            <a:endParaRPr/>
          </a:p>
        </p:txBody>
      </p:sp>
      <p:sp>
        <p:nvSpPr>
          <p:cNvPr id="662" name="Google Shape;662;p9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6" name="Shape 666"/>
        <p:cNvGrpSpPr/>
        <p:nvPr/>
      </p:nvGrpSpPr>
      <p:grpSpPr>
        <a:xfrm>
          <a:off x="0" y="0"/>
          <a:ext cx="0" cy="0"/>
          <a:chOff x="0" y="0"/>
          <a:chExt cx="0" cy="0"/>
        </a:xfrm>
      </p:grpSpPr>
      <p:sp>
        <p:nvSpPr>
          <p:cNvPr id="667" name="Google Shape;667;p9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Flow Layout</a:t>
            </a:r>
            <a:endParaRPr/>
          </a:p>
        </p:txBody>
      </p:sp>
      <p:sp>
        <p:nvSpPr>
          <p:cNvPr id="668" name="Google Shape;668;p9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669" name="Google Shape;669;p9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Normal Flow, or Flow Layout, is the way that block and inline elements are displayed on a page before any changes are made to their layout.</a:t>
            </a:r>
            <a:endParaRPr/>
          </a:p>
          <a:p>
            <a:pPr indent="-342900" lvl="0" marL="457200" rtl="0" algn="l">
              <a:spcBef>
                <a:spcPts val="0"/>
              </a:spcBef>
              <a:spcAft>
                <a:spcPts val="0"/>
              </a:spcAft>
              <a:buSzPts val="1800"/>
              <a:buChar char="●"/>
            </a:pPr>
            <a:r>
              <a:rPr lang="en"/>
              <a:t>Once something is taken out of flow it works independently.</a:t>
            </a:r>
            <a:endParaRPr/>
          </a:p>
          <a:p>
            <a:pPr indent="-342900" lvl="0" marL="457200" rtl="0" algn="l">
              <a:spcBef>
                <a:spcPts val="0"/>
              </a:spcBef>
              <a:spcAft>
                <a:spcPts val="0"/>
              </a:spcAft>
              <a:buSzPts val="1800"/>
              <a:buChar char="●"/>
            </a:pPr>
            <a:r>
              <a:rPr lang="en" u="sng">
                <a:solidFill>
                  <a:schemeClr val="hlink"/>
                </a:solidFill>
                <a:hlinkClick action="ppaction://hlinksldjump" r:id="rId3"/>
              </a:rPr>
              <a:t>Flow layout and writing mode</a:t>
            </a:r>
            <a:r>
              <a:rPr lang="en"/>
              <a:t>.</a:t>
            </a:r>
            <a:endParaRPr/>
          </a:p>
          <a:p>
            <a:pPr indent="-342900" lvl="0" marL="457200" rtl="0" algn="l">
              <a:spcBef>
                <a:spcPts val="0"/>
              </a:spcBef>
              <a:spcAft>
                <a:spcPts val="0"/>
              </a:spcAft>
              <a:buSzPts val="1800"/>
              <a:buChar char="●"/>
            </a:pPr>
            <a:r>
              <a:rPr lang="en"/>
              <a:t>In and out of flow by example: </a:t>
            </a:r>
            <a:endParaRPr/>
          </a:p>
          <a:p>
            <a:pPr indent="-317500" lvl="1" marL="914400" rtl="0" algn="l">
              <a:spcBef>
                <a:spcPts val="0"/>
              </a:spcBef>
              <a:spcAft>
                <a:spcPts val="0"/>
              </a:spcAft>
              <a:buSzPts val="1400"/>
              <a:buChar char="○"/>
            </a:pPr>
            <a:r>
              <a:rPr lang="en" u="sng">
                <a:solidFill>
                  <a:schemeClr val="hlink"/>
                </a:solidFill>
                <a:hlinkClick r:id="rId4"/>
              </a:rPr>
              <a:t>https://developer.mozilla.org/en-US/docs/Web/CSS/Guides/Display/In_flow_and_out_of_flow</a:t>
            </a:r>
            <a:r>
              <a:rPr lang="en"/>
              <a:t> </a:t>
            </a:r>
            <a:endParaRPr/>
          </a:p>
          <a:p>
            <a:pPr indent="-342900" lvl="0" marL="457200" rtl="0" algn="l">
              <a:spcBef>
                <a:spcPts val="0"/>
              </a:spcBef>
              <a:spcAft>
                <a:spcPts val="0"/>
              </a:spcAft>
              <a:buSzPts val="1800"/>
              <a:buChar char="●"/>
            </a:pPr>
            <a:r>
              <a:rPr lang="en" u="sng">
                <a:solidFill>
                  <a:schemeClr val="hlink"/>
                </a:solidFill>
                <a:hlinkClick action="ppaction://hlinksldjump" r:id="rId5"/>
              </a:rPr>
              <a:t>Box Model ─ float property</a:t>
            </a:r>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3" name="Shape 673"/>
        <p:cNvGrpSpPr/>
        <p:nvPr/>
      </p:nvGrpSpPr>
      <p:grpSpPr>
        <a:xfrm>
          <a:off x="0" y="0"/>
          <a:ext cx="0" cy="0"/>
          <a:chOff x="0" y="0"/>
          <a:chExt cx="0" cy="0"/>
        </a:xfrm>
      </p:grpSpPr>
      <p:sp>
        <p:nvSpPr>
          <p:cNvPr id="674" name="Google Shape;674;p9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t>
            </a:r>
            <a:r>
              <a:rPr lang="en"/>
              <a:t>ulti-Column Layouts</a:t>
            </a:r>
            <a:endParaRPr/>
          </a:p>
        </p:txBody>
      </p:sp>
      <p:sp>
        <p:nvSpPr>
          <p:cNvPr id="675" name="Google Shape;675;p9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10000"/>
          </a:bodyPr>
          <a:lstStyle/>
          <a:p>
            <a:pPr indent="-325755" lvl="0" marL="457200" rtl="0" algn="l">
              <a:spcBef>
                <a:spcPts val="0"/>
              </a:spcBef>
              <a:spcAft>
                <a:spcPts val="0"/>
              </a:spcAft>
              <a:buSzPct val="100000"/>
              <a:buChar char="●"/>
            </a:pPr>
            <a:r>
              <a:rPr lang="en"/>
              <a:t>Multi-column layout, usually referred to as multicol layout, is a specification for laying out content into a set of column boxes much like columns in a newspaper.</a:t>
            </a:r>
            <a:endParaRPr/>
          </a:p>
          <a:p>
            <a:pPr indent="-304165" lvl="1" marL="914400" rtl="0" algn="l">
              <a:spcBef>
                <a:spcPts val="0"/>
              </a:spcBef>
              <a:spcAft>
                <a:spcPts val="0"/>
              </a:spcAft>
              <a:buSzPct val="100000"/>
              <a:buChar char="○"/>
            </a:pPr>
            <a:r>
              <a:rPr lang="en"/>
              <a:t>It fragments the content, including all descendant elements, into columns.</a:t>
            </a:r>
            <a:endParaRPr/>
          </a:p>
          <a:p>
            <a:pPr indent="-325755" lvl="0" marL="457200" rtl="0" algn="l">
              <a:spcBef>
                <a:spcPts val="0"/>
              </a:spcBef>
              <a:spcAft>
                <a:spcPts val="0"/>
              </a:spcAft>
              <a:buSzPct val="100000"/>
              <a:buChar char="●"/>
            </a:pPr>
            <a:r>
              <a:rPr lang="en"/>
              <a:t>Column-count property</a:t>
            </a:r>
            <a:endParaRPr/>
          </a:p>
          <a:p>
            <a:pPr indent="-304165" lvl="1" marL="914400" rtl="0" algn="l">
              <a:spcBef>
                <a:spcPts val="0"/>
              </a:spcBef>
              <a:spcAft>
                <a:spcPts val="0"/>
              </a:spcAft>
              <a:buSzPct val="100000"/>
              <a:buChar char="○"/>
            </a:pPr>
            <a:r>
              <a:rPr lang="en"/>
              <a:t>Specifies the number of columns that you would like the content to be displayed as.</a:t>
            </a:r>
            <a:endParaRPr/>
          </a:p>
          <a:p>
            <a:pPr indent="-325755" lvl="0" marL="457200" rtl="0" algn="l">
              <a:spcBef>
                <a:spcPts val="0"/>
              </a:spcBef>
              <a:spcAft>
                <a:spcPts val="0"/>
              </a:spcAft>
              <a:buSzPct val="100000"/>
              <a:buChar char="●"/>
            </a:pPr>
            <a:r>
              <a:rPr lang="en"/>
              <a:t>Column-width property</a:t>
            </a:r>
            <a:endParaRPr/>
          </a:p>
          <a:p>
            <a:pPr indent="-304165" lvl="1" marL="914400" rtl="0" algn="l">
              <a:spcBef>
                <a:spcPts val="0"/>
              </a:spcBef>
              <a:spcAft>
                <a:spcPts val="0"/>
              </a:spcAft>
              <a:buSzPct val="100000"/>
              <a:buChar char="○"/>
            </a:pPr>
            <a:r>
              <a:rPr lang="en"/>
              <a:t>Sets the optimal width for every column box.</a:t>
            </a:r>
            <a:endParaRPr/>
          </a:p>
          <a:p>
            <a:pPr indent="-304165" lvl="1" marL="914400" rtl="0" algn="l">
              <a:spcBef>
                <a:spcPts val="0"/>
              </a:spcBef>
              <a:spcAft>
                <a:spcPts val="0"/>
              </a:spcAft>
              <a:buSzPct val="100000"/>
              <a:buChar char="○"/>
            </a:pPr>
            <a:r>
              <a:rPr lang="en"/>
              <a:t>Browsers work out how many columns of that width will fit into the multicol container and distribute any extra space equally between the columns.</a:t>
            </a:r>
            <a:endParaRPr/>
          </a:p>
          <a:p>
            <a:pPr indent="-325755" lvl="0" marL="457200" rtl="0" algn="l">
              <a:spcBef>
                <a:spcPts val="0"/>
              </a:spcBef>
              <a:spcAft>
                <a:spcPts val="0"/>
              </a:spcAft>
              <a:buSzPct val="100000"/>
              <a:buChar char="●"/>
            </a:pPr>
            <a:r>
              <a:rPr lang="en"/>
              <a:t>Specifying both number and width of columns</a:t>
            </a:r>
            <a:endParaRPr/>
          </a:p>
          <a:p>
            <a:pPr indent="-304165" lvl="1" marL="914400" rtl="0" algn="l">
              <a:spcBef>
                <a:spcPts val="0"/>
              </a:spcBef>
              <a:spcAft>
                <a:spcPts val="0"/>
              </a:spcAft>
              <a:buSzPct val="100000"/>
              <a:buChar char="○"/>
            </a:pPr>
            <a:r>
              <a:rPr lang="en"/>
              <a:t>The behavior as described for column-width will happen, until the number of columns in column-count is reached.</a:t>
            </a:r>
            <a:endParaRPr/>
          </a:p>
          <a:p>
            <a:pPr indent="-325755" lvl="0" marL="457200" rtl="0" algn="l">
              <a:spcBef>
                <a:spcPts val="0"/>
              </a:spcBef>
              <a:spcAft>
                <a:spcPts val="0"/>
              </a:spcAft>
              <a:buSzPct val="100000"/>
              <a:buChar char="●"/>
            </a:pPr>
            <a:r>
              <a:rPr lang="en"/>
              <a:t>Columns property</a:t>
            </a:r>
            <a:endParaRPr/>
          </a:p>
          <a:p>
            <a:pPr indent="-304165" lvl="1" marL="914400" rtl="0" algn="l">
              <a:spcBef>
                <a:spcPts val="0"/>
              </a:spcBef>
              <a:spcAft>
                <a:spcPts val="0"/>
              </a:spcAft>
              <a:buSzPct val="100000"/>
              <a:buChar char="○"/>
            </a:pPr>
            <a:r>
              <a:rPr lang="en"/>
              <a:t>You can use the columns shorthand to set the column-count and column-width values.</a:t>
            </a:r>
            <a:endParaRPr/>
          </a:p>
          <a:p>
            <a:pPr indent="-325755" lvl="0" marL="457200" rtl="0" algn="l">
              <a:spcBef>
                <a:spcPts val="0"/>
              </a:spcBef>
              <a:spcAft>
                <a:spcPts val="0"/>
              </a:spcAft>
              <a:buSzPct val="100000"/>
              <a:buChar char="●"/>
            </a:pPr>
            <a:r>
              <a:rPr lang="en"/>
              <a:t>Check more properties at</a:t>
            </a:r>
            <a:endParaRPr/>
          </a:p>
          <a:p>
            <a:pPr indent="-304165" lvl="1" marL="914400" rtl="0" algn="l">
              <a:spcBef>
                <a:spcPts val="0"/>
              </a:spcBef>
              <a:spcAft>
                <a:spcPts val="0"/>
              </a:spcAft>
              <a:buSzPct val="100000"/>
              <a:buChar char="○"/>
            </a:pPr>
            <a:r>
              <a:rPr lang="en" u="sng">
                <a:solidFill>
                  <a:schemeClr val="hlink"/>
                </a:solidFill>
                <a:hlinkClick r:id="rId3"/>
              </a:rPr>
              <a:t>https://developer.mozilla.org/en-US/docs/Web/CSS/Guides/Multicol_layout/Basic_concepts</a:t>
            </a:r>
            <a:r>
              <a:rPr lang="en"/>
              <a:t> </a:t>
            </a:r>
            <a:endParaRPr/>
          </a:p>
        </p:txBody>
      </p:sp>
      <p:sp>
        <p:nvSpPr>
          <p:cNvPr id="676" name="Google Shape;676;p9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0" name="Shape 680"/>
        <p:cNvGrpSpPr/>
        <p:nvPr/>
      </p:nvGrpSpPr>
      <p:grpSpPr>
        <a:xfrm>
          <a:off x="0" y="0"/>
          <a:ext cx="0" cy="0"/>
          <a:chOff x="0" y="0"/>
          <a:chExt cx="0" cy="0"/>
        </a:xfrm>
      </p:grpSpPr>
      <p:sp>
        <p:nvSpPr>
          <p:cNvPr id="681" name="Google Shape;681;p9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Multi-Column Layout</a:t>
            </a:r>
            <a:endParaRPr/>
          </a:p>
        </p:txBody>
      </p:sp>
      <p:sp>
        <p:nvSpPr>
          <p:cNvPr id="682" name="Google Shape;682;p9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683" name="Google Shape;683;p95"/>
          <p:cNvPicPr preferRelativeResize="0"/>
          <p:nvPr/>
        </p:nvPicPr>
        <p:blipFill>
          <a:blip r:embed="rId3">
            <a:alphaModFix/>
          </a:blip>
          <a:stretch>
            <a:fillRect/>
          </a:stretch>
        </p:blipFill>
        <p:spPr>
          <a:xfrm>
            <a:off x="275075" y="1395550"/>
            <a:ext cx="3615400" cy="3293200"/>
          </a:xfrm>
          <a:prstGeom prst="rect">
            <a:avLst/>
          </a:prstGeom>
          <a:noFill/>
          <a:ln cap="flat" cmpd="sng" w="9525">
            <a:solidFill>
              <a:schemeClr val="dk2"/>
            </a:solidFill>
            <a:prstDash val="solid"/>
            <a:round/>
            <a:headEnd len="sm" w="sm" type="none"/>
            <a:tailEnd len="sm" w="sm" type="none"/>
          </a:ln>
        </p:spPr>
      </p:pic>
      <p:sp>
        <p:nvSpPr>
          <p:cNvPr id="684" name="Google Shape;684;p95"/>
          <p:cNvSpPr txBox="1"/>
          <p:nvPr/>
        </p:nvSpPr>
        <p:spPr>
          <a:xfrm>
            <a:off x="4388300" y="1225800"/>
            <a:ext cx="4109700" cy="3632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h2</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column-span</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all</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rgbClr val="008000"/>
                </a:solidFill>
                <a:highlight>
                  <a:srgbClr val="FFFFFF"/>
                </a:highlight>
                <a:latin typeface="Courier New"/>
                <a:ea typeface="Courier New"/>
                <a:cs typeface="Courier New"/>
                <a:sym typeface="Courier New"/>
              </a:rPr>
              <a:t>/* Example using column-count */</a:t>
            </a:r>
            <a:endParaRPr>
              <a:solidFill>
                <a:srgbClr val="008000"/>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.count-example</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column-count</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3</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column-gap</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1.25rem</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rgbClr val="008000"/>
                </a:solidFill>
                <a:highlight>
                  <a:srgbClr val="FFFFFF"/>
                </a:highlight>
                <a:latin typeface="Courier New"/>
                <a:ea typeface="Courier New"/>
                <a:cs typeface="Courier New"/>
                <a:sym typeface="Courier New"/>
              </a:rPr>
              <a:t>/* Example using column-width */</a:t>
            </a:r>
            <a:endParaRPr>
              <a:solidFill>
                <a:srgbClr val="008000"/>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rgbClr val="800000"/>
                </a:solidFill>
                <a:highlight>
                  <a:srgbClr val="FFFFFF"/>
                </a:highlight>
                <a:latin typeface="Courier New"/>
                <a:ea typeface="Courier New"/>
                <a:cs typeface="Courier New"/>
                <a:sym typeface="Courier New"/>
              </a:rPr>
              <a:t>.width-example</a:t>
            </a:r>
            <a:r>
              <a:rPr lang="en">
                <a:solidFill>
                  <a:schemeClr val="dk2"/>
                </a:solidFill>
                <a:highlight>
                  <a:srgbClr val="FFFFFF"/>
                </a:highlight>
                <a:latin typeface="Courier New"/>
                <a:ea typeface="Courier New"/>
                <a:cs typeface="Courier New"/>
                <a:sym typeface="Courier New"/>
              </a:rPr>
              <a:t> {</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column-width</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220px</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column-gap</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1rem</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   </a:t>
            </a:r>
            <a:r>
              <a:rPr lang="en">
                <a:solidFill>
                  <a:srgbClr val="E50000"/>
                </a:solidFill>
                <a:highlight>
                  <a:srgbClr val="FFFFFF"/>
                </a:highlight>
                <a:latin typeface="Courier New"/>
                <a:ea typeface="Courier New"/>
                <a:cs typeface="Courier New"/>
                <a:sym typeface="Courier New"/>
              </a:rPr>
              <a:t>column-rule</a:t>
            </a:r>
            <a:r>
              <a:rPr lang="en">
                <a:solidFill>
                  <a:schemeClr val="dk2"/>
                </a:solidFill>
                <a:highlight>
                  <a:srgbClr val="FFFFFF"/>
                </a:highlight>
                <a:latin typeface="Courier New"/>
                <a:ea typeface="Courier New"/>
                <a:cs typeface="Courier New"/>
                <a:sym typeface="Courier New"/>
              </a:rPr>
              <a:t>: </a:t>
            </a:r>
            <a:r>
              <a:rPr lang="en">
                <a:solidFill>
                  <a:srgbClr val="098658"/>
                </a:solidFill>
                <a:highlight>
                  <a:srgbClr val="FFFFFF"/>
                </a:highlight>
                <a:latin typeface="Courier New"/>
                <a:ea typeface="Courier New"/>
                <a:cs typeface="Courier New"/>
                <a:sym typeface="Courier New"/>
              </a:rPr>
              <a:t>5px</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dashed</a:t>
            </a:r>
            <a:r>
              <a:rPr lang="en">
                <a:solidFill>
                  <a:schemeClr val="dk2"/>
                </a:solidFill>
                <a:highlight>
                  <a:srgbClr val="FFFFFF"/>
                </a:highlight>
                <a:latin typeface="Courier New"/>
                <a:ea typeface="Courier New"/>
                <a:cs typeface="Courier New"/>
                <a:sym typeface="Courier New"/>
              </a:rPr>
              <a:t> </a:t>
            </a:r>
            <a:r>
              <a:rPr lang="en">
                <a:solidFill>
                  <a:srgbClr val="0451A5"/>
                </a:solidFill>
                <a:highlight>
                  <a:srgbClr val="FFFFFF"/>
                </a:highlight>
                <a:latin typeface="Courier New"/>
                <a:ea typeface="Courier New"/>
                <a:cs typeface="Courier New"/>
                <a:sym typeface="Courier New"/>
              </a:rPr>
              <a:t>#ccc</a:t>
            </a: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a:p>
            <a:pPr indent="0" lvl="0" marL="0" rtl="0" algn="l">
              <a:lnSpc>
                <a:spcPct val="100000"/>
              </a:lnSpc>
              <a:spcBef>
                <a:spcPts val="0"/>
              </a:spcBef>
              <a:spcAft>
                <a:spcPts val="0"/>
              </a:spcAft>
              <a:buNone/>
            </a:pPr>
            <a:r>
              <a:rPr lang="en">
                <a:solidFill>
                  <a:schemeClr val="dk2"/>
                </a:solidFill>
                <a:highlight>
                  <a:srgbClr val="FFFFFF"/>
                </a:highlight>
                <a:latin typeface="Courier New"/>
                <a:ea typeface="Courier New"/>
                <a:cs typeface="Courier New"/>
                <a:sym typeface="Courier New"/>
              </a:rPr>
              <a:t>}</a:t>
            </a:r>
            <a:endParaRPr>
              <a:solidFill>
                <a:schemeClr val="dk2"/>
              </a:solidFill>
              <a:highlight>
                <a:srgbClr val="FFFFFF"/>
              </a:highlight>
              <a:latin typeface="Courier New"/>
              <a:ea typeface="Courier New"/>
              <a:cs typeface="Courier New"/>
              <a:sym typeface="Courier New"/>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8" name="Shape 688"/>
        <p:cNvGrpSpPr/>
        <p:nvPr/>
      </p:nvGrpSpPr>
      <p:grpSpPr>
        <a:xfrm>
          <a:off x="0" y="0"/>
          <a:ext cx="0" cy="0"/>
          <a:chOff x="0" y="0"/>
          <a:chExt cx="0" cy="0"/>
        </a:xfrm>
      </p:grpSpPr>
      <p:sp>
        <p:nvSpPr>
          <p:cNvPr id="689" name="Google Shape;689;p9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Example of Multi-Column Layout (Cont.)</a:t>
            </a:r>
            <a:endParaRPr/>
          </a:p>
        </p:txBody>
      </p:sp>
      <p:sp>
        <p:nvSpPr>
          <p:cNvPr id="690" name="Google Shape;690;p9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691" name="Google Shape;691;p96"/>
          <p:cNvPicPr preferRelativeResize="0"/>
          <p:nvPr/>
        </p:nvPicPr>
        <p:blipFill>
          <a:blip r:embed="rId3">
            <a:alphaModFix/>
          </a:blip>
          <a:stretch>
            <a:fillRect/>
          </a:stretch>
        </p:blipFill>
        <p:spPr>
          <a:xfrm>
            <a:off x="390425" y="1492700"/>
            <a:ext cx="8107573" cy="221710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9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Layout</a:t>
            </a:r>
            <a:endParaRPr/>
          </a:p>
        </p:txBody>
      </p:sp>
      <p:sp>
        <p:nvSpPr>
          <p:cNvPr id="697" name="Google Shape;697;p9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698" name="Google Shape;698;p9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Flexbox is a one-dimensional layout method for arranging items in rows or columns.</a:t>
            </a:r>
            <a:endParaRPr/>
          </a:p>
          <a:p>
            <a:pPr indent="-317500" lvl="1" marL="914400" rtl="0" algn="l">
              <a:spcBef>
                <a:spcPts val="0"/>
              </a:spcBef>
              <a:spcAft>
                <a:spcPts val="0"/>
              </a:spcAft>
              <a:buSzPts val="1400"/>
              <a:buChar char="○"/>
            </a:pPr>
            <a:r>
              <a:rPr lang="en"/>
              <a:t>Items flex (expand) to fill additional space or shrink to fit into smaller spaces.</a:t>
            </a:r>
            <a:endParaRPr/>
          </a:p>
          <a:p>
            <a:pPr indent="-342900" lvl="0" marL="457200" rtl="0" algn="l">
              <a:spcBef>
                <a:spcPts val="0"/>
              </a:spcBef>
              <a:spcAft>
                <a:spcPts val="0"/>
              </a:spcAft>
              <a:buSzPts val="1800"/>
              <a:buChar char="●"/>
            </a:pPr>
            <a:r>
              <a:rPr lang="en"/>
              <a:t>Flex Container</a:t>
            </a:r>
            <a:endParaRPr/>
          </a:p>
          <a:p>
            <a:pPr indent="-317500" lvl="1" marL="914400" rtl="0" algn="l">
              <a:spcBef>
                <a:spcPts val="0"/>
              </a:spcBef>
              <a:spcAft>
                <a:spcPts val="0"/>
              </a:spcAft>
              <a:buSzPts val="1400"/>
              <a:buChar char="○"/>
            </a:pPr>
            <a:r>
              <a:rPr lang="en"/>
              <a:t>Adding a </a:t>
            </a:r>
            <a:r>
              <a:rPr lang="en" u="sng">
                <a:solidFill>
                  <a:schemeClr val="hlink"/>
                </a:solidFill>
                <a:hlinkClick action="ppaction://hlinksldjump" r:id="rId3"/>
              </a:rPr>
              <a:t>display value of flex</a:t>
            </a:r>
            <a:r>
              <a:rPr lang="en"/>
              <a:t> to an element makes it a flex container.</a:t>
            </a:r>
            <a:endParaRPr/>
          </a:p>
          <a:p>
            <a:pPr indent="-342900" lvl="0" marL="457200" rtl="0" algn="l">
              <a:spcBef>
                <a:spcPts val="0"/>
              </a:spcBef>
              <a:spcAft>
                <a:spcPts val="0"/>
              </a:spcAft>
              <a:buSzPts val="1800"/>
              <a:buChar char="●"/>
            </a:pPr>
            <a:r>
              <a:rPr lang="en"/>
              <a:t>Flex Item</a:t>
            </a:r>
            <a:endParaRPr/>
          </a:p>
          <a:p>
            <a:pPr indent="-317500" lvl="1" marL="914400" rtl="0" algn="l">
              <a:spcBef>
                <a:spcPts val="0"/>
              </a:spcBef>
              <a:spcAft>
                <a:spcPts val="0"/>
              </a:spcAft>
              <a:buSzPts val="1400"/>
              <a:buChar char="○"/>
            </a:pPr>
            <a:r>
              <a:rPr lang="en"/>
              <a:t>When the element is converted to a flex container, its children are converted to (and laid out as) flex items.</a:t>
            </a:r>
            <a:endParaRPr/>
          </a:p>
        </p:txBody>
      </p:sp>
      <p:pic>
        <p:nvPicPr>
          <p:cNvPr id="699" name="Google Shape;699;p97"/>
          <p:cNvPicPr preferRelativeResize="0"/>
          <p:nvPr/>
        </p:nvPicPr>
        <p:blipFill>
          <a:blip r:embed="rId4">
            <a:alphaModFix/>
          </a:blip>
          <a:stretch>
            <a:fillRect/>
          </a:stretch>
        </p:blipFill>
        <p:spPr>
          <a:xfrm>
            <a:off x="2486471" y="3519575"/>
            <a:ext cx="3067050" cy="1276350"/>
          </a:xfrm>
          <a:prstGeom prst="rect">
            <a:avLst/>
          </a:prstGeom>
          <a:noFill/>
          <a:ln>
            <a:noFill/>
          </a:ln>
        </p:spPr>
      </p:pic>
      <p:pic>
        <p:nvPicPr>
          <p:cNvPr id="700" name="Google Shape;700;p97"/>
          <p:cNvPicPr preferRelativeResize="0"/>
          <p:nvPr/>
        </p:nvPicPr>
        <p:blipFill>
          <a:blip r:embed="rId5">
            <a:alphaModFix/>
          </a:blip>
          <a:stretch>
            <a:fillRect/>
          </a:stretch>
        </p:blipFill>
        <p:spPr>
          <a:xfrm>
            <a:off x="5641246" y="3379000"/>
            <a:ext cx="3067050" cy="1371600"/>
          </a:xfrm>
          <a:prstGeom prst="rect">
            <a:avLst/>
          </a:prstGeom>
          <a:noFill/>
          <a:ln>
            <a:noFill/>
          </a:ln>
        </p:spPr>
      </p:pic>
      <p:sp>
        <p:nvSpPr>
          <p:cNvPr id="701" name="Google Shape;701;p97"/>
          <p:cNvSpPr txBox="1"/>
          <p:nvPr/>
        </p:nvSpPr>
        <p:spPr>
          <a:xfrm>
            <a:off x="330846" y="3900074"/>
            <a:ext cx="2067900" cy="7389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latin typeface="Courier New"/>
                <a:ea typeface="Courier New"/>
                <a:cs typeface="Courier New"/>
                <a:sym typeface="Courier New"/>
              </a:rPr>
              <a:t>section {</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  display: flex;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702" name="Google Shape;702;p97"/>
          <p:cNvSpPr txBox="1"/>
          <p:nvPr/>
        </p:nvSpPr>
        <p:spPr>
          <a:xfrm>
            <a:off x="2537500" y="4652925"/>
            <a:ext cx="61197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t>Source: Coyier, C. (2026, May 28). </a:t>
            </a:r>
            <a:r>
              <a:rPr i="1" lang="en" sz="1000"/>
              <a:t>A Complete CSS Flexbox Layout Guide</a:t>
            </a:r>
            <a:r>
              <a:rPr lang="en" sz="1000"/>
              <a:t>. </a:t>
            </a:r>
            <a:r>
              <a:rPr lang="en" sz="1000" u="sng">
                <a:solidFill>
                  <a:schemeClr val="hlink"/>
                </a:solidFill>
                <a:hlinkClick r:id="rId6"/>
              </a:rPr>
              <a:t>https://css-tricks.com/snippets/css/a-guide-to-flexbox/</a:t>
            </a:r>
            <a:r>
              <a:rPr lang="en" sz="1000"/>
              <a:t> </a:t>
            </a:r>
            <a:endParaRPr sz="1000"/>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6" name="Shape 706"/>
        <p:cNvGrpSpPr/>
        <p:nvPr/>
      </p:nvGrpSpPr>
      <p:grpSpPr>
        <a:xfrm>
          <a:off x="0" y="0"/>
          <a:ext cx="0" cy="0"/>
          <a:chOff x="0" y="0"/>
          <a:chExt cx="0" cy="0"/>
        </a:xfrm>
      </p:grpSpPr>
      <p:sp>
        <p:nvSpPr>
          <p:cNvPr id="707" name="Google Shape;707;p9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Model</a:t>
            </a:r>
            <a:endParaRPr/>
          </a:p>
        </p:txBody>
      </p:sp>
      <p:sp>
        <p:nvSpPr>
          <p:cNvPr id="708" name="Google Shape;708;p9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709" name="Google Shape;709;p98"/>
          <p:cNvPicPr preferRelativeResize="0"/>
          <p:nvPr/>
        </p:nvPicPr>
        <p:blipFill>
          <a:blip r:embed="rId3">
            <a:alphaModFix/>
          </a:blip>
          <a:stretch>
            <a:fillRect/>
          </a:stretch>
        </p:blipFill>
        <p:spPr>
          <a:xfrm>
            <a:off x="3525329" y="2117925"/>
            <a:ext cx="4188580" cy="2535000"/>
          </a:xfrm>
          <a:prstGeom prst="rect">
            <a:avLst/>
          </a:prstGeom>
          <a:noFill/>
          <a:ln>
            <a:noFill/>
          </a:ln>
        </p:spPr>
      </p:pic>
      <p:sp>
        <p:nvSpPr>
          <p:cNvPr id="710" name="Google Shape;710;p98"/>
          <p:cNvSpPr txBox="1"/>
          <p:nvPr>
            <p:ph idx="1" type="body"/>
          </p:nvPr>
        </p:nvSpPr>
        <p:spPr>
          <a:xfrm>
            <a:off x="311700" y="1152475"/>
            <a:ext cx="8520600" cy="2052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Flexbox provides a property called flex-direction that specifies which direction the main axis runs (which direction the flexbox children are laid out in).</a:t>
            </a:r>
            <a:endParaRPr/>
          </a:p>
          <a:p>
            <a:pPr indent="-342900" lvl="0" marL="457200" rtl="0" algn="l">
              <a:spcBef>
                <a:spcPts val="0"/>
              </a:spcBef>
              <a:spcAft>
                <a:spcPts val="0"/>
              </a:spcAft>
              <a:buSzPts val="1800"/>
              <a:buChar char="●"/>
            </a:pPr>
            <a:r>
              <a:rPr lang="en"/>
              <a:t>By default this is set to row. Other options: column, row-reverse, column-reverse.</a:t>
            </a:r>
            <a:endParaRPr/>
          </a:p>
        </p:txBody>
      </p:sp>
      <p:sp>
        <p:nvSpPr>
          <p:cNvPr id="711" name="Google Shape;711;p98"/>
          <p:cNvSpPr txBox="1"/>
          <p:nvPr/>
        </p:nvSpPr>
        <p:spPr>
          <a:xfrm>
            <a:off x="403079" y="3268375"/>
            <a:ext cx="3000000" cy="3693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latin typeface="Courier New"/>
                <a:ea typeface="Courier New"/>
                <a:cs typeface="Courier New"/>
                <a:sym typeface="Courier New"/>
              </a:rPr>
              <a:t>flex-direction: column;</a:t>
            </a:r>
            <a:endParaRPr/>
          </a:p>
        </p:txBody>
      </p:sp>
      <p:sp>
        <p:nvSpPr>
          <p:cNvPr id="712" name="Google Shape;712;p98"/>
          <p:cNvSpPr txBox="1"/>
          <p:nvPr/>
        </p:nvSpPr>
        <p:spPr>
          <a:xfrm>
            <a:off x="3431263" y="4618651"/>
            <a:ext cx="61197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t>Source: MDN. (2026). </a:t>
            </a:r>
            <a:r>
              <a:rPr i="1" lang="en" sz="1000"/>
              <a:t>Flexbox</a:t>
            </a:r>
            <a:r>
              <a:rPr lang="en" sz="1000"/>
              <a:t>. </a:t>
            </a:r>
            <a:r>
              <a:rPr lang="en" sz="1000" u="sng">
                <a:solidFill>
                  <a:schemeClr val="hlink"/>
                </a:solidFill>
                <a:hlinkClick r:id="rId4"/>
              </a:rPr>
              <a:t>https://developer.mozilla.org/en-US/docs/Learn_web_development/Core/CSS_layout/Flexbox</a:t>
            </a:r>
            <a:r>
              <a:rPr lang="en" sz="1000"/>
              <a:t> </a:t>
            </a:r>
            <a:endParaRPr sz="1000"/>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9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Wrapping</a:t>
            </a:r>
            <a:endParaRPr/>
          </a:p>
        </p:txBody>
      </p:sp>
      <p:sp>
        <p:nvSpPr>
          <p:cNvPr id="718" name="Google Shape;718;p9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19" name="Google Shape;719;p9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W</a:t>
            </a:r>
            <a:r>
              <a:rPr lang="en"/>
              <a:t>hen you have a fixed width or height in your layout is that eventually your flexbox children will overflow their container, breaking the layout.</a:t>
            </a:r>
            <a:endParaRPr/>
          </a:p>
          <a:p>
            <a:pPr indent="-342900" lvl="0" marL="457200" rtl="0" algn="l">
              <a:spcBef>
                <a:spcPts val="0"/>
              </a:spcBef>
              <a:spcAft>
                <a:spcPts val="0"/>
              </a:spcAft>
              <a:buSzPts val="1800"/>
              <a:buChar char="●"/>
            </a:pPr>
            <a:r>
              <a:rPr lang="en"/>
              <a:t>By default, the browser tries to place all the flex items in a single row or column.</a:t>
            </a:r>
            <a:endParaRPr/>
          </a:p>
          <a:p>
            <a:pPr indent="-317500" lvl="1" marL="914400" rtl="0" algn="l">
              <a:spcBef>
                <a:spcPts val="0"/>
              </a:spcBef>
              <a:spcAft>
                <a:spcPts val="0"/>
              </a:spcAft>
              <a:buSzPts val="1400"/>
              <a:buChar char="○"/>
            </a:pPr>
            <a:r>
              <a:rPr lang="en"/>
              <a:t>Using {flex-wrap: wrap;} to force a line break among flex items.</a:t>
            </a:r>
            <a:endParaRPr/>
          </a:p>
          <a:p>
            <a:pPr indent="-342900" lvl="0" marL="457200" rtl="0" algn="l">
              <a:spcBef>
                <a:spcPts val="0"/>
              </a:spcBef>
              <a:spcAft>
                <a:spcPts val="0"/>
              </a:spcAft>
              <a:buSzPts val="1800"/>
              <a:buChar char="●"/>
            </a:pPr>
            <a:r>
              <a:rPr lang="en"/>
              <a:t>Flex-flow: a shorthand for flex-direction and flex-wrap.</a:t>
            </a:r>
            <a:endParaRPr/>
          </a:p>
          <a:p>
            <a:pPr indent="-317500" lvl="1" marL="914400" rtl="0" algn="l">
              <a:spcBef>
                <a:spcPts val="0"/>
              </a:spcBef>
              <a:spcAft>
                <a:spcPts val="0"/>
              </a:spcAft>
              <a:buSzPts val="1400"/>
              <a:buChar char="○"/>
            </a:pPr>
            <a:r>
              <a:rPr lang="en"/>
              <a:t>{flex-flow: row wrap;}</a:t>
            </a:r>
            <a:endParaRPr/>
          </a:p>
        </p:txBody>
      </p:sp>
      <p:pic>
        <p:nvPicPr>
          <p:cNvPr id="720" name="Google Shape;720;p99"/>
          <p:cNvPicPr preferRelativeResize="0"/>
          <p:nvPr/>
        </p:nvPicPr>
        <p:blipFill>
          <a:blip r:embed="rId3">
            <a:alphaModFix/>
          </a:blip>
          <a:stretch>
            <a:fillRect/>
          </a:stretch>
        </p:blipFill>
        <p:spPr>
          <a:xfrm>
            <a:off x="1111150" y="3048500"/>
            <a:ext cx="2749025" cy="956800"/>
          </a:xfrm>
          <a:prstGeom prst="rect">
            <a:avLst/>
          </a:prstGeom>
          <a:noFill/>
          <a:ln cap="flat" cmpd="sng" w="9525">
            <a:solidFill>
              <a:srgbClr val="FF9900"/>
            </a:solidFill>
            <a:prstDash val="solid"/>
            <a:round/>
            <a:headEnd len="sm" w="sm" type="none"/>
            <a:tailEnd len="sm" w="sm" type="none"/>
          </a:ln>
        </p:spPr>
      </p:pic>
      <p:pic>
        <p:nvPicPr>
          <p:cNvPr id="721" name="Google Shape;721;p99"/>
          <p:cNvPicPr preferRelativeResize="0"/>
          <p:nvPr/>
        </p:nvPicPr>
        <p:blipFill>
          <a:blip r:embed="rId4">
            <a:alphaModFix/>
          </a:blip>
          <a:stretch>
            <a:fillRect/>
          </a:stretch>
        </p:blipFill>
        <p:spPr>
          <a:xfrm>
            <a:off x="4865063" y="2958075"/>
            <a:ext cx="3283076" cy="1999700"/>
          </a:xfrm>
          <a:prstGeom prst="rect">
            <a:avLst/>
          </a:prstGeom>
          <a:noFill/>
          <a:ln cap="flat" cmpd="sng" w="9525">
            <a:solidFill>
              <a:srgbClr val="FF9900"/>
            </a:solidFill>
            <a:prstDash val="solid"/>
            <a:round/>
            <a:headEnd len="sm" w="sm" type="none"/>
            <a:tailEnd len="sm" w="sm" type="none"/>
          </a:ln>
        </p:spPr>
      </p:pic>
      <p:pic>
        <p:nvPicPr>
          <p:cNvPr id="722" name="Google Shape;722;p99"/>
          <p:cNvPicPr preferRelativeResize="0"/>
          <p:nvPr/>
        </p:nvPicPr>
        <p:blipFill>
          <a:blip r:embed="rId5">
            <a:alphaModFix/>
          </a:blip>
          <a:stretch>
            <a:fillRect/>
          </a:stretch>
        </p:blipFill>
        <p:spPr>
          <a:xfrm>
            <a:off x="1461739" y="4108800"/>
            <a:ext cx="2047850" cy="9034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p10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 justify-content Property</a:t>
            </a:r>
            <a:endParaRPr/>
          </a:p>
        </p:txBody>
      </p:sp>
      <p:sp>
        <p:nvSpPr>
          <p:cNvPr id="728" name="Google Shape;728;p10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graphicFrame>
        <p:nvGraphicFramePr>
          <p:cNvPr id="729" name="Google Shape;729;p100"/>
          <p:cNvGraphicFramePr/>
          <p:nvPr/>
        </p:nvGraphicFramePr>
        <p:xfrm>
          <a:off x="611400" y="2277375"/>
          <a:ext cx="3000000" cy="3000000"/>
        </p:xfrm>
        <a:graphic>
          <a:graphicData uri="http://schemas.openxmlformats.org/drawingml/2006/table">
            <a:tbl>
              <a:tblPr>
                <a:noFill/>
                <a:tableStyleId>{E1A03D88-5CAB-4523-A037-8932B7E51F44}</a:tableStyleId>
              </a:tblPr>
              <a:tblGrid>
                <a:gridCol w="1277625"/>
                <a:gridCol w="4224375"/>
              </a:tblGrid>
              <a:tr h="321625">
                <a:tc>
                  <a:txBody>
                    <a:bodyPr/>
                    <a:lstStyle/>
                    <a:p>
                      <a:pPr indent="0" lvl="0" marL="0" rtl="0" algn="ctr">
                        <a:lnSpc>
                          <a:spcPct val="100000"/>
                        </a:lnSpc>
                        <a:spcBef>
                          <a:spcPts val="0"/>
                        </a:spcBef>
                        <a:spcAft>
                          <a:spcPts val="0"/>
                        </a:spcAft>
                        <a:buNone/>
                      </a:pPr>
                      <a:r>
                        <a:rPr b="1" lang="en" sz="1200"/>
                        <a:t>Value</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en" sz="1200"/>
                        <a:t>Description</a:t>
                      </a:r>
                      <a:endParaRPr b="1"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481600">
                <a:tc>
                  <a:txBody>
                    <a:bodyPr/>
                    <a:lstStyle/>
                    <a:p>
                      <a:pPr indent="0" lvl="0" marL="0" rtl="0" algn="ctr">
                        <a:lnSpc>
                          <a:spcPct val="100000"/>
                        </a:lnSpc>
                        <a:spcBef>
                          <a:spcPts val="0"/>
                        </a:spcBef>
                        <a:spcAft>
                          <a:spcPts val="0"/>
                        </a:spcAft>
                        <a:buNone/>
                      </a:pPr>
                      <a:r>
                        <a:rPr lang="en" sz="1200"/>
                        <a:t>flex-start</a:t>
                      </a:r>
                      <a:endParaRPr sz="12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1200"/>
                        <a:t>Default value. Items are positioned at the beginning of the container</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21625">
                <a:tc>
                  <a:txBody>
                    <a:bodyPr/>
                    <a:lstStyle/>
                    <a:p>
                      <a:pPr indent="0" lvl="0" marL="0" rtl="0" algn="ctr">
                        <a:lnSpc>
                          <a:spcPct val="100000"/>
                        </a:lnSpc>
                        <a:spcBef>
                          <a:spcPts val="0"/>
                        </a:spcBef>
                        <a:spcAft>
                          <a:spcPts val="0"/>
                        </a:spcAft>
                        <a:buNone/>
                      </a:pPr>
                      <a:r>
                        <a:rPr lang="en" sz="1200"/>
                        <a:t>flex-end</a:t>
                      </a:r>
                      <a:endParaRPr sz="12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1200"/>
                        <a:t>Items are positioned at the end of the container</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21625">
                <a:tc>
                  <a:txBody>
                    <a:bodyPr/>
                    <a:lstStyle/>
                    <a:p>
                      <a:pPr indent="0" lvl="0" marL="0" rtl="0" algn="ctr">
                        <a:lnSpc>
                          <a:spcPct val="100000"/>
                        </a:lnSpc>
                        <a:spcBef>
                          <a:spcPts val="0"/>
                        </a:spcBef>
                        <a:spcAft>
                          <a:spcPts val="0"/>
                        </a:spcAft>
                        <a:buNone/>
                      </a:pPr>
                      <a:r>
                        <a:rPr lang="en" sz="1200"/>
                        <a:t>center</a:t>
                      </a:r>
                      <a:endParaRPr sz="12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1200"/>
                        <a:t>Items are positioned in the center of the container</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21625">
                <a:tc>
                  <a:txBody>
                    <a:bodyPr/>
                    <a:lstStyle/>
                    <a:p>
                      <a:pPr indent="0" lvl="0" marL="0" rtl="0" algn="ctr">
                        <a:lnSpc>
                          <a:spcPct val="100000"/>
                        </a:lnSpc>
                        <a:spcBef>
                          <a:spcPts val="0"/>
                        </a:spcBef>
                        <a:spcAft>
                          <a:spcPts val="0"/>
                        </a:spcAft>
                        <a:buNone/>
                      </a:pPr>
                      <a:r>
                        <a:rPr lang="en" sz="1200"/>
                        <a:t>space-between</a:t>
                      </a:r>
                      <a:endParaRPr sz="12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1200"/>
                        <a:t>Items will have space between them</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21625">
                <a:tc>
                  <a:txBody>
                    <a:bodyPr/>
                    <a:lstStyle/>
                    <a:p>
                      <a:pPr indent="0" lvl="0" marL="0" rtl="0" algn="ctr">
                        <a:lnSpc>
                          <a:spcPct val="100000"/>
                        </a:lnSpc>
                        <a:spcBef>
                          <a:spcPts val="0"/>
                        </a:spcBef>
                        <a:spcAft>
                          <a:spcPts val="0"/>
                        </a:spcAft>
                        <a:buNone/>
                      </a:pPr>
                      <a:r>
                        <a:rPr lang="en" sz="1200"/>
                        <a:t>space-around</a:t>
                      </a:r>
                      <a:endParaRPr sz="12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1200"/>
                        <a:t>Items will have space before, between, and after them</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21625">
                <a:tc>
                  <a:txBody>
                    <a:bodyPr/>
                    <a:lstStyle/>
                    <a:p>
                      <a:pPr indent="0" lvl="0" marL="0" rtl="0" algn="ctr">
                        <a:lnSpc>
                          <a:spcPct val="100000"/>
                        </a:lnSpc>
                        <a:spcBef>
                          <a:spcPts val="0"/>
                        </a:spcBef>
                        <a:spcAft>
                          <a:spcPts val="0"/>
                        </a:spcAft>
                        <a:buNone/>
                      </a:pPr>
                      <a:r>
                        <a:rPr lang="en" sz="1200"/>
                        <a:t>space-evenly</a:t>
                      </a:r>
                      <a:endParaRPr sz="12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1200"/>
                        <a:t>Items will have equal space around them</a:t>
                      </a:r>
                      <a:endParaRPr sz="12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pic>
        <p:nvPicPr>
          <p:cNvPr id="730" name="Google Shape;730;p100"/>
          <p:cNvPicPr preferRelativeResize="0"/>
          <p:nvPr/>
        </p:nvPicPr>
        <p:blipFill>
          <a:blip r:embed="rId3">
            <a:alphaModFix/>
          </a:blip>
          <a:stretch>
            <a:fillRect/>
          </a:stretch>
        </p:blipFill>
        <p:spPr>
          <a:xfrm>
            <a:off x="6427650" y="1234850"/>
            <a:ext cx="2305898" cy="3770275"/>
          </a:xfrm>
          <a:prstGeom prst="rect">
            <a:avLst/>
          </a:prstGeom>
          <a:noFill/>
          <a:ln>
            <a:noFill/>
          </a:ln>
        </p:spPr>
      </p:pic>
      <p:sp>
        <p:nvSpPr>
          <p:cNvPr id="731" name="Google Shape;731;p100"/>
          <p:cNvSpPr txBox="1"/>
          <p:nvPr/>
        </p:nvSpPr>
        <p:spPr>
          <a:xfrm>
            <a:off x="477900" y="1107975"/>
            <a:ext cx="5578800" cy="11298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This defines the alignment along the main axis.</a:t>
            </a:r>
            <a:endParaRPr sz="1200">
              <a:solidFill>
                <a:schemeClr val="dk2"/>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Syntax: </a:t>
            </a:r>
            <a:r>
              <a:rPr lang="en" sz="1200">
                <a:solidFill>
                  <a:schemeClr val="dk2"/>
                </a:solidFill>
                <a:highlight>
                  <a:srgbClr val="FFFFFF"/>
                </a:highlight>
                <a:latin typeface="Roboto"/>
                <a:ea typeface="Roboto"/>
                <a:cs typeface="Roboto"/>
                <a:sym typeface="Roboto"/>
              </a:rPr>
              <a:t>.container { justify-content: flex-start | flex-end | center | space-between | space-around | space-evenly...;</a:t>
            </a:r>
            <a:r>
              <a:rPr lang="en" sz="1200">
                <a:solidFill>
                  <a:schemeClr val="dk2"/>
                </a:solidFill>
                <a:highlight>
                  <a:srgbClr val="FFFFFF"/>
                </a:highlight>
                <a:latin typeface="Roboto"/>
                <a:ea typeface="Roboto"/>
                <a:cs typeface="Roboto"/>
                <a:sym typeface="Roboto"/>
              </a:rPr>
              <a:t>}</a:t>
            </a:r>
            <a:endParaRPr sz="1200">
              <a:solidFill>
                <a:schemeClr val="dk2"/>
              </a:solidFill>
              <a:highlight>
                <a:srgbClr val="FFFFFF"/>
              </a:highlight>
              <a:latin typeface="Roboto"/>
              <a:ea typeface="Roboto"/>
              <a:cs typeface="Roboto"/>
              <a:sym typeface="Roboto"/>
            </a:endParaRPr>
          </a:p>
          <a:p>
            <a:pPr indent="-292100" lvl="0" marL="457200" rtl="0" algn="l">
              <a:spcBef>
                <a:spcPts val="0"/>
              </a:spcBef>
              <a:spcAft>
                <a:spcPts val="0"/>
              </a:spcAft>
              <a:buClr>
                <a:schemeClr val="dk2"/>
              </a:buClr>
              <a:buSzPts val="1000"/>
              <a:buFont typeface="Roboto"/>
              <a:buChar char="●"/>
            </a:pPr>
            <a:r>
              <a:rPr lang="en" sz="1000" u="sng">
                <a:solidFill>
                  <a:schemeClr val="hlink"/>
                </a:solidFill>
                <a:highlight>
                  <a:srgbClr val="FFFFFF"/>
                </a:highlight>
                <a:latin typeface="Roboto"/>
                <a:ea typeface="Roboto"/>
                <a:cs typeface="Roboto"/>
                <a:sym typeface="Roboto"/>
                <a:hlinkClick r:id="rId4"/>
              </a:rPr>
              <a:t>https://www.w3schools.com/cssref/playdemo.php?filename=playcss_justify-content&amp;preval=flex-start</a:t>
            </a:r>
            <a:r>
              <a:rPr lang="en" sz="1000">
                <a:solidFill>
                  <a:schemeClr val="dk2"/>
                </a:solidFill>
                <a:highlight>
                  <a:srgbClr val="FFFFFF"/>
                </a:highlight>
                <a:latin typeface="Roboto"/>
                <a:ea typeface="Roboto"/>
                <a:cs typeface="Roboto"/>
                <a:sym typeface="Roboto"/>
              </a:rPr>
              <a:t> </a:t>
            </a:r>
            <a:endParaRPr sz="1000">
              <a:solidFill>
                <a:schemeClr val="dk2"/>
              </a:solidFill>
              <a:highlight>
                <a:srgbClr val="FFFFFF"/>
              </a:highlight>
              <a:latin typeface="Roboto"/>
              <a:ea typeface="Roboto"/>
              <a:cs typeface="Roboto"/>
              <a:sym typeface="Roboto"/>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5" name="Shape 735"/>
        <p:cNvGrpSpPr/>
        <p:nvPr/>
      </p:nvGrpSpPr>
      <p:grpSpPr>
        <a:xfrm>
          <a:off x="0" y="0"/>
          <a:ext cx="0" cy="0"/>
          <a:chOff x="0" y="0"/>
          <a:chExt cx="0" cy="0"/>
        </a:xfrm>
      </p:grpSpPr>
      <p:sp>
        <p:nvSpPr>
          <p:cNvPr id="736" name="Google Shape;736;p10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 align-content Property</a:t>
            </a:r>
            <a:endParaRPr/>
          </a:p>
        </p:txBody>
      </p:sp>
      <p:sp>
        <p:nvSpPr>
          <p:cNvPr id="737" name="Google Shape;737;p10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38" name="Google Shape;738;p101"/>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A</a:t>
            </a:r>
            <a:r>
              <a:rPr lang="en"/>
              <a:t>lign-content: This aligns a flex container’s lines within when there is extra space in the cross-axis.</a:t>
            </a:r>
            <a:endParaRPr/>
          </a:p>
          <a:p>
            <a:pPr indent="-317500" lvl="0" marL="457200" rtl="0" algn="l">
              <a:spcBef>
                <a:spcPts val="0"/>
              </a:spcBef>
              <a:spcAft>
                <a:spcPts val="0"/>
              </a:spcAft>
              <a:buSzPts val="1400"/>
              <a:buChar char="●"/>
            </a:pPr>
            <a:r>
              <a:rPr lang="en"/>
              <a:t>This property only takes effect on multi-line flexible containers, where flex-wrap is set to either wrap or wrap-reverse.</a:t>
            </a:r>
            <a:endParaRPr/>
          </a:p>
          <a:p>
            <a:pPr indent="-317500" lvl="0" marL="457200" rtl="0" algn="l">
              <a:spcBef>
                <a:spcPts val="0"/>
              </a:spcBef>
              <a:spcAft>
                <a:spcPts val="0"/>
              </a:spcAft>
              <a:buSzPts val="1400"/>
              <a:buChar char="●"/>
            </a:pPr>
            <a:r>
              <a:rPr lang="en" u="sng">
                <a:solidFill>
                  <a:schemeClr val="hlink"/>
                </a:solidFill>
                <a:hlinkClick r:id="rId3"/>
              </a:rPr>
              <a:t>https://developer.mozilla.org/en-US/docs/Web/CSS/Reference/Properties/align-content</a:t>
            </a:r>
            <a:r>
              <a:rPr lang="en"/>
              <a:t> </a:t>
            </a:r>
            <a:endParaRPr/>
          </a:p>
        </p:txBody>
      </p:sp>
      <p:pic>
        <p:nvPicPr>
          <p:cNvPr id="739" name="Google Shape;739;p101"/>
          <p:cNvPicPr preferRelativeResize="0"/>
          <p:nvPr/>
        </p:nvPicPr>
        <p:blipFill>
          <a:blip r:embed="rId4">
            <a:alphaModFix/>
          </a:blip>
          <a:stretch>
            <a:fillRect/>
          </a:stretch>
        </p:blipFill>
        <p:spPr>
          <a:xfrm>
            <a:off x="4840775" y="1152475"/>
            <a:ext cx="2859056" cy="3770275"/>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3" name="Shape 743"/>
        <p:cNvGrpSpPr/>
        <p:nvPr/>
      </p:nvGrpSpPr>
      <p:grpSpPr>
        <a:xfrm>
          <a:off x="0" y="0"/>
          <a:ext cx="0" cy="0"/>
          <a:chOff x="0" y="0"/>
          <a:chExt cx="0" cy="0"/>
        </a:xfrm>
      </p:grpSpPr>
      <p:sp>
        <p:nvSpPr>
          <p:cNvPr id="744" name="Google Shape;744;p10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 </a:t>
            </a:r>
            <a:r>
              <a:rPr lang="en"/>
              <a:t>align-items</a:t>
            </a:r>
            <a:r>
              <a:rPr lang="en"/>
              <a:t> Property</a:t>
            </a:r>
            <a:endParaRPr/>
          </a:p>
        </p:txBody>
      </p:sp>
      <p:sp>
        <p:nvSpPr>
          <p:cNvPr id="745" name="Google Shape;745;p10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46" name="Google Shape;746;p102"/>
          <p:cNvSpPr txBox="1"/>
          <p:nvPr/>
        </p:nvSpPr>
        <p:spPr>
          <a:xfrm>
            <a:off x="469800" y="1205175"/>
            <a:ext cx="5578800" cy="763500"/>
          </a:xfrm>
          <a:prstGeom prst="rect">
            <a:avLst/>
          </a:prstGeom>
          <a:noFill/>
          <a:ln>
            <a:noFill/>
          </a:ln>
        </p:spPr>
        <p:txBody>
          <a:bodyPr anchorCtr="0" anchor="t" bIns="91425" lIns="91425" spcFirstLastPara="1" rIns="91425" wrap="square" tIns="91425">
            <a:spAutoFit/>
          </a:bodyPr>
          <a:lstStyle/>
          <a:p>
            <a:pPr indent="-304800" lvl="0" marL="457200" rtl="0" algn="l">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This defines the alignment along the </a:t>
            </a:r>
            <a:r>
              <a:rPr lang="en" sz="1200">
                <a:solidFill>
                  <a:schemeClr val="dk2"/>
                </a:solidFill>
                <a:highlight>
                  <a:srgbClr val="FFFFFF"/>
                </a:highlight>
                <a:latin typeface="Roboto"/>
                <a:ea typeface="Roboto"/>
                <a:cs typeface="Roboto"/>
                <a:sym typeface="Roboto"/>
              </a:rPr>
              <a:t>cross</a:t>
            </a:r>
            <a:r>
              <a:rPr lang="en" sz="1200">
                <a:solidFill>
                  <a:schemeClr val="dk2"/>
                </a:solidFill>
                <a:highlight>
                  <a:srgbClr val="FFFFFF"/>
                </a:highlight>
                <a:latin typeface="Roboto"/>
                <a:ea typeface="Roboto"/>
                <a:cs typeface="Roboto"/>
                <a:sym typeface="Roboto"/>
              </a:rPr>
              <a:t> axis.</a:t>
            </a:r>
            <a:endParaRPr sz="1200">
              <a:solidFill>
                <a:schemeClr val="dk2"/>
              </a:solidFill>
              <a:highlight>
                <a:srgbClr val="FFFFFF"/>
              </a:highlight>
              <a:latin typeface="Roboto"/>
              <a:ea typeface="Roboto"/>
              <a:cs typeface="Roboto"/>
              <a:sym typeface="Roboto"/>
            </a:endParaRPr>
          </a:p>
          <a:p>
            <a:pPr indent="-304800" lvl="0" marL="457200" rtl="0" algn="l">
              <a:lnSpc>
                <a:spcPct val="115000"/>
              </a:lnSpc>
              <a:spcBef>
                <a:spcPts val="0"/>
              </a:spcBef>
              <a:spcAft>
                <a:spcPts val="0"/>
              </a:spcAft>
              <a:buClr>
                <a:schemeClr val="dk2"/>
              </a:buClr>
              <a:buSzPts val="1200"/>
              <a:buFont typeface="Roboto"/>
              <a:buChar char="●"/>
            </a:pPr>
            <a:r>
              <a:rPr lang="en" sz="1200">
                <a:solidFill>
                  <a:schemeClr val="dk2"/>
                </a:solidFill>
                <a:highlight>
                  <a:srgbClr val="FFFFFF"/>
                </a:highlight>
                <a:latin typeface="Roboto"/>
                <a:ea typeface="Roboto"/>
                <a:cs typeface="Roboto"/>
                <a:sym typeface="Roboto"/>
              </a:rPr>
              <a:t>Syntax: .container { </a:t>
            </a:r>
            <a:r>
              <a:rPr lang="en" sz="1200">
                <a:solidFill>
                  <a:schemeClr val="dk2"/>
                </a:solidFill>
                <a:highlight>
                  <a:srgbClr val="FFFFFF"/>
                </a:highlight>
                <a:latin typeface="Roboto"/>
                <a:ea typeface="Roboto"/>
                <a:cs typeface="Roboto"/>
                <a:sym typeface="Roboto"/>
              </a:rPr>
              <a:t>stretch | flex-start | flex-end | center | baseline</a:t>
            </a:r>
            <a:r>
              <a:rPr lang="en" sz="1200">
                <a:solidFill>
                  <a:schemeClr val="dk2"/>
                </a:solidFill>
                <a:highlight>
                  <a:srgbClr val="FFFFFF"/>
                </a:highlight>
                <a:latin typeface="Roboto"/>
                <a:ea typeface="Roboto"/>
                <a:cs typeface="Roboto"/>
                <a:sym typeface="Roboto"/>
              </a:rPr>
              <a:t>...;}</a:t>
            </a:r>
            <a:endParaRPr sz="1200">
              <a:solidFill>
                <a:schemeClr val="dk2"/>
              </a:solidFill>
              <a:highlight>
                <a:srgbClr val="FFFFFF"/>
              </a:highlight>
              <a:latin typeface="Roboto"/>
              <a:ea typeface="Roboto"/>
              <a:cs typeface="Roboto"/>
              <a:sym typeface="Roboto"/>
            </a:endParaRPr>
          </a:p>
          <a:p>
            <a:pPr indent="-292100" lvl="0" marL="457200" rtl="0" algn="l">
              <a:spcBef>
                <a:spcPts val="0"/>
              </a:spcBef>
              <a:spcAft>
                <a:spcPts val="0"/>
              </a:spcAft>
              <a:buClr>
                <a:schemeClr val="dk2"/>
              </a:buClr>
              <a:buSzPts val="1000"/>
              <a:buFont typeface="Roboto"/>
              <a:buChar char="●"/>
            </a:pPr>
            <a:r>
              <a:rPr lang="en" sz="1000" u="sng">
                <a:solidFill>
                  <a:schemeClr val="hlink"/>
                </a:solidFill>
                <a:highlight>
                  <a:srgbClr val="FFFFFF"/>
                </a:highlight>
                <a:latin typeface="Roboto"/>
                <a:ea typeface="Roboto"/>
                <a:cs typeface="Roboto"/>
                <a:sym typeface="Roboto"/>
                <a:hlinkClick r:id="rId3"/>
              </a:rPr>
              <a:t>https://www.w3schools.com/cssref/playdemo.php?filename=playcss_align-items</a:t>
            </a:r>
            <a:r>
              <a:rPr lang="en" sz="1000">
                <a:solidFill>
                  <a:schemeClr val="dk2"/>
                </a:solidFill>
                <a:highlight>
                  <a:srgbClr val="FFFFFF"/>
                </a:highlight>
                <a:latin typeface="Roboto"/>
                <a:ea typeface="Roboto"/>
                <a:cs typeface="Roboto"/>
                <a:sym typeface="Roboto"/>
              </a:rPr>
              <a:t> </a:t>
            </a:r>
            <a:endParaRPr sz="1000">
              <a:solidFill>
                <a:schemeClr val="dk2"/>
              </a:solidFill>
              <a:highlight>
                <a:srgbClr val="FFFFFF"/>
              </a:highlight>
              <a:latin typeface="Roboto"/>
              <a:ea typeface="Roboto"/>
              <a:cs typeface="Roboto"/>
              <a:sym typeface="Roboto"/>
            </a:endParaRPr>
          </a:p>
        </p:txBody>
      </p:sp>
      <p:graphicFrame>
        <p:nvGraphicFramePr>
          <p:cNvPr id="747" name="Google Shape;747;p102"/>
          <p:cNvGraphicFramePr/>
          <p:nvPr/>
        </p:nvGraphicFramePr>
        <p:xfrm>
          <a:off x="437850" y="2034700"/>
          <a:ext cx="3000000" cy="3000000"/>
        </p:xfrm>
        <a:graphic>
          <a:graphicData uri="http://schemas.openxmlformats.org/drawingml/2006/table">
            <a:tbl>
              <a:tblPr>
                <a:noFill/>
                <a:tableStyleId>{E1A03D88-5CAB-4523-A037-8932B7E51F44}</a:tableStyleId>
              </a:tblPr>
              <a:tblGrid>
                <a:gridCol w="794950"/>
                <a:gridCol w="4847750"/>
              </a:tblGrid>
              <a:tr h="240925">
                <a:tc>
                  <a:txBody>
                    <a:bodyPr/>
                    <a:lstStyle/>
                    <a:p>
                      <a:pPr indent="0" lvl="0" marL="0" rtl="0" algn="ctr">
                        <a:lnSpc>
                          <a:spcPct val="100000"/>
                        </a:lnSpc>
                        <a:spcBef>
                          <a:spcPts val="0"/>
                        </a:spcBef>
                        <a:spcAft>
                          <a:spcPts val="0"/>
                        </a:spcAft>
                        <a:buNone/>
                      </a:pPr>
                      <a:r>
                        <a:rPr b="1" lang="en" sz="900"/>
                        <a:t>Value</a:t>
                      </a:r>
                      <a:endParaRPr b="1"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lnSpc>
                          <a:spcPct val="100000"/>
                        </a:lnSpc>
                        <a:spcBef>
                          <a:spcPts val="0"/>
                        </a:spcBef>
                        <a:spcAft>
                          <a:spcPts val="0"/>
                        </a:spcAft>
                        <a:buNone/>
                      </a:pPr>
                      <a:r>
                        <a:rPr b="1" lang="en" sz="900"/>
                        <a:t>Description</a:t>
                      </a:r>
                      <a:endParaRPr b="1"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00000">
                <a:tc>
                  <a:txBody>
                    <a:bodyPr/>
                    <a:lstStyle/>
                    <a:p>
                      <a:pPr indent="0" lvl="0" marL="0" rtl="0" algn="ctr">
                        <a:lnSpc>
                          <a:spcPct val="100000"/>
                        </a:lnSpc>
                        <a:spcBef>
                          <a:spcPts val="0"/>
                        </a:spcBef>
                        <a:spcAft>
                          <a:spcPts val="0"/>
                        </a:spcAft>
                        <a:buNone/>
                      </a:pPr>
                      <a:r>
                        <a:rPr lang="en" sz="900"/>
                        <a:t>normal</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Default. Behaves like 'stretch' for flexbox and grid items, or 'start' for grid items with a defined block size.</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0925">
                <a:tc>
                  <a:txBody>
                    <a:bodyPr/>
                    <a:lstStyle/>
                    <a:p>
                      <a:pPr indent="0" lvl="0" marL="0" rtl="0" algn="ctr">
                        <a:lnSpc>
                          <a:spcPct val="100000"/>
                        </a:lnSpc>
                        <a:spcBef>
                          <a:spcPts val="0"/>
                        </a:spcBef>
                        <a:spcAft>
                          <a:spcPts val="0"/>
                        </a:spcAft>
                        <a:buNone/>
                      </a:pPr>
                      <a:r>
                        <a:rPr lang="en" sz="900"/>
                        <a:t>stretch</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Items are stretched to fit the container</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0925">
                <a:tc>
                  <a:txBody>
                    <a:bodyPr/>
                    <a:lstStyle/>
                    <a:p>
                      <a:pPr indent="0" lvl="0" marL="0" rtl="0" algn="ctr">
                        <a:lnSpc>
                          <a:spcPct val="100000"/>
                        </a:lnSpc>
                        <a:spcBef>
                          <a:spcPts val="0"/>
                        </a:spcBef>
                        <a:spcAft>
                          <a:spcPts val="0"/>
                        </a:spcAft>
                        <a:buNone/>
                      </a:pPr>
                      <a:r>
                        <a:rPr lang="en" sz="900"/>
                        <a:t>center</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Items are positioned at the center of the container</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0925">
                <a:tc>
                  <a:txBody>
                    <a:bodyPr/>
                    <a:lstStyle/>
                    <a:p>
                      <a:pPr indent="0" lvl="0" marL="0" rtl="0" algn="ctr">
                        <a:lnSpc>
                          <a:spcPct val="100000"/>
                        </a:lnSpc>
                        <a:spcBef>
                          <a:spcPts val="0"/>
                        </a:spcBef>
                        <a:spcAft>
                          <a:spcPts val="0"/>
                        </a:spcAft>
                        <a:buNone/>
                      </a:pPr>
                      <a:r>
                        <a:rPr lang="en" sz="900"/>
                        <a:t>flex-start</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Items are positioned at the beginning of the container</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0925">
                <a:tc>
                  <a:txBody>
                    <a:bodyPr/>
                    <a:lstStyle/>
                    <a:p>
                      <a:pPr indent="0" lvl="0" marL="0" rtl="0" algn="ctr">
                        <a:lnSpc>
                          <a:spcPct val="100000"/>
                        </a:lnSpc>
                        <a:spcBef>
                          <a:spcPts val="0"/>
                        </a:spcBef>
                        <a:spcAft>
                          <a:spcPts val="0"/>
                        </a:spcAft>
                        <a:buNone/>
                      </a:pPr>
                      <a:r>
                        <a:rPr lang="en" sz="900"/>
                        <a:t>flex-end</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Items are positioned at the end of the container</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0450">
                <a:tc>
                  <a:txBody>
                    <a:bodyPr/>
                    <a:lstStyle/>
                    <a:p>
                      <a:pPr indent="0" lvl="0" marL="0" rtl="0" algn="ctr">
                        <a:lnSpc>
                          <a:spcPct val="100000"/>
                        </a:lnSpc>
                        <a:spcBef>
                          <a:spcPts val="0"/>
                        </a:spcBef>
                        <a:spcAft>
                          <a:spcPts val="0"/>
                        </a:spcAft>
                        <a:buNone/>
                      </a:pPr>
                      <a:r>
                        <a:rPr lang="en" sz="900"/>
                        <a:t>start</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Items are positioned at the beginning of their individual grid cells, in the block direction</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0450">
                <a:tc>
                  <a:txBody>
                    <a:bodyPr/>
                    <a:lstStyle/>
                    <a:p>
                      <a:pPr indent="0" lvl="0" marL="0" rtl="0" algn="ctr">
                        <a:lnSpc>
                          <a:spcPct val="100000"/>
                        </a:lnSpc>
                        <a:spcBef>
                          <a:spcPts val="0"/>
                        </a:spcBef>
                        <a:spcAft>
                          <a:spcPts val="0"/>
                        </a:spcAft>
                        <a:buNone/>
                      </a:pPr>
                      <a:r>
                        <a:rPr lang="en" sz="900"/>
                        <a:t>end</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Items are positioned at the end of the their individual grid cells, in the block direction</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240925">
                <a:tc>
                  <a:txBody>
                    <a:bodyPr/>
                    <a:lstStyle/>
                    <a:p>
                      <a:pPr indent="0" lvl="0" marL="0" rtl="0" algn="ctr">
                        <a:lnSpc>
                          <a:spcPct val="100000"/>
                        </a:lnSpc>
                        <a:spcBef>
                          <a:spcPts val="0"/>
                        </a:spcBef>
                        <a:spcAft>
                          <a:spcPts val="0"/>
                        </a:spcAft>
                        <a:buNone/>
                      </a:pPr>
                      <a:r>
                        <a:rPr lang="en" sz="900"/>
                        <a:t>baseline</a:t>
                      </a:r>
                      <a:endParaRPr sz="9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00000"/>
                        </a:lnSpc>
                        <a:spcBef>
                          <a:spcPts val="0"/>
                        </a:spcBef>
                        <a:spcAft>
                          <a:spcPts val="0"/>
                        </a:spcAft>
                        <a:buNone/>
                      </a:pPr>
                      <a:r>
                        <a:rPr lang="en" sz="900"/>
                        <a:t>Items are positioned at the baseline of the container</a:t>
                      </a:r>
                      <a:endParaRPr sz="9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pic>
        <p:nvPicPr>
          <p:cNvPr id="748" name="Google Shape;748;p102"/>
          <p:cNvPicPr preferRelativeResize="0"/>
          <p:nvPr/>
        </p:nvPicPr>
        <p:blipFill>
          <a:blip r:embed="rId4">
            <a:alphaModFix/>
          </a:blip>
          <a:stretch>
            <a:fillRect/>
          </a:stretch>
        </p:blipFill>
        <p:spPr>
          <a:xfrm>
            <a:off x="6224850" y="1766825"/>
            <a:ext cx="2553858" cy="331553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2" name="Shape 752"/>
        <p:cNvGrpSpPr/>
        <p:nvPr/>
      </p:nvGrpSpPr>
      <p:grpSpPr>
        <a:xfrm>
          <a:off x="0" y="0"/>
          <a:ext cx="0" cy="0"/>
          <a:chOff x="0" y="0"/>
          <a:chExt cx="0" cy="0"/>
        </a:xfrm>
      </p:grpSpPr>
      <p:sp>
        <p:nvSpPr>
          <p:cNvPr id="753" name="Google Shape;753;p10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900"/>
              <a:t>Flexbox ─ </a:t>
            </a:r>
            <a:r>
              <a:rPr lang="en" sz="2900"/>
              <a:t>gap, row-gap, column-gap</a:t>
            </a:r>
            <a:r>
              <a:rPr lang="en" sz="2900"/>
              <a:t> Property</a:t>
            </a:r>
            <a:endParaRPr sz="2900"/>
          </a:p>
        </p:txBody>
      </p:sp>
      <p:sp>
        <p:nvSpPr>
          <p:cNvPr id="754" name="Google Shape;754;p10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55" name="Google Shape;755;p103"/>
          <p:cNvSpPr txBox="1"/>
          <p:nvPr>
            <p:ph idx="1" type="body"/>
          </p:nvPr>
        </p:nvSpPr>
        <p:spPr>
          <a:xfrm>
            <a:off x="311700" y="1152475"/>
            <a:ext cx="3999900" cy="15288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The gap property explicitly controls the space between flex items. It applies that spacing only between items not on the outer edges.</a:t>
            </a:r>
            <a:endParaRPr/>
          </a:p>
          <a:p>
            <a:pPr indent="-317500" lvl="0" marL="457200" rtl="0" algn="l">
              <a:spcBef>
                <a:spcPts val="0"/>
              </a:spcBef>
              <a:spcAft>
                <a:spcPts val="0"/>
              </a:spcAft>
              <a:buSzPts val="1400"/>
              <a:buChar char="●"/>
            </a:pPr>
            <a:r>
              <a:rPr lang="en"/>
              <a:t>It is not exclusively for flexbox, gap works in grid and multi-column layout as well.</a:t>
            </a:r>
            <a:endParaRPr/>
          </a:p>
        </p:txBody>
      </p:sp>
      <p:sp>
        <p:nvSpPr>
          <p:cNvPr id="756" name="Google Shape;756;p103"/>
          <p:cNvSpPr txBox="1"/>
          <p:nvPr/>
        </p:nvSpPr>
        <p:spPr>
          <a:xfrm>
            <a:off x="543275" y="2765325"/>
            <a:ext cx="3820500" cy="166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latin typeface="Courier New"/>
                <a:ea typeface="Courier New"/>
                <a:cs typeface="Courier New"/>
                <a:sym typeface="Courier New"/>
              </a:rPr>
              <a:t>.container {</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  display: flex;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  ...</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  gap: 10px;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  gap: 10px 20px; /* row-/column-gap */</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  row-gap: 10px;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  column-gap: 20px;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p:txBody>
      </p:sp>
      <p:pic>
        <p:nvPicPr>
          <p:cNvPr id="757" name="Google Shape;757;p103"/>
          <p:cNvPicPr preferRelativeResize="0"/>
          <p:nvPr/>
        </p:nvPicPr>
        <p:blipFill>
          <a:blip r:embed="rId3">
            <a:alphaModFix/>
          </a:blip>
          <a:stretch>
            <a:fillRect/>
          </a:stretch>
        </p:blipFill>
        <p:spPr>
          <a:xfrm>
            <a:off x="4945525" y="1152475"/>
            <a:ext cx="3224949" cy="3770275"/>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10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 </a:t>
            </a:r>
            <a:r>
              <a:rPr lang="en"/>
              <a:t>Order Property</a:t>
            </a:r>
            <a:endParaRPr/>
          </a:p>
        </p:txBody>
      </p:sp>
      <p:sp>
        <p:nvSpPr>
          <p:cNvPr id="763" name="Google Shape;763;p10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By default, flex items are laid out in the source order.</a:t>
            </a:r>
            <a:endParaRPr/>
          </a:p>
          <a:p>
            <a:pPr indent="-342900" lvl="0" marL="457200" rtl="0" algn="l">
              <a:spcBef>
                <a:spcPts val="0"/>
              </a:spcBef>
              <a:spcAft>
                <a:spcPts val="0"/>
              </a:spcAft>
              <a:buSzPts val="1800"/>
              <a:buChar char="●"/>
            </a:pPr>
            <a:r>
              <a:rPr lang="en"/>
              <a:t>Only effect for flex item or grid item.</a:t>
            </a:r>
            <a:endParaRPr/>
          </a:p>
          <a:p>
            <a:pPr indent="-342900" lvl="0" marL="457200" rtl="0" algn="l">
              <a:spcBef>
                <a:spcPts val="0"/>
              </a:spcBef>
              <a:spcAft>
                <a:spcPts val="0"/>
              </a:spcAft>
              <a:buSzPts val="1800"/>
              <a:buChar char="●"/>
            </a:pPr>
            <a:r>
              <a:rPr lang="en"/>
              <a:t>Items in a container are sorted by ascending order value and then by their source code order.</a:t>
            </a:r>
            <a:endParaRPr/>
          </a:p>
          <a:p>
            <a:pPr indent="-342900" lvl="0" marL="457200" rtl="0" algn="l">
              <a:spcBef>
                <a:spcPts val="0"/>
              </a:spcBef>
              <a:spcAft>
                <a:spcPts val="0"/>
              </a:spcAft>
              <a:buSzPts val="1800"/>
              <a:buChar char="●"/>
            </a:pPr>
            <a:r>
              <a:rPr lang="en"/>
              <a:t>Syntax: {order: number;}</a:t>
            </a:r>
            <a:endParaRPr/>
          </a:p>
        </p:txBody>
      </p:sp>
      <p:sp>
        <p:nvSpPr>
          <p:cNvPr id="764" name="Google Shape;764;p10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765" name="Google Shape;765;p104"/>
          <p:cNvPicPr preferRelativeResize="0"/>
          <p:nvPr/>
        </p:nvPicPr>
        <p:blipFill>
          <a:blip r:embed="rId3">
            <a:alphaModFix/>
          </a:blip>
          <a:stretch>
            <a:fillRect/>
          </a:stretch>
        </p:blipFill>
        <p:spPr>
          <a:xfrm>
            <a:off x="3732275" y="2571750"/>
            <a:ext cx="4507099" cy="203545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9" name="Shape 769"/>
        <p:cNvGrpSpPr/>
        <p:nvPr/>
      </p:nvGrpSpPr>
      <p:grpSpPr>
        <a:xfrm>
          <a:off x="0" y="0"/>
          <a:ext cx="0" cy="0"/>
          <a:chOff x="0" y="0"/>
          <a:chExt cx="0" cy="0"/>
        </a:xfrm>
      </p:grpSpPr>
      <p:sp>
        <p:nvSpPr>
          <p:cNvPr id="770" name="Google Shape;770;p10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Flexbox ─ Flex Property</a:t>
            </a:r>
            <a:endParaRPr/>
          </a:p>
        </p:txBody>
      </p:sp>
      <p:sp>
        <p:nvSpPr>
          <p:cNvPr id="771" name="Google Shape;771;p10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The flex property is the shorthand for flex-grow, flex-shrink and flex-basis combined.</a:t>
            </a:r>
            <a:endParaRPr/>
          </a:p>
          <a:p>
            <a:pPr indent="-317500" lvl="0" marL="457200" rtl="0" algn="l">
              <a:spcBef>
                <a:spcPts val="0"/>
              </a:spcBef>
              <a:spcAft>
                <a:spcPts val="0"/>
              </a:spcAft>
              <a:buSzPts val="1400"/>
              <a:buChar char="●"/>
            </a:pPr>
            <a:r>
              <a:rPr lang="en"/>
              <a:t>The value default is 0 1 auto.</a:t>
            </a:r>
            <a:endParaRPr/>
          </a:p>
          <a:p>
            <a:pPr indent="-317500" lvl="0" marL="457200" rtl="0" algn="l">
              <a:spcBef>
                <a:spcPts val="0"/>
              </a:spcBef>
              <a:spcAft>
                <a:spcPts val="0"/>
              </a:spcAft>
              <a:buSzPts val="1400"/>
              <a:buChar char="●"/>
            </a:pPr>
            <a:r>
              <a:rPr lang="en"/>
              <a:t>&lt;'flex-grow'&gt;</a:t>
            </a:r>
            <a:endParaRPr/>
          </a:p>
          <a:p>
            <a:pPr indent="-304800" lvl="1" marL="914400" rtl="0" algn="l">
              <a:spcBef>
                <a:spcPts val="0"/>
              </a:spcBef>
              <a:spcAft>
                <a:spcPts val="0"/>
              </a:spcAft>
              <a:buSzPts val="1200"/>
              <a:buChar char="○"/>
            </a:pPr>
            <a:r>
              <a:rPr lang="en"/>
              <a:t>Negative values are considered invalid. Defaults to 1 when omitted. (initial is 0)</a:t>
            </a:r>
            <a:endParaRPr/>
          </a:p>
          <a:p>
            <a:pPr indent="-317500" lvl="0" marL="457200" rtl="0" algn="l">
              <a:spcBef>
                <a:spcPts val="0"/>
              </a:spcBef>
              <a:spcAft>
                <a:spcPts val="0"/>
              </a:spcAft>
              <a:buSzPts val="1400"/>
              <a:buChar char="●"/>
            </a:pPr>
            <a:r>
              <a:rPr lang="en"/>
              <a:t>&lt;'flex-shrink'&gt;</a:t>
            </a:r>
            <a:endParaRPr/>
          </a:p>
          <a:p>
            <a:pPr indent="-304800" lvl="1" marL="914400" rtl="0" algn="l">
              <a:spcBef>
                <a:spcPts val="0"/>
              </a:spcBef>
              <a:spcAft>
                <a:spcPts val="0"/>
              </a:spcAft>
              <a:buSzPts val="1200"/>
              <a:buChar char="○"/>
            </a:pPr>
            <a:r>
              <a:rPr lang="en"/>
              <a:t>Negative values are considered invalid. Defaults to 1 when omitted. (initial is 1)</a:t>
            </a:r>
            <a:endParaRPr/>
          </a:p>
          <a:p>
            <a:pPr indent="-317500" lvl="0" marL="457200" rtl="0" algn="l">
              <a:spcBef>
                <a:spcPts val="0"/>
              </a:spcBef>
              <a:spcAft>
                <a:spcPts val="0"/>
              </a:spcAft>
              <a:buSzPts val="1400"/>
              <a:buChar char="●"/>
            </a:pPr>
            <a:r>
              <a:rPr lang="en"/>
              <a:t>&lt;'flex-basis'&gt;</a:t>
            </a:r>
            <a:endParaRPr/>
          </a:p>
          <a:p>
            <a:pPr indent="-304800" lvl="1" marL="914400" rtl="0" algn="l">
              <a:spcBef>
                <a:spcPts val="0"/>
              </a:spcBef>
              <a:spcAft>
                <a:spcPts val="0"/>
              </a:spcAft>
              <a:buSzPts val="1200"/>
              <a:buChar char="○"/>
            </a:pPr>
            <a:r>
              <a:rPr lang="en"/>
              <a:t>Defaults to 0% when omitted. The initial value is auto.</a:t>
            </a:r>
            <a:endParaRPr/>
          </a:p>
        </p:txBody>
      </p:sp>
      <p:sp>
        <p:nvSpPr>
          <p:cNvPr id="772" name="Google Shape;772;p10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73" name="Google Shape;773;p105"/>
          <p:cNvSpPr txBox="1"/>
          <p:nvPr/>
        </p:nvSpPr>
        <p:spPr>
          <a:xfrm>
            <a:off x="5125975" y="1068425"/>
            <a:ext cx="3000000" cy="8313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a:t>{ </a:t>
            </a:r>
            <a:endParaRPr/>
          </a:p>
          <a:p>
            <a:pPr indent="0" lvl="0" marL="0" rtl="0" algn="l">
              <a:spcBef>
                <a:spcPts val="0"/>
              </a:spcBef>
              <a:spcAft>
                <a:spcPts val="0"/>
              </a:spcAft>
              <a:buNone/>
            </a:pPr>
            <a:r>
              <a:rPr lang="en"/>
              <a:t>  </a:t>
            </a:r>
            <a:r>
              <a:rPr lang="en"/>
              <a:t>flex: 1 1 100px;</a:t>
            </a:r>
            <a:endParaRPr/>
          </a:p>
          <a:p>
            <a:pPr indent="0" lvl="0" marL="0" rtl="0" algn="l">
              <a:spcBef>
                <a:spcPts val="0"/>
              </a:spcBef>
              <a:spcAft>
                <a:spcPts val="0"/>
              </a:spcAft>
              <a:buNone/>
            </a:pPr>
            <a:r>
              <a:rPr lang="en"/>
              <a:t>}</a:t>
            </a:r>
            <a:endParaRPr/>
          </a:p>
        </p:txBody>
      </p:sp>
      <p:pic>
        <p:nvPicPr>
          <p:cNvPr id="774" name="Google Shape;774;p105"/>
          <p:cNvPicPr preferRelativeResize="0"/>
          <p:nvPr/>
        </p:nvPicPr>
        <p:blipFill>
          <a:blip r:embed="rId3">
            <a:alphaModFix/>
          </a:blip>
          <a:stretch>
            <a:fillRect/>
          </a:stretch>
        </p:blipFill>
        <p:spPr>
          <a:xfrm>
            <a:off x="5125975" y="2093075"/>
            <a:ext cx="3409950" cy="2647950"/>
          </a:xfrm>
          <a:prstGeom prst="rect">
            <a:avLst/>
          </a:prstGeom>
          <a:noFill/>
          <a:ln cap="flat" cmpd="sng" w="9525">
            <a:solidFill>
              <a:srgbClr val="FF9900"/>
            </a:solidFill>
            <a:prstDash val="solid"/>
            <a:round/>
            <a:headEnd len="sm" w="sm" type="none"/>
            <a:tailEnd len="sm" w="sm" type="none"/>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0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Grid Layout</a:t>
            </a:r>
            <a:endParaRPr/>
          </a:p>
        </p:txBody>
      </p:sp>
      <p:sp>
        <p:nvSpPr>
          <p:cNvPr id="780" name="Google Shape;780;p10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
              <a:t>Like tables, grid layout enables aligning elements into columns and rows, i.e. two-dimensional.</a:t>
            </a:r>
            <a:endParaRPr/>
          </a:p>
          <a:p>
            <a:pPr indent="-317500" lvl="1" marL="914400" rtl="0" algn="l">
              <a:spcBef>
                <a:spcPts val="0"/>
              </a:spcBef>
              <a:spcAft>
                <a:spcPts val="0"/>
              </a:spcAft>
              <a:buSzPts val="1400"/>
              <a:buChar char="○"/>
            </a:pPr>
            <a:r>
              <a:rPr lang="en"/>
              <a:t>Many more layouts are either possible or easier with CSS grid than they were with tables.</a:t>
            </a:r>
            <a:endParaRPr/>
          </a:p>
          <a:p>
            <a:pPr indent="-342900" lvl="0" marL="457200" rtl="0" algn="l">
              <a:spcBef>
                <a:spcPts val="0"/>
              </a:spcBef>
              <a:spcAft>
                <a:spcPts val="0"/>
              </a:spcAft>
              <a:buSzPts val="1800"/>
              <a:buChar char="●"/>
            </a:pPr>
            <a:r>
              <a:rPr lang="en"/>
              <a:t>Grid container</a:t>
            </a:r>
            <a:endParaRPr/>
          </a:p>
          <a:p>
            <a:pPr indent="-317500" lvl="1" marL="914400" rtl="0" algn="l">
              <a:spcBef>
                <a:spcPts val="0"/>
              </a:spcBef>
              <a:spcAft>
                <a:spcPts val="0"/>
              </a:spcAft>
              <a:buSzPts val="1400"/>
              <a:buChar char="○"/>
            </a:pPr>
            <a:r>
              <a:rPr lang="en"/>
              <a:t>We create a grid container by declaring {display: grid;}</a:t>
            </a:r>
            <a:endParaRPr/>
          </a:p>
          <a:p>
            <a:pPr indent="-317500" lvl="1" marL="914400" rtl="0" algn="l">
              <a:spcBef>
                <a:spcPts val="0"/>
              </a:spcBef>
              <a:spcAft>
                <a:spcPts val="0"/>
              </a:spcAft>
              <a:buSzPts val="1400"/>
              <a:buChar char="○"/>
            </a:pPr>
            <a:r>
              <a:rPr lang="en"/>
              <a:t>Grid item: All direct children of that element become grid items.</a:t>
            </a:r>
            <a:endParaRPr/>
          </a:p>
          <a:p>
            <a:pPr indent="-342900" lvl="0" marL="457200" rtl="0" algn="l">
              <a:spcBef>
                <a:spcPts val="0"/>
              </a:spcBef>
              <a:spcAft>
                <a:spcPts val="0"/>
              </a:spcAft>
              <a:buSzPts val="1800"/>
              <a:buChar char="●"/>
            </a:pPr>
            <a:r>
              <a:rPr lang="en"/>
              <a:t>Grid track</a:t>
            </a:r>
            <a:endParaRPr/>
          </a:p>
          <a:p>
            <a:pPr indent="-317500" lvl="1" marL="914400" rtl="0" algn="l">
              <a:spcBef>
                <a:spcPts val="0"/>
              </a:spcBef>
              <a:spcAft>
                <a:spcPts val="0"/>
              </a:spcAft>
              <a:buSzPts val="1400"/>
              <a:buChar char="○"/>
            </a:pPr>
            <a:r>
              <a:rPr lang="en"/>
              <a:t>The space between any two adjacent lines on the grid.</a:t>
            </a:r>
            <a:endParaRPr/>
          </a:p>
          <a:p>
            <a:pPr indent="-317500" lvl="1" marL="914400" rtl="0" algn="l">
              <a:spcBef>
                <a:spcPts val="0"/>
              </a:spcBef>
              <a:spcAft>
                <a:spcPts val="0"/>
              </a:spcAft>
              <a:buSzPts val="1400"/>
              <a:buChar char="○"/>
            </a:pPr>
            <a:r>
              <a:rPr lang="en"/>
              <a:t>Rows and columns are defined by the grid-template-rows and grid-template-columns properties.</a:t>
            </a:r>
            <a:endParaRPr/>
          </a:p>
          <a:p>
            <a:pPr indent="-342900" lvl="0" marL="457200" rtl="0" algn="l">
              <a:spcBef>
                <a:spcPts val="0"/>
              </a:spcBef>
              <a:spcAft>
                <a:spcPts val="0"/>
              </a:spcAft>
              <a:buSzPts val="1800"/>
              <a:buChar char="●"/>
            </a:pPr>
            <a:r>
              <a:rPr lang="en"/>
              <a:t>Shorthands</a:t>
            </a:r>
            <a:endParaRPr/>
          </a:p>
          <a:p>
            <a:pPr indent="-317500" lvl="1" marL="914400" rtl="0" algn="l">
              <a:spcBef>
                <a:spcPts val="0"/>
              </a:spcBef>
              <a:spcAft>
                <a:spcPts val="0"/>
              </a:spcAft>
              <a:buSzPts val="1400"/>
              <a:buChar char="○"/>
            </a:pPr>
            <a:r>
              <a:rPr lang="en"/>
              <a:t>Grid property: grid-auto-columns, grid-auto-flow, grid-auto-rows, grid-template-areas, grid-template-columns, grid-template-rows.</a:t>
            </a:r>
            <a:endParaRPr/>
          </a:p>
          <a:p>
            <a:pPr indent="-317500" lvl="1" marL="914400" rtl="0" algn="l">
              <a:spcBef>
                <a:spcPts val="0"/>
              </a:spcBef>
              <a:spcAft>
                <a:spcPts val="0"/>
              </a:spcAft>
              <a:buSzPts val="1400"/>
              <a:buChar char="○"/>
            </a:pPr>
            <a:r>
              <a:rPr lang="en"/>
              <a:t>Grid-template property: grid-template-areas, grid-template-columns, grid-template-rows.</a:t>
            </a:r>
            <a:endParaRPr/>
          </a:p>
        </p:txBody>
      </p:sp>
      <p:sp>
        <p:nvSpPr>
          <p:cNvPr id="781" name="Google Shape;781;p10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5" name="Shape 785"/>
        <p:cNvGrpSpPr/>
        <p:nvPr/>
      </p:nvGrpSpPr>
      <p:grpSpPr>
        <a:xfrm>
          <a:off x="0" y="0"/>
          <a:ext cx="0" cy="0"/>
          <a:chOff x="0" y="0"/>
          <a:chExt cx="0" cy="0"/>
        </a:xfrm>
      </p:grpSpPr>
      <p:sp>
        <p:nvSpPr>
          <p:cNvPr id="786" name="Google Shape;786;p10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Grid Layout ─ Fractional unit</a:t>
            </a:r>
            <a:endParaRPr/>
          </a:p>
        </p:txBody>
      </p:sp>
      <p:sp>
        <p:nvSpPr>
          <p:cNvPr id="787" name="Google Shape;787;p107"/>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Pixel based</a:t>
            </a:r>
            <a:endParaRPr/>
          </a:p>
          <a:p>
            <a:pPr indent="-304800" lvl="1" marL="914400" rtl="0" algn="l">
              <a:spcBef>
                <a:spcPts val="0"/>
              </a:spcBef>
              <a:spcAft>
                <a:spcPts val="0"/>
              </a:spcAft>
              <a:buSzPts val="1200"/>
              <a:buChar char="○"/>
            </a:pPr>
            <a:r>
              <a:rPr lang="en"/>
              <a:t>.wrapper {</a:t>
            </a:r>
            <a:endParaRPr/>
          </a:p>
          <a:p>
            <a:pPr indent="-304800" lvl="1" marL="914400" rtl="0" algn="l">
              <a:spcBef>
                <a:spcPts val="0"/>
              </a:spcBef>
              <a:spcAft>
                <a:spcPts val="0"/>
              </a:spcAft>
              <a:buSzPts val="1200"/>
              <a:buChar char="○"/>
            </a:pPr>
            <a:r>
              <a:rPr lang="en"/>
              <a:t>  display: grid;</a:t>
            </a:r>
            <a:endParaRPr/>
          </a:p>
          <a:p>
            <a:pPr indent="-304800" lvl="1" marL="914400" rtl="0" algn="l">
              <a:spcBef>
                <a:spcPts val="0"/>
              </a:spcBef>
              <a:spcAft>
                <a:spcPts val="0"/>
              </a:spcAft>
              <a:buSzPts val="1200"/>
              <a:buChar char="○"/>
            </a:pPr>
            <a:r>
              <a:rPr lang="en"/>
              <a:t>  grid-template-columns: 200px 200px 200px;</a:t>
            </a:r>
            <a:endParaRPr/>
          </a:p>
          <a:p>
            <a:pPr indent="-304800" lvl="1" marL="914400" rtl="0" algn="l">
              <a:spcBef>
                <a:spcPts val="0"/>
              </a:spcBef>
              <a:spcAft>
                <a:spcPts val="0"/>
              </a:spcAft>
              <a:buSzPts val="1200"/>
              <a:buChar char="○"/>
            </a:pPr>
            <a:r>
              <a:rPr lang="en"/>
              <a:t>}</a:t>
            </a:r>
            <a:endParaRPr/>
          </a:p>
          <a:p>
            <a:pPr indent="-317500" lvl="0" marL="457200" rtl="0" algn="l">
              <a:spcBef>
                <a:spcPts val="0"/>
              </a:spcBef>
              <a:spcAft>
                <a:spcPts val="0"/>
              </a:spcAft>
              <a:buSzPts val="1400"/>
              <a:buChar char="●"/>
            </a:pPr>
            <a:r>
              <a:rPr lang="en"/>
              <a:t>f</a:t>
            </a:r>
            <a:r>
              <a:rPr lang="en"/>
              <a:t>r unit: The fr unit represents a fraction of the available space in the grid container.</a:t>
            </a:r>
            <a:endParaRPr/>
          </a:p>
          <a:p>
            <a:pPr indent="-304800" lvl="1" marL="914400" rtl="0" algn="l">
              <a:spcBef>
                <a:spcPts val="0"/>
              </a:spcBef>
              <a:spcAft>
                <a:spcPts val="0"/>
              </a:spcAft>
              <a:buSzPts val="1200"/>
              <a:buChar char="○"/>
            </a:pPr>
            <a:r>
              <a:rPr lang="en"/>
              <a:t>.wrapper {</a:t>
            </a:r>
            <a:endParaRPr/>
          </a:p>
          <a:p>
            <a:pPr indent="-304800" lvl="1" marL="914400" rtl="0" algn="l">
              <a:spcBef>
                <a:spcPts val="0"/>
              </a:spcBef>
              <a:spcAft>
                <a:spcPts val="0"/>
              </a:spcAft>
              <a:buSzPts val="1200"/>
              <a:buChar char="○"/>
            </a:pPr>
            <a:r>
              <a:rPr lang="en"/>
              <a:t>  display: grid;</a:t>
            </a:r>
            <a:endParaRPr/>
          </a:p>
          <a:p>
            <a:pPr indent="-304800" lvl="1" marL="914400" rtl="0" algn="l">
              <a:spcBef>
                <a:spcPts val="0"/>
              </a:spcBef>
              <a:spcAft>
                <a:spcPts val="0"/>
              </a:spcAft>
              <a:buSzPts val="1200"/>
              <a:buChar char="○"/>
            </a:pPr>
            <a:r>
              <a:rPr lang="en"/>
              <a:t>  grid-template-columns: 1fr 1fr 1fr;</a:t>
            </a:r>
            <a:endParaRPr/>
          </a:p>
          <a:p>
            <a:pPr indent="-304800" lvl="1" marL="914400" rtl="0" algn="l">
              <a:spcBef>
                <a:spcPts val="0"/>
              </a:spcBef>
              <a:spcAft>
                <a:spcPts val="0"/>
              </a:spcAft>
              <a:buSzPts val="1200"/>
              <a:buChar char="○"/>
            </a:pPr>
            <a:r>
              <a:rPr lang="en"/>
              <a:t>}</a:t>
            </a:r>
            <a:endParaRPr/>
          </a:p>
        </p:txBody>
      </p:sp>
      <p:sp>
        <p:nvSpPr>
          <p:cNvPr id="788" name="Google Shape;788;p10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89" name="Google Shape;789;p107"/>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Unequal sizes</a:t>
            </a:r>
            <a:endParaRPr/>
          </a:p>
          <a:p>
            <a:pPr indent="-304800" lvl="1" marL="914400" rtl="0" algn="l">
              <a:spcBef>
                <a:spcPts val="0"/>
              </a:spcBef>
              <a:spcAft>
                <a:spcPts val="0"/>
              </a:spcAft>
              <a:buSzPts val="1200"/>
              <a:buChar char="○"/>
            </a:pPr>
            <a:r>
              <a:rPr lang="en"/>
              <a:t>.wrapper {</a:t>
            </a:r>
            <a:endParaRPr/>
          </a:p>
          <a:p>
            <a:pPr indent="-304800" lvl="1" marL="914400" rtl="0" algn="l">
              <a:spcBef>
                <a:spcPts val="0"/>
              </a:spcBef>
              <a:spcAft>
                <a:spcPts val="0"/>
              </a:spcAft>
              <a:buSzPts val="1200"/>
              <a:buChar char="○"/>
            </a:pPr>
            <a:r>
              <a:rPr lang="en"/>
              <a:t>  display: grid;</a:t>
            </a:r>
            <a:endParaRPr/>
          </a:p>
          <a:p>
            <a:pPr indent="-304800" lvl="1" marL="914400" rtl="0" algn="l">
              <a:spcBef>
                <a:spcPts val="0"/>
              </a:spcBef>
              <a:spcAft>
                <a:spcPts val="0"/>
              </a:spcAft>
              <a:buSzPts val="1200"/>
              <a:buChar char="○"/>
            </a:pPr>
            <a:r>
              <a:rPr lang="en"/>
              <a:t>  grid-template-columns: 2fr 1fr 1fr;</a:t>
            </a:r>
            <a:endParaRPr/>
          </a:p>
          <a:p>
            <a:pPr indent="-304800" lvl="1" marL="914400" rtl="0" algn="l">
              <a:spcBef>
                <a:spcPts val="0"/>
              </a:spcBef>
              <a:spcAft>
                <a:spcPts val="0"/>
              </a:spcAft>
              <a:buSzPts val="1200"/>
              <a:buChar char="○"/>
            </a:pPr>
            <a:r>
              <a:rPr lang="en"/>
              <a:t>}</a:t>
            </a:r>
            <a:endParaRPr/>
          </a:p>
          <a:p>
            <a:pPr indent="-317500" lvl="0" marL="457200" rtl="0" algn="l">
              <a:spcBef>
                <a:spcPts val="0"/>
              </a:spcBef>
              <a:spcAft>
                <a:spcPts val="0"/>
              </a:spcAft>
              <a:buSzPts val="1400"/>
              <a:buChar char="●"/>
            </a:pPr>
            <a:r>
              <a:rPr lang="en"/>
              <a:t>Mixing flexible and absolute sizes</a:t>
            </a:r>
            <a:endParaRPr/>
          </a:p>
          <a:p>
            <a:pPr indent="-304800" lvl="1" marL="914400" rtl="0" algn="l">
              <a:spcBef>
                <a:spcPts val="0"/>
              </a:spcBef>
              <a:spcAft>
                <a:spcPts val="0"/>
              </a:spcAft>
              <a:buSzPts val="1200"/>
              <a:buChar char="○"/>
            </a:pPr>
            <a:r>
              <a:rPr lang="en"/>
              <a:t>.wrapper {</a:t>
            </a:r>
            <a:endParaRPr/>
          </a:p>
          <a:p>
            <a:pPr indent="-304800" lvl="1" marL="914400" rtl="0" algn="l">
              <a:spcBef>
                <a:spcPts val="0"/>
              </a:spcBef>
              <a:spcAft>
                <a:spcPts val="0"/>
              </a:spcAft>
              <a:buSzPts val="1200"/>
              <a:buChar char="○"/>
            </a:pPr>
            <a:r>
              <a:rPr lang="en"/>
              <a:t>  display: grid;</a:t>
            </a:r>
            <a:endParaRPr/>
          </a:p>
          <a:p>
            <a:pPr indent="-304800" lvl="1" marL="914400" rtl="0" algn="l">
              <a:spcBef>
                <a:spcPts val="0"/>
              </a:spcBef>
              <a:spcAft>
                <a:spcPts val="0"/>
              </a:spcAft>
              <a:buSzPts val="1200"/>
              <a:buChar char="○"/>
            </a:pPr>
            <a:r>
              <a:rPr lang="en"/>
              <a:t>  grid-template-columns: 500px 1fr 2fr;</a:t>
            </a:r>
            <a:endParaRPr/>
          </a:p>
          <a:p>
            <a:pPr indent="-304800" lvl="1" marL="914400" rtl="0" algn="l">
              <a:spcBef>
                <a:spcPts val="0"/>
              </a:spcBef>
              <a:spcAft>
                <a:spcPts val="0"/>
              </a:spcAft>
              <a:buSzPts val="1200"/>
              <a:buChar char="○"/>
            </a:pPr>
            <a:r>
              <a:rPr lang="en"/>
              <a:t>}</a:t>
            </a:r>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3" name="Shape 793"/>
        <p:cNvGrpSpPr/>
        <p:nvPr/>
      </p:nvGrpSpPr>
      <p:grpSpPr>
        <a:xfrm>
          <a:off x="0" y="0"/>
          <a:ext cx="0" cy="0"/>
          <a:chOff x="0" y="0"/>
          <a:chExt cx="0" cy="0"/>
        </a:xfrm>
      </p:grpSpPr>
      <p:sp>
        <p:nvSpPr>
          <p:cNvPr id="794" name="Google Shape;794;p10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Grid Layout ─ Function and Implicit Grid</a:t>
            </a:r>
            <a:endParaRPr/>
          </a:p>
        </p:txBody>
      </p:sp>
      <p:sp>
        <p:nvSpPr>
          <p:cNvPr id="795" name="Google Shape;795;p108"/>
          <p:cNvSpPr txBox="1"/>
          <p:nvPr>
            <p:ph idx="1" type="body"/>
          </p:nvPr>
        </p:nvSpPr>
        <p:spPr>
          <a:xfrm>
            <a:off x="311700" y="1152475"/>
            <a:ext cx="3999900" cy="3416400"/>
          </a:xfrm>
          <a:prstGeom prst="rect">
            <a:avLst/>
          </a:prstGeom>
        </p:spPr>
        <p:txBody>
          <a:bodyPr anchorCtr="0" anchor="t" bIns="91425" lIns="91425" spcFirstLastPara="1" rIns="91425" wrap="square" tIns="91425">
            <a:normAutofit lnSpcReduction="10000"/>
          </a:bodyPr>
          <a:lstStyle/>
          <a:p>
            <a:pPr indent="-317500" lvl="0" marL="457200" rtl="0" algn="l">
              <a:spcBef>
                <a:spcPts val="0"/>
              </a:spcBef>
              <a:spcAft>
                <a:spcPts val="0"/>
              </a:spcAft>
              <a:buSzPts val="1400"/>
              <a:buChar char="●"/>
            </a:pPr>
            <a:r>
              <a:rPr lang="en"/>
              <a:t>repeat() function</a:t>
            </a:r>
            <a:endParaRPr/>
          </a:p>
          <a:p>
            <a:pPr indent="-304800" lvl="1" marL="914400" rtl="0" algn="l">
              <a:spcBef>
                <a:spcPts val="0"/>
              </a:spcBef>
              <a:spcAft>
                <a:spcPts val="0"/>
              </a:spcAft>
              <a:buSzPts val="1200"/>
              <a:buChar char="○"/>
            </a:pPr>
            <a:r>
              <a:rPr lang="en"/>
              <a:t>.wrapper {</a:t>
            </a:r>
            <a:endParaRPr/>
          </a:p>
          <a:p>
            <a:pPr indent="-304800" lvl="1" marL="914400" rtl="0" algn="l">
              <a:spcBef>
                <a:spcPts val="0"/>
              </a:spcBef>
              <a:spcAft>
                <a:spcPts val="0"/>
              </a:spcAft>
              <a:buSzPts val="1200"/>
              <a:buChar char="○"/>
            </a:pPr>
            <a:r>
              <a:rPr lang="en"/>
              <a:t>  display: grid;</a:t>
            </a:r>
            <a:endParaRPr/>
          </a:p>
          <a:p>
            <a:pPr indent="-304800" lvl="1" marL="914400" rtl="0" algn="l">
              <a:spcBef>
                <a:spcPts val="0"/>
              </a:spcBef>
              <a:spcAft>
                <a:spcPts val="0"/>
              </a:spcAft>
              <a:buSzPts val="1200"/>
              <a:buChar char="○"/>
            </a:pPr>
            <a:r>
              <a:rPr lang="en"/>
              <a:t>  grid-template-columns: repeat(3, 1fr);</a:t>
            </a:r>
            <a:endParaRPr/>
          </a:p>
          <a:p>
            <a:pPr indent="-304800" lvl="1" marL="914400" rtl="0" algn="l">
              <a:spcBef>
                <a:spcPts val="0"/>
              </a:spcBef>
              <a:spcAft>
                <a:spcPts val="0"/>
              </a:spcAft>
              <a:buSzPts val="1200"/>
              <a:buChar char="○"/>
            </a:pPr>
            <a:r>
              <a:rPr lang="en"/>
              <a:t>}</a:t>
            </a:r>
            <a:endParaRPr/>
          </a:p>
          <a:p>
            <a:pPr indent="-317500" lvl="0" marL="457200" rtl="0" algn="l">
              <a:spcBef>
                <a:spcPts val="0"/>
              </a:spcBef>
              <a:spcAft>
                <a:spcPts val="0"/>
              </a:spcAft>
              <a:buSzPts val="1400"/>
              <a:buChar char="●"/>
            </a:pPr>
            <a:r>
              <a:rPr lang="en"/>
              <a:t>Mixed mode</a:t>
            </a:r>
            <a:endParaRPr/>
          </a:p>
          <a:p>
            <a:pPr indent="-304800" lvl="1" marL="914400" rtl="0" algn="l">
              <a:spcBef>
                <a:spcPts val="0"/>
              </a:spcBef>
              <a:spcAft>
                <a:spcPts val="0"/>
              </a:spcAft>
              <a:buSzPts val="1200"/>
              <a:buChar char="○"/>
            </a:pPr>
            <a:r>
              <a:rPr lang="en"/>
              <a:t>.wrapper {</a:t>
            </a:r>
            <a:endParaRPr/>
          </a:p>
          <a:p>
            <a:pPr indent="-304800" lvl="1" marL="914400" rtl="0" algn="l">
              <a:spcBef>
                <a:spcPts val="0"/>
              </a:spcBef>
              <a:spcAft>
                <a:spcPts val="0"/>
              </a:spcAft>
              <a:buSzPts val="1200"/>
              <a:buChar char="○"/>
            </a:pPr>
            <a:r>
              <a:rPr lang="en"/>
              <a:t>  display: grid;</a:t>
            </a:r>
            <a:endParaRPr/>
          </a:p>
          <a:p>
            <a:pPr indent="-304800" lvl="1" marL="914400" rtl="0" algn="l">
              <a:spcBef>
                <a:spcPts val="0"/>
              </a:spcBef>
              <a:spcAft>
                <a:spcPts val="0"/>
              </a:spcAft>
              <a:buSzPts val="1200"/>
              <a:buChar char="○"/>
            </a:pPr>
            <a:r>
              <a:rPr lang="en"/>
              <a:t>  grid-template-columns: 20px repeat(6, 1fr) 20px;</a:t>
            </a:r>
            <a:endParaRPr/>
          </a:p>
          <a:p>
            <a:pPr indent="-304800" lvl="1" marL="914400" rtl="0" algn="l">
              <a:spcBef>
                <a:spcPts val="0"/>
              </a:spcBef>
              <a:spcAft>
                <a:spcPts val="0"/>
              </a:spcAft>
              <a:buSzPts val="1200"/>
              <a:buChar char="○"/>
            </a:pPr>
            <a:r>
              <a:rPr lang="en"/>
              <a:t>}</a:t>
            </a:r>
            <a:endParaRPr/>
          </a:p>
          <a:p>
            <a:pPr indent="-317500" lvl="0" marL="457200" rtl="0" algn="l">
              <a:spcBef>
                <a:spcPts val="0"/>
              </a:spcBef>
              <a:spcAft>
                <a:spcPts val="0"/>
              </a:spcAft>
              <a:buSzPts val="1400"/>
              <a:buChar char="●"/>
            </a:pPr>
            <a:r>
              <a:rPr lang="en"/>
              <a:t>Repeated pattern </a:t>
            </a:r>
            <a:endParaRPr/>
          </a:p>
          <a:p>
            <a:pPr indent="-304800" lvl="1" marL="914400" rtl="0" algn="l">
              <a:spcBef>
                <a:spcPts val="0"/>
              </a:spcBef>
              <a:spcAft>
                <a:spcPts val="0"/>
              </a:spcAft>
              <a:buSzPts val="1200"/>
              <a:buChar char="○"/>
            </a:pPr>
            <a:r>
              <a:rPr lang="en"/>
              <a:t>.wrapper {</a:t>
            </a:r>
            <a:endParaRPr/>
          </a:p>
          <a:p>
            <a:pPr indent="-304800" lvl="1" marL="914400" rtl="0" algn="l">
              <a:spcBef>
                <a:spcPts val="0"/>
              </a:spcBef>
              <a:spcAft>
                <a:spcPts val="0"/>
              </a:spcAft>
              <a:buSzPts val="1200"/>
              <a:buChar char="○"/>
            </a:pPr>
            <a:r>
              <a:rPr lang="en"/>
              <a:t>  display: grid;</a:t>
            </a:r>
            <a:endParaRPr/>
          </a:p>
          <a:p>
            <a:pPr indent="-304800" lvl="1" marL="914400" rtl="0" algn="l">
              <a:spcBef>
                <a:spcPts val="0"/>
              </a:spcBef>
              <a:spcAft>
                <a:spcPts val="0"/>
              </a:spcAft>
              <a:buSzPts val="1200"/>
              <a:buChar char="○"/>
            </a:pPr>
            <a:r>
              <a:rPr lang="en"/>
              <a:t>  grid-template-columns: repeat(5, 1fr 2fr);</a:t>
            </a:r>
            <a:endParaRPr/>
          </a:p>
          <a:p>
            <a:pPr indent="-304800" lvl="1" marL="914400" rtl="0" algn="l">
              <a:spcBef>
                <a:spcPts val="0"/>
              </a:spcBef>
              <a:spcAft>
                <a:spcPts val="0"/>
              </a:spcAft>
              <a:buSzPts val="1200"/>
              <a:buChar char="○"/>
            </a:pPr>
            <a:r>
              <a:rPr lang="en"/>
              <a:t>}</a:t>
            </a:r>
            <a:endParaRPr/>
          </a:p>
        </p:txBody>
      </p:sp>
      <p:sp>
        <p:nvSpPr>
          <p:cNvPr id="796" name="Google Shape;796;p10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797" name="Google Shape;797;p108"/>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fontScale="85000" lnSpcReduction="20000"/>
          </a:bodyPr>
          <a:lstStyle/>
          <a:p>
            <a:pPr indent="-304165" lvl="0" marL="457200" rtl="0" algn="l">
              <a:spcBef>
                <a:spcPts val="0"/>
              </a:spcBef>
              <a:spcAft>
                <a:spcPts val="0"/>
              </a:spcAft>
              <a:buSzPct val="100000"/>
              <a:buChar char="●"/>
            </a:pPr>
            <a:r>
              <a:rPr lang="en"/>
              <a:t>Implicit grid</a:t>
            </a:r>
            <a:endParaRPr/>
          </a:p>
          <a:p>
            <a:pPr indent="-293370" lvl="1" marL="914400" rtl="0" algn="l">
              <a:spcBef>
                <a:spcPts val="0"/>
              </a:spcBef>
              <a:spcAft>
                <a:spcPts val="0"/>
              </a:spcAft>
              <a:buSzPct val="100000"/>
              <a:buChar char="○"/>
            </a:pPr>
            <a:r>
              <a:rPr lang="en"/>
              <a:t>No </a:t>
            </a:r>
            <a:r>
              <a:rPr lang="en"/>
              <a:t>explicit</a:t>
            </a:r>
            <a:r>
              <a:rPr lang="en"/>
              <a:t> declared, e.g. grid-template-rows</a:t>
            </a:r>
            <a:endParaRPr/>
          </a:p>
          <a:p>
            <a:pPr indent="-293370" lvl="1" marL="914400" rtl="0" algn="l">
              <a:spcBef>
                <a:spcPts val="0"/>
              </a:spcBef>
              <a:spcAft>
                <a:spcPts val="0"/>
              </a:spcAft>
              <a:buSzPct val="100000"/>
              <a:buChar char="○"/>
            </a:pPr>
            <a:r>
              <a:rPr lang="en"/>
              <a:t>The number of grid items exceeds the capacity of the defined tracks.</a:t>
            </a:r>
            <a:endParaRPr/>
          </a:p>
          <a:p>
            <a:pPr indent="-293370" lvl="1" marL="914400" rtl="0" algn="l">
              <a:spcBef>
                <a:spcPts val="0"/>
              </a:spcBef>
              <a:spcAft>
                <a:spcPts val="0"/>
              </a:spcAft>
              <a:buSzPct val="100000"/>
              <a:buChar char="○"/>
            </a:pPr>
            <a:r>
              <a:rPr lang="en"/>
              <a:t>P</a:t>
            </a:r>
            <a:r>
              <a:rPr lang="en"/>
              <a:t>lacement of g</a:t>
            </a:r>
            <a:r>
              <a:rPr lang="en"/>
              <a:t>rid item is outside of defined tracks.</a:t>
            </a:r>
            <a:endParaRPr/>
          </a:p>
          <a:p>
            <a:pPr indent="-304165" lvl="0" marL="457200" rtl="0" algn="l">
              <a:spcBef>
                <a:spcPts val="0"/>
              </a:spcBef>
              <a:spcAft>
                <a:spcPts val="0"/>
              </a:spcAft>
              <a:buSzPct val="100000"/>
              <a:buChar char="●"/>
            </a:pPr>
            <a:r>
              <a:rPr lang="en"/>
              <a:t>I</a:t>
            </a:r>
            <a:r>
              <a:rPr lang="en"/>
              <a:t>mplicit tracks are auto-sized by default</a:t>
            </a:r>
            <a:endParaRPr/>
          </a:p>
          <a:p>
            <a:pPr indent="-293370" lvl="1" marL="914400" rtl="0" algn="l">
              <a:spcBef>
                <a:spcPts val="0"/>
              </a:spcBef>
              <a:spcAft>
                <a:spcPts val="0"/>
              </a:spcAft>
              <a:buSzPct val="100000"/>
              <a:buChar char="○"/>
            </a:pPr>
            <a:r>
              <a:rPr lang="en"/>
              <a:t>The auto keyword allows accommodating content while also sharing any remaining space.</a:t>
            </a:r>
            <a:endParaRPr/>
          </a:p>
          <a:p>
            <a:pPr indent="-293370" lvl="1" marL="914400" rtl="0" algn="l">
              <a:spcBef>
                <a:spcPts val="0"/>
              </a:spcBef>
              <a:spcAft>
                <a:spcPts val="0"/>
              </a:spcAft>
              <a:buSzPct val="100000"/>
              <a:buChar char="○"/>
            </a:pPr>
            <a:r>
              <a:rPr lang="en"/>
              <a:t>Using </a:t>
            </a:r>
            <a:r>
              <a:rPr lang="en"/>
              <a:t>grid-auto-rows and grid-auto-columns properties to</a:t>
            </a:r>
            <a:r>
              <a:rPr lang="en"/>
              <a:t> define size of tracks.</a:t>
            </a:r>
            <a:endParaRPr/>
          </a:p>
          <a:p>
            <a:pPr indent="-293370" lvl="1" marL="914400" rtl="0" algn="l">
              <a:spcBef>
                <a:spcPts val="0"/>
              </a:spcBef>
              <a:spcAft>
                <a:spcPts val="0"/>
              </a:spcAft>
              <a:buSzPct val="100000"/>
              <a:buChar char="○"/>
            </a:pPr>
            <a:r>
              <a:rPr lang="en"/>
              <a:t>.wrapper {</a:t>
            </a:r>
            <a:endParaRPr/>
          </a:p>
          <a:p>
            <a:pPr indent="-293370" lvl="1" marL="914400" rtl="0" algn="l">
              <a:spcBef>
                <a:spcPts val="0"/>
              </a:spcBef>
              <a:spcAft>
                <a:spcPts val="0"/>
              </a:spcAft>
              <a:buSzPct val="100000"/>
              <a:buChar char="○"/>
            </a:pPr>
            <a:r>
              <a:rPr lang="en"/>
              <a:t>  display: grid;</a:t>
            </a:r>
            <a:endParaRPr/>
          </a:p>
          <a:p>
            <a:pPr indent="-293370" lvl="1" marL="914400" rtl="0" algn="l">
              <a:spcBef>
                <a:spcPts val="0"/>
              </a:spcBef>
              <a:spcAft>
                <a:spcPts val="0"/>
              </a:spcAft>
              <a:buSzPct val="100000"/>
              <a:buChar char="○"/>
            </a:pPr>
            <a:r>
              <a:rPr lang="en"/>
              <a:t>  grid-template-columns: repeat(3, 1fr);</a:t>
            </a:r>
            <a:endParaRPr/>
          </a:p>
          <a:p>
            <a:pPr indent="-293370" lvl="1" marL="914400" rtl="0" algn="l">
              <a:spcBef>
                <a:spcPts val="0"/>
              </a:spcBef>
              <a:spcAft>
                <a:spcPts val="0"/>
              </a:spcAft>
              <a:buSzPct val="100000"/>
              <a:buChar char="○"/>
            </a:pPr>
            <a:r>
              <a:rPr lang="en"/>
              <a:t>  grid-auto-rows: 200px;</a:t>
            </a:r>
            <a:endParaRPr/>
          </a:p>
          <a:p>
            <a:pPr indent="-293370" lvl="1" marL="914400" rtl="0" algn="l">
              <a:spcBef>
                <a:spcPts val="0"/>
              </a:spcBef>
              <a:spcAft>
                <a:spcPts val="0"/>
              </a:spcAft>
              <a:buSzPct val="100000"/>
              <a:buChar char="○"/>
            </a:pPr>
            <a:r>
              <a:rPr lang="en"/>
              <a:t>}</a:t>
            </a:r>
            <a:endParaRPr/>
          </a:p>
          <a:p>
            <a:pPr indent="-304165" lvl="0" marL="457200" rtl="0" algn="l">
              <a:spcBef>
                <a:spcPts val="0"/>
              </a:spcBef>
              <a:spcAft>
                <a:spcPts val="0"/>
              </a:spcAft>
              <a:buSzPct val="100000"/>
              <a:buChar char="●"/>
            </a:pPr>
            <a:r>
              <a:rPr lang="en"/>
              <a:t>minmax(min_value, max_value)</a:t>
            </a:r>
            <a:endParaRPr/>
          </a:p>
          <a:p>
            <a:pPr indent="-293370" lvl="1" marL="914400" rtl="0" algn="l">
              <a:spcBef>
                <a:spcPts val="0"/>
              </a:spcBef>
              <a:spcAft>
                <a:spcPts val="0"/>
              </a:spcAft>
              <a:buSzPct val="100000"/>
              <a:buChar char="○"/>
            </a:pPr>
            <a:r>
              <a:rPr lang="en"/>
              <a:t>.wrapper {</a:t>
            </a:r>
            <a:endParaRPr/>
          </a:p>
          <a:p>
            <a:pPr indent="-293370" lvl="1" marL="914400" rtl="0" algn="l">
              <a:spcBef>
                <a:spcPts val="0"/>
              </a:spcBef>
              <a:spcAft>
                <a:spcPts val="0"/>
              </a:spcAft>
              <a:buSzPct val="100000"/>
              <a:buChar char="○"/>
            </a:pPr>
            <a:r>
              <a:rPr lang="en"/>
              <a:t>  display: grid;</a:t>
            </a:r>
            <a:endParaRPr/>
          </a:p>
          <a:p>
            <a:pPr indent="-293370" lvl="1" marL="914400" rtl="0" algn="l">
              <a:spcBef>
                <a:spcPts val="0"/>
              </a:spcBef>
              <a:spcAft>
                <a:spcPts val="0"/>
              </a:spcAft>
              <a:buSzPct val="100000"/>
              <a:buChar char="○"/>
            </a:pPr>
            <a:r>
              <a:rPr lang="en"/>
              <a:t>  grid-template-columns: repeat(3, 1fr);</a:t>
            </a:r>
            <a:endParaRPr/>
          </a:p>
          <a:p>
            <a:pPr indent="-293370" lvl="1" marL="914400" rtl="0" algn="l">
              <a:spcBef>
                <a:spcPts val="0"/>
              </a:spcBef>
              <a:spcAft>
                <a:spcPts val="0"/>
              </a:spcAft>
              <a:buSzPct val="100000"/>
              <a:buChar char="○"/>
            </a:pPr>
            <a:r>
              <a:rPr lang="en"/>
              <a:t>  grid-auto-rows: minmax(100px, auto);</a:t>
            </a:r>
            <a:endParaRPr/>
          </a:p>
          <a:p>
            <a:pPr indent="-293370" lvl="1" marL="914400" rtl="0" algn="l">
              <a:spcBef>
                <a:spcPts val="0"/>
              </a:spcBef>
              <a:spcAft>
                <a:spcPts val="0"/>
              </a:spcAft>
              <a:buSzPct val="100000"/>
              <a:buChar char="○"/>
            </a:pPr>
            <a:r>
              <a:rPr lang="en"/>
              <a:t>}</a:t>
            </a:r>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10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Grid Layout ─ </a:t>
            </a:r>
            <a:r>
              <a:rPr lang="en"/>
              <a:t>Grid Line and Positioning Items</a:t>
            </a:r>
            <a:endParaRPr/>
          </a:p>
        </p:txBody>
      </p:sp>
      <p:sp>
        <p:nvSpPr>
          <p:cNvPr id="803" name="Google Shape;803;p109"/>
          <p:cNvSpPr txBox="1"/>
          <p:nvPr>
            <p:ph idx="1" type="body"/>
          </p:nvPr>
        </p:nvSpPr>
        <p:spPr>
          <a:xfrm>
            <a:off x="311700" y="1152475"/>
            <a:ext cx="3999900" cy="8367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Lines are numbered according to the writing mode of the document.</a:t>
            </a:r>
            <a:endParaRPr/>
          </a:p>
        </p:txBody>
      </p:sp>
      <p:sp>
        <p:nvSpPr>
          <p:cNvPr id="804" name="Google Shape;804;p109"/>
          <p:cNvSpPr txBox="1"/>
          <p:nvPr>
            <p:ph idx="2" type="body"/>
          </p:nvPr>
        </p:nvSpPr>
        <p:spPr>
          <a:xfrm>
            <a:off x="4832400" y="1152475"/>
            <a:ext cx="3999900" cy="2317500"/>
          </a:xfrm>
          <a:prstGeom prst="rect">
            <a:avLst/>
          </a:prstGeom>
        </p:spPr>
        <p:txBody>
          <a:bodyPr anchorCtr="0" anchor="t" bIns="91425" lIns="91425" spcFirstLastPara="1" rIns="91425" wrap="square" tIns="91425">
            <a:normAutofit fontScale="77500" lnSpcReduction="20000"/>
          </a:bodyPr>
          <a:lstStyle/>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.wrapper {</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display: grid;</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grid-template-columns: repeat(3, 1fr);</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grid-auto-rows: 100px;</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.box1 {</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grid-column-start: 1;</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grid-column-end: 4;</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grid-row-start: 1;</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grid-row-end: 3;</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.box2 {</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grid-column-start: 1;</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grid-row-start: 3;</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  grid-row-end: 5;</a:t>
            </a:r>
            <a:endParaRPr sz="1200">
              <a:solidFill>
                <a:schemeClr val="dk2"/>
              </a:solidFill>
              <a:latin typeface="Courier New"/>
              <a:ea typeface="Courier New"/>
              <a:cs typeface="Courier New"/>
              <a:sym typeface="Courier New"/>
            </a:endParaRPr>
          </a:p>
          <a:p>
            <a:pPr indent="0" lvl="0" marL="0" rtl="0" algn="l">
              <a:lnSpc>
                <a:spcPct val="100000"/>
              </a:lnSpc>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805" name="Google Shape;805;p10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806" name="Google Shape;806;p109"/>
          <p:cNvPicPr preferRelativeResize="0"/>
          <p:nvPr/>
        </p:nvPicPr>
        <p:blipFill>
          <a:blip r:embed="rId3">
            <a:alphaModFix/>
          </a:blip>
          <a:stretch>
            <a:fillRect/>
          </a:stretch>
        </p:blipFill>
        <p:spPr>
          <a:xfrm>
            <a:off x="161175" y="1858200"/>
            <a:ext cx="4527600" cy="2710680"/>
          </a:xfrm>
          <a:prstGeom prst="rect">
            <a:avLst/>
          </a:prstGeom>
          <a:noFill/>
          <a:ln>
            <a:noFill/>
          </a:ln>
        </p:spPr>
      </p:pic>
      <p:pic>
        <p:nvPicPr>
          <p:cNvPr id="807" name="Google Shape;807;p109"/>
          <p:cNvPicPr preferRelativeResize="0"/>
          <p:nvPr/>
        </p:nvPicPr>
        <p:blipFill>
          <a:blip r:embed="rId4">
            <a:alphaModFix/>
          </a:blip>
          <a:stretch>
            <a:fillRect/>
          </a:stretch>
        </p:blipFill>
        <p:spPr>
          <a:xfrm>
            <a:off x="5342490" y="3417298"/>
            <a:ext cx="2642001" cy="1465125"/>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1" name="Shape 811"/>
        <p:cNvGrpSpPr/>
        <p:nvPr/>
      </p:nvGrpSpPr>
      <p:grpSpPr>
        <a:xfrm>
          <a:off x="0" y="0"/>
          <a:ext cx="0" cy="0"/>
          <a:chOff x="0" y="0"/>
          <a:chExt cx="0" cy="0"/>
        </a:xfrm>
      </p:grpSpPr>
      <p:sp>
        <p:nvSpPr>
          <p:cNvPr id="812" name="Google Shape;812;p11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Grid Layout ─ Line-positioning shorthands</a:t>
            </a:r>
            <a:endParaRPr/>
          </a:p>
        </p:txBody>
      </p:sp>
      <p:sp>
        <p:nvSpPr>
          <p:cNvPr id="813" name="Google Shape;813;p11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317183" lvl="0" marL="457200" rtl="0" algn="l">
              <a:spcBef>
                <a:spcPts val="0"/>
              </a:spcBef>
              <a:spcAft>
                <a:spcPts val="0"/>
              </a:spcAft>
              <a:buSzPct val="100000"/>
              <a:buChar char="●"/>
            </a:pPr>
            <a:r>
              <a:rPr lang="en"/>
              <a:t>The longhand values used above can be compressed onto one line for columns with the grid-column shorthand, and one line for rows with the grid-row shorthand.</a:t>
            </a:r>
            <a:endParaRPr/>
          </a:p>
          <a:p>
            <a:pPr indent="457200" lvl="0" marL="0" rtl="0" algn="l">
              <a:lnSpc>
                <a:spcPct val="100000"/>
              </a:lnSpc>
              <a:spcBef>
                <a:spcPts val="1600"/>
              </a:spcBef>
              <a:spcAft>
                <a:spcPts val="0"/>
              </a:spcAft>
              <a:buNone/>
            </a:pPr>
            <a:r>
              <a:rPr lang="en"/>
              <a:t>.wrapper {</a:t>
            </a:r>
            <a:endParaRPr/>
          </a:p>
          <a:p>
            <a:pPr indent="457200" lvl="0" marL="0" rtl="0" algn="l">
              <a:lnSpc>
                <a:spcPct val="100000"/>
              </a:lnSpc>
              <a:spcBef>
                <a:spcPts val="0"/>
              </a:spcBef>
              <a:spcAft>
                <a:spcPts val="0"/>
              </a:spcAft>
              <a:buNone/>
            </a:pPr>
            <a:r>
              <a:rPr lang="en"/>
              <a:t>  display: grid;</a:t>
            </a:r>
            <a:endParaRPr/>
          </a:p>
          <a:p>
            <a:pPr indent="457200" lvl="0" marL="0" rtl="0" algn="l">
              <a:lnSpc>
                <a:spcPct val="100000"/>
              </a:lnSpc>
              <a:spcBef>
                <a:spcPts val="0"/>
              </a:spcBef>
              <a:spcAft>
                <a:spcPts val="0"/>
              </a:spcAft>
              <a:buNone/>
            </a:pPr>
            <a:r>
              <a:rPr lang="en"/>
              <a:t>  grid-template-columns: repeat(3, 1fr);</a:t>
            </a:r>
            <a:endParaRPr/>
          </a:p>
          <a:p>
            <a:pPr indent="457200" lvl="0" marL="0" rtl="0" algn="l">
              <a:lnSpc>
                <a:spcPct val="100000"/>
              </a:lnSpc>
              <a:spcBef>
                <a:spcPts val="0"/>
              </a:spcBef>
              <a:spcAft>
                <a:spcPts val="0"/>
              </a:spcAft>
              <a:buNone/>
            </a:pPr>
            <a:r>
              <a:rPr lang="en"/>
              <a:t>  grid-auto-rows: 100px;</a:t>
            </a:r>
            <a:endParaRPr/>
          </a:p>
          <a:p>
            <a:pPr indent="457200" lvl="0" marL="0" rtl="0" algn="l">
              <a:lnSpc>
                <a:spcPct val="100000"/>
              </a:lnSpc>
              <a:spcBef>
                <a:spcPts val="0"/>
              </a:spcBef>
              <a:spcAft>
                <a:spcPts val="0"/>
              </a:spcAft>
              <a:buNone/>
            </a:pPr>
            <a:r>
              <a:rPr lang="en"/>
              <a:t>}</a:t>
            </a:r>
            <a:endParaRPr/>
          </a:p>
          <a:p>
            <a:pPr indent="457200" lvl="0" marL="0" rtl="0" algn="l">
              <a:lnSpc>
                <a:spcPct val="100000"/>
              </a:lnSpc>
              <a:spcBef>
                <a:spcPts val="0"/>
              </a:spcBef>
              <a:spcAft>
                <a:spcPts val="0"/>
              </a:spcAft>
              <a:buNone/>
            </a:pPr>
            <a:r>
              <a:t/>
            </a:r>
            <a:endParaRPr/>
          </a:p>
          <a:p>
            <a:pPr indent="457200" lvl="0" marL="0" rtl="0" algn="l">
              <a:lnSpc>
                <a:spcPct val="100000"/>
              </a:lnSpc>
              <a:spcBef>
                <a:spcPts val="0"/>
              </a:spcBef>
              <a:spcAft>
                <a:spcPts val="0"/>
              </a:spcAft>
              <a:buNone/>
            </a:pPr>
            <a:r>
              <a:rPr lang="en"/>
              <a:t>.box1 {</a:t>
            </a:r>
            <a:endParaRPr/>
          </a:p>
          <a:p>
            <a:pPr indent="457200" lvl="0" marL="0" rtl="0" algn="l">
              <a:lnSpc>
                <a:spcPct val="100000"/>
              </a:lnSpc>
              <a:spcBef>
                <a:spcPts val="0"/>
              </a:spcBef>
              <a:spcAft>
                <a:spcPts val="0"/>
              </a:spcAft>
              <a:buNone/>
            </a:pPr>
            <a:r>
              <a:rPr lang="en"/>
              <a:t>  grid-column: 1 / 4;</a:t>
            </a:r>
            <a:endParaRPr/>
          </a:p>
          <a:p>
            <a:pPr indent="457200" lvl="0" marL="0" rtl="0" algn="l">
              <a:lnSpc>
                <a:spcPct val="100000"/>
              </a:lnSpc>
              <a:spcBef>
                <a:spcPts val="0"/>
              </a:spcBef>
              <a:spcAft>
                <a:spcPts val="0"/>
              </a:spcAft>
              <a:buNone/>
            </a:pPr>
            <a:r>
              <a:rPr lang="en"/>
              <a:t>  grid-row: 1 / 3;</a:t>
            </a:r>
            <a:endParaRPr/>
          </a:p>
          <a:p>
            <a:pPr indent="457200" lvl="0" marL="0" rtl="0" algn="l">
              <a:lnSpc>
                <a:spcPct val="100000"/>
              </a:lnSpc>
              <a:spcBef>
                <a:spcPts val="0"/>
              </a:spcBef>
              <a:spcAft>
                <a:spcPts val="0"/>
              </a:spcAft>
              <a:buNone/>
            </a:pPr>
            <a:r>
              <a:rPr lang="en"/>
              <a:t>}</a:t>
            </a:r>
            <a:endParaRPr/>
          </a:p>
          <a:p>
            <a:pPr indent="457200" lvl="0" marL="0" rtl="0" algn="l">
              <a:lnSpc>
                <a:spcPct val="100000"/>
              </a:lnSpc>
              <a:spcBef>
                <a:spcPts val="0"/>
              </a:spcBef>
              <a:spcAft>
                <a:spcPts val="0"/>
              </a:spcAft>
              <a:buNone/>
            </a:pPr>
            <a:r>
              <a:t/>
            </a:r>
            <a:endParaRPr/>
          </a:p>
          <a:p>
            <a:pPr indent="457200" lvl="0" marL="0" rtl="0" algn="l">
              <a:lnSpc>
                <a:spcPct val="100000"/>
              </a:lnSpc>
              <a:spcBef>
                <a:spcPts val="0"/>
              </a:spcBef>
              <a:spcAft>
                <a:spcPts val="0"/>
              </a:spcAft>
              <a:buNone/>
            </a:pPr>
            <a:r>
              <a:rPr lang="en"/>
              <a:t>.box2 {</a:t>
            </a:r>
            <a:endParaRPr/>
          </a:p>
          <a:p>
            <a:pPr indent="457200" lvl="0" marL="0" rtl="0" algn="l">
              <a:lnSpc>
                <a:spcPct val="100000"/>
              </a:lnSpc>
              <a:spcBef>
                <a:spcPts val="0"/>
              </a:spcBef>
              <a:spcAft>
                <a:spcPts val="0"/>
              </a:spcAft>
              <a:buNone/>
            </a:pPr>
            <a:r>
              <a:rPr lang="en"/>
              <a:t>  grid-column: 1;</a:t>
            </a:r>
            <a:endParaRPr/>
          </a:p>
          <a:p>
            <a:pPr indent="457200" lvl="0" marL="0" rtl="0" algn="l">
              <a:lnSpc>
                <a:spcPct val="100000"/>
              </a:lnSpc>
              <a:spcBef>
                <a:spcPts val="0"/>
              </a:spcBef>
              <a:spcAft>
                <a:spcPts val="0"/>
              </a:spcAft>
              <a:buNone/>
            </a:pPr>
            <a:r>
              <a:rPr lang="en"/>
              <a:t>  grid-row: 3 / 5;</a:t>
            </a:r>
            <a:endParaRPr/>
          </a:p>
          <a:p>
            <a:pPr indent="457200" lvl="0" marL="0" rtl="0" algn="l">
              <a:lnSpc>
                <a:spcPct val="100000"/>
              </a:lnSpc>
              <a:spcBef>
                <a:spcPts val="0"/>
              </a:spcBef>
              <a:spcAft>
                <a:spcPts val="0"/>
              </a:spcAft>
              <a:buNone/>
            </a:pPr>
            <a:r>
              <a:rPr lang="en"/>
              <a:t>}</a:t>
            </a:r>
            <a:endParaRPr/>
          </a:p>
        </p:txBody>
      </p:sp>
      <p:sp>
        <p:nvSpPr>
          <p:cNvPr id="814" name="Google Shape;814;p11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8" name="Shape 818"/>
        <p:cNvGrpSpPr/>
        <p:nvPr/>
      </p:nvGrpSpPr>
      <p:grpSpPr>
        <a:xfrm>
          <a:off x="0" y="0"/>
          <a:ext cx="0" cy="0"/>
          <a:chOff x="0" y="0"/>
          <a:chExt cx="0" cy="0"/>
        </a:xfrm>
      </p:grpSpPr>
      <p:sp>
        <p:nvSpPr>
          <p:cNvPr id="819" name="Google Shape;819;p11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Grid Layout ─ Grid Cell and Gaps</a:t>
            </a:r>
            <a:endParaRPr/>
          </a:p>
        </p:txBody>
      </p:sp>
      <p:sp>
        <p:nvSpPr>
          <p:cNvPr id="820" name="Google Shape;820;p111"/>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The space between two adjacent row and two adjacent column grid lines.</a:t>
            </a:r>
            <a:endParaRPr/>
          </a:p>
          <a:p>
            <a:pPr indent="-304800" lvl="1" marL="914400" rtl="0" algn="l">
              <a:spcBef>
                <a:spcPts val="0"/>
              </a:spcBef>
              <a:spcAft>
                <a:spcPts val="0"/>
              </a:spcAft>
              <a:buSzPts val="1200"/>
              <a:buChar char="○"/>
            </a:pPr>
            <a:r>
              <a:rPr lang="en"/>
              <a:t>A grid cell is the smallest unit on a grid.</a:t>
            </a:r>
            <a:endParaRPr/>
          </a:p>
          <a:p>
            <a:pPr indent="-317500" lvl="0" marL="457200" rtl="0" algn="l">
              <a:spcBef>
                <a:spcPts val="0"/>
              </a:spcBef>
              <a:spcAft>
                <a:spcPts val="0"/>
              </a:spcAft>
              <a:buSzPts val="1400"/>
              <a:buChar char="●"/>
            </a:pPr>
            <a:r>
              <a:rPr lang="en"/>
              <a:t>Gutters or alleys between grid cells can be created using the column-gap and row-gap properties, or the shorthand gap.</a:t>
            </a:r>
            <a:endParaRPr/>
          </a:p>
        </p:txBody>
      </p:sp>
      <p:sp>
        <p:nvSpPr>
          <p:cNvPr id="821" name="Google Shape;821;p11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822" name="Google Shape;822;p111"/>
          <p:cNvPicPr preferRelativeResize="0"/>
          <p:nvPr/>
        </p:nvPicPr>
        <p:blipFill>
          <a:blip r:embed="rId3">
            <a:alphaModFix/>
          </a:blip>
          <a:stretch>
            <a:fillRect/>
          </a:stretch>
        </p:blipFill>
        <p:spPr>
          <a:xfrm>
            <a:off x="1287313" y="3136600"/>
            <a:ext cx="6569375" cy="1682700"/>
          </a:xfrm>
          <a:prstGeom prst="rect">
            <a:avLst/>
          </a:prstGeom>
          <a:noFill/>
          <a:ln>
            <a:noFill/>
          </a:ln>
        </p:spPr>
      </p:pic>
      <p:sp>
        <p:nvSpPr>
          <p:cNvPr id="823" name="Google Shape;823;p111"/>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.wrapper {</a:t>
            </a:r>
            <a:endParaRPr/>
          </a:p>
          <a:p>
            <a:pPr indent="0" lvl="0" marL="0" rtl="0" algn="l">
              <a:spcBef>
                <a:spcPts val="0"/>
              </a:spcBef>
              <a:spcAft>
                <a:spcPts val="0"/>
              </a:spcAft>
              <a:buNone/>
            </a:pPr>
            <a:r>
              <a:rPr lang="en"/>
              <a:t>  display: grid;</a:t>
            </a:r>
            <a:endParaRPr/>
          </a:p>
          <a:p>
            <a:pPr indent="0" lvl="0" marL="0" rtl="0" algn="l">
              <a:spcBef>
                <a:spcPts val="0"/>
              </a:spcBef>
              <a:spcAft>
                <a:spcPts val="0"/>
              </a:spcAft>
              <a:buNone/>
            </a:pPr>
            <a:r>
              <a:rPr lang="en"/>
              <a:t>  grid-template-columns: repeat(3, 1fr);</a:t>
            </a:r>
            <a:endParaRPr/>
          </a:p>
          <a:p>
            <a:pPr indent="0" lvl="0" marL="0" rtl="0" algn="l">
              <a:spcBef>
                <a:spcPts val="0"/>
              </a:spcBef>
              <a:spcAft>
                <a:spcPts val="0"/>
              </a:spcAft>
              <a:buNone/>
            </a:pPr>
            <a:r>
              <a:rPr lang="en"/>
              <a:t>  column-gap: 10px;</a:t>
            </a:r>
            <a:endParaRPr/>
          </a:p>
          <a:p>
            <a:pPr indent="0" lvl="0" marL="0" rtl="0" algn="l">
              <a:spcBef>
                <a:spcPts val="0"/>
              </a:spcBef>
              <a:spcAft>
                <a:spcPts val="0"/>
              </a:spcAft>
              <a:buNone/>
            </a:pPr>
            <a:r>
              <a:rPr lang="en"/>
              <a:t>  row-gap: 1em;</a:t>
            </a:r>
            <a:endParaRPr/>
          </a:p>
          <a:p>
            <a:pPr indent="0" lvl="0" marL="0" rtl="0" algn="l">
              <a:spcBef>
                <a:spcPts val="0"/>
              </a:spcBef>
              <a:spcAft>
                <a:spcPts val="0"/>
              </a:spcAft>
              <a:buNone/>
            </a:pPr>
            <a:r>
              <a:rPr lang="en"/>
              <a:t>}</a:t>
            </a:r>
            <a:endParaRPr/>
          </a:p>
          <a:p>
            <a:pPr indent="0" lvl="0" marL="0" rtl="0" algn="l">
              <a:spcBef>
                <a:spcPts val="0"/>
              </a:spcBef>
              <a:spcAft>
                <a:spcPts val="1600"/>
              </a:spcAft>
              <a:buNone/>
            </a:pPr>
            <a:r>
              <a:t/>
            </a:r>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sp>
        <p:nvSpPr>
          <p:cNvPr id="828" name="Google Shape;828;p11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Try it Yourself ─ Nesting Grid and Animations</a:t>
            </a:r>
            <a:endParaRPr/>
          </a:p>
          <a:p>
            <a:pPr indent="0" lvl="0" marL="0" rtl="0" algn="l">
              <a:spcBef>
                <a:spcPts val="0"/>
              </a:spcBef>
              <a:spcAft>
                <a:spcPts val="0"/>
              </a:spcAft>
              <a:buNone/>
            </a:pPr>
            <a:r>
              <a:t/>
            </a:r>
            <a:endParaRPr/>
          </a:p>
        </p:txBody>
      </p:sp>
      <p:sp>
        <p:nvSpPr>
          <p:cNvPr id="829" name="Google Shape;829;p11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Learn nesting grids (with keyword subgrid) and layering items with z-index</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https://developer.mozilla.org/en-US/docs/Web/CSS/Guides/Grid_layout/Basic_concepts#nesting_grids</a:t>
            </a:r>
            <a:r>
              <a:rPr lang="en"/>
              <a:t> </a:t>
            </a:r>
            <a:endParaRPr/>
          </a:p>
          <a:p>
            <a:pPr indent="-342900" lvl="0" marL="457200" rtl="0" algn="l">
              <a:spcBef>
                <a:spcPts val="0"/>
              </a:spcBef>
              <a:spcAft>
                <a:spcPts val="0"/>
              </a:spcAft>
              <a:buSzPts val="1800"/>
              <a:buChar char="●"/>
            </a:pPr>
            <a:r>
              <a:rPr lang="en"/>
              <a:t>Advanced topics</a:t>
            </a:r>
            <a:endParaRPr/>
          </a:p>
          <a:p>
            <a:pPr indent="-317500" lvl="1" marL="914400" rtl="0" algn="l">
              <a:spcBef>
                <a:spcPts val="0"/>
              </a:spcBef>
              <a:spcAft>
                <a:spcPts val="0"/>
              </a:spcAft>
              <a:buSzPts val="1400"/>
              <a:buChar char="○"/>
            </a:pPr>
            <a:r>
              <a:rPr lang="en"/>
              <a:t>Animations</a:t>
            </a:r>
            <a:endParaRPr/>
          </a:p>
          <a:p>
            <a:pPr indent="-317500" lvl="2" marL="1371600" rtl="0" algn="l">
              <a:spcBef>
                <a:spcPts val="0"/>
              </a:spcBef>
              <a:spcAft>
                <a:spcPts val="0"/>
              </a:spcAft>
              <a:buSzPts val="1400"/>
              <a:buChar char="■"/>
            </a:pPr>
            <a:r>
              <a:rPr lang="en" u="sng">
                <a:solidFill>
                  <a:schemeClr val="hlink"/>
                </a:solidFill>
                <a:hlinkClick r:id="rId4"/>
              </a:rPr>
              <a:t>https://developer.mozilla.org/en-US/docs/Web/CSS/Guides/Animations</a:t>
            </a:r>
            <a:r>
              <a:rPr lang="en"/>
              <a:t> </a:t>
            </a:r>
            <a:endParaRPr/>
          </a:p>
          <a:p>
            <a:pPr indent="-317500" lvl="1" marL="914400" rtl="0" algn="l">
              <a:spcBef>
                <a:spcPts val="0"/>
              </a:spcBef>
              <a:spcAft>
                <a:spcPts val="0"/>
              </a:spcAft>
              <a:buSzPts val="1400"/>
              <a:buChar char="○"/>
            </a:pPr>
            <a:r>
              <a:rPr lang="en"/>
              <a:t>Transforms</a:t>
            </a:r>
            <a:endParaRPr/>
          </a:p>
          <a:p>
            <a:pPr indent="-317500" lvl="2" marL="1371600" rtl="0" algn="l">
              <a:spcBef>
                <a:spcPts val="0"/>
              </a:spcBef>
              <a:spcAft>
                <a:spcPts val="0"/>
              </a:spcAft>
              <a:buSzPts val="1400"/>
              <a:buChar char="■"/>
            </a:pPr>
            <a:r>
              <a:rPr lang="en" u="sng">
                <a:solidFill>
                  <a:schemeClr val="hlink"/>
                </a:solidFill>
                <a:hlinkClick r:id="rId5"/>
              </a:rPr>
              <a:t>https://developer.mozilla.org/en-US/docs/Web/CSS/Guides/Transforms</a:t>
            </a:r>
            <a:r>
              <a:rPr lang="en"/>
              <a:t> </a:t>
            </a:r>
            <a:endParaRPr/>
          </a:p>
        </p:txBody>
      </p:sp>
      <p:sp>
        <p:nvSpPr>
          <p:cNvPr id="830" name="Google Shape;830;p11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13"/>
          <p:cNvSpPr txBox="1"/>
          <p:nvPr>
            <p:ph type="title"/>
          </p:nvPr>
        </p:nvSpPr>
        <p:spPr>
          <a:xfrm>
            <a:off x="485875" y="1714500"/>
            <a:ext cx="8183700" cy="78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Responsive Design ─ Media Query</a:t>
            </a:r>
            <a:endParaRPr/>
          </a:p>
        </p:txBody>
      </p:sp>
      <p:sp>
        <p:nvSpPr>
          <p:cNvPr id="836" name="Google Shape;836;p11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0" name="Shape 840"/>
        <p:cNvGrpSpPr/>
        <p:nvPr/>
      </p:nvGrpSpPr>
      <p:grpSpPr>
        <a:xfrm>
          <a:off x="0" y="0"/>
          <a:ext cx="0" cy="0"/>
          <a:chOff x="0" y="0"/>
          <a:chExt cx="0" cy="0"/>
        </a:xfrm>
      </p:grpSpPr>
      <p:sp>
        <p:nvSpPr>
          <p:cNvPr id="841" name="Google Shape;841;p114"/>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Using media queries</a:t>
            </a:r>
            <a:endParaRPr/>
          </a:p>
        </p:txBody>
      </p:sp>
      <p:sp>
        <p:nvSpPr>
          <p:cNvPr id="842" name="Google Shape;842;p11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843" name="Google Shape;843;p114"/>
          <p:cNvSpPr txBox="1"/>
          <p:nvPr>
            <p:ph idx="1" type="body"/>
          </p:nvPr>
        </p:nvSpPr>
        <p:spPr>
          <a:xfrm>
            <a:off x="311700" y="1152475"/>
            <a:ext cx="8520600" cy="23262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a:t>
            </a:r>
            <a:r>
              <a:rPr lang="en"/>
              <a:t>llow you to apply CSS styles depending on a device's media type (such as print vs. screen) or other features or characteristics such as screen resolution or orientation, aspect ratio, browser viewport width or height, user preferences such as preferring reduced motion, data usage, or transparency.</a:t>
            </a:r>
            <a:endParaRPr/>
          </a:p>
          <a:p>
            <a:pPr indent="-342900" lvl="0" marL="457200" rtl="0" algn="l">
              <a:spcBef>
                <a:spcPts val="0"/>
              </a:spcBef>
              <a:spcAft>
                <a:spcPts val="0"/>
              </a:spcAft>
              <a:buSzPts val="1800"/>
              <a:buChar char="●"/>
            </a:pPr>
            <a:r>
              <a:rPr lang="en"/>
              <a:t>The @media CSS at-rule can be used to apply part of a style sheet based on the result of one or more media queries.</a:t>
            </a:r>
            <a:endParaRPr/>
          </a:p>
        </p:txBody>
      </p:sp>
      <p:pic>
        <p:nvPicPr>
          <p:cNvPr id="844" name="Google Shape;844;p114"/>
          <p:cNvPicPr preferRelativeResize="0"/>
          <p:nvPr/>
        </p:nvPicPr>
        <p:blipFill>
          <a:blip r:embed="rId3">
            <a:alphaModFix/>
          </a:blip>
          <a:stretch>
            <a:fillRect/>
          </a:stretch>
        </p:blipFill>
        <p:spPr>
          <a:xfrm>
            <a:off x="257175" y="3478675"/>
            <a:ext cx="8629650" cy="676275"/>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8" name="Shape 848"/>
        <p:cNvGrpSpPr/>
        <p:nvPr/>
      </p:nvGrpSpPr>
      <p:grpSpPr>
        <a:xfrm>
          <a:off x="0" y="0"/>
          <a:ext cx="0" cy="0"/>
          <a:chOff x="0" y="0"/>
          <a:chExt cx="0" cy="0"/>
        </a:xfrm>
      </p:grpSpPr>
      <p:sp>
        <p:nvSpPr>
          <p:cNvPr id="849" name="Google Shape;849;p115"/>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Media Types and Media Features</a:t>
            </a:r>
            <a:endParaRPr/>
          </a:p>
        </p:txBody>
      </p:sp>
      <p:sp>
        <p:nvSpPr>
          <p:cNvPr id="850" name="Google Shape;850;p11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317500" lvl="0" marL="457200" rtl="0" algn="l">
              <a:spcBef>
                <a:spcPts val="0"/>
              </a:spcBef>
              <a:spcAft>
                <a:spcPts val="0"/>
              </a:spcAft>
              <a:buSzPts val="1400"/>
              <a:buChar char="●"/>
            </a:pPr>
            <a:r>
              <a:rPr lang="en"/>
              <a:t>A &lt;media-type&gt; describes the general category of a device. Except when using the only logical operator, the media type is optional and the all type is implied.</a:t>
            </a:r>
            <a:endParaRPr/>
          </a:p>
          <a:p>
            <a:pPr indent="-317500" lvl="0" marL="457200" rtl="0" algn="l">
              <a:spcBef>
                <a:spcPts val="0"/>
              </a:spcBef>
              <a:spcAft>
                <a:spcPts val="0"/>
              </a:spcAft>
              <a:buSzPts val="1400"/>
              <a:buChar char="●"/>
            </a:pPr>
            <a:r>
              <a:rPr lang="en"/>
              <a:t>All</a:t>
            </a:r>
            <a:endParaRPr/>
          </a:p>
          <a:p>
            <a:pPr indent="-304800" lvl="1" marL="914400" rtl="0" algn="l">
              <a:spcBef>
                <a:spcPts val="0"/>
              </a:spcBef>
              <a:spcAft>
                <a:spcPts val="0"/>
              </a:spcAft>
              <a:buSzPts val="1200"/>
              <a:buChar char="○"/>
            </a:pPr>
            <a:r>
              <a:rPr lang="en"/>
              <a:t>Suitable for all devices.</a:t>
            </a:r>
            <a:endParaRPr/>
          </a:p>
          <a:p>
            <a:pPr indent="-317500" lvl="0" marL="457200" rtl="0" algn="l">
              <a:spcBef>
                <a:spcPts val="0"/>
              </a:spcBef>
              <a:spcAft>
                <a:spcPts val="0"/>
              </a:spcAft>
              <a:buSzPts val="1400"/>
              <a:buChar char="●"/>
            </a:pPr>
            <a:r>
              <a:rPr lang="en"/>
              <a:t>Print</a:t>
            </a:r>
            <a:endParaRPr/>
          </a:p>
          <a:p>
            <a:pPr indent="-304800" lvl="1" marL="914400" rtl="0" algn="l">
              <a:spcBef>
                <a:spcPts val="0"/>
              </a:spcBef>
              <a:spcAft>
                <a:spcPts val="0"/>
              </a:spcAft>
              <a:buSzPts val="1200"/>
              <a:buChar char="○"/>
            </a:pPr>
            <a:r>
              <a:rPr lang="en"/>
              <a:t>Intended for paged material and documents viewed on a screen in print preview mode. (Please see paged media for information about formatting issues that are specific to these formats.)</a:t>
            </a:r>
            <a:endParaRPr/>
          </a:p>
          <a:p>
            <a:pPr indent="-317500" lvl="0" marL="457200" rtl="0" algn="l">
              <a:spcBef>
                <a:spcPts val="0"/>
              </a:spcBef>
              <a:spcAft>
                <a:spcPts val="0"/>
              </a:spcAft>
              <a:buSzPts val="1400"/>
              <a:buChar char="●"/>
            </a:pPr>
            <a:r>
              <a:rPr lang="en"/>
              <a:t>Screen</a:t>
            </a:r>
            <a:endParaRPr/>
          </a:p>
          <a:p>
            <a:pPr indent="-304800" lvl="1" marL="914400" rtl="0" algn="l">
              <a:spcBef>
                <a:spcPts val="0"/>
              </a:spcBef>
              <a:spcAft>
                <a:spcPts val="0"/>
              </a:spcAft>
              <a:buSzPts val="1200"/>
              <a:buChar char="○"/>
            </a:pPr>
            <a:r>
              <a:rPr lang="en"/>
              <a:t>Intended primarily for screens.</a:t>
            </a:r>
            <a:endParaRPr/>
          </a:p>
        </p:txBody>
      </p:sp>
      <p:sp>
        <p:nvSpPr>
          <p:cNvPr id="851" name="Google Shape;851;p115"/>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852" name="Google Shape;852;p11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fontScale="85000"/>
          </a:bodyPr>
          <a:lstStyle/>
          <a:p>
            <a:pPr indent="-304165" lvl="0" marL="457200" rtl="0" algn="l">
              <a:spcBef>
                <a:spcPts val="0"/>
              </a:spcBef>
              <a:spcAft>
                <a:spcPts val="0"/>
              </a:spcAft>
              <a:buSzPct val="100000"/>
              <a:buChar char="●"/>
            </a:pPr>
            <a:r>
              <a:rPr lang="en"/>
              <a:t>A &lt;media feature&gt; describes specific characteristics of the user agent, output device, or environment.</a:t>
            </a:r>
            <a:endParaRPr/>
          </a:p>
          <a:p>
            <a:pPr indent="-304165" lvl="0" marL="457200" rtl="0" algn="l">
              <a:spcBef>
                <a:spcPts val="0"/>
              </a:spcBef>
              <a:spcAft>
                <a:spcPts val="0"/>
              </a:spcAft>
              <a:buSzPct val="100000"/>
              <a:buChar char="●"/>
            </a:pPr>
            <a:r>
              <a:rPr lang="en"/>
              <a:t>Common media features include:</a:t>
            </a:r>
            <a:endParaRPr/>
          </a:p>
          <a:p>
            <a:pPr indent="-293370" lvl="1" marL="914400" rtl="0" algn="l">
              <a:spcBef>
                <a:spcPts val="0"/>
              </a:spcBef>
              <a:spcAft>
                <a:spcPts val="0"/>
              </a:spcAft>
              <a:buSzPct val="100000"/>
              <a:buChar char="○"/>
            </a:pPr>
            <a:r>
              <a:rPr lang="en"/>
              <a:t>width—the width of the part of the screen on which the document is rendered, including any scrollbars</a:t>
            </a:r>
            <a:endParaRPr/>
          </a:p>
          <a:p>
            <a:pPr indent="-293370" lvl="1" marL="914400" rtl="0" algn="l">
              <a:spcBef>
                <a:spcPts val="0"/>
              </a:spcBef>
              <a:spcAft>
                <a:spcPts val="0"/>
              </a:spcAft>
              <a:buSzPct val="100000"/>
              <a:buChar char="○"/>
            </a:pPr>
            <a:r>
              <a:rPr lang="en"/>
              <a:t>height—the height of the part of the screen on which the document is rendered, including any scrollbars</a:t>
            </a:r>
            <a:endParaRPr/>
          </a:p>
          <a:p>
            <a:pPr indent="-293370" lvl="1" marL="914400" rtl="0" algn="l">
              <a:spcBef>
                <a:spcPts val="0"/>
              </a:spcBef>
              <a:spcAft>
                <a:spcPts val="0"/>
              </a:spcAft>
              <a:buSzPct val="100000"/>
              <a:buChar char="○"/>
            </a:pPr>
            <a:r>
              <a:rPr lang="en"/>
              <a:t>orientation—if the height is greater than the width, orientation is portrait, and if the width is greater than the height, orientation is landscape</a:t>
            </a:r>
            <a:endParaRPr/>
          </a:p>
          <a:p>
            <a:pPr indent="-293370" lvl="1" marL="914400" rtl="0" algn="l">
              <a:spcBef>
                <a:spcPts val="0"/>
              </a:spcBef>
              <a:spcAft>
                <a:spcPts val="0"/>
              </a:spcAft>
              <a:buSzPct val="100000"/>
              <a:buChar char="○"/>
            </a:pPr>
            <a:r>
              <a:rPr lang="en"/>
              <a:t>aspect-ratio—the ratio of width to height</a:t>
            </a:r>
            <a:endParaRPr/>
          </a:p>
          <a:p>
            <a:pPr indent="-293370" lvl="1" marL="914400" rtl="0" algn="l">
              <a:spcBef>
                <a:spcPts val="0"/>
              </a:spcBef>
              <a:spcAft>
                <a:spcPts val="0"/>
              </a:spcAft>
              <a:buSzPct val="100000"/>
              <a:buChar char="○"/>
            </a:pPr>
            <a:r>
              <a:rPr lang="en"/>
              <a:t>device-aspect-ratio—the ratio of device-width to device-height</a:t>
            </a:r>
            <a:endParaRPr/>
          </a:p>
          <a:p>
            <a:pPr indent="-293370" lvl="1" marL="914400" rtl="0" algn="l">
              <a:spcBef>
                <a:spcPts val="0"/>
              </a:spcBef>
              <a:spcAft>
                <a:spcPts val="0"/>
              </a:spcAft>
              <a:buSzPct val="100000"/>
              <a:buChar char="○"/>
            </a:pPr>
            <a:r>
              <a:rPr lang="en"/>
              <a:t>Prefers-color-scheme</a:t>
            </a:r>
            <a:endParaRPr/>
          </a:p>
          <a:p>
            <a:pPr indent="-293370" lvl="1" marL="914400" rtl="0" algn="l">
              <a:spcBef>
                <a:spcPts val="0"/>
              </a:spcBef>
              <a:spcAft>
                <a:spcPts val="0"/>
              </a:spcAft>
              <a:buSzPct val="100000"/>
              <a:buChar char="○"/>
            </a:pPr>
            <a:r>
              <a:rPr lang="en"/>
              <a:t>Prefers-reduced-motion</a:t>
            </a:r>
            <a:endParaRPr/>
          </a:p>
          <a:p>
            <a:pPr indent="-304165" lvl="0" marL="457200" rtl="0" algn="l">
              <a:spcBef>
                <a:spcPts val="0"/>
              </a:spcBef>
              <a:spcAft>
                <a:spcPts val="0"/>
              </a:spcAft>
              <a:buSzPct val="100000"/>
              <a:buChar char="●"/>
            </a:pPr>
            <a:r>
              <a:rPr lang="en" u="sng">
                <a:solidFill>
                  <a:schemeClr val="hlink"/>
                </a:solidFill>
                <a:hlinkClick r:id="rId3"/>
              </a:rPr>
              <a:t>https://developer.mozilla.org/en-US/docs/Web/CSS/Reference/At-rules/@media#media_features</a:t>
            </a:r>
            <a:r>
              <a:rPr lang="en"/>
              <a:t> </a:t>
            </a:r>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sp>
        <p:nvSpPr>
          <p:cNvPr id="857" name="Google Shape;857;p116"/>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@custom-media CSS at-rule</a:t>
            </a:r>
            <a:endParaRPr/>
          </a:p>
        </p:txBody>
      </p:sp>
      <p:sp>
        <p:nvSpPr>
          <p:cNvPr id="858" name="Google Shape;858;p116"/>
          <p:cNvSpPr txBox="1"/>
          <p:nvPr>
            <p:ph idx="1" type="body"/>
          </p:nvPr>
        </p:nvSpPr>
        <p:spPr>
          <a:xfrm>
            <a:off x="311700" y="1152475"/>
            <a:ext cx="8520600" cy="22911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The @custom-media CSS at-rule defines aliases for long or complex media queries.</a:t>
            </a:r>
            <a:endParaRPr/>
          </a:p>
          <a:p>
            <a:pPr indent="-342900" lvl="0" marL="457200" rtl="0" algn="l">
              <a:spcBef>
                <a:spcPts val="0"/>
              </a:spcBef>
              <a:spcAft>
                <a:spcPts val="0"/>
              </a:spcAft>
              <a:buSzPts val="1800"/>
              <a:buChar char="●"/>
            </a:pPr>
            <a:r>
              <a:rPr lang="en"/>
              <a:t>Instead of duplicate queries, you can define them once in a @custom-media at-rule and referenced throughout the stylesheet whenever needed.</a:t>
            </a:r>
            <a:endParaRPr/>
          </a:p>
          <a:p>
            <a:pPr indent="-342900" lvl="0" marL="457200" rtl="0" algn="l">
              <a:spcBef>
                <a:spcPts val="0"/>
              </a:spcBef>
              <a:spcAft>
                <a:spcPts val="0"/>
              </a:spcAft>
              <a:buSzPts val="1800"/>
              <a:buChar char="●"/>
            </a:pPr>
            <a:r>
              <a:rPr lang="en"/>
              <a:t>Syntax</a:t>
            </a:r>
            <a:endParaRPr/>
          </a:p>
          <a:p>
            <a:pPr indent="-317500" lvl="1" marL="914400" rtl="0" algn="l">
              <a:spcBef>
                <a:spcPts val="0"/>
              </a:spcBef>
              <a:spcAft>
                <a:spcPts val="0"/>
              </a:spcAft>
              <a:buSzPts val="1400"/>
              <a:buChar char="○"/>
            </a:pPr>
            <a:r>
              <a:rPr lang="en"/>
              <a:t>@custom-media &lt;extension-name&gt; [&lt;media-query-list&gt; | true | false ];</a:t>
            </a:r>
            <a:endParaRPr/>
          </a:p>
          <a:p>
            <a:pPr indent="-317500" lvl="1" marL="914400" rtl="0" algn="l">
              <a:spcBef>
                <a:spcPts val="0"/>
              </a:spcBef>
              <a:spcAft>
                <a:spcPts val="0"/>
              </a:spcAft>
              <a:buSzPts val="1400"/>
              <a:buChar char="○"/>
            </a:pPr>
            <a:r>
              <a:rPr lang="en"/>
              <a:t>&lt;extension-name&gt;: A &lt;dashed-ident&gt;; the name identifying the custom media query.</a:t>
            </a:r>
            <a:endParaRPr/>
          </a:p>
          <a:p>
            <a:pPr indent="-317500" lvl="1" marL="914400" rtl="0" algn="l">
              <a:spcBef>
                <a:spcPts val="0"/>
              </a:spcBef>
              <a:spcAft>
                <a:spcPts val="0"/>
              </a:spcAft>
              <a:buSzPts val="1400"/>
              <a:buChar char="○"/>
            </a:pPr>
            <a:r>
              <a:rPr lang="en"/>
              <a:t>&lt;media-query-list&gt;: A comma-separated list of &lt;media-query&gt; values.</a:t>
            </a:r>
            <a:endParaRPr/>
          </a:p>
        </p:txBody>
      </p:sp>
      <p:sp>
        <p:nvSpPr>
          <p:cNvPr id="859" name="Google Shape;859;p116"/>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860" name="Google Shape;860;p116"/>
          <p:cNvSpPr txBox="1"/>
          <p:nvPr/>
        </p:nvSpPr>
        <p:spPr>
          <a:xfrm>
            <a:off x="779867" y="3395762"/>
            <a:ext cx="3000000" cy="12930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latin typeface="Courier New"/>
                <a:ea typeface="Courier New"/>
                <a:cs typeface="Courier New"/>
                <a:sym typeface="Courier New"/>
              </a:rPr>
              <a:t>@custom-media --medium-screen (min-width: 40em) and (max-width: 60em);</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@media (--medium-screen) {</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a:t>
            </a:r>
            <a:endParaRPr/>
          </a:p>
        </p:txBody>
      </p:sp>
      <p:sp>
        <p:nvSpPr>
          <p:cNvPr id="861" name="Google Shape;861;p116"/>
          <p:cNvSpPr txBox="1"/>
          <p:nvPr/>
        </p:nvSpPr>
        <p:spPr>
          <a:xfrm>
            <a:off x="3978100" y="3395750"/>
            <a:ext cx="4758000" cy="11082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latin typeface="Courier New"/>
                <a:ea typeface="Courier New"/>
                <a:cs typeface="Courier New"/>
                <a:sym typeface="Courier New"/>
              </a:rPr>
              <a:t>@custom-media --mobile-screen (width &lt; 480px);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@custom-media --tablet-screen (width &lt; 768px);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@custom-media --laptop-screen (width &lt; 1024px);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@custom-media --desktop-screen (width &lt; 1440px);</a:t>
            </a:r>
            <a:endParaRPr sz="1200">
              <a:solidFill>
                <a:schemeClr val="dk2"/>
              </a:solidFill>
              <a:latin typeface="Courier New"/>
              <a:ea typeface="Courier New"/>
              <a:cs typeface="Courier New"/>
              <a:sym typeface="Courier New"/>
            </a:endParaRPr>
          </a:p>
          <a:p>
            <a:pPr indent="0" lvl="0" marL="0" rtl="0" algn="l">
              <a:spcBef>
                <a:spcPts val="0"/>
              </a:spcBef>
              <a:spcAft>
                <a:spcPts val="0"/>
              </a:spcAft>
              <a:buNone/>
            </a:pPr>
            <a:r>
              <a:rPr lang="en" sz="1200">
                <a:solidFill>
                  <a:schemeClr val="dk2"/>
                </a:solidFill>
                <a:latin typeface="Courier New"/>
                <a:ea typeface="Courier New"/>
                <a:cs typeface="Courier New"/>
                <a:sym typeface="Courier New"/>
              </a:rPr>
              <a:t>@custom-media --widescreen (width &gt; 1441px);</a:t>
            </a:r>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5" name="Shape 865"/>
        <p:cNvGrpSpPr/>
        <p:nvPr/>
      </p:nvGrpSpPr>
      <p:grpSpPr>
        <a:xfrm>
          <a:off x="0" y="0"/>
          <a:ext cx="0" cy="0"/>
          <a:chOff x="0" y="0"/>
          <a:chExt cx="0" cy="0"/>
        </a:xfrm>
      </p:grpSpPr>
      <p:sp>
        <p:nvSpPr>
          <p:cNvPr id="866" name="Google Shape;866;p117"/>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700"/>
              <a:t>Try it Yourself ─ Container Query and Typography</a:t>
            </a:r>
            <a:endParaRPr sz="2700"/>
          </a:p>
          <a:p>
            <a:pPr indent="0" lvl="0" marL="0" rtl="0" algn="l">
              <a:spcBef>
                <a:spcPts val="0"/>
              </a:spcBef>
              <a:spcAft>
                <a:spcPts val="0"/>
              </a:spcAft>
              <a:buNone/>
            </a:pPr>
            <a:r>
              <a:t/>
            </a:r>
            <a:endParaRPr/>
          </a:p>
        </p:txBody>
      </p:sp>
      <p:sp>
        <p:nvSpPr>
          <p:cNvPr id="867" name="Google Shape;867;p1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Finer Adjustment ─ Container Query</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https://developer.mozilla.org/en-US/docs/Web/CSS/Guides/Containment/Container_queries</a:t>
            </a:r>
            <a:r>
              <a:rPr lang="en"/>
              <a:t> </a:t>
            </a:r>
            <a:endParaRPr/>
          </a:p>
          <a:p>
            <a:pPr indent="-342900" lvl="0" marL="457200" rtl="0" algn="l">
              <a:spcBef>
                <a:spcPts val="0"/>
              </a:spcBef>
              <a:spcAft>
                <a:spcPts val="0"/>
              </a:spcAft>
              <a:buSzPts val="1800"/>
              <a:buChar char="●"/>
            </a:pPr>
            <a:r>
              <a:rPr lang="en"/>
              <a:t>Responsive Typography</a:t>
            </a:r>
            <a:endParaRPr/>
          </a:p>
          <a:p>
            <a:pPr indent="-317500" lvl="1" marL="914400" rtl="0" algn="l">
              <a:spcBef>
                <a:spcPts val="0"/>
              </a:spcBef>
              <a:spcAft>
                <a:spcPts val="0"/>
              </a:spcAft>
              <a:buSzPts val="1400"/>
              <a:buChar char="○"/>
            </a:pPr>
            <a:r>
              <a:rPr lang="en" u="sng">
                <a:solidFill>
                  <a:schemeClr val="hlink"/>
                </a:solidFill>
                <a:hlinkClick r:id="rId4"/>
              </a:rPr>
              <a:t>https://www.w3schools.com/howto/howto_css_responsive_text.asp</a:t>
            </a:r>
            <a:r>
              <a:rPr lang="en"/>
              <a:t> </a:t>
            </a:r>
            <a:endParaRPr/>
          </a:p>
          <a:p>
            <a:pPr indent="-317500" lvl="1" marL="914400" rtl="0" algn="l">
              <a:spcBef>
                <a:spcPts val="0"/>
              </a:spcBef>
              <a:spcAft>
                <a:spcPts val="0"/>
              </a:spcAft>
              <a:buSzPts val="1400"/>
              <a:buChar char="○"/>
            </a:pPr>
            <a:r>
              <a:rPr lang="en" u="sng">
                <a:solidFill>
                  <a:schemeClr val="hlink"/>
                </a:solidFill>
                <a:hlinkClick r:id="rId5"/>
              </a:rPr>
              <a:t>https://blog.logrocket.com/elements-responsive-typography/</a:t>
            </a:r>
            <a:r>
              <a:rPr lang="en"/>
              <a:t> </a:t>
            </a:r>
            <a:endParaRPr/>
          </a:p>
        </p:txBody>
      </p:sp>
      <p:sp>
        <p:nvSpPr>
          <p:cNvPr id="868" name="Google Shape;868;p117"/>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18"/>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CSS Variables and Functions</a:t>
            </a:r>
            <a:endParaRPr/>
          </a:p>
        </p:txBody>
      </p:sp>
      <p:sp>
        <p:nvSpPr>
          <p:cNvPr id="874" name="Google Shape;874;p118"/>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solidFill>
                  <a:schemeClr val="lt2"/>
                </a:solidFill>
              </a:rPr>
              <a:t>‹#›</a:t>
            </a:fld>
            <a:endParaRPr>
              <a:solidFill>
                <a:schemeClr val="lt2"/>
              </a:solidFill>
            </a:endParaRPr>
          </a:p>
        </p:txBody>
      </p:sp>
      <p:sp>
        <p:nvSpPr>
          <p:cNvPr id="875" name="Google Shape;875;p1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Using CSS custom properties (variables)</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https://developer.mozilla.org/en-US/docs/Web/CSS/Guides/Cascading_variables/Using_custom_properties</a:t>
            </a:r>
            <a:endParaRPr/>
          </a:p>
          <a:p>
            <a:pPr indent="-342900" lvl="0" marL="457200" rtl="0" algn="l">
              <a:spcBef>
                <a:spcPts val="0"/>
              </a:spcBef>
              <a:spcAft>
                <a:spcPts val="0"/>
              </a:spcAft>
              <a:buSzPts val="1800"/>
              <a:buChar char="●"/>
            </a:pPr>
            <a:r>
              <a:rPr lang="en"/>
              <a:t>CSS value functions</a:t>
            </a:r>
            <a:endParaRPr/>
          </a:p>
          <a:p>
            <a:pPr indent="-317500" lvl="1" marL="914400" rtl="0" algn="l">
              <a:spcBef>
                <a:spcPts val="0"/>
              </a:spcBef>
              <a:spcAft>
                <a:spcPts val="0"/>
              </a:spcAft>
              <a:buSzPts val="1400"/>
              <a:buChar char="○"/>
            </a:pPr>
            <a:r>
              <a:rPr lang="en" u="sng">
                <a:solidFill>
                  <a:schemeClr val="hlink"/>
                </a:solidFill>
                <a:hlinkClick r:id="rId4"/>
              </a:rPr>
              <a:t>https://developer.mozilla.org/en-US/docs/Web/CSS/Reference/Values/Functions</a:t>
            </a:r>
            <a:r>
              <a:rPr lang="en"/>
              <a:t> </a:t>
            </a:r>
            <a:endParaRPr/>
          </a:p>
          <a:p>
            <a:pPr indent="-342900" lvl="0" marL="457200" rtl="0" algn="l">
              <a:spcBef>
                <a:spcPts val="0"/>
              </a:spcBef>
              <a:spcAft>
                <a:spcPts val="0"/>
              </a:spcAft>
              <a:buSzPts val="1800"/>
              <a:buChar char="●"/>
            </a:pPr>
            <a:r>
              <a:rPr lang="en"/>
              <a:t>Functions in CSS</a:t>
            </a:r>
            <a:endParaRPr/>
          </a:p>
          <a:p>
            <a:pPr indent="-317500" lvl="1" marL="914400" rtl="0" algn="l">
              <a:spcBef>
                <a:spcPts val="0"/>
              </a:spcBef>
              <a:spcAft>
                <a:spcPts val="0"/>
              </a:spcAft>
              <a:buSzPts val="1400"/>
              <a:buChar char="○"/>
            </a:pPr>
            <a:r>
              <a:rPr lang="en" u="sng">
                <a:solidFill>
                  <a:schemeClr val="hlink"/>
                </a:solidFill>
                <a:hlinkClick r:id="rId5"/>
              </a:rPr>
              <a:t>https://css-tricks.com/functions-in-css/</a:t>
            </a:r>
            <a:r>
              <a:rPr lang="en"/>
              <a:t> </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9" name="Shape 879"/>
        <p:cNvGrpSpPr/>
        <p:nvPr/>
      </p:nvGrpSpPr>
      <p:grpSpPr>
        <a:xfrm>
          <a:off x="0" y="0"/>
          <a:ext cx="0" cy="0"/>
          <a:chOff x="0" y="0"/>
          <a:chExt cx="0" cy="0"/>
        </a:xfrm>
      </p:grpSpPr>
      <p:sp>
        <p:nvSpPr>
          <p:cNvPr id="880" name="Google Shape;880;p119"/>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Masking Practices</a:t>
            </a:r>
            <a:endParaRPr/>
          </a:p>
          <a:p>
            <a:pPr indent="0" lvl="0" marL="0" rtl="0" algn="l">
              <a:spcBef>
                <a:spcPts val="0"/>
              </a:spcBef>
              <a:spcAft>
                <a:spcPts val="0"/>
              </a:spcAft>
              <a:buNone/>
            </a:pPr>
            <a:r>
              <a:t/>
            </a:r>
            <a:endParaRPr/>
          </a:p>
        </p:txBody>
      </p:sp>
      <p:sp>
        <p:nvSpPr>
          <p:cNvPr id="881" name="Google Shape;881;p119"/>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882" name="Google Shape;882;p1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Play around CSS masking properties</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https://developer.mozilla.org/en-US/docs/Web/CSS/Guides/Masking/Introduction</a:t>
            </a:r>
            <a:r>
              <a:rPr lang="en"/>
              <a:t> </a:t>
            </a:r>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p120"/>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Box Model Practices</a:t>
            </a:r>
            <a:endParaRPr/>
          </a:p>
          <a:p>
            <a:pPr indent="0" lvl="0" marL="0" rtl="0" algn="l">
              <a:spcBef>
                <a:spcPts val="0"/>
              </a:spcBef>
              <a:spcAft>
                <a:spcPts val="0"/>
              </a:spcAft>
              <a:buNone/>
            </a:pPr>
            <a:r>
              <a:t/>
            </a:r>
            <a:endParaRPr/>
          </a:p>
        </p:txBody>
      </p:sp>
      <p:sp>
        <p:nvSpPr>
          <p:cNvPr id="888" name="Google Shape;888;p120"/>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889" name="Google Shape;889;p1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Play around more box model properties</a:t>
            </a:r>
            <a:endParaRPr/>
          </a:p>
          <a:p>
            <a:pPr indent="-317500" lvl="1" marL="914400" rtl="0" algn="l">
              <a:spcBef>
                <a:spcPts val="0"/>
              </a:spcBef>
              <a:spcAft>
                <a:spcPts val="0"/>
              </a:spcAft>
              <a:buSzPts val="1400"/>
              <a:buChar char="○"/>
            </a:pPr>
            <a:r>
              <a:rPr lang="en"/>
              <a:t>Outline: </a:t>
            </a:r>
            <a:r>
              <a:rPr lang="en" u="sng">
                <a:solidFill>
                  <a:schemeClr val="hlink"/>
                </a:solidFill>
                <a:hlinkClick r:id="rId3"/>
              </a:rPr>
              <a:t>https://developer.mozilla.org/en-US/docs/Web/CSS/Reference/Properties/outline</a:t>
            </a:r>
            <a:r>
              <a:rPr lang="en"/>
              <a:t> </a:t>
            </a:r>
            <a:endParaRPr/>
          </a:p>
          <a:p>
            <a:pPr indent="-317500" lvl="1" marL="914400" rtl="0" algn="l">
              <a:spcBef>
                <a:spcPts val="0"/>
              </a:spcBef>
              <a:spcAft>
                <a:spcPts val="0"/>
              </a:spcAft>
              <a:buSzPts val="1400"/>
              <a:buChar char="○"/>
            </a:pPr>
            <a:r>
              <a:rPr lang="en"/>
              <a:t>Box shadow: </a:t>
            </a:r>
            <a:r>
              <a:rPr lang="en" u="sng">
                <a:solidFill>
                  <a:schemeClr val="hlink"/>
                </a:solidFill>
                <a:hlinkClick r:id="rId4"/>
              </a:rPr>
              <a:t>https://developer.mozilla.org/en-US/docs/Web/CSS/Reference/Properties/box-shadow</a:t>
            </a:r>
            <a:r>
              <a:rPr lang="en"/>
              <a:t> </a:t>
            </a:r>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3" name="Shape 893"/>
        <p:cNvGrpSpPr/>
        <p:nvPr/>
      </p:nvGrpSpPr>
      <p:grpSpPr>
        <a:xfrm>
          <a:off x="0" y="0"/>
          <a:ext cx="0" cy="0"/>
          <a:chOff x="0" y="0"/>
          <a:chExt cx="0" cy="0"/>
        </a:xfrm>
      </p:grpSpPr>
      <p:sp>
        <p:nvSpPr>
          <p:cNvPr id="894" name="Google Shape;894;p121"/>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Element Specific Effects</a:t>
            </a:r>
            <a:endParaRPr/>
          </a:p>
          <a:p>
            <a:pPr indent="0" lvl="0" marL="0" rtl="0" algn="l">
              <a:spcBef>
                <a:spcPts val="0"/>
              </a:spcBef>
              <a:spcAft>
                <a:spcPts val="0"/>
              </a:spcAft>
              <a:buNone/>
            </a:pPr>
            <a:r>
              <a:t/>
            </a:r>
            <a:endParaRPr/>
          </a:p>
        </p:txBody>
      </p:sp>
      <p:sp>
        <p:nvSpPr>
          <p:cNvPr id="895" name="Google Shape;895;p121"/>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896" name="Google Shape;896;p1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Any two of followings for each element: properties, functions, Pseudo-elements.</a:t>
            </a:r>
            <a:endParaRPr/>
          </a:p>
          <a:p>
            <a:pPr indent="-342900" lvl="0" marL="457200" rtl="0" algn="l">
              <a:spcBef>
                <a:spcPts val="0"/>
              </a:spcBef>
              <a:spcAft>
                <a:spcPts val="0"/>
              </a:spcAft>
              <a:buSzPts val="1800"/>
              <a:buChar char="●"/>
            </a:pPr>
            <a:r>
              <a:rPr lang="en"/>
              <a:t>Table</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https://developer.mozilla.org/en-US/docs/Web/CSS/Guides/Table</a:t>
            </a:r>
            <a:r>
              <a:rPr lang="en"/>
              <a:t> </a:t>
            </a:r>
            <a:endParaRPr/>
          </a:p>
          <a:p>
            <a:pPr indent="-342900" lvl="0" marL="457200" rtl="0" algn="l">
              <a:spcBef>
                <a:spcPts val="0"/>
              </a:spcBef>
              <a:spcAft>
                <a:spcPts val="0"/>
              </a:spcAft>
              <a:buSzPts val="1800"/>
              <a:buChar char="●"/>
            </a:pPr>
            <a:r>
              <a:rPr lang="en"/>
              <a:t>List and Counter</a:t>
            </a:r>
            <a:endParaRPr/>
          </a:p>
          <a:p>
            <a:pPr indent="-317500" lvl="1" marL="914400" rtl="0" algn="l">
              <a:spcBef>
                <a:spcPts val="0"/>
              </a:spcBef>
              <a:spcAft>
                <a:spcPts val="0"/>
              </a:spcAft>
              <a:buSzPts val="1400"/>
              <a:buChar char="○"/>
            </a:pPr>
            <a:r>
              <a:rPr lang="en" u="sng">
                <a:solidFill>
                  <a:schemeClr val="hlink"/>
                </a:solidFill>
                <a:hlinkClick r:id="rId4"/>
              </a:rPr>
              <a:t>https://developer.mozilla.org/en-US/docs/Web/CSS/Guides/Lists</a:t>
            </a:r>
            <a:r>
              <a:rPr lang="en"/>
              <a:t> </a:t>
            </a:r>
            <a:endParaRPr/>
          </a:p>
          <a:p>
            <a:pPr indent="-342900" lvl="0" marL="457200" rtl="0" algn="l">
              <a:spcBef>
                <a:spcPts val="0"/>
              </a:spcBef>
              <a:spcAft>
                <a:spcPts val="0"/>
              </a:spcAft>
              <a:buSzPts val="1800"/>
              <a:buChar char="●"/>
            </a:pPr>
            <a:r>
              <a:rPr lang="en"/>
              <a:t>Image</a:t>
            </a:r>
            <a:endParaRPr/>
          </a:p>
          <a:p>
            <a:pPr indent="-317500" lvl="1" marL="914400" rtl="0" algn="l">
              <a:spcBef>
                <a:spcPts val="0"/>
              </a:spcBef>
              <a:spcAft>
                <a:spcPts val="0"/>
              </a:spcAft>
              <a:buSzPts val="1400"/>
              <a:buChar char="○"/>
            </a:pPr>
            <a:r>
              <a:rPr lang="en" u="sng">
                <a:solidFill>
                  <a:schemeClr val="hlink"/>
                </a:solidFill>
                <a:hlinkClick r:id="rId5"/>
              </a:rPr>
              <a:t>https://developer.mozilla.org/en-US/docs/Web/CSS/Guides/Images</a:t>
            </a:r>
            <a:r>
              <a:rPr lang="en"/>
              <a:t> </a:t>
            </a:r>
            <a:endParaRPr/>
          </a:p>
          <a:p>
            <a:pPr indent="-342900" lvl="0" marL="457200" rtl="0" algn="l">
              <a:spcBef>
                <a:spcPts val="0"/>
              </a:spcBef>
              <a:spcAft>
                <a:spcPts val="0"/>
              </a:spcAft>
              <a:buSzPts val="1800"/>
              <a:buChar char="●"/>
            </a:pPr>
            <a:r>
              <a:rPr lang="en"/>
              <a:t>Filter</a:t>
            </a:r>
            <a:endParaRPr/>
          </a:p>
          <a:p>
            <a:pPr indent="-317500" lvl="1" marL="914400" rtl="0" algn="l">
              <a:spcBef>
                <a:spcPts val="0"/>
              </a:spcBef>
              <a:spcAft>
                <a:spcPts val="0"/>
              </a:spcAft>
              <a:buSzPts val="1400"/>
              <a:buChar char="○"/>
            </a:pPr>
            <a:r>
              <a:rPr lang="en" u="sng">
                <a:solidFill>
                  <a:schemeClr val="hlink"/>
                </a:solidFill>
                <a:hlinkClick r:id="rId6"/>
              </a:rPr>
              <a:t>https://developer.mozilla.org/en-US/docs/Web/CSS/Guides/Filter_effects</a:t>
            </a:r>
            <a:r>
              <a:rPr lang="en"/>
              <a:t> </a:t>
            </a:r>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122"/>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Nesting Grid and Animations</a:t>
            </a:r>
            <a:endParaRPr/>
          </a:p>
          <a:p>
            <a:pPr indent="0" lvl="0" marL="0" rtl="0" algn="l">
              <a:spcBef>
                <a:spcPts val="0"/>
              </a:spcBef>
              <a:spcAft>
                <a:spcPts val="0"/>
              </a:spcAft>
              <a:buNone/>
            </a:pPr>
            <a:r>
              <a:t/>
            </a:r>
            <a:endParaRPr/>
          </a:p>
        </p:txBody>
      </p:sp>
      <p:sp>
        <p:nvSpPr>
          <p:cNvPr id="902" name="Google Shape;902;p1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Learn nesting grids (with keyword subgrid) and layering items with z-index</a:t>
            </a:r>
            <a:endParaRPr/>
          </a:p>
          <a:p>
            <a:pPr indent="-317500" lvl="1" marL="914400" rtl="0" algn="l">
              <a:spcBef>
                <a:spcPts val="0"/>
              </a:spcBef>
              <a:spcAft>
                <a:spcPts val="0"/>
              </a:spcAft>
              <a:buSzPts val="1400"/>
              <a:buChar char="○"/>
            </a:pPr>
            <a:r>
              <a:rPr lang="en" u="sng">
                <a:solidFill>
                  <a:schemeClr val="hlink"/>
                </a:solidFill>
                <a:hlinkClick r:id="rId3"/>
              </a:rPr>
              <a:t>https://developer.mozilla.org/en-US/docs/Web/CSS/Guides/Grid_layout/Basic_concepts#nesting_grids</a:t>
            </a:r>
            <a:r>
              <a:rPr lang="en"/>
              <a:t> </a:t>
            </a:r>
            <a:endParaRPr/>
          </a:p>
          <a:p>
            <a:pPr indent="-342900" lvl="0" marL="457200" rtl="0" algn="l">
              <a:spcBef>
                <a:spcPts val="0"/>
              </a:spcBef>
              <a:spcAft>
                <a:spcPts val="0"/>
              </a:spcAft>
              <a:buSzPts val="1800"/>
              <a:buChar char="●"/>
            </a:pPr>
            <a:r>
              <a:rPr lang="en"/>
              <a:t>Advanced topics</a:t>
            </a:r>
            <a:endParaRPr/>
          </a:p>
          <a:p>
            <a:pPr indent="-317500" lvl="1" marL="914400" rtl="0" algn="l">
              <a:spcBef>
                <a:spcPts val="0"/>
              </a:spcBef>
              <a:spcAft>
                <a:spcPts val="0"/>
              </a:spcAft>
              <a:buSzPts val="1400"/>
              <a:buChar char="○"/>
            </a:pPr>
            <a:r>
              <a:rPr lang="en"/>
              <a:t>Animations</a:t>
            </a:r>
            <a:endParaRPr/>
          </a:p>
          <a:p>
            <a:pPr indent="-317500" lvl="2" marL="1371600" rtl="0" algn="l">
              <a:spcBef>
                <a:spcPts val="0"/>
              </a:spcBef>
              <a:spcAft>
                <a:spcPts val="0"/>
              </a:spcAft>
              <a:buSzPts val="1400"/>
              <a:buChar char="■"/>
            </a:pPr>
            <a:r>
              <a:rPr lang="en" u="sng">
                <a:solidFill>
                  <a:schemeClr val="hlink"/>
                </a:solidFill>
                <a:hlinkClick r:id="rId4"/>
              </a:rPr>
              <a:t>https://developer.mozilla.org/en-US/docs/Web/CSS/Guides/Animations</a:t>
            </a:r>
            <a:r>
              <a:rPr lang="en"/>
              <a:t> </a:t>
            </a:r>
            <a:endParaRPr/>
          </a:p>
          <a:p>
            <a:pPr indent="-317500" lvl="1" marL="914400" rtl="0" algn="l">
              <a:spcBef>
                <a:spcPts val="0"/>
              </a:spcBef>
              <a:spcAft>
                <a:spcPts val="0"/>
              </a:spcAft>
              <a:buSzPts val="1400"/>
              <a:buChar char="○"/>
            </a:pPr>
            <a:r>
              <a:rPr lang="en"/>
              <a:t>Transforms</a:t>
            </a:r>
            <a:endParaRPr/>
          </a:p>
          <a:p>
            <a:pPr indent="-317500" lvl="2" marL="1371600" rtl="0" algn="l">
              <a:spcBef>
                <a:spcPts val="0"/>
              </a:spcBef>
              <a:spcAft>
                <a:spcPts val="0"/>
              </a:spcAft>
              <a:buSzPts val="1400"/>
              <a:buChar char="■"/>
            </a:pPr>
            <a:r>
              <a:rPr lang="en" u="sng">
                <a:solidFill>
                  <a:schemeClr val="hlink"/>
                </a:solidFill>
                <a:hlinkClick r:id="rId5"/>
              </a:rPr>
              <a:t>https://developer.mozilla.org/en-US/docs/Web/CSS/Guides/Transforms</a:t>
            </a:r>
            <a:r>
              <a:rPr lang="en"/>
              <a:t> </a:t>
            </a:r>
            <a:endParaRPr/>
          </a:p>
        </p:txBody>
      </p:sp>
      <p:sp>
        <p:nvSpPr>
          <p:cNvPr id="903" name="Google Shape;903;p122"/>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23"/>
          <p:cNvSpPr txBox="1"/>
          <p:nvPr>
            <p:ph type="title"/>
          </p:nvPr>
        </p:nvSpPr>
        <p:spPr>
          <a:xfrm>
            <a:off x="311700" y="445025"/>
            <a:ext cx="8520600" cy="623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Free CSS template</a:t>
            </a:r>
            <a:endParaRPr/>
          </a:p>
        </p:txBody>
      </p:sp>
      <p:sp>
        <p:nvSpPr>
          <p:cNvPr id="909" name="Google Shape;909;p1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http://www.templatemo.com/</a:t>
            </a:r>
            <a:endParaRPr/>
          </a:p>
          <a:p>
            <a:pPr indent="-342900" lvl="0" marL="457200" rtl="0" algn="l">
              <a:spcBef>
                <a:spcPts val="0"/>
              </a:spcBef>
              <a:spcAft>
                <a:spcPts val="0"/>
              </a:spcAft>
              <a:buSzPts val="1800"/>
              <a:buChar char="●"/>
            </a:pPr>
            <a:r>
              <a:rPr lang="en"/>
              <a:t>http://www.oswd.org/</a:t>
            </a:r>
            <a:endParaRPr/>
          </a:p>
          <a:p>
            <a:pPr indent="-342900" lvl="0" marL="457200" rtl="0" algn="l">
              <a:spcBef>
                <a:spcPts val="0"/>
              </a:spcBef>
              <a:spcAft>
                <a:spcPts val="0"/>
              </a:spcAft>
              <a:buSzPts val="1800"/>
              <a:buChar char="●"/>
            </a:pPr>
            <a:r>
              <a:rPr lang="en"/>
              <a:t>http://templated.co/</a:t>
            </a:r>
            <a:endParaRPr/>
          </a:p>
          <a:p>
            <a:pPr indent="-342900" lvl="0" marL="457200" rtl="0" algn="l">
              <a:spcBef>
                <a:spcPts val="0"/>
              </a:spcBef>
              <a:spcAft>
                <a:spcPts val="0"/>
              </a:spcAft>
              <a:buSzPts val="1800"/>
              <a:buChar char="●"/>
            </a:pPr>
            <a:r>
              <a:rPr lang="en"/>
              <a:t>http://www.myfreecsstemplates.com/</a:t>
            </a:r>
            <a:endParaRPr/>
          </a:p>
          <a:p>
            <a:pPr indent="-342900" lvl="0" marL="457200" rtl="0" algn="l">
              <a:spcBef>
                <a:spcPts val="0"/>
              </a:spcBef>
              <a:spcAft>
                <a:spcPts val="0"/>
              </a:spcAft>
              <a:buSzPts val="1800"/>
              <a:buChar char="●"/>
            </a:pPr>
            <a:r>
              <a:rPr lang="en"/>
              <a:t>http://www.free-css.com/</a:t>
            </a:r>
            <a:endParaRPr/>
          </a:p>
          <a:p>
            <a:pPr indent="-342900" lvl="0" marL="457200" rtl="0" algn="l">
              <a:spcBef>
                <a:spcPts val="0"/>
              </a:spcBef>
              <a:spcAft>
                <a:spcPts val="0"/>
              </a:spcAft>
              <a:buSzPts val="1800"/>
              <a:buChar char="●"/>
            </a:pPr>
            <a:r>
              <a:rPr lang="en"/>
              <a:t>http://www.free-css-templates.com/</a:t>
            </a:r>
            <a:endParaRPr/>
          </a:p>
          <a:p>
            <a:pPr indent="-342900" lvl="0" marL="457200" rtl="0" algn="l">
              <a:spcBef>
                <a:spcPts val="0"/>
              </a:spcBef>
              <a:spcAft>
                <a:spcPts val="0"/>
              </a:spcAft>
              <a:buSzPts val="1800"/>
              <a:buChar char="●"/>
            </a:pPr>
            <a:r>
              <a:rPr lang="en"/>
              <a:t>https://www.freewebtemplates.com/css-templates/</a:t>
            </a:r>
            <a:endParaRPr/>
          </a:p>
        </p:txBody>
      </p:sp>
      <p:sp>
        <p:nvSpPr>
          <p:cNvPr id="910" name="Google Shape;910;p123"/>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4" name="Shape 914"/>
        <p:cNvGrpSpPr/>
        <p:nvPr/>
      </p:nvGrpSpPr>
      <p:grpSpPr>
        <a:xfrm>
          <a:off x="0" y="0"/>
          <a:ext cx="0" cy="0"/>
          <a:chOff x="0" y="0"/>
          <a:chExt cx="0" cy="0"/>
        </a:xfrm>
      </p:grpSpPr>
      <p:sp>
        <p:nvSpPr>
          <p:cNvPr id="915" name="Google Shape;915;p124"/>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Questions?</a:t>
            </a:r>
            <a:endParaRPr/>
          </a:p>
        </p:txBody>
      </p:sp>
      <p:sp>
        <p:nvSpPr>
          <p:cNvPr id="916" name="Google Shape;916;p124"/>
          <p:cNvSpPr txBox="1"/>
          <p:nvPr>
            <p:ph idx="12" type="sldNum"/>
          </p:nvPr>
        </p:nvSpPr>
        <p:spPr>
          <a:xfrm>
            <a:off x="8497999" y="4688759"/>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917" name="Google Shape;917;p124"/>
          <p:cNvPicPr preferRelativeResize="0"/>
          <p:nvPr/>
        </p:nvPicPr>
        <p:blipFill>
          <a:blip r:embed="rId3">
            <a:alphaModFix/>
          </a:blip>
          <a:stretch>
            <a:fillRect/>
          </a:stretch>
        </p:blipFill>
        <p:spPr>
          <a:xfrm>
            <a:off x="2752075" y="1678825"/>
            <a:ext cx="4156800" cy="26632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Plum">
  <a:themeElements>
    <a:clrScheme name="Plum">
      <a:dk1>
        <a:srgbClr val="611BB8"/>
      </a:dk1>
      <a:lt1>
        <a:srgbClr val="FFFFFF"/>
      </a:lt1>
      <a:dk2>
        <a:srgbClr val="000000"/>
      </a:dk2>
      <a:lt2>
        <a:srgbClr val="7F7F7F"/>
      </a:lt2>
      <a:accent1>
        <a:srgbClr val="333333"/>
      </a:accent1>
      <a:accent2>
        <a:srgbClr val="5E2B97"/>
      </a:accent2>
      <a:accent3>
        <a:srgbClr val="7E57C2"/>
      </a:accent3>
      <a:accent4>
        <a:srgbClr val="C77025"/>
      </a:accent4>
      <a:accent5>
        <a:srgbClr val="009688"/>
      </a:accent5>
      <a:accent6>
        <a:srgbClr val="FFD600"/>
      </a:accent6>
      <a:hlink>
        <a:srgbClr val="009688"/>
      </a:hlink>
      <a:folHlink>
        <a:srgbClr val="00968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