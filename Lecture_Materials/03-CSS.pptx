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1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368"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69"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6" r:id="rId109"/>
    <p:sldId id="367" r:id="rId110"/>
  </p:sldIdLst>
  <p:sldSz cx="9144000" cy="5143500" type="screen16x9"/>
  <p:notesSz cx="6858000" cy="9144000"/>
  <p:embeddedFontLst>
    <p:embeddedFont>
      <p:font typeface="Consolas" panose="020B0609020204030204" pitchFamily="49" charset="0"/>
      <p:regular r:id="rId112"/>
      <p:bold r:id="rId113"/>
      <p:italic r:id="rId114"/>
      <p:boldItalic r:id="rId115"/>
    </p:embeddedFont>
    <p:embeddedFont>
      <p:font typeface="Raleway" pitchFamily="2" charset="0"/>
      <p:regular r:id="rId116"/>
      <p:bold r:id="rId117"/>
      <p:italic r:id="rId118"/>
      <p:boldItalic r:id="rId119"/>
    </p:embeddedFont>
    <p:embeddedFont>
      <p:font typeface="Roboto" panose="02000000000000000000" pitchFamily="2" charset="0"/>
      <p:regular r:id="rId120"/>
      <p:bold r:id="rId121"/>
      <p:italic r:id="rId122"/>
      <p:boldItalic r:id="rId123"/>
    </p:embeddedFont>
    <p:embeddedFont>
      <p:font typeface="Source Sans Pro" panose="020B0503030403020204" pitchFamily="34" charset="0"/>
      <p:regular r:id="rId124"/>
      <p:bold r:id="rId125"/>
      <p:italic r:id="rId126"/>
      <p:boldItalic r:id="rId1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A03D88-5CAB-4523-A037-8932B7E51F44}">
  <a:tblStyle styleId="{E1A03D88-5CAB-4523-A037-8932B7E51F4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78" y="67"/>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649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6.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2.fntdata"/><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2.fntdata"/><Relationship Id="rId118"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3.fntdata"/><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3.fntdata"/><Relationship Id="rId119" Type="http://schemas.openxmlformats.org/officeDocument/2006/relationships/font" Target="fonts/font8.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9.fntdata"/><Relationship Id="rId125"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4.fntdata"/><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c6f9544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544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c6f9544c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c6f9544c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f0f6b439ea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f0f6b439e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e560c41de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e560c41de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e560c41de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e560c41de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47a33925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47a33925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ed399e5d2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ed399e5d2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f47a339254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f47a33925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344209e22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344209e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47a33925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47a339254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47a339254_0_3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f47a33925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f47a339254_0_6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f47a33925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4f1e32216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f4f1e32216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47a339254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f47a33925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f47a33925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f47a33925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f47a33925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f47a33925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47a33925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f47a33925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f47a339254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f47a339254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f47a339254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f47a339254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47a339254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f47a339254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f47a339254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f47a339254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f47a339254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f47a33925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47a339254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f47a339254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f47a339254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f47a339254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f47a339254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f47a339254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f4acad7f5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f4acad7f5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f4acad7f5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f4acad7f5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f4acad7f5e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f4acad7f5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f4acad7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f4acad7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f4acad7f5e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f4acad7f5e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f4acad7f5e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f4acad7f5e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f4acad7f5e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f4acad7f5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f4acad7f5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f4acad7f5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f4acad7f5e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f4acad7f5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f4acad7f5e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f4acad7f5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f4acad7f5e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f4acad7f5e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f4acad7f5e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f4acad7f5e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f4acad7f5e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f4acad7f5e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f4acad7f5e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f4acad7f5e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f4acad7f5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f4acad7f5e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f4acad7f5e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f4acad7f5e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f4acad7f5e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f4acad7f5e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f4acad7f5e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f4acad7f5e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f47a339254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f47a339254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f4acad7f5e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f4acad7f5e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f4acad7f5e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f4acad7f5e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f4acad7f5e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f4acad7f5e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f4acad7f5e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f4acad7f5e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f4acad7f5e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f4acad7f5e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f4acad7f5e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f4acad7f5e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4f1e3221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f4f1e3221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f4acad7f5e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f4acad7f5e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f4acad7f5e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3f4acad7f5e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f8054402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3f8054402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f8054402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f8054402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f8054402b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f8054402b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f8054402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f8054402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85264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f4f1e3221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f4f1e322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f8054402b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f8054402b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f4f1e3221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f4f1e3221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f4acad7f5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f4acad7f5e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f4acad7f5e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f4acad7f5e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4f1e32216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4f1e32216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f4f1e32216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f4f1e3221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f4f1e32216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f4f1e32216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f4f1e32216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f4f1e3221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f4f1e32216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f4f1e32216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f4f1e32216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f4f1e32216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f4f1e32216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3f4f1e32216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4acad7f5e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3f4acad7f5e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f0f6b439ea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3f0f6b439ea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f4f1e32216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f4f1e3221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3f4f1e3221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3f4f1e3221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3f4f1e32216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3f4f1e3221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f4f1e3221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f4f1e3221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f4f1e32216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3f4f1e32216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f4acad7f5e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3f4acad7f5e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f4acad7f5e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3f4acad7f5e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f4f1e32216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3f4f1e32216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f4acad7f5e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f4acad7f5e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f4acad7f5e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3f4acad7f5e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f51af5425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3f51af5425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3f51af54259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3f51af5425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f51af54259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f51af54259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3f51af5425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3f51af5425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3f51af5425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3f51af5425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f51af54259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f51af5425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3f51af54259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3f51af54259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3f51af5425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3f51af5425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f51af5425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3f51af5425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f51af54259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f51af54259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f529123d9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3f529123d9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f529123d9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f529123d9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f529123d9c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3f529123d9c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f529123d9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3f529123d9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3f529123d9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3f529123d9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3f529123d9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3f529123d9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f529123d9c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3f529123d9c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f529123d9c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3f529123d9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f529123d9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3f529123d9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f4acad7f5e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f4acad7f5e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f4acad7f5e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3f4acad7f5e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f529123d9c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3f529123d9c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f529123d9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3f529123d9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3f529123d9c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3f529123d9c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f4acad7f5e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3f4acad7f5e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f394764a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f394764a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3f0f6b439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3f0f6b439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1" name="Google Shape;11;p2"/>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rgbClr val="434343"/>
              </a:buClr>
              <a:buSzPts val="2400"/>
              <a:buNone/>
              <a:defRPr sz="2400">
                <a:solidFill>
                  <a:srgbClr val="434343"/>
                </a:solidFill>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2" name="Google Shape;12;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2" title="Gemini_Generated_Image_r9brlcr9brlcr9br.png"/>
          <p:cNvPicPr preferRelativeResize="0"/>
          <p:nvPr/>
        </p:nvPicPr>
        <p:blipFill>
          <a:blip r:embed="rId2">
            <a:alphaModFix/>
          </a:blip>
          <a:stretch>
            <a:fillRect/>
          </a:stretch>
        </p:blipFill>
        <p:spPr>
          <a:xfrm>
            <a:off x="190672" y="2684196"/>
            <a:ext cx="8680715" cy="2271762"/>
          </a:xfrm>
          <a:prstGeom prst="rect">
            <a:avLst/>
          </a:prstGeom>
          <a:solidFill>
            <a:srgbClr val="CFE2F3"/>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CFE2F3"/>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rgbClr val="434343"/>
              </a:buClr>
              <a:buSzPts val="4800"/>
              <a:buNone/>
              <a:defRPr sz="4800">
                <a:solidFill>
                  <a:srgbClr val="434343"/>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rgbClr val="434343"/>
              </a:buClr>
              <a:buSzPts val="1800"/>
              <a:buChar char="●"/>
              <a:defRPr>
                <a:solidFill>
                  <a:srgbClr val="434343"/>
                </a:solidFill>
              </a:defRPr>
            </a:lvl1pPr>
            <a:lvl2pPr marL="914400" lvl="1" indent="-317500">
              <a:spcBef>
                <a:spcPts val="1600"/>
              </a:spcBef>
              <a:spcAft>
                <a:spcPts val="0"/>
              </a:spcAft>
              <a:buClr>
                <a:srgbClr val="434343"/>
              </a:buClr>
              <a:buSzPts val="1400"/>
              <a:buChar char="○"/>
              <a:defRPr>
                <a:solidFill>
                  <a:srgbClr val="434343"/>
                </a:solidFill>
              </a:defRPr>
            </a:lvl2pPr>
            <a:lvl3pPr marL="1371600" lvl="2" indent="-317500">
              <a:spcBef>
                <a:spcPts val="1600"/>
              </a:spcBef>
              <a:spcAft>
                <a:spcPts val="0"/>
              </a:spcAft>
              <a:buClr>
                <a:srgbClr val="434343"/>
              </a:buClr>
              <a:buSzPts val="1400"/>
              <a:buChar char="■"/>
              <a:defRPr>
                <a:solidFill>
                  <a:srgbClr val="434343"/>
                </a:solidFill>
              </a:defRPr>
            </a:lvl3pPr>
            <a:lvl4pPr marL="1828800" lvl="3" indent="-317500">
              <a:spcBef>
                <a:spcPts val="1600"/>
              </a:spcBef>
              <a:spcAft>
                <a:spcPts val="0"/>
              </a:spcAft>
              <a:buClr>
                <a:srgbClr val="434343"/>
              </a:buClr>
              <a:buSzPts val="1400"/>
              <a:buChar char="●"/>
              <a:defRPr>
                <a:solidFill>
                  <a:srgbClr val="434343"/>
                </a:solidFill>
              </a:defRPr>
            </a:lvl4pPr>
            <a:lvl5pPr marL="2286000" lvl="4" indent="-317500">
              <a:spcBef>
                <a:spcPts val="1600"/>
              </a:spcBef>
              <a:spcAft>
                <a:spcPts val="0"/>
              </a:spcAft>
              <a:buClr>
                <a:srgbClr val="434343"/>
              </a:buClr>
              <a:buSzPts val="1400"/>
              <a:buChar char="○"/>
              <a:defRPr>
                <a:solidFill>
                  <a:srgbClr val="434343"/>
                </a:solidFill>
              </a:defRPr>
            </a:lvl5pPr>
            <a:lvl6pPr marL="2743200" lvl="5" indent="-317500">
              <a:spcBef>
                <a:spcPts val="1600"/>
              </a:spcBef>
              <a:spcAft>
                <a:spcPts val="0"/>
              </a:spcAft>
              <a:buClr>
                <a:srgbClr val="434343"/>
              </a:buClr>
              <a:buSzPts val="1400"/>
              <a:buChar char="■"/>
              <a:defRPr>
                <a:solidFill>
                  <a:srgbClr val="434343"/>
                </a:solidFill>
              </a:defRPr>
            </a:lvl6pPr>
            <a:lvl7pPr marL="3200400" lvl="6" indent="-317500">
              <a:spcBef>
                <a:spcPts val="1600"/>
              </a:spcBef>
              <a:spcAft>
                <a:spcPts val="0"/>
              </a:spcAft>
              <a:buClr>
                <a:srgbClr val="434343"/>
              </a:buClr>
              <a:buSzPts val="1400"/>
              <a:buChar char="●"/>
              <a:defRPr>
                <a:solidFill>
                  <a:srgbClr val="434343"/>
                </a:solidFill>
              </a:defRPr>
            </a:lvl7pPr>
            <a:lvl8pPr marL="3657600" lvl="7" indent="-317500">
              <a:spcBef>
                <a:spcPts val="1600"/>
              </a:spcBef>
              <a:spcAft>
                <a:spcPts val="0"/>
              </a:spcAft>
              <a:buClr>
                <a:srgbClr val="434343"/>
              </a:buClr>
              <a:buSzPts val="1400"/>
              <a:buChar char="○"/>
              <a:defRPr>
                <a:solidFill>
                  <a:srgbClr val="434343"/>
                </a:solidFill>
              </a:defRPr>
            </a:lvl8pPr>
            <a:lvl9pPr marL="4114800" lvl="8" indent="-317500">
              <a:spcBef>
                <a:spcPts val="1600"/>
              </a:spcBef>
              <a:spcAft>
                <a:spcPts val="1600"/>
              </a:spcAft>
              <a:buClr>
                <a:srgbClr val="434343"/>
              </a:buClr>
              <a:buSzPts val="1400"/>
              <a:buChar char="■"/>
              <a:defRPr>
                <a:solidFill>
                  <a:srgbClr val="434343"/>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rgbClr val="434343"/>
              </a:buClr>
              <a:buSzPts val="1800"/>
              <a:buChar char="●"/>
              <a:defRPr>
                <a:solidFill>
                  <a:srgbClr val="434343"/>
                </a:solidFill>
              </a:defRPr>
            </a:lvl1pPr>
            <a:lvl2pPr marL="914400" lvl="1" indent="-317500" algn="ctr">
              <a:spcBef>
                <a:spcPts val="1600"/>
              </a:spcBef>
              <a:spcAft>
                <a:spcPts val="0"/>
              </a:spcAft>
              <a:buClr>
                <a:srgbClr val="434343"/>
              </a:buClr>
              <a:buSzPts val="1400"/>
              <a:buChar char="○"/>
              <a:defRPr>
                <a:solidFill>
                  <a:srgbClr val="434343"/>
                </a:solidFill>
              </a:defRPr>
            </a:lvl2pPr>
            <a:lvl3pPr marL="1371600" lvl="2" indent="-317500" algn="ctr">
              <a:spcBef>
                <a:spcPts val="1600"/>
              </a:spcBef>
              <a:spcAft>
                <a:spcPts val="0"/>
              </a:spcAft>
              <a:buClr>
                <a:srgbClr val="434343"/>
              </a:buClr>
              <a:buSzPts val="1400"/>
              <a:buChar char="■"/>
              <a:defRPr>
                <a:solidFill>
                  <a:srgbClr val="434343"/>
                </a:solidFill>
              </a:defRPr>
            </a:lvl3pPr>
            <a:lvl4pPr marL="1828800" lvl="3" indent="-317500" algn="ctr">
              <a:spcBef>
                <a:spcPts val="1600"/>
              </a:spcBef>
              <a:spcAft>
                <a:spcPts val="0"/>
              </a:spcAft>
              <a:buClr>
                <a:srgbClr val="434343"/>
              </a:buClr>
              <a:buSzPts val="1400"/>
              <a:buChar char="●"/>
              <a:defRPr>
                <a:solidFill>
                  <a:srgbClr val="434343"/>
                </a:solidFill>
              </a:defRPr>
            </a:lvl4pPr>
            <a:lvl5pPr marL="2286000" lvl="4" indent="-317500" algn="ctr">
              <a:spcBef>
                <a:spcPts val="1600"/>
              </a:spcBef>
              <a:spcAft>
                <a:spcPts val="0"/>
              </a:spcAft>
              <a:buClr>
                <a:srgbClr val="434343"/>
              </a:buClr>
              <a:buSzPts val="1400"/>
              <a:buChar char="○"/>
              <a:defRPr>
                <a:solidFill>
                  <a:srgbClr val="434343"/>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434343"/>
              </a:buClr>
              <a:buSzPts val="1800"/>
              <a:buFont typeface="Source Sans Pro"/>
              <a:buChar char="●"/>
              <a:defRPr sz="1800">
                <a:solidFill>
                  <a:srgbClr val="434343"/>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8pPr>
            <a:lvl9pPr marL="4114800" lvl="8" indent="-317500">
              <a:lnSpc>
                <a:spcPct val="115000"/>
              </a:lnSpc>
              <a:spcBef>
                <a:spcPts val="1600"/>
              </a:spcBef>
              <a:spcAft>
                <a:spcPts val="160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mozilla.org/en-US/docs/Web/CS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jigsaw.w3.org/css-validato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w3.org/TR/css/"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sass-lang.com/guid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www.w3schools.com/css/css_syntax.asp"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mozilla.org/en-US/docs/Web/CSS/Reference/Values/ident"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eveloper.mozilla.org/en-US/docs/Web/CSS/Reference/Selectors/Attribute_selectors"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3.org/TR/css-color-3/"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hyperlink" Target="https://developer.mozilla.org/en-US/docs/Web/CSS/Reference/Properties/text-align"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hyperlink" Target="https://developer.mozilla.org/en-US/docs/Web/CSS/Reference/Properties/text-decoration"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hyperlink" Target="https://developer.mozilla.org/en-US/docs/Web/CSS/Reference/Properties/text-transform"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hyperlink" Target="https://developer.mozilla.org/en-US/docs/Web/CSS/Reference/Properties/letter-spacing"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hyperlink" Target="https://developer.mozilla.org/en-US/docs/Web/CSS/Reference/Properties/line-height" TargetMode="External"/><Relationship Id="rId4" Type="http://schemas.openxmlformats.org/officeDocument/2006/relationships/hyperlink" Target="https://developer.mozilla.org/en-US/docs/Web/CSS/Reference/Properties/word-spacin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hyperlink" Target="https://developer.mozilla.org/en-US/docs/Web/CSS/Guides/Values_and_units/Using_math_functions"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image" Target="../media/image59.png"/><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hyperlink" Target="https://developer.mozilla.org/en-US/docs/Web/CSS/Reference/Properties/opacity"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developer.mozilla.org/en-US/docs/Web/CSS/Reference/Values/color_value"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3" Type="http://schemas.openxmlformats.org/officeDocument/2006/relationships/hyperlink" Target="https://developer.mozilla.org/en-US/docs/Web/CSS/Reference/Values/image"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hyperlink" Target="https://developer.mozilla.org/en-US/docs/Web/CSS/Reference/Properties/background-image"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developer.mozilla.org/en-US/docs/Web/CSS/Reference/Values/gradient"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developer.mozilla.org/en-US/docs/Web/CSS/Guides/Masking/Introduction" TargetMode="External"/><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developer.mozilla.org/en-US/docs/Web/CSS/Reference/Properties/overflow" TargetMode="External"/><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3" Type="http://schemas.openxmlformats.org/officeDocument/2006/relationships/hyperlink" Target="https://developer.mozilla.org/en-US/docs/Web/CSS/Reference/Properties/box-sizing" TargetMode="External"/><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hyperlink" Target="https://developer.mozilla.org/en-US/docs/Web/CSS/Reference/Properties/float"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developer.mozilla.org/en-US/docs/Web/CSS/Reference/Properties/outline" TargetMode="External"/><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hyperlink" Target="https://developer.mozilla.org/en-US/docs/Web/CSS/Reference/Properties/box-shadow"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developer.mozilla.org/en-US/docs/Web/CSS/Reference/Properties/display" TargetMode="External"/><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hyperlink" Target="https://developer.mozilla.org/en-US/docs/Web/CSS/Guides/Display/Block_and_inline_layout" TargetMode="External"/></Relationships>
</file>

<file path=ppt/slides/_rels/slide65.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hyperlink" Target="https://developer.mozilla.org/en-US/docs/Web/CSS/Reference/Properties/position" TargetMode="External"/><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hyperlink" Target="https://developer.mozilla.org/en-US/docs/Web/CSS/Reference/Properties/z-index" TargetMode="External"/><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hyperlink" Target="https://developer.mozilla.org/en-US/docs/Web/CSS/Guides/Table" TargetMode="External"/><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hyperlink" Target="https://developer.mozilla.org/en-US/docs/Web/CSS/Guides/Filter_effects" TargetMode="External"/><Relationship Id="rId5" Type="http://schemas.openxmlformats.org/officeDocument/2006/relationships/hyperlink" Target="https://developer.mozilla.org/en-US/docs/Web/CSS/Guides/Images" TargetMode="External"/><Relationship Id="rId4" Type="http://schemas.openxmlformats.org/officeDocument/2006/relationships/hyperlink" Target="https://developer.mozilla.org/en-US/docs/Web/CSS/Guides/Lists" TargetMode="Externa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hyperlink" Target="https://developer.mozilla.org/en-US/docs/Learn_web_development/Core/Styling_basics/Handling_conflicts" TargetMode="External"/><Relationship Id="rId2" Type="http://schemas.openxmlformats.org/officeDocument/2006/relationships/notesSlide" Target="../notesSlides/notesSlide76.xml"/><Relationship Id="rId1" Type="http://schemas.openxmlformats.org/officeDocument/2006/relationships/slideLayout" Target="../slideLayouts/slideLayout3.xml"/><Relationship Id="rId4" Type="http://schemas.openxmlformats.org/officeDocument/2006/relationships/hyperlink" Target="https://developer.mozilla.org/en-US/docs/Web/CSS/Guides/Cascade/Introduction"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developer.mozilla.org/en-US/docs/Web/CSS/Reference/Selectors/Pseudo-classes" TargetMode="External"/><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hyperlink" Target="https://developer.mozilla.org/en-US/docs/Web/CSS/Reference/Selectors/Pseudo-elements" TargetMode="External"/><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81.xml"/><Relationship Id="rId1" Type="http://schemas.openxmlformats.org/officeDocument/2006/relationships/slideLayout" Target="../slideLayouts/slideLayout3.xml"/><Relationship Id="rId5" Type="http://schemas.openxmlformats.org/officeDocument/2006/relationships/slide" Target="slide60.xml"/><Relationship Id="rId4" Type="http://schemas.openxmlformats.org/officeDocument/2006/relationships/hyperlink" Target="https://developer.mozilla.org/en-US/docs/Web/CSS/Guides/Display/In_flow_and_out_of_flow" TargetMode="External"/></Relationships>
</file>

<file path=ppt/slides/_rels/slide83.xml.rels><?xml version="1.0" encoding="UTF-8" standalone="yes"?>
<Relationships xmlns="http://schemas.openxmlformats.org/package/2006/relationships"><Relationship Id="rId3" Type="http://schemas.openxmlformats.org/officeDocument/2006/relationships/hyperlink" Target="https://developer.mozilla.org/en-US/docs/Web/CSS/Guides/Multicol_layout/Basic_concepts" TargetMode="External"/><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notesSlide" Target="../notesSlides/notesSlide85.xml"/><Relationship Id="rId1" Type="http://schemas.openxmlformats.org/officeDocument/2006/relationships/slideLayout" Target="../slideLayouts/slideLayout3.xml"/><Relationship Id="rId6" Type="http://schemas.openxmlformats.org/officeDocument/2006/relationships/hyperlink" Target="https://css-tricks.com/snippets/css/a-guide-to-flexbox/" TargetMode="External"/><Relationship Id="rId5" Type="http://schemas.openxmlformats.org/officeDocument/2006/relationships/image" Target="../media/image68.png"/><Relationship Id="rId4" Type="http://schemas.openxmlformats.org/officeDocument/2006/relationships/image" Target="../media/image67.png"/></Relationships>
</file>

<file path=ppt/slides/_rels/slide8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6.xml"/><Relationship Id="rId1" Type="http://schemas.openxmlformats.org/officeDocument/2006/relationships/slideLayout" Target="../slideLayouts/slideLayout3.xml"/><Relationship Id="rId4" Type="http://schemas.openxmlformats.org/officeDocument/2006/relationships/hyperlink" Target="https://developer.mozilla.org/en-US/docs/Learn_web_development/Core/CSS_layout/Flexbox"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7.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71.png"/></Relationships>
</file>

<file path=ppt/slides/_rels/slide8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8.xml"/><Relationship Id="rId1" Type="http://schemas.openxmlformats.org/officeDocument/2006/relationships/slideLayout" Target="../slideLayouts/slideLayout3.xml"/><Relationship Id="rId4" Type="http://schemas.openxmlformats.org/officeDocument/2006/relationships/hyperlink" Target="https://www.w3schools.com/cssref/playdemo.php?filename=playcss_justify-content&amp;preval=flex-start" TargetMode="External"/></Relationships>
</file>

<file path=ppt/slides/_rels/slide90.xml.rels><?xml version="1.0" encoding="UTF-8" standalone="yes"?>
<Relationships xmlns="http://schemas.openxmlformats.org/package/2006/relationships"><Relationship Id="rId3" Type="http://schemas.openxmlformats.org/officeDocument/2006/relationships/hyperlink" Target="https://developer.mozilla.org/en-US/docs/Web/CSS/Reference/Properties/align-content" TargetMode="External"/><Relationship Id="rId2" Type="http://schemas.openxmlformats.org/officeDocument/2006/relationships/notesSlide" Target="../notesSlides/notesSlide89.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91.xml.rels><?xml version="1.0" encoding="UTF-8" standalone="yes"?>
<Relationships xmlns="http://schemas.openxmlformats.org/package/2006/relationships"><Relationship Id="rId3" Type="http://schemas.openxmlformats.org/officeDocument/2006/relationships/hyperlink" Target="https://www.w3schools.com/cssref/playdemo.php?filename=playcss_align-items" TargetMode="External"/><Relationship Id="rId2" Type="http://schemas.openxmlformats.org/officeDocument/2006/relationships/notesSlide" Target="../notesSlides/notesSlide90.xml"/><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9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7.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hyperlink" Target="https://developer.mozilla.org/en-US/docs/Web/CSS/Guides/Grid_layout/Basic_concepts#nesting_grids" TargetMode="External"/><Relationship Id="rId2" Type="http://schemas.openxmlformats.org/officeDocument/2006/relationships/notesSlide" Target="../notesSlides/notesSlide100.xml"/><Relationship Id="rId1" Type="http://schemas.openxmlformats.org/officeDocument/2006/relationships/slideLayout" Target="../slideLayouts/slideLayout3.xml"/><Relationship Id="rId5" Type="http://schemas.openxmlformats.org/officeDocument/2006/relationships/hyperlink" Target="https://developer.mozilla.org/en-US/docs/Web/CSS/Guides/Transforms" TargetMode="External"/><Relationship Id="rId4" Type="http://schemas.openxmlformats.org/officeDocument/2006/relationships/hyperlink" Target="https://developer.mozilla.org/en-US/docs/Web/CSS/Guides/Animations" TargetMode="Externa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hyperlink" Target="https://developer.mozilla.org/en-US/docs/Web/CSS/Reference/At-rules/@media#media_features" TargetMode="External"/><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hyperlink" Target="https://developer.mozilla.org/en-US/docs/Web/CSS/Guides/Containment/Container_queries" TargetMode="External"/><Relationship Id="rId2" Type="http://schemas.openxmlformats.org/officeDocument/2006/relationships/notesSlide" Target="../notesSlides/notesSlide105.xml"/><Relationship Id="rId1" Type="http://schemas.openxmlformats.org/officeDocument/2006/relationships/slideLayout" Target="../slideLayouts/slideLayout3.xml"/><Relationship Id="rId5" Type="http://schemas.openxmlformats.org/officeDocument/2006/relationships/hyperlink" Target="https://blog.logrocket.com/elements-responsive-typography/" TargetMode="External"/><Relationship Id="rId4" Type="http://schemas.openxmlformats.org/officeDocument/2006/relationships/hyperlink" Target="https://www.w3schools.com/howto/howto_css_responsive_text.asp" TargetMode="External"/></Relationships>
</file>

<file path=ppt/slides/_rels/slide107.xml.rels><?xml version="1.0" encoding="UTF-8" standalone="yes"?>
<Relationships xmlns="http://schemas.openxmlformats.org/package/2006/relationships"><Relationship Id="rId3" Type="http://schemas.openxmlformats.org/officeDocument/2006/relationships/hyperlink" Target="https://developer.mozilla.org/en-US/docs/Web/CSS/Guides/Cascading_variables/Using_custom_properties" TargetMode="External"/><Relationship Id="rId2" Type="http://schemas.openxmlformats.org/officeDocument/2006/relationships/notesSlide" Target="../notesSlides/notesSlide106.xml"/><Relationship Id="rId1" Type="http://schemas.openxmlformats.org/officeDocument/2006/relationships/slideLayout" Target="../slideLayouts/slideLayout3.xml"/><Relationship Id="rId5" Type="http://schemas.openxmlformats.org/officeDocument/2006/relationships/hyperlink" Target="https://css-tricks.com/functions-in-css/" TargetMode="External"/><Relationship Id="rId4" Type="http://schemas.openxmlformats.org/officeDocument/2006/relationships/hyperlink" Target="https://developer.mozilla.org/en-US/docs/Web/CSS/Reference/Values/Functions"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s://www.pinterest.com/tooplate/html-css-templates/" TargetMode="External"/><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Cascade Style Sheet (CSS)</a:t>
            </a:r>
            <a:endParaRPr/>
          </a:p>
        </p:txBody>
      </p:sp>
      <p:sp>
        <p:nvSpPr>
          <p:cNvPr id="59" name="Google Shape;59;p13"/>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a:t>Ci-Wei Lan 藍啟維</a:t>
            </a:r>
            <a:endParaRPr/>
          </a:p>
          <a:p>
            <a:pPr marL="0" lvl="0" indent="0" algn="l" rtl="0">
              <a:lnSpc>
                <a:spcPct val="150000"/>
              </a:lnSpc>
              <a:spcBef>
                <a:spcPts val="0"/>
              </a:spcBef>
              <a:spcAft>
                <a:spcPts val="0"/>
              </a:spcAft>
              <a:buNone/>
            </a:pPr>
            <a:r>
              <a:rPr lang="en" sz="2000"/>
              <a:t>Dept. of CSE, NTOU</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Outlines</a:t>
            </a:r>
            <a:endParaRPr/>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ltLang="zh-TW" dirty="0"/>
              <a:t>Associate webpages</a:t>
            </a:r>
            <a:r>
              <a:rPr lang="en" dirty="0"/>
              <a:t> with style sheets for appearance management</a:t>
            </a:r>
            <a:endParaRPr dirty="0"/>
          </a:p>
          <a:p>
            <a:pPr marL="457200" lvl="0" indent="-342900" algn="l" rtl="0">
              <a:spcBef>
                <a:spcPts val="0"/>
              </a:spcBef>
              <a:spcAft>
                <a:spcPts val="0"/>
              </a:spcAft>
              <a:buSzPts val="1800"/>
              <a:buChar char="●"/>
            </a:pPr>
            <a:r>
              <a:rPr lang="en" dirty="0"/>
              <a:t>Selectors and properties</a:t>
            </a:r>
            <a:endParaRPr dirty="0"/>
          </a:p>
          <a:p>
            <a:pPr marL="457200" lvl="0" indent="-342900" algn="l" rtl="0">
              <a:spcBef>
                <a:spcPts val="0"/>
              </a:spcBef>
              <a:spcAft>
                <a:spcPts val="0"/>
              </a:spcAft>
              <a:buSzPts val="1800"/>
              <a:buChar char="●"/>
            </a:pPr>
            <a:r>
              <a:rPr lang="en" dirty="0"/>
              <a:t>The box model and how to control margins, borders and padding</a:t>
            </a:r>
          </a:p>
          <a:p>
            <a:pPr marL="457200" lvl="0" indent="-342900" algn="l" rtl="0">
              <a:spcBef>
                <a:spcPts val="0"/>
              </a:spcBef>
              <a:spcAft>
                <a:spcPts val="0"/>
              </a:spcAft>
              <a:buSzPts val="1800"/>
              <a:buChar char="●"/>
            </a:pPr>
            <a:r>
              <a:rPr lang="en-US" dirty="0"/>
              <a:t>Cascade &amp; Specificity: how an element’s appearance is determined</a:t>
            </a:r>
          </a:p>
          <a:p>
            <a:pPr marL="457200" lvl="0" indent="-342900" algn="l" rtl="0">
              <a:spcBef>
                <a:spcPts val="0"/>
              </a:spcBef>
              <a:spcAft>
                <a:spcPts val="0"/>
              </a:spcAft>
              <a:buSzPts val="1800"/>
              <a:buChar char="●"/>
            </a:pPr>
            <a:r>
              <a:rPr lang="en-US" dirty="0"/>
              <a:t>Layout and responsive designs</a:t>
            </a:r>
            <a:endParaRPr lang="en" dirty="0"/>
          </a:p>
        </p:txBody>
      </p:sp>
      <p:sp>
        <p:nvSpPr>
          <p:cNvPr id="66" name="Google Shape;66;p1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Cascading Style Sheets (CSS)</a:t>
            </a:r>
            <a:endParaRPr sz="2900"/>
          </a:p>
        </p:txBody>
      </p:sp>
      <p:sp>
        <p:nvSpPr>
          <p:cNvPr id="72" name="Google Shape;72;p1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73" name="Google Shape;73;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stylesheet language used to describe the presentation of a document written in HTML or XML (including XML dialects such as SVG, MathML or XHTML).</a:t>
            </a:r>
            <a:endParaRPr/>
          </a:p>
          <a:p>
            <a:pPr marL="457200" lvl="0" indent="-342900" algn="l" rtl="0">
              <a:spcBef>
                <a:spcPts val="0"/>
              </a:spcBef>
              <a:spcAft>
                <a:spcPts val="0"/>
              </a:spcAft>
              <a:buSzPts val="1800"/>
              <a:buChar char="●"/>
            </a:pPr>
            <a:r>
              <a:rPr lang="en"/>
              <a:t>Previously, the development of various parts of CSS specification was done synchronously, which allowed the versioning of the latest recommendations. You might have heard about CSS1, CSS2.1, or even CSS3. There will never be a CSS3 or a CSS4; rather, everything is now just "CSS" with individual CSS modules having version numbers.</a:t>
            </a:r>
            <a:endParaRPr/>
          </a:p>
          <a:p>
            <a:pPr marL="457200" lvl="0" indent="-342900" algn="l" rtl="0">
              <a:spcBef>
                <a:spcPts val="0"/>
              </a:spcBef>
              <a:spcAft>
                <a:spcPts val="0"/>
              </a:spcAft>
              <a:buSzPts val="1800"/>
              <a:buChar char="●"/>
            </a:pPr>
            <a:r>
              <a:rPr lang="en"/>
              <a:t>CSS syntax reference: </a:t>
            </a:r>
            <a:r>
              <a:rPr lang="en" u="sng">
                <a:solidFill>
                  <a:schemeClr val="hlink"/>
                </a:solidFill>
                <a:hlinkClick r:id="rId3"/>
              </a:rPr>
              <a:t>https://developer.mozilla.org/en-US/docs/Web/CSS</a:t>
            </a:r>
            <a:r>
              <a:rPr lang="en"/>
              <a:t> </a:t>
            </a:r>
            <a:endParaRPr/>
          </a:p>
          <a:p>
            <a:pPr marL="457200" lvl="0" indent="-342900" algn="l" rtl="0">
              <a:spcBef>
                <a:spcPts val="0"/>
              </a:spcBef>
              <a:spcAft>
                <a:spcPts val="0"/>
              </a:spcAft>
              <a:buSzPts val="1800"/>
              <a:buChar char="●"/>
            </a:pPr>
            <a:r>
              <a:rPr lang="en"/>
              <a:t>CSS syntax validation: </a:t>
            </a:r>
            <a:r>
              <a:rPr lang="en" u="sng">
                <a:solidFill>
                  <a:schemeClr val="hlink"/>
                </a:solidFill>
                <a:hlinkClick r:id="rId4"/>
              </a:rPr>
              <a:t>https://jigsaw.w3.org/css-validator/</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CSS Official Definition</a:t>
            </a:r>
            <a:endParaRPr/>
          </a:p>
        </p:txBody>
      </p:sp>
      <p:sp>
        <p:nvSpPr>
          <p:cNvPr id="79" name="Google Shape;79;p1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80" name="Google Shape;80;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457200" lvl="0" indent="-317183" algn="l" rtl="0">
              <a:spcBef>
                <a:spcPts val="0"/>
              </a:spcBef>
              <a:spcAft>
                <a:spcPts val="0"/>
              </a:spcAft>
              <a:buSzPct val="100000"/>
              <a:buChar char="●"/>
            </a:pPr>
            <a:r>
              <a:rPr lang="en"/>
              <a:t>As of 2026, Cascading Style Sheets (CSS) is defined by the following specifications.</a:t>
            </a:r>
            <a:endParaRPr/>
          </a:p>
          <a:p>
            <a:pPr marL="457200" lvl="0" indent="-317183" algn="l" rtl="0">
              <a:spcBef>
                <a:spcPts val="0"/>
              </a:spcBef>
              <a:spcAft>
                <a:spcPts val="0"/>
              </a:spcAft>
              <a:buSzPct val="100000"/>
              <a:buChar char="●"/>
            </a:pPr>
            <a:r>
              <a:rPr lang="en"/>
              <a:t>CSS Level 2, latest revision (including errata) [CSS2]</a:t>
            </a:r>
            <a:endParaRPr/>
          </a:p>
          <a:p>
            <a:pPr marL="914400" lvl="1" indent="-297498" algn="l" rtl="0">
              <a:spcBef>
                <a:spcPts val="0"/>
              </a:spcBef>
              <a:spcAft>
                <a:spcPts val="0"/>
              </a:spcAft>
              <a:buSzPct val="100000"/>
              <a:buChar char="○"/>
            </a:pPr>
            <a:r>
              <a:rPr lang="en"/>
              <a:t>This defines the core of CSS, parts of which are overridden by later specifications. We recommend in particular reading Chapter 2, which introduces some of the basic concepts of CSS and its design principles.</a:t>
            </a:r>
            <a:endParaRPr/>
          </a:p>
          <a:p>
            <a:pPr marL="457200" lvl="0" indent="-317183" algn="l" rtl="0">
              <a:spcBef>
                <a:spcPts val="0"/>
              </a:spcBef>
              <a:spcAft>
                <a:spcPts val="0"/>
              </a:spcAft>
              <a:buSzPct val="100000"/>
              <a:buChar char="●"/>
            </a:pPr>
            <a:r>
              <a:rPr lang="en"/>
              <a:t>CSS Syntax Module Level 3 [CSS-SYNTAX-3]</a:t>
            </a:r>
            <a:endParaRPr/>
          </a:p>
          <a:p>
            <a:pPr marL="914400" lvl="1" indent="-297498" algn="l" rtl="0">
              <a:spcBef>
                <a:spcPts val="0"/>
              </a:spcBef>
              <a:spcAft>
                <a:spcPts val="0"/>
              </a:spcAft>
              <a:buSzPct val="100000"/>
              <a:buChar char="○"/>
            </a:pPr>
            <a:r>
              <a:rPr lang="en"/>
              <a:t>Replaces CSS2§4.1, CSS2§4.2, CSS2§4.4, and CSS2§G, redefining how CSS is parsed.</a:t>
            </a:r>
            <a:endParaRPr/>
          </a:p>
          <a:p>
            <a:pPr marL="457200" lvl="0" indent="-317183" algn="l" rtl="0">
              <a:spcBef>
                <a:spcPts val="0"/>
              </a:spcBef>
              <a:spcAft>
                <a:spcPts val="0"/>
              </a:spcAft>
              <a:buSzPct val="100000"/>
              <a:buChar char="●"/>
            </a:pPr>
            <a:r>
              <a:rPr lang="en"/>
              <a:t>CSS Style Attributes [CSS-STYLE-ATTR]</a:t>
            </a:r>
            <a:endParaRPr/>
          </a:p>
          <a:p>
            <a:pPr marL="914400" lvl="1" indent="-297498" algn="l" rtl="0">
              <a:spcBef>
                <a:spcPts val="0"/>
              </a:spcBef>
              <a:spcAft>
                <a:spcPts val="0"/>
              </a:spcAft>
              <a:buSzPct val="100000"/>
              <a:buChar char="○"/>
            </a:pPr>
            <a:r>
              <a:rPr lang="en"/>
              <a:t>Defines how CSS declarations can be embedded in markup attributes.</a:t>
            </a:r>
            <a:endParaRPr/>
          </a:p>
          <a:p>
            <a:pPr marL="457200" lvl="0" indent="-317183" algn="l" rtl="0">
              <a:spcBef>
                <a:spcPts val="0"/>
              </a:spcBef>
              <a:spcAft>
                <a:spcPts val="0"/>
              </a:spcAft>
              <a:buSzPct val="100000"/>
              <a:buChar char="●"/>
            </a:pPr>
            <a:r>
              <a:rPr lang="en"/>
              <a:t>Media Queries Level 3 [CSS3-MEDIAQUERIES]</a:t>
            </a:r>
            <a:endParaRPr/>
          </a:p>
          <a:p>
            <a:pPr marL="914400" lvl="1" indent="-297498" algn="l" rtl="0">
              <a:spcBef>
                <a:spcPts val="0"/>
              </a:spcBef>
              <a:spcAft>
                <a:spcPts val="0"/>
              </a:spcAft>
              <a:buSzPct val="100000"/>
              <a:buChar char="○"/>
            </a:pPr>
            <a:r>
              <a:rPr lang="en"/>
              <a:t>Replaces CSS2§7.3 and expands on the syntax for media-specific styles.</a:t>
            </a:r>
            <a:endParaRPr/>
          </a:p>
          <a:p>
            <a:pPr marL="457200" lvl="0" indent="-317183" algn="l" rtl="0">
              <a:spcBef>
                <a:spcPts val="0"/>
              </a:spcBef>
              <a:spcAft>
                <a:spcPts val="0"/>
              </a:spcAft>
              <a:buSzPct val="100000"/>
              <a:buChar char="●"/>
            </a:pPr>
            <a:r>
              <a:rPr lang="en"/>
              <a:t>CSS Conditional Rules Module Level 3 [CSS-CONDITIONAL-3]</a:t>
            </a:r>
            <a:endParaRPr/>
          </a:p>
          <a:p>
            <a:pPr marL="914400" lvl="1" indent="-297498" algn="l" rtl="0">
              <a:spcBef>
                <a:spcPts val="0"/>
              </a:spcBef>
              <a:spcAft>
                <a:spcPts val="0"/>
              </a:spcAft>
              <a:buSzPct val="100000"/>
              <a:buChar char="○"/>
            </a:pPr>
            <a:r>
              <a:rPr lang="en"/>
              <a:t>Extends and supersedes CSS2§7.2, updating the definition of @media rules to allow nesting and introducing the @supports rule for feature-support queries.</a:t>
            </a:r>
            <a:endParaRPr/>
          </a:p>
          <a:p>
            <a:pPr marL="457200" lvl="0" indent="-317183" algn="l" rtl="0">
              <a:spcBef>
                <a:spcPts val="0"/>
              </a:spcBef>
              <a:spcAft>
                <a:spcPts val="0"/>
              </a:spcAft>
              <a:buSzPct val="100000"/>
              <a:buChar char="●"/>
            </a:pPr>
            <a:r>
              <a:rPr lang="en"/>
              <a:t>Selectors Level 3 [SELECTORS-3]</a:t>
            </a:r>
            <a:endParaRPr/>
          </a:p>
          <a:p>
            <a:pPr marL="914400" lvl="1" indent="-297498" algn="l" rtl="0">
              <a:spcBef>
                <a:spcPts val="0"/>
              </a:spcBef>
              <a:spcAft>
                <a:spcPts val="0"/>
              </a:spcAft>
              <a:buSzPct val="100000"/>
              <a:buChar char="○"/>
            </a:pPr>
            <a:r>
              <a:rPr lang="en"/>
              <a:t>Replaces CSS2§5 and CSS2§6.4.3, defining an extended range of selectors.</a:t>
            </a:r>
            <a:endParaRPr/>
          </a:p>
          <a:p>
            <a:pPr marL="457200" lvl="0" indent="-317183" algn="l" rtl="0">
              <a:spcBef>
                <a:spcPts val="0"/>
              </a:spcBef>
              <a:spcAft>
                <a:spcPts val="0"/>
              </a:spcAft>
              <a:buSzPct val="100000"/>
              <a:buChar char="●"/>
            </a:pPr>
            <a:r>
              <a:rPr lang="en"/>
              <a:t>CSS Namespaces Module Level 3 [CSS3-NAMESPACE]</a:t>
            </a:r>
            <a:endParaRPr/>
          </a:p>
          <a:p>
            <a:pPr marL="914400" lvl="1" indent="-297498" algn="l" rtl="0">
              <a:spcBef>
                <a:spcPts val="0"/>
              </a:spcBef>
              <a:spcAft>
                <a:spcPts val="0"/>
              </a:spcAft>
              <a:buSzPct val="100000"/>
              <a:buChar char="○"/>
            </a:pPr>
            <a:r>
              <a:rPr lang="en"/>
              <a:t>Introduces an @namespace rule to allow namespace-prefixed selectors.</a:t>
            </a:r>
            <a:endParaRPr/>
          </a:p>
          <a:p>
            <a:pPr marL="457200" lvl="0" indent="-317183" algn="l" rtl="0">
              <a:spcBef>
                <a:spcPts val="0"/>
              </a:spcBef>
              <a:spcAft>
                <a:spcPts val="0"/>
              </a:spcAft>
              <a:buSzPct val="100000"/>
              <a:buChar char="●"/>
            </a:pPr>
            <a:r>
              <a:rPr lang="en" u="sng">
                <a:solidFill>
                  <a:schemeClr val="hlink"/>
                </a:solidFill>
                <a:hlinkClick r:id="rId3"/>
              </a:rPr>
              <a:t>https://www.w3.org/TR/css/</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Approaches of Combining HTML with CSS</a:t>
            </a:r>
            <a:endParaRPr/>
          </a:p>
        </p:txBody>
      </p:sp>
      <p:sp>
        <p:nvSpPr>
          <p:cNvPr id="86" name="Google Shape;86;p1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87" name="Google Shape;87;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42900" algn="l" rtl="0">
              <a:spcBef>
                <a:spcPts val="0"/>
              </a:spcBef>
              <a:spcAft>
                <a:spcPts val="0"/>
              </a:spcAft>
              <a:buSzPts val="1800"/>
              <a:buChar char="●"/>
            </a:pPr>
            <a:r>
              <a:rPr lang="en" dirty="0"/>
              <a:t>Independent CSS files (External CSS)</a:t>
            </a:r>
            <a:endParaRPr dirty="0"/>
          </a:p>
          <a:p>
            <a:pPr marL="914400" lvl="1" indent="-317500" algn="l" rtl="0">
              <a:spcBef>
                <a:spcPts val="0"/>
              </a:spcBef>
              <a:spcAft>
                <a:spcPts val="0"/>
              </a:spcAft>
              <a:buSzPts val="1400"/>
              <a:buChar char="○"/>
            </a:pPr>
            <a:r>
              <a:rPr lang="en" dirty="0"/>
              <a:t>Add a &lt;link&gt; element within &lt;head&gt; element in HTML files. Set the rel attribute as ‘stylesheet’ and the href attribute as URL.</a:t>
            </a:r>
            <a:endParaRPr dirty="0"/>
          </a:p>
          <a:p>
            <a:pPr marL="457200" lvl="0" indent="-342900" algn="l" rtl="0">
              <a:spcBef>
                <a:spcPts val="0"/>
              </a:spcBef>
              <a:spcAft>
                <a:spcPts val="0"/>
              </a:spcAft>
              <a:buSzPts val="1800"/>
              <a:buChar char="●"/>
            </a:pPr>
            <a:r>
              <a:rPr lang="en" dirty="0"/>
              <a:t>Embedded CSS codes (Internal CSS)</a:t>
            </a:r>
            <a:endParaRPr dirty="0"/>
          </a:p>
          <a:p>
            <a:pPr marL="914400" lvl="1" indent="-317500" algn="l" rtl="0">
              <a:spcBef>
                <a:spcPts val="0"/>
              </a:spcBef>
              <a:spcAft>
                <a:spcPts val="0"/>
              </a:spcAft>
              <a:buSzPts val="1400"/>
              <a:buChar char="○"/>
            </a:pPr>
            <a:r>
              <a:rPr lang="en" dirty="0"/>
              <a:t>Add a &lt;style&gt; element within &lt;head&gt; element in HTML files. Describe CSS rules within &lt;style&gt; element.</a:t>
            </a:r>
            <a:endParaRPr dirty="0"/>
          </a:p>
          <a:p>
            <a:pPr marL="457200" lvl="0" indent="-342900" algn="l" rtl="0">
              <a:spcBef>
                <a:spcPts val="0"/>
              </a:spcBef>
              <a:spcAft>
                <a:spcPts val="0"/>
              </a:spcAft>
              <a:buSzPts val="1800"/>
              <a:buChar char="●"/>
            </a:pPr>
            <a:r>
              <a:rPr lang="en" dirty="0"/>
              <a:t>Inline CSS codes</a:t>
            </a:r>
            <a:endParaRPr dirty="0"/>
          </a:p>
          <a:p>
            <a:pPr marL="914400" lvl="1" indent="-317500" algn="l" rtl="0">
              <a:spcBef>
                <a:spcPts val="0"/>
              </a:spcBef>
              <a:spcAft>
                <a:spcPts val="0"/>
              </a:spcAft>
              <a:buSzPts val="1400"/>
              <a:buChar char="○"/>
            </a:pPr>
            <a:r>
              <a:rPr lang="en" dirty="0"/>
              <a:t>Add the style attribute of element where CSS takes effect. Set the style value as property:value paris.</a:t>
            </a:r>
            <a:endParaRPr dirty="0"/>
          </a:p>
          <a:p>
            <a:pPr marL="457200" lvl="0" indent="-342900" algn="l" rtl="0">
              <a:spcBef>
                <a:spcPts val="0"/>
              </a:spcBef>
              <a:spcAft>
                <a:spcPts val="0"/>
              </a:spcAft>
              <a:buSzPts val="1800"/>
              <a:buChar char="●"/>
            </a:pPr>
            <a:r>
              <a:rPr lang="en" dirty="0"/>
              <a:t>CSS at-rule</a:t>
            </a:r>
          </a:p>
          <a:p>
            <a:pPr marL="914400" lvl="1" indent="-317500" algn="l" rtl="0">
              <a:spcBef>
                <a:spcPts val="0"/>
              </a:spcBef>
              <a:spcAft>
                <a:spcPts val="0"/>
              </a:spcAft>
              <a:buSzPts val="1400"/>
              <a:buChar char="○"/>
            </a:pPr>
            <a:r>
              <a:rPr lang="en-US" altLang="zh-TW" dirty="0"/>
              <a:t>In the beginning of either independent CSS files or embedded CSS section by @import </a:t>
            </a:r>
            <a:r>
              <a:rPr lang="en-US" altLang="zh-TW" dirty="0" err="1"/>
              <a:t>url</a:t>
            </a:r>
            <a:r>
              <a:rPr lang="en-US" altLang="zh-TW" dirty="0"/>
              <a:t>.</a:t>
            </a:r>
          </a:p>
          <a:p>
            <a:pPr marL="1371600" lvl="2" indent="-317500" algn="l" rtl="0">
              <a:spcBef>
                <a:spcPts val="0"/>
              </a:spcBef>
              <a:spcAft>
                <a:spcPts val="0"/>
              </a:spcAft>
              <a:buSzPct val="70000"/>
              <a:buChar char="■"/>
            </a:pPr>
            <a:r>
              <a:rPr lang="en-US" altLang="zh-TW" dirty="0"/>
              <a:t>Url: Is a &lt;string&gt; or a &lt;</a:t>
            </a:r>
            <a:r>
              <a:rPr lang="en-US" altLang="zh-TW" dirty="0" err="1"/>
              <a:t>url</a:t>
            </a:r>
            <a:r>
              <a:rPr lang="en-US" altLang="zh-TW" dirty="0"/>
              <a:t>&gt; type representing the location of the resource to import. The URL may be absolute or relative.</a:t>
            </a:r>
          </a:p>
          <a:p>
            <a:pPr marL="1371600" lvl="2" indent="-317500" algn="l" rtl="0">
              <a:spcBef>
                <a:spcPts val="0"/>
              </a:spcBef>
              <a:spcAft>
                <a:spcPts val="0"/>
              </a:spcAft>
              <a:buSzPct val="70000"/>
              <a:buChar char="■"/>
            </a:pPr>
            <a:r>
              <a:rPr lang="en-US" altLang="zh-TW" dirty="0"/>
              <a:t>@import "custom.css";</a:t>
            </a:r>
          </a:p>
          <a:p>
            <a:pPr marL="1371600" lvl="2" indent="-317500" algn="l" rtl="0">
              <a:spcBef>
                <a:spcPts val="0"/>
              </a:spcBef>
              <a:spcAft>
                <a:spcPts val="0"/>
              </a:spcAft>
              <a:buSzPct val="70000"/>
              <a:buChar char="■"/>
            </a:pPr>
            <a:r>
              <a:rPr lang="en-US" altLang="zh-TW" dirty="0"/>
              <a:t>@import </a:t>
            </a:r>
            <a:r>
              <a:rPr lang="en-US" altLang="zh-TW" dirty="0" err="1"/>
              <a:t>url</a:t>
            </a:r>
            <a:r>
              <a:rPr lang="en-US" altLang="zh-TW" dirty="0"/>
              <a:t>("chrome://communicator/skin/communicator.css");</a:t>
            </a:r>
          </a:p>
          <a:p>
            <a:pPr marL="457200" lvl="0" indent="-342900" algn="l" rtl="0">
              <a:spcBef>
                <a:spcPts val="0"/>
              </a:spcBef>
              <a:spcAft>
                <a:spcPts val="0"/>
              </a:spcAft>
              <a:buSzPts val="1800"/>
              <a:buChar char="●"/>
            </a:pPr>
            <a:r>
              <a:rPr lang="en-US" dirty="0"/>
              <a:t>Extended reading resource</a:t>
            </a:r>
          </a:p>
          <a:p>
            <a:pPr lvl="1" indent="-342900">
              <a:spcBef>
                <a:spcPts val="0"/>
              </a:spcBef>
              <a:buSzPts val="1800"/>
              <a:buChar char="●"/>
            </a:pPr>
            <a:r>
              <a:rPr lang="en-US" dirty="0"/>
              <a:t>Sass (Syntactically Awesome Style Sheets)</a:t>
            </a:r>
          </a:p>
          <a:p>
            <a:pPr lvl="1" indent="-342900">
              <a:spcBef>
                <a:spcPts val="0"/>
              </a:spcBef>
              <a:buSzPts val="1800"/>
              <a:buChar char="●"/>
            </a:pPr>
            <a:r>
              <a:rPr lang="en-US" dirty="0">
                <a:hlinkClick r:id="rId3"/>
              </a:rPr>
              <a:t>https://sass-lang.com/guide/</a:t>
            </a:r>
            <a:r>
              <a:rPr lang="en-US" dirty="0"/>
              <a:t>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Syntax of Applying CSS to HTML</a:t>
            </a:r>
            <a:endParaRPr/>
          </a:p>
        </p:txBody>
      </p:sp>
      <p:sp>
        <p:nvSpPr>
          <p:cNvPr id="93" name="Google Shape;93;p1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94" name="Google Shape;94;p18"/>
          <p:cNvPicPr preferRelativeResize="0"/>
          <p:nvPr/>
        </p:nvPicPr>
        <p:blipFill>
          <a:blip r:embed="rId3">
            <a:alphaModFix/>
          </a:blip>
          <a:stretch>
            <a:fillRect/>
          </a:stretch>
        </p:blipFill>
        <p:spPr>
          <a:xfrm>
            <a:off x="160500" y="1940925"/>
            <a:ext cx="3770473" cy="916050"/>
          </a:xfrm>
          <a:prstGeom prst="rect">
            <a:avLst/>
          </a:prstGeom>
          <a:noFill/>
          <a:ln w="9525" cap="flat" cmpd="sng">
            <a:solidFill>
              <a:schemeClr val="dk2"/>
            </a:solidFill>
            <a:prstDash val="solid"/>
            <a:round/>
            <a:headEnd type="none" w="sm" len="sm"/>
            <a:tailEnd type="none" w="sm" len="sm"/>
          </a:ln>
        </p:spPr>
      </p:pic>
      <p:pic>
        <p:nvPicPr>
          <p:cNvPr id="95" name="Google Shape;95;p18"/>
          <p:cNvPicPr preferRelativeResize="0"/>
          <p:nvPr/>
        </p:nvPicPr>
        <p:blipFill>
          <a:blip r:embed="rId4">
            <a:alphaModFix/>
          </a:blip>
          <a:stretch>
            <a:fillRect/>
          </a:stretch>
        </p:blipFill>
        <p:spPr>
          <a:xfrm>
            <a:off x="4135362" y="1124350"/>
            <a:ext cx="4919538" cy="2463038"/>
          </a:xfrm>
          <a:prstGeom prst="rect">
            <a:avLst/>
          </a:prstGeom>
          <a:noFill/>
          <a:ln w="9525" cap="flat" cmpd="sng">
            <a:solidFill>
              <a:schemeClr val="dk2"/>
            </a:solidFill>
            <a:prstDash val="solid"/>
            <a:round/>
            <a:headEnd type="none" w="sm" len="sm"/>
            <a:tailEnd type="none" w="sm" len="sm"/>
          </a:ln>
        </p:spPr>
      </p:pic>
      <p:pic>
        <p:nvPicPr>
          <p:cNvPr id="96" name="Google Shape;96;p18"/>
          <p:cNvPicPr preferRelativeResize="0"/>
          <p:nvPr/>
        </p:nvPicPr>
        <p:blipFill>
          <a:blip r:embed="rId5">
            <a:alphaModFix/>
          </a:blip>
          <a:stretch>
            <a:fillRect/>
          </a:stretch>
        </p:blipFill>
        <p:spPr>
          <a:xfrm>
            <a:off x="160500" y="3723500"/>
            <a:ext cx="6115050" cy="8572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CSS Rulesets and Comment Syntax</a:t>
            </a:r>
            <a:endParaRPr/>
          </a:p>
          <a:p>
            <a:pPr marL="0" lvl="0" indent="0" algn="l" rtl="0">
              <a:spcBef>
                <a:spcPts val="0"/>
              </a:spcBef>
              <a:spcAft>
                <a:spcPts val="0"/>
              </a:spcAft>
              <a:buNone/>
            </a:pPr>
            <a:endParaRPr/>
          </a:p>
        </p:txBody>
      </p:sp>
      <p:sp>
        <p:nvSpPr>
          <p:cNvPr id="102" name="Google Shape;10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CSS ruleset (or rule) has two main parts: a selector, and one or more declarations.</a:t>
            </a:r>
            <a:endParaRPr/>
          </a:p>
          <a:p>
            <a:pPr marL="457200" lvl="0" indent="-342900" algn="l" rtl="0">
              <a:spcBef>
                <a:spcPts val="0"/>
              </a:spcBef>
              <a:spcAft>
                <a:spcPts val="0"/>
              </a:spcAft>
              <a:buSzPts val="1800"/>
              <a:buChar char="●"/>
            </a:pPr>
            <a:r>
              <a:rPr lang="en"/>
              <a:t>Both single and multiline comments are represented by the pair of /*...*/.</a:t>
            </a:r>
            <a:endParaRPr/>
          </a:p>
          <a:p>
            <a:pPr marL="914400" lvl="1" indent="-317500" algn="l" rtl="0">
              <a:spcBef>
                <a:spcPts val="0"/>
              </a:spcBef>
              <a:spcAft>
                <a:spcPts val="0"/>
              </a:spcAft>
              <a:buSzPts val="1400"/>
              <a:buChar char="○"/>
            </a:pPr>
            <a:r>
              <a:rPr lang="en"/>
              <a:t>Cannot be nested</a:t>
            </a:r>
            <a:endParaRPr/>
          </a:p>
        </p:txBody>
      </p:sp>
      <p:sp>
        <p:nvSpPr>
          <p:cNvPr id="103" name="Google Shape;103;p1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104" name="Google Shape;104;p19"/>
          <p:cNvPicPr preferRelativeResize="0"/>
          <p:nvPr/>
        </p:nvPicPr>
        <p:blipFill>
          <a:blip r:embed="rId3">
            <a:alphaModFix/>
          </a:blip>
          <a:stretch>
            <a:fillRect/>
          </a:stretch>
        </p:blipFill>
        <p:spPr>
          <a:xfrm>
            <a:off x="1435275" y="2687125"/>
            <a:ext cx="5467350" cy="1181100"/>
          </a:xfrm>
          <a:prstGeom prst="rect">
            <a:avLst/>
          </a:prstGeom>
          <a:noFill/>
          <a:ln>
            <a:noFill/>
          </a:ln>
        </p:spPr>
      </p:pic>
      <p:sp>
        <p:nvSpPr>
          <p:cNvPr id="105" name="Google Shape;105;p19"/>
          <p:cNvSpPr txBox="1"/>
          <p:nvPr/>
        </p:nvSpPr>
        <p:spPr>
          <a:xfrm>
            <a:off x="1520100" y="4021525"/>
            <a:ext cx="52977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r>
              <a:rPr lang="en" sz="1200">
                <a:solidFill>
                  <a:srgbClr val="434343"/>
                </a:solidFill>
                <a:latin typeface="Source Sans Pro"/>
                <a:ea typeface="Source Sans Pro"/>
                <a:cs typeface="Source Sans Pro"/>
                <a:sym typeface="Source Sans Pro"/>
              </a:rPr>
              <a:t>Source: CSS Syntax, W3Schools, </a:t>
            </a:r>
            <a:r>
              <a:rPr lang="en" sz="1200" u="sng">
                <a:solidFill>
                  <a:schemeClr val="hlink"/>
                </a:solidFill>
                <a:latin typeface="Source Sans Pro"/>
                <a:ea typeface="Source Sans Pro"/>
                <a:cs typeface="Source Sans Pro"/>
                <a:sym typeface="Source Sans Pro"/>
                <a:hlinkClick r:id="rId4"/>
              </a:rPr>
              <a:t>https://www.w3schools.com/css/css_syntax.asp</a:t>
            </a:r>
            <a:r>
              <a:rPr lang="en" sz="1200">
                <a:solidFill>
                  <a:srgbClr val="434343"/>
                </a:solidFill>
                <a:latin typeface="Source Sans Pro"/>
                <a:ea typeface="Source Sans Pro"/>
                <a:cs typeface="Source Sans Pro"/>
                <a:sym typeface="Source Sans Pro"/>
              </a:rPr>
              <a:t>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Selectors ─ Basic </a:t>
            </a:r>
            <a:endParaRPr/>
          </a:p>
        </p:txBody>
      </p:sp>
      <p:sp>
        <p:nvSpPr>
          <p:cNvPr id="111" name="Google Shape;111;p2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8</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Selectors ─ Type Selector</a:t>
            </a:r>
            <a:endParaRPr/>
          </a:p>
          <a:p>
            <a:pPr marL="0" lvl="0" indent="0" algn="l" rtl="0">
              <a:spcBef>
                <a:spcPts val="0"/>
              </a:spcBef>
              <a:spcAft>
                <a:spcPts val="0"/>
              </a:spcAft>
              <a:buNone/>
            </a:pPr>
            <a:endParaRPr/>
          </a:p>
        </p:txBody>
      </p:sp>
      <p:sp>
        <p:nvSpPr>
          <p:cNvPr id="117" name="Google Shape;11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CSS type selector matches elements by node name. In other words, it selects all elements of the given type within a document.</a:t>
            </a:r>
            <a:endParaRPr/>
          </a:p>
          <a:p>
            <a:pPr marL="457200" lvl="0" indent="-342900" algn="l" rtl="0">
              <a:spcBef>
                <a:spcPts val="0"/>
              </a:spcBef>
              <a:spcAft>
                <a:spcPts val="0"/>
              </a:spcAft>
              <a:buSzPts val="1800"/>
              <a:buChar char="●"/>
            </a:pPr>
            <a:r>
              <a:rPr lang="en"/>
              <a:t>The universal selector, denoted with an asterisk (*), is a special type selector that selects all elements.</a:t>
            </a:r>
            <a:endParaRPr/>
          </a:p>
          <a:p>
            <a:pPr marL="457200" lvl="0" indent="-342900" algn="l" rtl="0">
              <a:spcBef>
                <a:spcPts val="0"/>
              </a:spcBef>
              <a:spcAft>
                <a:spcPts val="0"/>
              </a:spcAft>
              <a:buSzPts val="1800"/>
              <a:buChar char="●"/>
            </a:pPr>
            <a:r>
              <a:rPr lang="en"/>
              <a:t>Grouping selectors: Using comma to separate selectors.</a:t>
            </a:r>
            <a:endParaRPr/>
          </a:p>
          <a:p>
            <a:pPr marL="457200" lvl="0" indent="-342900" algn="l" rtl="0">
              <a:spcBef>
                <a:spcPts val="0"/>
              </a:spcBef>
              <a:spcAft>
                <a:spcPts val="0"/>
              </a:spcAft>
              <a:buSzPts val="1800"/>
              <a:buChar char="●"/>
            </a:pPr>
            <a:r>
              <a:rPr lang="en"/>
              <a:t>Syntax: element { style properties }</a:t>
            </a:r>
            <a:endParaRPr/>
          </a:p>
        </p:txBody>
      </p:sp>
      <p:sp>
        <p:nvSpPr>
          <p:cNvPr id="118" name="Google Shape;118;p2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119" name="Google Shape;119;p21"/>
          <p:cNvPicPr preferRelativeResize="0"/>
          <p:nvPr/>
        </p:nvPicPr>
        <p:blipFill>
          <a:blip r:embed="rId3">
            <a:alphaModFix/>
          </a:blip>
          <a:stretch>
            <a:fillRect/>
          </a:stretch>
        </p:blipFill>
        <p:spPr>
          <a:xfrm>
            <a:off x="2201800" y="3309998"/>
            <a:ext cx="2476104" cy="1694176"/>
          </a:xfrm>
          <a:prstGeom prst="rect">
            <a:avLst/>
          </a:prstGeom>
          <a:noFill/>
          <a:ln w="6850" cap="flat" cmpd="sng">
            <a:solidFill>
              <a:schemeClr val="dk2"/>
            </a:solidFill>
            <a:prstDash val="solid"/>
            <a:round/>
            <a:headEnd type="none" w="sm" len="sm"/>
            <a:tailEnd type="none" w="sm" len="sm"/>
          </a:ln>
        </p:spPr>
      </p:pic>
      <p:pic>
        <p:nvPicPr>
          <p:cNvPr id="120" name="Google Shape;120;p21"/>
          <p:cNvPicPr preferRelativeResize="0"/>
          <p:nvPr/>
        </p:nvPicPr>
        <p:blipFill>
          <a:blip r:embed="rId4">
            <a:alphaModFix/>
          </a:blip>
          <a:stretch>
            <a:fillRect/>
          </a:stretch>
        </p:blipFill>
        <p:spPr>
          <a:xfrm>
            <a:off x="4939699" y="2962425"/>
            <a:ext cx="2002500" cy="20417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Selectors ─ Class Selector</a:t>
            </a:r>
            <a:endParaRPr/>
          </a:p>
          <a:p>
            <a:pPr marL="0" lvl="0" indent="0" algn="l" rtl="0">
              <a:spcBef>
                <a:spcPts val="0"/>
              </a:spcBef>
              <a:spcAft>
                <a:spcPts val="0"/>
              </a:spcAft>
              <a:buNone/>
            </a:pPr>
            <a:endParaRPr/>
          </a:p>
        </p:txBody>
      </p:sp>
      <p:sp>
        <p:nvSpPr>
          <p:cNvPr id="126" name="Google Shape;12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The CSS class selector matches elements based on the contents of their class attribute.</a:t>
            </a:r>
            <a:endParaRPr dirty="0"/>
          </a:p>
          <a:p>
            <a:pPr marL="457200" lvl="0" indent="-342900" algn="l" rtl="0">
              <a:spcBef>
                <a:spcPts val="0"/>
              </a:spcBef>
              <a:spcAft>
                <a:spcPts val="0"/>
              </a:spcAft>
              <a:buSzPts val="1800"/>
              <a:buChar char="●"/>
            </a:pPr>
            <a:r>
              <a:rPr lang="en" dirty="0"/>
              <a:t>The class_name value must be a valid CSS identifier. HTML class attributes which are not valid CSS identifiers must be escaped before they can be used in class selectors.</a:t>
            </a:r>
          </a:p>
          <a:p>
            <a:pPr lvl="1" indent="-342900">
              <a:spcBef>
                <a:spcPts val="0"/>
              </a:spcBef>
              <a:buSzPts val="1800"/>
              <a:buChar char="●"/>
            </a:pPr>
            <a:r>
              <a:rPr lang="en-US" dirty="0">
                <a:hlinkClick r:id="rId3"/>
              </a:rPr>
              <a:t>https://developer.mozilla.org/en-US/docs/Web/CSS/Reference/Values/ident</a:t>
            </a:r>
            <a:r>
              <a:rPr lang="zh-TW" altLang="en-US" dirty="0"/>
              <a:t> </a:t>
            </a:r>
            <a:endParaRPr dirty="0"/>
          </a:p>
          <a:p>
            <a:pPr marL="457200" lvl="0" indent="-342900" algn="l" rtl="0">
              <a:spcBef>
                <a:spcPts val="0"/>
              </a:spcBef>
              <a:spcAft>
                <a:spcPts val="0"/>
              </a:spcAft>
              <a:buSzPts val="1800"/>
              <a:buChar char="●"/>
            </a:pPr>
            <a:r>
              <a:rPr lang="en" dirty="0"/>
              <a:t>Syntax: .class_name {  /* … */ }</a:t>
            </a:r>
            <a:endParaRPr dirty="0"/>
          </a:p>
        </p:txBody>
      </p:sp>
      <p:sp>
        <p:nvSpPr>
          <p:cNvPr id="127" name="Google Shape;127;p2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28" name="Google Shape;128;p22"/>
          <p:cNvPicPr preferRelativeResize="0"/>
          <p:nvPr/>
        </p:nvPicPr>
        <p:blipFill>
          <a:blip r:embed="rId4">
            <a:alphaModFix/>
          </a:blip>
          <a:stretch>
            <a:fillRect/>
          </a:stretch>
        </p:blipFill>
        <p:spPr>
          <a:xfrm>
            <a:off x="1290625" y="3423175"/>
            <a:ext cx="2076450" cy="838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Selectors ─ Id Selector</a:t>
            </a:r>
            <a:endParaRPr/>
          </a:p>
          <a:p>
            <a:pPr marL="0" lvl="0" indent="0" algn="l" rtl="0">
              <a:spcBef>
                <a:spcPts val="0"/>
              </a:spcBef>
              <a:spcAft>
                <a:spcPts val="0"/>
              </a:spcAft>
              <a:buNone/>
            </a:pPr>
            <a:endParaRPr/>
          </a:p>
        </p:txBody>
      </p:sp>
      <p:sp>
        <p:nvSpPr>
          <p:cNvPr id="134" name="Google Shape;13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CSS ID selector matches an element based on the value of the element's id attribute.</a:t>
            </a:r>
            <a:endParaRPr/>
          </a:p>
          <a:p>
            <a:pPr marL="457200" lvl="0" indent="-342900" algn="l" rtl="0">
              <a:spcBef>
                <a:spcPts val="0"/>
              </a:spcBef>
              <a:spcAft>
                <a:spcPts val="0"/>
              </a:spcAft>
              <a:buSzPts val="1800"/>
              <a:buChar char="●"/>
            </a:pPr>
            <a:r>
              <a:rPr lang="en"/>
              <a:t>The id_value value must be a valid CSS identifier. HTML id attributes which are not valid CSS identifiers must be escaped before they can be used in ID selectors.</a:t>
            </a:r>
            <a:endParaRPr/>
          </a:p>
          <a:p>
            <a:pPr marL="457200" lvl="0" indent="-342900" algn="l" rtl="0">
              <a:spcBef>
                <a:spcPts val="0"/>
              </a:spcBef>
              <a:spcAft>
                <a:spcPts val="0"/>
              </a:spcAft>
              <a:buSzPts val="1800"/>
              <a:buChar char="●"/>
            </a:pPr>
            <a:r>
              <a:rPr lang="en"/>
              <a:t>Syntax: #id_value {  /* … */ }</a:t>
            </a:r>
            <a:endParaRPr/>
          </a:p>
        </p:txBody>
      </p:sp>
      <p:sp>
        <p:nvSpPr>
          <p:cNvPr id="135" name="Google Shape;135;p2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pic>
        <p:nvPicPr>
          <p:cNvPr id="136" name="Google Shape;136;p23"/>
          <p:cNvPicPr preferRelativeResize="0"/>
          <p:nvPr/>
        </p:nvPicPr>
        <p:blipFill>
          <a:blip r:embed="rId3">
            <a:alphaModFix/>
          </a:blip>
          <a:stretch>
            <a:fillRect/>
          </a:stretch>
        </p:blipFill>
        <p:spPr>
          <a:xfrm>
            <a:off x="476250" y="4616125"/>
            <a:ext cx="8191500" cy="257175"/>
          </a:xfrm>
          <a:prstGeom prst="rect">
            <a:avLst/>
          </a:prstGeom>
          <a:noFill/>
          <a:ln w="9525" cap="flat" cmpd="sng">
            <a:solidFill>
              <a:schemeClr val="dk2"/>
            </a:solidFill>
            <a:prstDash val="solid"/>
            <a:round/>
            <a:headEnd type="none" w="sm" len="sm"/>
            <a:tailEnd type="none" w="sm" len="sm"/>
          </a:ln>
        </p:spPr>
      </p:pic>
      <p:pic>
        <p:nvPicPr>
          <p:cNvPr id="137" name="Google Shape;137;p23"/>
          <p:cNvPicPr preferRelativeResize="0"/>
          <p:nvPr/>
        </p:nvPicPr>
        <p:blipFill>
          <a:blip r:embed="rId4">
            <a:alphaModFix/>
          </a:blip>
          <a:stretch>
            <a:fillRect/>
          </a:stretch>
        </p:blipFill>
        <p:spPr>
          <a:xfrm>
            <a:off x="528773" y="3041987"/>
            <a:ext cx="4043225" cy="1229519"/>
          </a:xfrm>
          <a:prstGeom prst="rect">
            <a:avLst/>
          </a:prstGeom>
          <a:noFill/>
          <a:ln w="9525" cap="flat" cmpd="sng">
            <a:solidFill>
              <a:schemeClr val="dk2"/>
            </a:solidFill>
            <a:prstDash val="solid"/>
            <a:round/>
            <a:headEnd type="none" w="sm" len="sm"/>
            <a:tailEnd type="none" w="sm" len="sm"/>
          </a:ln>
        </p:spPr>
      </p:pic>
      <p:pic>
        <p:nvPicPr>
          <p:cNvPr id="138" name="Google Shape;138;p23"/>
          <p:cNvPicPr preferRelativeResize="0"/>
          <p:nvPr/>
        </p:nvPicPr>
        <p:blipFill>
          <a:blip r:embed="rId5">
            <a:alphaModFix/>
          </a:blip>
          <a:stretch>
            <a:fillRect/>
          </a:stretch>
        </p:blipFill>
        <p:spPr>
          <a:xfrm>
            <a:off x="5217025" y="3271800"/>
            <a:ext cx="3576500" cy="4522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Selectors ─ Compound Selector</a:t>
            </a:r>
            <a:endParaRPr/>
          </a:p>
          <a:p>
            <a:pPr marL="0" lvl="0" indent="0" algn="l" rtl="0">
              <a:spcBef>
                <a:spcPts val="0"/>
              </a:spcBef>
              <a:spcAft>
                <a:spcPts val="0"/>
              </a:spcAft>
              <a:buNone/>
            </a:pPr>
            <a:endParaRPr/>
          </a:p>
        </p:txBody>
      </p:sp>
      <p:sp>
        <p:nvSpPr>
          <p:cNvPr id="144" name="Google Shape;14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compound selector is a sequence of simple selectors that are not separated by a combinator.</a:t>
            </a:r>
            <a:endParaRPr/>
          </a:p>
          <a:p>
            <a:pPr marL="457200" lvl="0" indent="-342900" algn="l" rtl="0">
              <a:spcBef>
                <a:spcPts val="0"/>
              </a:spcBef>
              <a:spcAft>
                <a:spcPts val="0"/>
              </a:spcAft>
              <a:buSzPts val="1800"/>
              <a:buChar char="●"/>
            </a:pPr>
            <a:r>
              <a:rPr lang="en"/>
              <a:t>A given element is said to match a compound selector when the element matches all the simple selectors in the compound selector.</a:t>
            </a:r>
            <a:endParaRPr/>
          </a:p>
          <a:p>
            <a:pPr marL="457200" lvl="0" indent="-342900" algn="l" rtl="0">
              <a:spcBef>
                <a:spcPts val="0"/>
              </a:spcBef>
              <a:spcAft>
                <a:spcPts val="0"/>
              </a:spcAft>
              <a:buSzPts val="1800"/>
              <a:buChar char="●"/>
            </a:pPr>
            <a:r>
              <a:rPr lang="en"/>
              <a:t>In a compound selector, the type selector or universal selector must come first in the sequence of selectors. Only one type selector or universal selector is allowed in the sequence.</a:t>
            </a:r>
            <a:endParaRPr/>
          </a:p>
        </p:txBody>
      </p:sp>
      <p:sp>
        <p:nvSpPr>
          <p:cNvPr id="145" name="Google Shape;145;p2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146" name="Google Shape;146;p24"/>
          <p:cNvPicPr preferRelativeResize="0"/>
          <p:nvPr/>
        </p:nvPicPr>
        <p:blipFill>
          <a:blip r:embed="rId3">
            <a:alphaModFix/>
          </a:blip>
          <a:stretch>
            <a:fillRect/>
          </a:stretch>
        </p:blipFill>
        <p:spPr>
          <a:xfrm>
            <a:off x="1261773" y="3599398"/>
            <a:ext cx="4133125" cy="1243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Selectors ─ Attribute Selector</a:t>
            </a:r>
            <a:endParaRPr/>
          </a:p>
          <a:p>
            <a:pPr marL="0" lvl="0" indent="0" algn="l" rtl="0">
              <a:spcBef>
                <a:spcPts val="0"/>
              </a:spcBef>
              <a:spcAft>
                <a:spcPts val="0"/>
              </a:spcAft>
              <a:buNone/>
            </a:pPr>
            <a:endParaRPr/>
          </a:p>
        </p:txBody>
      </p:sp>
      <p:sp>
        <p:nvSpPr>
          <p:cNvPr id="152" name="Google Shape;152;p2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fontScale="85000" lnSpcReduction="10000"/>
          </a:bodyPr>
          <a:lstStyle/>
          <a:p>
            <a:pPr marL="457200" lvl="0" indent="-304165" algn="l" rtl="0">
              <a:spcBef>
                <a:spcPts val="0"/>
              </a:spcBef>
              <a:spcAft>
                <a:spcPts val="0"/>
              </a:spcAft>
              <a:buSzPct val="100000"/>
              <a:buChar char="●"/>
            </a:pPr>
            <a:r>
              <a:rPr lang="en"/>
              <a:t>Matches elements based on the element having a given attribute explicitly set, with options for defining an attribute value or substring value match.</a:t>
            </a:r>
            <a:endParaRPr/>
          </a:p>
          <a:p>
            <a:pPr marL="914400" lvl="1" indent="-293370" algn="l" rtl="0">
              <a:spcBef>
                <a:spcPts val="0"/>
              </a:spcBef>
              <a:spcAft>
                <a:spcPts val="0"/>
              </a:spcAft>
              <a:buSzPct val="100000"/>
              <a:buChar char="○"/>
            </a:pPr>
            <a:r>
              <a:rPr lang="en"/>
              <a:t>A universal element * is added if no element is specified. This may increase performance concerns due to global DOM traversal.</a:t>
            </a:r>
            <a:endParaRPr/>
          </a:p>
          <a:p>
            <a:pPr marL="457200" lvl="0" indent="-304165" algn="l" rtl="0">
              <a:spcBef>
                <a:spcPts val="0"/>
              </a:spcBef>
              <a:spcAft>
                <a:spcPts val="0"/>
              </a:spcAft>
              <a:buSzPct val="100000"/>
              <a:buChar char="●"/>
            </a:pPr>
            <a:r>
              <a:rPr lang="en"/>
              <a:t>[attr]: elements with an attribute name of attr.</a:t>
            </a:r>
            <a:endParaRPr/>
          </a:p>
          <a:p>
            <a:pPr marL="457200" lvl="0" indent="-304165" algn="l" rtl="0">
              <a:spcBef>
                <a:spcPts val="0"/>
              </a:spcBef>
              <a:spcAft>
                <a:spcPts val="0"/>
              </a:spcAft>
              <a:buSzPct val="100000"/>
              <a:buChar char="●"/>
            </a:pPr>
            <a:r>
              <a:rPr lang="en"/>
              <a:t>[attr=value]: elements with an attribute name of attr whose value is exactly value.</a:t>
            </a:r>
            <a:endParaRPr/>
          </a:p>
          <a:p>
            <a:pPr marL="457200" lvl="0" indent="-304165" algn="l" rtl="0">
              <a:spcBef>
                <a:spcPts val="0"/>
              </a:spcBef>
              <a:spcAft>
                <a:spcPts val="0"/>
              </a:spcAft>
              <a:buSzPct val="100000"/>
              <a:buChar char="●"/>
            </a:pPr>
            <a:r>
              <a:rPr lang="en"/>
              <a:t>[attr~=value]: elements with an attribute name of attr whose value is a whitespace-separated list of words, one of which is exactly value.</a:t>
            </a:r>
            <a:endParaRPr/>
          </a:p>
          <a:p>
            <a:pPr marL="457200" lvl="0" indent="-304165" algn="l" rtl="0">
              <a:spcBef>
                <a:spcPts val="0"/>
              </a:spcBef>
              <a:spcAft>
                <a:spcPts val="0"/>
              </a:spcAft>
              <a:buSzPct val="100000"/>
              <a:buChar char="●"/>
            </a:pPr>
            <a:r>
              <a:rPr lang="en"/>
              <a:t>[attr|=value]: elements with an attribute name of attr whose value can be exactly value or can begin with value immediately followed by a hyphen, - (U+002D). It is often used for language subcode matches.</a:t>
            </a:r>
            <a:endParaRPr/>
          </a:p>
        </p:txBody>
      </p:sp>
      <p:sp>
        <p:nvSpPr>
          <p:cNvPr id="153" name="Google Shape;153;p2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154" name="Google Shape;154;p2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85000" lnSpcReduction="20000"/>
          </a:bodyPr>
          <a:lstStyle/>
          <a:p>
            <a:pPr marL="457200" lvl="0" indent="-310833" algn="l" rtl="0">
              <a:spcBef>
                <a:spcPts val="0"/>
              </a:spcBef>
              <a:spcAft>
                <a:spcPts val="0"/>
              </a:spcAft>
              <a:buSzPct val="100000"/>
              <a:buChar char="●"/>
            </a:pPr>
            <a:r>
              <a:rPr lang="en"/>
              <a:t>[attr^=value]: elements with an attribute name of attr whose value is prefixed (preceded) by value.</a:t>
            </a:r>
            <a:endParaRPr/>
          </a:p>
          <a:p>
            <a:pPr marL="457200" lvl="0" indent="-310833" algn="l" rtl="0">
              <a:spcBef>
                <a:spcPts val="0"/>
              </a:spcBef>
              <a:spcAft>
                <a:spcPts val="0"/>
              </a:spcAft>
              <a:buSzPct val="100000"/>
              <a:buChar char="●"/>
            </a:pPr>
            <a:r>
              <a:rPr lang="en"/>
              <a:t>[attr$=value]: elements with an attribute name of attr whose value is suffixed (followed) by value.</a:t>
            </a:r>
            <a:endParaRPr/>
          </a:p>
          <a:p>
            <a:pPr marL="457200" lvl="0" indent="-310833" algn="l" rtl="0">
              <a:spcBef>
                <a:spcPts val="0"/>
              </a:spcBef>
              <a:spcAft>
                <a:spcPts val="0"/>
              </a:spcAft>
              <a:buSzPct val="100000"/>
              <a:buChar char="●"/>
            </a:pPr>
            <a:r>
              <a:rPr lang="en"/>
              <a:t>[attr*=value]: elements with an attribute name of attr whose value contains at least one occurrence of value within the string.</a:t>
            </a:r>
            <a:endParaRPr/>
          </a:p>
          <a:p>
            <a:pPr marL="457200" lvl="0" indent="-310833" algn="l" rtl="0">
              <a:spcBef>
                <a:spcPts val="0"/>
              </a:spcBef>
              <a:spcAft>
                <a:spcPts val="0"/>
              </a:spcAft>
              <a:buSzPct val="100000"/>
              <a:buChar char="●"/>
            </a:pPr>
            <a:r>
              <a:rPr lang="en"/>
              <a:t>[attr operator value i]: Adding an i (or I) before the closing bracket causes the value to be compared case-insensitively (for characters within the ASCII range).</a:t>
            </a:r>
            <a:endParaRPr/>
          </a:p>
          <a:p>
            <a:pPr marL="457200" lvl="0" indent="-310833" algn="l" rtl="0">
              <a:spcBef>
                <a:spcPts val="0"/>
              </a:spcBef>
              <a:spcAft>
                <a:spcPts val="0"/>
              </a:spcAft>
              <a:buSzPct val="100000"/>
              <a:buChar char="●"/>
            </a:pPr>
            <a:r>
              <a:rPr lang="en"/>
              <a:t>[attr operator value s]: Adding an s (or S) before the closing bracket causes the value to be compared case-sensitively (for characters within the ASCII range).</a:t>
            </a:r>
            <a:endParaRPr/>
          </a:p>
          <a:p>
            <a:pPr marL="457200" lvl="0" indent="-310833" algn="l" rtl="0">
              <a:spcBef>
                <a:spcPts val="0"/>
              </a:spcBef>
              <a:spcAft>
                <a:spcPts val="0"/>
              </a:spcAft>
              <a:buSzPct val="100000"/>
              <a:buChar char="●"/>
            </a:pPr>
            <a:r>
              <a:rPr lang="en" u="sng">
                <a:solidFill>
                  <a:schemeClr val="hlink"/>
                </a:solidFill>
                <a:hlinkClick r:id="rId3"/>
              </a:rPr>
              <a:t>https://developer.mozilla.org/en-US/docs/Web/CSS/Reference/Selectors/Attribute_selectors</a:t>
            </a: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Selectors ─ Combinator </a:t>
            </a:r>
            <a:endParaRPr/>
          </a:p>
        </p:txBody>
      </p:sp>
      <p:sp>
        <p:nvSpPr>
          <p:cNvPr id="160" name="Google Shape;160;p2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14</a:t>
            </a:fld>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Combinator Selectors ─ Descendent</a:t>
            </a:r>
            <a:endParaRPr/>
          </a:p>
          <a:p>
            <a:pPr marL="0" lvl="0" indent="0" algn="l" rtl="0">
              <a:spcBef>
                <a:spcPts val="0"/>
              </a:spcBef>
              <a:spcAft>
                <a:spcPts val="0"/>
              </a:spcAft>
              <a:buNone/>
            </a:pPr>
            <a:endParaRPr/>
          </a:p>
        </p:txBody>
      </p:sp>
      <p:sp>
        <p:nvSpPr>
          <p:cNvPr id="166" name="Google Shape;166;p2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15</a:t>
            </a:fld>
            <a:endParaRPr>
              <a:solidFill>
                <a:schemeClr val="lt2"/>
              </a:solidFill>
            </a:endParaRPr>
          </a:p>
        </p:txBody>
      </p:sp>
      <p:sp>
        <p:nvSpPr>
          <p:cNvPr id="167" name="Google Shape;167;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Denoted with one or more spaces (typically one), selects nodes that are descendants of the first element, e.g. elements matched by the second selector are selected.</a:t>
            </a:r>
            <a:endParaRPr dirty="0"/>
          </a:p>
          <a:p>
            <a:pPr marL="457200" lvl="0" indent="-342900" algn="l" rtl="0">
              <a:spcBef>
                <a:spcPts val="0"/>
              </a:spcBef>
              <a:spcAft>
                <a:spcPts val="0"/>
              </a:spcAft>
              <a:buSzPts val="1800"/>
              <a:buChar char="●"/>
            </a:pPr>
            <a:r>
              <a:rPr lang="en" dirty="0"/>
              <a:t>Syntax: selector1 selector2 {  /* property declarations */ }</a:t>
            </a:r>
            <a:endParaRPr dirty="0"/>
          </a:p>
        </p:txBody>
      </p:sp>
      <p:sp>
        <p:nvSpPr>
          <p:cNvPr id="8" name="文字方塊 7">
            <a:extLst>
              <a:ext uri="{FF2B5EF4-FFF2-40B4-BE49-F238E27FC236}">
                <a16:creationId xmlns:a16="http://schemas.microsoft.com/office/drawing/2014/main" id="{53E9BDFA-FE6C-4949-86CF-9DF179A80421}"/>
              </a:ext>
            </a:extLst>
          </p:cNvPr>
          <p:cNvSpPr txBox="1"/>
          <p:nvPr/>
        </p:nvSpPr>
        <p:spPr>
          <a:xfrm>
            <a:off x="118800" y="2535750"/>
            <a:ext cx="3610800" cy="1892826"/>
          </a:xfrm>
          <a:prstGeom prst="rect">
            <a:avLst/>
          </a:prstGeom>
          <a:solidFill>
            <a:schemeClr val="bg2"/>
          </a:solidFill>
        </p:spPr>
        <p:txBody>
          <a:bodyPr wrap="square">
            <a:spAutoFit/>
          </a:bodyPr>
          <a:lstStyle/>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"card"</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1. selector1 selector2</a:t>
            </a:r>
            <a:r>
              <a:rPr lang="zh-TW" altLang="en-US" sz="900" b="0" dirty="0">
                <a:solidFill>
                  <a:srgbClr val="BBBEBF"/>
                </a:solidFill>
                <a:effectLst/>
                <a:latin typeface="Consolas" panose="020B0609020204030204" pitchFamily="49" charset="0"/>
              </a:rPr>
              <a:t>（後代選擇器）</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"parent"</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1.1 </a:t>
            </a:r>
            <a:r>
              <a:rPr lang="zh-TW" altLang="en-US" sz="900" b="0" dirty="0">
                <a:solidFill>
                  <a:srgbClr val="BBBEBF"/>
                </a:solidFill>
                <a:effectLst/>
                <a:latin typeface="Consolas" panose="020B0609020204030204" pitchFamily="49" charset="0"/>
              </a:rPr>
              <a:t>這一段被 </a:t>
            </a:r>
            <a:r>
              <a:rPr lang="en-US" altLang="zh-TW" sz="900" b="0" dirty="0">
                <a:solidFill>
                  <a:srgbClr val="BBBEBF"/>
                </a:solidFill>
                <a:effectLst/>
                <a:latin typeface="Consolas" panose="020B0609020204030204" pitchFamily="49" charset="0"/>
              </a:rPr>
              <a:t>.parent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article</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r>
              <a:rPr lang="zh-TW" altLang="en-US" sz="900" b="0" dirty="0">
                <a:solidFill>
                  <a:srgbClr val="BBBEBF"/>
                </a:solidFill>
                <a:effectLst/>
                <a:latin typeface="Consolas" panose="020B0609020204030204" pitchFamily="49" charset="0"/>
              </a:rPr>
              <a:t>這一段也被 </a:t>
            </a:r>
            <a:r>
              <a:rPr lang="en-US" altLang="zh-TW" sz="900" b="0" dirty="0">
                <a:solidFill>
                  <a:srgbClr val="BBBEBF"/>
                </a:solidFill>
                <a:effectLst/>
                <a:latin typeface="Consolas" panose="020B0609020204030204" pitchFamily="49" charset="0"/>
              </a:rPr>
              <a:t>.parent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article</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err="1">
                <a:solidFill>
                  <a:srgbClr val="7EE787"/>
                </a:solidFill>
                <a:effectLst/>
                <a:latin typeface="Consolas" panose="020B0609020204030204" pitchFamily="49" charset="0"/>
              </a:rPr>
              <a:t>em</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1.3 </a:t>
            </a:r>
            <a:r>
              <a:rPr lang="zh-TW" altLang="en-US" sz="900" b="0" dirty="0">
                <a:solidFill>
                  <a:srgbClr val="BBBEBF"/>
                </a:solidFill>
                <a:effectLst/>
                <a:latin typeface="Consolas" panose="020B0609020204030204" pitchFamily="49" charset="0"/>
              </a:rPr>
              <a:t>這一段沒有被 </a:t>
            </a:r>
            <a:r>
              <a:rPr lang="en-US" altLang="zh-TW" sz="900" b="0" dirty="0">
                <a:solidFill>
                  <a:srgbClr val="BBBEBF"/>
                </a:solidFill>
                <a:effectLst/>
                <a:latin typeface="Consolas" panose="020B0609020204030204" pitchFamily="49" charset="0"/>
              </a:rPr>
              <a:t>.parent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err="1">
                <a:solidFill>
                  <a:srgbClr val="7EE787"/>
                </a:solidFill>
                <a:effectLst/>
                <a:latin typeface="Consolas" panose="020B0609020204030204" pitchFamily="49" charset="0"/>
              </a:rPr>
              <a:t>em</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"tag"</a:t>
            </a:r>
            <a:r>
              <a:rPr lang="en-US" altLang="zh-TW" sz="900" b="0" dirty="0">
                <a:solidFill>
                  <a:srgbClr val="808080"/>
                </a:solidFill>
                <a:effectLst/>
                <a:latin typeface="Consolas" panose="020B0609020204030204" pitchFamily="49" charset="0"/>
              </a:rPr>
              <a:t>&gt;</a:t>
            </a:r>
            <a:r>
              <a:rPr lang="zh-TW" altLang="en-US" sz="900" b="0" dirty="0">
                <a:solidFill>
                  <a:srgbClr val="BBBEBF"/>
                </a:solidFill>
                <a:effectLst/>
                <a:latin typeface="Consolas" panose="020B0609020204030204" pitchFamily="49" charset="0"/>
              </a:rPr>
              <a:t>命中：</a:t>
            </a:r>
            <a:r>
              <a:rPr lang="en-US" altLang="zh-TW" sz="900" b="0" dirty="0">
                <a:solidFill>
                  <a:srgbClr val="BBBEBF"/>
                </a:solidFill>
                <a:effectLst/>
                <a:latin typeface="Consolas" panose="020B0609020204030204" pitchFamily="49" charset="0"/>
              </a:rPr>
              <a:t>.parent p</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p:txBody>
      </p:sp>
      <p:sp>
        <p:nvSpPr>
          <p:cNvPr id="10" name="文字方塊 9">
            <a:extLst>
              <a:ext uri="{FF2B5EF4-FFF2-40B4-BE49-F238E27FC236}">
                <a16:creationId xmlns:a16="http://schemas.microsoft.com/office/drawing/2014/main" id="{37616444-E3C4-4422-BB91-A7AEB970A80B}"/>
              </a:ext>
            </a:extLst>
          </p:cNvPr>
          <p:cNvSpPr txBox="1"/>
          <p:nvPr/>
        </p:nvSpPr>
        <p:spPr>
          <a:xfrm>
            <a:off x="118800" y="4461169"/>
            <a:ext cx="2854800" cy="646331"/>
          </a:xfrm>
          <a:prstGeom prst="rect">
            <a:avLst/>
          </a:prstGeom>
          <a:solidFill>
            <a:schemeClr val="bg2"/>
          </a:solidFill>
        </p:spPr>
        <p:txBody>
          <a:bodyPr wrap="square">
            <a:spAutoFit/>
          </a:bodyPr>
          <a:lstStyle/>
          <a:p>
            <a:r>
              <a:rPr lang="en-US" altLang="zh-TW" sz="900" b="0" dirty="0">
                <a:solidFill>
                  <a:srgbClr val="8B949E"/>
                </a:solidFill>
                <a:effectLst/>
                <a:latin typeface="Consolas" panose="020B0609020204030204" pitchFamily="49" charset="0"/>
              </a:rPr>
              <a:t>/* 1. selector1 selector2 - </a:t>
            </a:r>
            <a:r>
              <a:rPr lang="zh-TW" altLang="en-US" sz="900" b="0" dirty="0">
                <a:solidFill>
                  <a:srgbClr val="8B949E"/>
                </a:solidFill>
                <a:effectLst/>
                <a:latin typeface="Consolas" panose="020B0609020204030204" pitchFamily="49" charset="0"/>
              </a:rPr>
              <a:t>後代選擇器 *</a:t>
            </a:r>
            <a:r>
              <a:rPr lang="en-US" altLang="zh-TW" sz="900" b="0" dirty="0">
                <a:solidFill>
                  <a:srgbClr val="8B949E"/>
                </a:solidFill>
                <a:effectLst/>
                <a:latin typeface="Consolas" panose="020B0609020204030204" pitchFamily="49" charset="0"/>
              </a:rPr>
              <a:t>/</a:t>
            </a:r>
            <a:endParaRPr lang="zh-TW" altLang="en-US" sz="900" b="0" dirty="0">
              <a:solidFill>
                <a:srgbClr val="BBBEBF"/>
              </a:solidFill>
              <a:effectLst/>
              <a:latin typeface="Consolas" panose="020B0609020204030204" pitchFamily="49" charset="0"/>
            </a:endParaRPr>
          </a:p>
          <a:p>
            <a:r>
              <a:rPr lang="en-US" altLang="zh-TW" sz="900" b="0" dirty="0">
                <a:solidFill>
                  <a:srgbClr val="D7BA7D"/>
                </a:solidFill>
                <a:effectLst/>
                <a:latin typeface="Consolas" panose="020B0609020204030204" pitchFamily="49" charset="0"/>
              </a:rPr>
              <a:t>.parent</a:t>
            </a:r>
            <a:r>
              <a:rPr lang="en-US" altLang="zh-TW" sz="900" b="0" dirty="0">
                <a:solidFill>
                  <a:srgbClr val="BBBEBF"/>
                </a:solidFill>
                <a:effectLst/>
                <a:latin typeface="Consolas" panose="020B0609020204030204" pitchFamily="49" charset="0"/>
              </a:rPr>
              <a:t> </a:t>
            </a:r>
            <a:r>
              <a:rPr lang="en-US" altLang="zh-TW" sz="900" b="0" dirty="0">
                <a:solidFill>
                  <a:srgbClr val="D7BA7D"/>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p>
          <a:p>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color</a:t>
            </a:r>
            <a:r>
              <a:rPr lang="en-US" altLang="zh-TW" sz="900" b="0" dirty="0">
                <a:solidFill>
                  <a:srgbClr val="BBBEBF"/>
                </a:solidFill>
                <a:effectLst/>
                <a:latin typeface="Consolas" panose="020B0609020204030204" pitchFamily="49" charset="0"/>
              </a:rPr>
              <a:t>: </a:t>
            </a:r>
            <a:r>
              <a:rPr lang="en-US" altLang="zh-TW" sz="900" b="0" dirty="0">
                <a:solidFill>
                  <a:srgbClr val="CE9178"/>
                </a:solidFill>
                <a:effectLst/>
                <a:latin typeface="Consolas" panose="020B0609020204030204" pitchFamily="49" charset="0"/>
              </a:rPr>
              <a:t>#2563eb</a:t>
            </a:r>
            <a:r>
              <a:rPr lang="en-US" altLang="zh-TW" sz="900" b="0" dirty="0">
                <a:solidFill>
                  <a:srgbClr val="BBBEBF"/>
                </a:solidFill>
                <a:effectLst/>
                <a:latin typeface="Consolas" panose="020B0609020204030204" pitchFamily="49" charset="0"/>
              </a:rPr>
              <a:t>;</a:t>
            </a:r>
          </a:p>
          <a:p>
            <a:r>
              <a:rPr lang="en-US" altLang="zh-TW" sz="900" b="0" dirty="0">
                <a:solidFill>
                  <a:srgbClr val="BBBEBF"/>
                </a:solidFill>
                <a:effectLst/>
                <a:latin typeface="Consolas" panose="020B0609020204030204" pitchFamily="49" charset="0"/>
              </a:rPr>
              <a:t>}</a:t>
            </a:r>
          </a:p>
        </p:txBody>
      </p:sp>
      <p:pic>
        <p:nvPicPr>
          <p:cNvPr id="5" name="圖片 4">
            <a:extLst>
              <a:ext uri="{FF2B5EF4-FFF2-40B4-BE49-F238E27FC236}">
                <a16:creationId xmlns:a16="http://schemas.microsoft.com/office/drawing/2014/main" id="{782CBDBD-1814-4F5B-9C7F-9B8A367EFA31}"/>
              </a:ext>
            </a:extLst>
          </p:cNvPr>
          <p:cNvPicPr>
            <a:picLocks noChangeAspect="1"/>
          </p:cNvPicPr>
          <p:nvPr/>
        </p:nvPicPr>
        <p:blipFill>
          <a:blip r:embed="rId3"/>
          <a:stretch>
            <a:fillRect/>
          </a:stretch>
        </p:blipFill>
        <p:spPr>
          <a:xfrm>
            <a:off x="4122681" y="2571750"/>
            <a:ext cx="4210638" cy="2257740"/>
          </a:xfrm>
          <a:prstGeom prst="rect">
            <a:avLst/>
          </a:prstGeom>
          <a:ln>
            <a:solidFill>
              <a:schemeClr val="accent6"/>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Combinator Selectors ─ Child</a:t>
            </a:r>
            <a:endParaRPr/>
          </a:p>
          <a:p>
            <a:pPr marL="0" lvl="0" indent="0" algn="l" rtl="0">
              <a:spcBef>
                <a:spcPts val="0"/>
              </a:spcBef>
              <a:spcAft>
                <a:spcPts val="0"/>
              </a:spcAft>
              <a:buNone/>
            </a:pPr>
            <a:endParaRPr/>
          </a:p>
        </p:txBody>
      </p:sp>
      <p:sp>
        <p:nvSpPr>
          <p:cNvPr id="175" name="Google Shape;175;p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16</a:t>
            </a:fld>
            <a:endParaRPr>
              <a:solidFill>
                <a:schemeClr val="lt2"/>
              </a:solidFill>
            </a:endParaRPr>
          </a:p>
        </p:txBody>
      </p:sp>
      <p:sp>
        <p:nvSpPr>
          <p:cNvPr id="176" name="Google Shape;176;p28"/>
          <p:cNvSpPr txBox="1">
            <a:spLocks noGrp="1"/>
          </p:cNvSpPr>
          <p:nvPr>
            <p:ph type="body" idx="1"/>
          </p:nvPr>
        </p:nvSpPr>
        <p:spPr>
          <a:xfrm>
            <a:off x="311700" y="1152475"/>
            <a:ext cx="8520600" cy="1419275"/>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dirty="0"/>
              <a:t>Denoted with one or more spaces (typically one), selects nodes that are descendants of the first element, e.g. elements matched by the second selector are selected.</a:t>
            </a:r>
            <a:endParaRPr dirty="0"/>
          </a:p>
          <a:p>
            <a:pPr marL="457200" lvl="0" indent="-342900" algn="l" rtl="0">
              <a:spcBef>
                <a:spcPts val="0"/>
              </a:spcBef>
              <a:spcAft>
                <a:spcPts val="0"/>
              </a:spcAft>
              <a:buSzPts val="1800"/>
              <a:buChar char="●"/>
            </a:pPr>
            <a:r>
              <a:rPr lang="en" dirty="0"/>
              <a:t>Direct children of the first element are selected.</a:t>
            </a:r>
            <a:endParaRPr dirty="0"/>
          </a:p>
          <a:p>
            <a:pPr marL="457200" lvl="0" indent="-342900" algn="l" rtl="0">
              <a:spcBef>
                <a:spcPts val="0"/>
              </a:spcBef>
              <a:spcAft>
                <a:spcPts val="0"/>
              </a:spcAft>
              <a:buSzPts val="1800"/>
              <a:buChar char="●"/>
            </a:pPr>
            <a:r>
              <a:rPr lang="en" dirty="0"/>
              <a:t>Syntax: selector1 &gt; selector2 {  /* property declarations */ }</a:t>
            </a:r>
            <a:endParaRPr dirty="0"/>
          </a:p>
        </p:txBody>
      </p:sp>
      <p:sp>
        <p:nvSpPr>
          <p:cNvPr id="6" name="文字方塊 5">
            <a:extLst>
              <a:ext uri="{FF2B5EF4-FFF2-40B4-BE49-F238E27FC236}">
                <a16:creationId xmlns:a16="http://schemas.microsoft.com/office/drawing/2014/main" id="{F1299BD8-4D8C-4005-8CAA-C900E2A6C8E3}"/>
              </a:ext>
            </a:extLst>
          </p:cNvPr>
          <p:cNvSpPr txBox="1"/>
          <p:nvPr/>
        </p:nvSpPr>
        <p:spPr>
          <a:xfrm>
            <a:off x="194400" y="2515075"/>
            <a:ext cx="4456800" cy="2031325"/>
          </a:xfrm>
          <a:prstGeom prst="rect">
            <a:avLst/>
          </a:prstGeom>
          <a:solidFill>
            <a:schemeClr val="bg2"/>
          </a:solidFill>
        </p:spPr>
        <p:txBody>
          <a:bodyPr wrap="square">
            <a:spAutoFit/>
          </a:bodyPr>
          <a:lstStyle/>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"card"</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2. selector1 </a:t>
            </a:r>
            <a:r>
              <a:rPr lang="en-US" altLang="zh-TW" sz="900" b="0" dirty="0">
                <a:solidFill>
                  <a:srgbClr val="FF7B72"/>
                </a:solidFill>
                <a:effectLst/>
                <a:latin typeface="Consolas" panose="020B0609020204030204" pitchFamily="49" charset="0"/>
              </a:rPr>
              <a:t>&amp;</a:t>
            </a:r>
            <a:r>
              <a:rPr lang="en-US" altLang="zh-TW" sz="900" b="0" dirty="0" err="1">
                <a:solidFill>
                  <a:srgbClr val="FF7B72"/>
                </a:solidFill>
                <a:effectLst/>
                <a:latin typeface="Consolas" panose="020B0609020204030204" pitchFamily="49" charset="0"/>
              </a:rPr>
              <a:t>gt</a:t>
            </a:r>
            <a:r>
              <a:rPr lang="en-US" altLang="zh-TW" sz="900" b="0" dirty="0">
                <a:solidFill>
                  <a:srgbClr val="FF7B72"/>
                </a:solidFill>
                <a:effectLst/>
                <a:latin typeface="Consolas" panose="020B0609020204030204" pitchFamily="49" charset="0"/>
              </a:rPr>
              <a:t>;</a:t>
            </a:r>
            <a:r>
              <a:rPr lang="en-US" altLang="zh-TW" sz="900" b="0" dirty="0">
                <a:solidFill>
                  <a:srgbClr val="BBBEBF"/>
                </a:solidFill>
                <a:effectLst/>
                <a:latin typeface="Consolas" panose="020B0609020204030204" pitchFamily="49" charset="0"/>
              </a:rPr>
              <a:t> selector2</a:t>
            </a:r>
            <a:r>
              <a:rPr lang="zh-TW" altLang="en-US" sz="900" b="0" dirty="0">
                <a:solidFill>
                  <a:srgbClr val="BBBEBF"/>
                </a:solidFill>
                <a:effectLst/>
                <a:latin typeface="Consolas" panose="020B0609020204030204" pitchFamily="49" charset="0"/>
              </a:rPr>
              <a:t>（子選擇器）</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"menu"</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"item"</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2.1 </a:t>
            </a:r>
            <a:r>
              <a:rPr lang="zh-TW" altLang="en-US" sz="900" b="0" dirty="0">
                <a:solidFill>
                  <a:srgbClr val="BBBEBF"/>
                </a:solidFill>
                <a:effectLst/>
                <a:latin typeface="Consolas" panose="020B0609020204030204" pitchFamily="49" charset="0"/>
              </a:rPr>
              <a:t>這一段被 </a:t>
            </a:r>
            <a:r>
              <a:rPr lang="en-US" altLang="zh-TW" sz="900" b="0" dirty="0">
                <a:solidFill>
                  <a:srgbClr val="BBBEBF"/>
                </a:solidFill>
                <a:effectLst/>
                <a:latin typeface="Consolas" panose="020B0609020204030204" pitchFamily="49" charset="0"/>
              </a:rPr>
              <a:t>.menu &gt; .item &gt; span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"item"</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2.2 </a:t>
            </a:r>
            <a:r>
              <a:rPr lang="zh-TW" altLang="en-US" sz="900" b="0" dirty="0">
                <a:solidFill>
                  <a:srgbClr val="BBBEBF"/>
                </a:solidFill>
                <a:effectLst/>
                <a:latin typeface="Consolas" panose="020B0609020204030204" pitchFamily="49" charset="0"/>
              </a:rPr>
              <a:t>這一段不是直接子元素，所以不會被命中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"tag"</a:t>
            </a:r>
            <a:r>
              <a:rPr lang="en-US" altLang="zh-TW" sz="900" b="0" dirty="0">
                <a:solidFill>
                  <a:srgbClr val="808080"/>
                </a:solidFill>
                <a:effectLst/>
                <a:latin typeface="Consolas" panose="020B0609020204030204" pitchFamily="49" charset="0"/>
              </a:rPr>
              <a:t>&gt;</a:t>
            </a:r>
            <a:r>
              <a:rPr lang="zh-TW" altLang="en-US" sz="900" b="0" dirty="0">
                <a:solidFill>
                  <a:srgbClr val="BBBEBF"/>
                </a:solidFill>
                <a:effectLst/>
                <a:latin typeface="Consolas" panose="020B0609020204030204" pitchFamily="49" charset="0"/>
              </a:rPr>
              <a:t>命中：</a:t>
            </a:r>
            <a:r>
              <a:rPr lang="en-US" altLang="zh-TW" sz="900" b="0" dirty="0">
                <a:solidFill>
                  <a:srgbClr val="BBBEBF"/>
                </a:solidFill>
                <a:effectLst/>
                <a:latin typeface="Consolas" panose="020B0609020204030204" pitchFamily="49" charset="0"/>
              </a:rPr>
              <a:t>.menu </a:t>
            </a:r>
            <a:r>
              <a:rPr lang="en-US" altLang="zh-TW" sz="900" b="0" dirty="0">
                <a:solidFill>
                  <a:srgbClr val="FF7B72"/>
                </a:solidFill>
                <a:effectLst/>
                <a:latin typeface="Consolas" panose="020B0609020204030204" pitchFamily="49" charset="0"/>
              </a:rPr>
              <a:t>&amp;</a:t>
            </a:r>
            <a:r>
              <a:rPr lang="en-US" altLang="zh-TW" sz="900" b="0" dirty="0" err="1">
                <a:solidFill>
                  <a:srgbClr val="FF7B72"/>
                </a:solidFill>
                <a:effectLst/>
                <a:latin typeface="Consolas" panose="020B0609020204030204" pitchFamily="49" charset="0"/>
              </a:rPr>
              <a:t>gt</a:t>
            </a:r>
            <a:r>
              <a:rPr lang="en-US" altLang="zh-TW" sz="900" b="0" dirty="0">
                <a:solidFill>
                  <a:srgbClr val="FF7B72"/>
                </a:solidFill>
                <a:effectLst/>
                <a:latin typeface="Consolas" panose="020B0609020204030204" pitchFamily="49" charset="0"/>
              </a:rPr>
              <a:t>;</a:t>
            </a:r>
            <a:r>
              <a:rPr lang="en-US" altLang="zh-TW" sz="900" b="0" dirty="0">
                <a:solidFill>
                  <a:srgbClr val="BBBEBF"/>
                </a:solidFill>
                <a:effectLst/>
                <a:latin typeface="Consolas" panose="020B0609020204030204" pitchFamily="49" charset="0"/>
              </a:rPr>
              <a:t> .item </a:t>
            </a:r>
            <a:r>
              <a:rPr lang="en-US" altLang="zh-TW" sz="900" b="0" dirty="0">
                <a:solidFill>
                  <a:srgbClr val="FF7B72"/>
                </a:solidFill>
                <a:effectLst/>
                <a:latin typeface="Consolas" panose="020B0609020204030204" pitchFamily="49" charset="0"/>
              </a:rPr>
              <a:t>&amp;</a:t>
            </a:r>
            <a:r>
              <a:rPr lang="en-US" altLang="zh-TW" sz="900" b="0" dirty="0" err="1">
                <a:solidFill>
                  <a:srgbClr val="FF7B72"/>
                </a:solidFill>
                <a:effectLst/>
                <a:latin typeface="Consolas" panose="020B0609020204030204" pitchFamily="49" charset="0"/>
              </a:rPr>
              <a:t>gt</a:t>
            </a:r>
            <a:r>
              <a:rPr lang="en-US" altLang="zh-TW" sz="900" b="0" dirty="0">
                <a:solidFill>
                  <a:srgbClr val="FF7B72"/>
                </a:solidFill>
                <a:effectLst/>
                <a:latin typeface="Consolas" panose="020B0609020204030204" pitchFamily="49" charset="0"/>
              </a:rPr>
              <a:t>;</a:t>
            </a:r>
            <a:r>
              <a:rPr lang="en-US" altLang="zh-TW" sz="900" b="0" dirty="0">
                <a:solidFill>
                  <a:srgbClr val="BBBEBF"/>
                </a:solidFill>
                <a:effectLst/>
                <a:latin typeface="Consolas" panose="020B0609020204030204" pitchFamily="49" charset="0"/>
              </a:rPr>
              <a:t> span</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p:txBody>
      </p:sp>
      <p:sp>
        <p:nvSpPr>
          <p:cNvPr id="8" name="文字方塊 7">
            <a:extLst>
              <a:ext uri="{FF2B5EF4-FFF2-40B4-BE49-F238E27FC236}">
                <a16:creationId xmlns:a16="http://schemas.microsoft.com/office/drawing/2014/main" id="{A6E0038B-8470-4F73-8809-359D29ABDE63}"/>
              </a:ext>
            </a:extLst>
          </p:cNvPr>
          <p:cNvSpPr txBox="1"/>
          <p:nvPr/>
        </p:nvSpPr>
        <p:spPr>
          <a:xfrm>
            <a:off x="4820400" y="2515075"/>
            <a:ext cx="2912400" cy="646331"/>
          </a:xfrm>
          <a:prstGeom prst="rect">
            <a:avLst/>
          </a:prstGeom>
          <a:solidFill>
            <a:schemeClr val="bg2"/>
          </a:solidFill>
        </p:spPr>
        <p:txBody>
          <a:bodyPr wrap="square">
            <a:spAutoFit/>
          </a:bodyPr>
          <a:lstStyle/>
          <a:p>
            <a:r>
              <a:rPr lang="en-US" altLang="zh-TW" sz="900" b="0" dirty="0">
                <a:solidFill>
                  <a:srgbClr val="8B949E"/>
                </a:solidFill>
                <a:effectLst/>
                <a:latin typeface="Consolas" panose="020B0609020204030204" pitchFamily="49" charset="0"/>
              </a:rPr>
              <a:t>/* 2. selector1 &gt; selector2 - </a:t>
            </a:r>
            <a:r>
              <a:rPr lang="zh-TW" altLang="en-US" sz="900" b="0" dirty="0">
                <a:solidFill>
                  <a:srgbClr val="8B949E"/>
                </a:solidFill>
                <a:effectLst/>
                <a:latin typeface="Consolas" panose="020B0609020204030204" pitchFamily="49" charset="0"/>
              </a:rPr>
              <a:t>子選擇器 *</a:t>
            </a:r>
            <a:r>
              <a:rPr lang="en-US" altLang="zh-TW" sz="900" b="0" dirty="0">
                <a:solidFill>
                  <a:srgbClr val="8B949E"/>
                </a:solidFill>
                <a:effectLst/>
                <a:latin typeface="Consolas" panose="020B0609020204030204" pitchFamily="49" charset="0"/>
              </a:rPr>
              <a:t>/</a:t>
            </a:r>
            <a:endParaRPr lang="zh-TW" altLang="en-US" sz="900" b="0" dirty="0">
              <a:solidFill>
                <a:srgbClr val="BBBEBF"/>
              </a:solidFill>
              <a:effectLst/>
              <a:latin typeface="Consolas" panose="020B0609020204030204" pitchFamily="49" charset="0"/>
            </a:endParaRPr>
          </a:p>
          <a:p>
            <a:r>
              <a:rPr lang="en-US" altLang="zh-TW" sz="900" b="0" dirty="0">
                <a:solidFill>
                  <a:srgbClr val="D7BA7D"/>
                </a:solidFill>
                <a:effectLst/>
                <a:latin typeface="Consolas" panose="020B0609020204030204" pitchFamily="49" charset="0"/>
              </a:rPr>
              <a:t>.menu</a:t>
            </a:r>
            <a:r>
              <a:rPr lang="en-US" altLang="zh-TW" sz="900" b="0" dirty="0">
                <a:solidFill>
                  <a:srgbClr val="BBBEBF"/>
                </a:solidFill>
                <a:effectLst/>
                <a:latin typeface="Consolas" panose="020B0609020204030204" pitchFamily="49" charset="0"/>
              </a:rPr>
              <a:t> </a:t>
            </a:r>
            <a:r>
              <a:rPr lang="en-US" altLang="zh-TW" sz="900" b="0" dirty="0">
                <a:solidFill>
                  <a:srgbClr val="D4D4D4"/>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 </a:t>
            </a:r>
            <a:r>
              <a:rPr lang="en-US" altLang="zh-TW" sz="900" b="0" dirty="0">
                <a:solidFill>
                  <a:srgbClr val="D7BA7D"/>
                </a:solidFill>
                <a:effectLst/>
                <a:latin typeface="Consolas" panose="020B0609020204030204" pitchFamily="49" charset="0"/>
              </a:rPr>
              <a:t>.item</a:t>
            </a:r>
            <a:r>
              <a:rPr lang="en-US" altLang="zh-TW" sz="900" b="0" dirty="0">
                <a:solidFill>
                  <a:srgbClr val="BBBEBF"/>
                </a:solidFill>
                <a:effectLst/>
                <a:latin typeface="Consolas" panose="020B0609020204030204" pitchFamily="49" charset="0"/>
              </a:rPr>
              <a:t> </a:t>
            </a:r>
            <a:r>
              <a:rPr lang="en-US" altLang="zh-TW" sz="900" b="0" dirty="0">
                <a:solidFill>
                  <a:srgbClr val="D4D4D4"/>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 </a:t>
            </a:r>
            <a:r>
              <a:rPr lang="en-US" altLang="zh-TW" sz="900" b="0" dirty="0">
                <a:solidFill>
                  <a:srgbClr val="D7BA7D"/>
                </a:solidFill>
                <a:effectLst/>
                <a:latin typeface="Consolas" panose="020B0609020204030204" pitchFamily="49" charset="0"/>
              </a:rPr>
              <a:t>span</a:t>
            </a:r>
            <a:r>
              <a:rPr lang="en-US" altLang="zh-TW" sz="900" b="0" dirty="0">
                <a:solidFill>
                  <a:srgbClr val="BBBEBF"/>
                </a:solidFill>
                <a:effectLst/>
                <a:latin typeface="Consolas" panose="020B0609020204030204" pitchFamily="49" charset="0"/>
              </a:rPr>
              <a:t> {</a:t>
            </a:r>
          </a:p>
          <a:p>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color</a:t>
            </a:r>
            <a:r>
              <a:rPr lang="en-US" altLang="zh-TW" sz="900" b="0" dirty="0">
                <a:solidFill>
                  <a:srgbClr val="BBBEBF"/>
                </a:solidFill>
                <a:effectLst/>
                <a:latin typeface="Consolas" panose="020B0609020204030204" pitchFamily="49" charset="0"/>
              </a:rPr>
              <a:t>: </a:t>
            </a:r>
            <a:r>
              <a:rPr lang="en-US" altLang="zh-TW" sz="900" b="0" dirty="0">
                <a:solidFill>
                  <a:srgbClr val="CE9178"/>
                </a:solidFill>
                <a:effectLst/>
                <a:latin typeface="Consolas" panose="020B0609020204030204" pitchFamily="49" charset="0"/>
              </a:rPr>
              <a:t>#16a34a</a:t>
            </a:r>
            <a:r>
              <a:rPr lang="en-US" altLang="zh-TW" sz="900" b="0" dirty="0">
                <a:solidFill>
                  <a:srgbClr val="BBBEBF"/>
                </a:solidFill>
                <a:effectLst/>
                <a:latin typeface="Consolas" panose="020B0609020204030204" pitchFamily="49" charset="0"/>
              </a:rPr>
              <a:t>;</a:t>
            </a:r>
          </a:p>
          <a:p>
            <a:r>
              <a:rPr lang="en-US" altLang="zh-TW" sz="900" b="0" dirty="0">
                <a:solidFill>
                  <a:srgbClr val="BBBEBF"/>
                </a:solidFill>
                <a:effectLst/>
                <a:latin typeface="Consolas" panose="020B0609020204030204" pitchFamily="49" charset="0"/>
              </a:rPr>
              <a:t>}</a:t>
            </a:r>
          </a:p>
        </p:txBody>
      </p:sp>
      <p:pic>
        <p:nvPicPr>
          <p:cNvPr id="5" name="圖片 4">
            <a:extLst>
              <a:ext uri="{FF2B5EF4-FFF2-40B4-BE49-F238E27FC236}">
                <a16:creationId xmlns:a16="http://schemas.microsoft.com/office/drawing/2014/main" id="{52669DBB-E723-413C-81C8-4ED6A3A16C84}"/>
              </a:ext>
            </a:extLst>
          </p:cNvPr>
          <p:cNvPicPr>
            <a:picLocks noChangeAspect="1"/>
          </p:cNvPicPr>
          <p:nvPr/>
        </p:nvPicPr>
        <p:blipFill>
          <a:blip r:embed="rId3"/>
          <a:stretch>
            <a:fillRect/>
          </a:stretch>
        </p:blipFill>
        <p:spPr>
          <a:xfrm>
            <a:off x="4820400" y="3247385"/>
            <a:ext cx="3286119" cy="1709971"/>
          </a:xfrm>
          <a:prstGeom prst="rect">
            <a:avLst/>
          </a:prstGeom>
          <a:ln>
            <a:solidFill>
              <a:schemeClr val="accent6"/>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Combinator Selectors ─ Subsequent Sibling</a:t>
            </a:r>
            <a:endParaRPr/>
          </a:p>
          <a:p>
            <a:pPr marL="0" lvl="0" indent="0" algn="l" rtl="0">
              <a:spcBef>
                <a:spcPts val="0"/>
              </a:spcBef>
              <a:spcAft>
                <a:spcPts val="0"/>
              </a:spcAft>
              <a:buNone/>
            </a:pPr>
            <a:endParaRPr/>
          </a:p>
        </p:txBody>
      </p:sp>
      <p:sp>
        <p:nvSpPr>
          <p:cNvPr id="182" name="Google Shape;182;p2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17</a:t>
            </a:fld>
            <a:endParaRPr>
              <a:solidFill>
                <a:schemeClr val="lt2"/>
              </a:solidFill>
            </a:endParaRPr>
          </a:p>
        </p:txBody>
      </p:sp>
      <p:sp>
        <p:nvSpPr>
          <p:cNvPr id="183" name="Google Shape;18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subsequent-sibling combinator (~, a tilde) separates two selectors and matches all instances of the second element that follow the first element (not necessarily immediately) and share the same parent element.</a:t>
            </a:r>
            <a:endParaRPr/>
          </a:p>
          <a:p>
            <a:pPr marL="457200" lvl="0" indent="-342900" algn="l" rtl="0">
              <a:spcBef>
                <a:spcPts val="0"/>
              </a:spcBef>
              <a:spcAft>
                <a:spcPts val="0"/>
              </a:spcAft>
              <a:buSzPts val="1800"/>
              <a:buChar char="●"/>
            </a:pPr>
            <a:r>
              <a:rPr lang="en"/>
              <a:t>Syntax: former_element ~ target_element { style properties }</a:t>
            </a:r>
            <a:endParaRPr/>
          </a:p>
        </p:txBody>
      </p:sp>
      <p:sp>
        <p:nvSpPr>
          <p:cNvPr id="6" name="文字方塊 5">
            <a:extLst>
              <a:ext uri="{FF2B5EF4-FFF2-40B4-BE49-F238E27FC236}">
                <a16:creationId xmlns:a16="http://schemas.microsoft.com/office/drawing/2014/main" id="{B56917CF-3A6E-427D-BC07-39C79FE0ADC4}"/>
              </a:ext>
            </a:extLst>
          </p:cNvPr>
          <p:cNvSpPr txBox="1"/>
          <p:nvPr/>
        </p:nvSpPr>
        <p:spPr>
          <a:xfrm>
            <a:off x="234000" y="2773485"/>
            <a:ext cx="4572000" cy="1477328"/>
          </a:xfrm>
          <a:prstGeom prst="rect">
            <a:avLst/>
          </a:prstGeom>
          <a:solidFill>
            <a:schemeClr val="bg2"/>
          </a:solidFill>
        </p:spPr>
        <p:txBody>
          <a:bodyPr wrap="square">
            <a:spAutoFit/>
          </a:bodyPr>
          <a:lstStyle/>
          <a:p>
            <a:r>
              <a:rPr lang="en-US" altLang="zh-TW" sz="900" b="0" dirty="0">
                <a:solidFill>
                  <a:srgbClr val="808080"/>
                </a:solidFill>
                <a:effectLst/>
                <a:latin typeface="Consolas" panose="020B0609020204030204" pitchFamily="49" charset="0"/>
              </a:rPr>
              <a:t>      &lt;</a:t>
            </a:r>
            <a:r>
              <a:rPr lang="en-US" altLang="zh-TW" sz="900" b="0" dirty="0">
                <a:solidFill>
                  <a:srgbClr val="7EE787"/>
                </a:solidFill>
                <a:effectLst/>
                <a:latin typeface="Consolas" panose="020B0609020204030204" pitchFamily="49" charset="0"/>
              </a:rPr>
              <a:t>section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"card"</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3. </a:t>
            </a:r>
            <a:r>
              <a:rPr lang="en-US" altLang="zh-TW" sz="900" b="0" dirty="0" err="1">
                <a:solidFill>
                  <a:srgbClr val="BBBEBF"/>
                </a:solidFill>
                <a:effectLst/>
                <a:latin typeface="Consolas" panose="020B0609020204030204" pitchFamily="49" charset="0"/>
              </a:rPr>
              <a:t>former_element</a:t>
            </a:r>
            <a:r>
              <a:rPr lang="en-US" altLang="zh-TW" sz="900" b="0" dirty="0">
                <a:solidFill>
                  <a:srgbClr val="BBBEBF"/>
                </a:solidFill>
                <a:effectLst/>
                <a:latin typeface="Consolas" panose="020B0609020204030204" pitchFamily="49" charset="0"/>
              </a:rPr>
              <a:t> ~ </a:t>
            </a:r>
            <a:r>
              <a:rPr lang="en-US" altLang="zh-TW" sz="900" b="0" dirty="0" err="1">
                <a:solidFill>
                  <a:srgbClr val="BBBEBF"/>
                </a:solidFill>
                <a:effectLst/>
                <a:latin typeface="Consolas" panose="020B0609020204030204" pitchFamily="49" charset="0"/>
              </a:rPr>
              <a:t>target_element</a:t>
            </a:r>
            <a:r>
              <a:rPr lang="zh-TW" altLang="en-US" sz="900" b="0" dirty="0">
                <a:solidFill>
                  <a:srgbClr val="BBBEBF"/>
                </a:solidFill>
                <a:effectLst/>
                <a:latin typeface="Consolas" panose="020B0609020204030204" pitchFamily="49" charset="0"/>
              </a:rPr>
              <a:t>（一般兄弟選擇器）</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"siblings-demo"</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"before"</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3.1 </a:t>
            </a:r>
            <a:r>
              <a:rPr lang="zh-TW" altLang="en-US" sz="900" b="0" dirty="0">
                <a:solidFill>
                  <a:srgbClr val="BBBEBF"/>
                </a:solidFill>
                <a:effectLst/>
                <a:latin typeface="Consolas" panose="020B0609020204030204" pitchFamily="49" charset="0"/>
              </a:rPr>
              <a:t>這一段不是目標</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"target"</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3.2 </a:t>
            </a:r>
            <a:r>
              <a:rPr lang="zh-TW" altLang="en-US" sz="900" b="0" dirty="0">
                <a:solidFill>
                  <a:srgbClr val="BBBEBF"/>
                </a:solidFill>
                <a:effectLst/>
                <a:latin typeface="Consolas" panose="020B0609020204030204" pitchFamily="49" charset="0"/>
              </a:rPr>
              <a:t>這一段被 </a:t>
            </a:r>
            <a:r>
              <a:rPr lang="en-US" altLang="zh-TW" sz="900" b="0" dirty="0">
                <a:solidFill>
                  <a:srgbClr val="BBBEBF"/>
                </a:solidFill>
                <a:effectLst/>
                <a:latin typeface="Consolas" panose="020B0609020204030204" pitchFamily="49" charset="0"/>
              </a:rPr>
              <a:t>.before ~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3.3 </a:t>
            </a:r>
            <a:r>
              <a:rPr lang="zh-TW" altLang="en-US" sz="900" b="0" dirty="0">
                <a:solidFill>
                  <a:srgbClr val="BBBEBF"/>
                </a:solidFill>
                <a:effectLst/>
                <a:latin typeface="Consolas" panose="020B0609020204030204" pitchFamily="49" charset="0"/>
              </a:rPr>
              <a:t>這一段也被 </a:t>
            </a:r>
            <a:r>
              <a:rPr lang="en-US" altLang="zh-TW" sz="900" b="0" dirty="0">
                <a:solidFill>
                  <a:srgbClr val="BBBEBF"/>
                </a:solidFill>
                <a:effectLst/>
                <a:latin typeface="Consolas" panose="020B0609020204030204" pitchFamily="49" charset="0"/>
              </a:rPr>
              <a:t>.before ~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3.4 </a:t>
            </a:r>
            <a:r>
              <a:rPr lang="zh-TW" altLang="en-US" sz="900" b="0" dirty="0">
                <a:solidFill>
                  <a:srgbClr val="BBBEBF"/>
                </a:solidFill>
                <a:effectLst/>
                <a:latin typeface="Consolas" panose="020B0609020204030204" pitchFamily="49" charset="0"/>
              </a:rPr>
              <a:t>這一段也被 </a:t>
            </a:r>
            <a:r>
              <a:rPr lang="en-US" altLang="zh-TW" sz="900" b="0" dirty="0">
                <a:solidFill>
                  <a:srgbClr val="BBBEBF"/>
                </a:solidFill>
                <a:effectLst/>
                <a:latin typeface="Consolas" panose="020B0609020204030204" pitchFamily="49" charset="0"/>
              </a:rPr>
              <a:t>.before ~ p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"tag"</a:t>
            </a:r>
            <a:r>
              <a:rPr lang="en-US" altLang="zh-TW" sz="900" b="0" dirty="0">
                <a:solidFill>
                  <a:srgbClr val="808080"/>
                </a:solidFill>
                <a:effectLst/>
                <a:latin typeface="Consolas" panose="020B0609020204030204" pitchFamily="49" charset="0"/>
              </a:rPr>
              <a:t>&gt;</a:t>
            </a:r>
            <a:r>
              <a:rPr lang="zh-TW" altLang="en-US" sz="900" b="0" dirty="0">
                <a:solidFill>
                  <a:srgbClr val="BBBEBF"/>
                </a:solidFill>
                <a:effectLst/>
                <a:latin typeface="Consolas" panose="020B0609020204030204" pitchFamily="49" charset="0"/>
              </a:rPr>
              <a:t>命中：</a:t>
            </a:r>
            <a:r>
              <a:rPr lang="en-US" altLang="zh-TW" sz="900" b="0" dirty="0">
                <a:solidFill>
                  <a:srgbClr val="BBBEBF"/>
                </a:solidFill>
                <a:effectLst/>
                <a:latin typeface="Consolas" panose="020B0609020204030204" pitchFamily="49" charset="0"/>
              </a:rPr>
              <a:t>.before ~ p</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p:txBody>
      </p:sp>
      <p:sp>
        <p:nvSpPr>
          <p:cNvPr id="8" name="文字方塊 7">
            <a:extLst>
              <a:ext uri="{FF2B5EF4-FFF2-40B4-BE49-F238E27FC236}">
                <a16:creationId xmlns:a16="http://schemas.microsoft.com/office/drawing/2014/main" id="{BCEC9343-828D-4CFA-AFA7-D0794BEA380E}"/>
              </a:ext>
            </a:extLst>
          </p:cNvPr>
          <p:cNvSpPr txBox="1"/>
          <p:nvPr/>
        </p:nvSpPr>
        <p:spPr>
          <a:xfrm>
            <a:off x="234000" y="4401378"/>
            <a:ext cx="3862800" cy="646331"/>
          </a:xfrm>
          <a:prstGeom prst="rect">
            <a:avLst/>
          </a:prstGeom>
          <a:solidFill>
            <a:schemeClr val="bg2"/>
          </a:solidFill>
        </p:spPr>
        <p:txBody>
          <a:bodyPr wrap="square">
            <a:spAutoFit/>
          </a:bodyPr>
          <a:lstStyle/>
          <a:p>
            <a:r>
              <a:rPr lang="en-US" altLang="zh-TW" sz="900" b="0" dirty="0">
                <a:solidFill>
                  <a:srgbClr val="8B949E"/>
                </a:solidFill>
                <a:effectLst/>
                <a:latin typeface="Consolas" panose="020B0609020204030204" pitchFamily="49" charset="0"/>
              </a:rPr>
              <a:t>/* 3. </a:t>
            </a:r>
            <a:r>
              <a:rPr lang="en-US" altLang="zh-TW" sz="900" b="0" dirty="0" err="1">
                <a:solidFill>
                  <a:srgbClr val="8B949E"/>
                </a:solidFill>
                <a:effectLst/>
                <a:latin typeface="Consolas" panose="020B0609020204030204" pitchFamily="49" charset="0"/>
              </a:rPr>
              <a:t>former_element</a:t>
            </a:r>
            <a:r>
              <a:rPr lang="en-US" altLang="zh-TW" sz="900" b="0" dirty="0">
                <a:solidFill>
                  <a:srgbClr val="8B949E"/>
                </a:solidFill>
                <a:effectLst/>
                <a:latin typeface="Consolas" panose="020B0609020204030204" pitchFamily="49" charset="0"/>
              </a:rPr>
              <a:t> ~ </a:t>
            </a:r>
            <a:r>
              <a:rPr lang="en-US" altLang="zh-TW" sz="900" b="0" dirty="0" err="1">
                <a:solidFill>
                  <a:srgbClr val="8B949E"/>
                </a:solidFill>
                <a:effectLst/>
                <a:latin typeface="Consolas" panose="020B0609020204030204" pitchFamily="49" charset="0"/>
              </a:rPr>
              <a:t>target_element</a:t>
            </a:r>
            <a:r>
              <a:rPr lang="en-US" altLang="zh-TW" sz="900" b="0" dirty="0">
                <a:solidFill>
                  <a:srgbClr val="8B949E"/>
                </a:solidFill>
                <a:effectLst/>
                <a:latin typeface="Consolas" panose="020B0609020204030204" pitchFamily="49" charset="0"/>
              </a:rPr>
              <a:t> - </a:t>
            </a:r>
            <a:r>
              <a:rPr lang="zh-TW" altLang="en-US" sz="900" b="0" dirty="0">
                <a:solidFill>
                  <a:srgbClr val="8B949E"/>
                </a:solidFill>
                <a:effectLst/>
                <a:latin typeface="Consolas" panose="020B0609020204030204" pitchFamily="49" charset="0"/>
              </a:rPr>
              <a:t>一般兄弟選擇器 *</a:t>
            </a:r>
            <a:r>
              <a:rPr lang="en-US" altLang="zh-TW" sz="900" b="0" dirty="0">
                <a:solidFill>
                  <a:srgbClr val="8B949E"/>
                </a:solidFill>
                <a:effectLst/>
                <a:latin typeface="Consolas" panose="020B0609020204030204" pitchFamily="49" charset="0"/>
              </a:rPr>
              <a:t>/</a:t>
            </a:r>
            <a:endParaRPr lang="zh-TW" altLang="en-US" sz="900" b="0" dirty="0">
              <a:solidFill>
                <a:srgbClr val="BBBEBF"/>
              </a:solidFill>
              <a:effectLst/>
              <a:latin typeface="Consolas" panose="020B0609020204030204" pitchFamily="49" charset="0"/>
            </a:endParaRPr>
          </a:p>
          <a:p>
            <a:r>
              <a:rPr lang="en-US" altLang="zh-TW" sz="900" b="0" dirty="0">
                <a:solidFill>
                  <a:srgbClr val="D7BA7D"/>
                </a:solidFill>
                <a:effectLst/>
                <a:latin typeface="Consolas" panose="020B0609020204030204" pitchFamily="49" charset="0"/>
              </a:rPr>
              <a:t>.before</a:t>
            </a:r>
            <a:r>
              <a:rPr lang="en-US" altLang="zh-TW" sz="900" b="0" dirty="0">
                <a:solidFill>
                  <a:srgbClr val="BBBEBF"/>
                </a:solidFill>
                <a:effectLst/>
                <a:latin typeface="Consolas" panose="020B0609020204030204" pitchFamily="49" charset="0"/>
              </a:rPr>
              <a:t> </a:t>
            </a:r>
            <a:r>
              <a:rPr lang="en-US" altLang="zh-TW" sz="900" b="0" dirty="0">
                <a:solidFill>
                  <a:srgbClr val="D4D4D4"/>
                </a:solidFill>
                <a:effectLst/>
                <a:latin typeface="Consolas" panose="020B0609020204030204" pitchFamily="49" charset="0"/>
              </a:rPr>
              <a:t>~</a:t>
            </a:r>
            <a:r>
              <a:rPr lang="en-US" altLang="zh-TW" sz="900" b="0" dirty="0">
                <a:solidFill>
                  <a:srgbClr val="BBBEBF"/>
                </a:solidFill>
                <a:effectLst/>
                <a:latin typeface="Consolas" panose="020B0609020204030204" pitchFamily="49" charset="0"/>
              </a:rPr>
              <a:t> </a:t>
            </a:r>
            <a:r>
              <a:rPr lang="en-US" altLang="zh-TW" sz="900" b="0" dirty="0">
                <a:solidFill>
                  <a:srgbClr val="D7BA7D"/>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p>
          <a:p>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color</a:t>
            </a:r>
            <a:r>
              <a:rPr lang="en-US" altLang="zh-TW" sz="900" b="0" dirty="0">
                <a:solidFill>
                  <a:srgbClr val="BBBEBF"/>
                </a:solidFill>
                <a:effectLst/>
                <a:latin typeface="Consolas" panose="020B0609020204030204" pitchFamily="49" charset="0"/>
              </a:rPr>
              <a:t>: </a:t>
            </a:r>
            <a:r>
              <a:rPr lang="en-US" altLang="zh-TW" sz="900" b="0" dirty="0">
                <a:solidFill>
                  <a:srgbClr val="CE9178"/>
                </a:solidFill>
                <a:effectLst/>
                <a:latin typeface="Consolas" panose="020B0609020204030204" pitchFamily="49" charset="0"/>
              </a:rPr>
              <a:t>#d97706</a:t>
            </a:r>
            <a:r>
              <a:rPr lang="en-US" altLang="zh-TW" sz="900" b="0" dirty="0">
                <a:solidFill>
                  <a:srgbClr val="BBBEBF"/>
                </a:solidFill>
                <a:effectLst/>
                <a:latin typeface="Consolas" panose="020B0609020204030204" pitchFamily="49" charset="0"/>
              </a:rPr>
              <a:t>;</a:t>
            </a:r>
          </a:p>
          <a:p>
            <a:r>
              <a:rPr lang="en-US" altLang="zh-TW" sz="900" b="0" dirty="0">
                <a:solidFill>
                  <a:srgbClr val="BBBEBF"/>
                </a:solidFill>
                <a:effectLst/>
                <a:latin typeface="Consolas" panose="020B0609020204030204" pitchFamily="49" charset="0"/>
              </a:rPr>
              <a:t>}</a:t>
            </a:r>
          </a:p>
        </p:txBody>
      </p:sp>
      <p:pic>
        <p:nvPicPr>
          <p:cNvPr id="5" name="圖片 4">
            <a:extLst>
              <a:ext uri="{FF2B5EF4-FFF2-40B4-BE49-F238E27FC236}">
                <a16:creationId xmlns:a16="http://schemas.microsoft.com/office/drawing/2014/main" id="{05CE961E-D280-4A7A-BDD9-E2259DB277D8}"/>
              </a:ext>
            </a:extLst>
          </p:cNvPr>
          <p:cNvPicPr>
            <a:picLocks noChangeAspect="1"/>
          </p:cNvPicPr>
          <p:nvPr/>
        </p:nvPicPr>
        <p:blipFill>
          <a:blip r:embed="rId3"/>
          <a:stretch>
            <a:fillRect/>
          </a:stretch>
        </p:blipFill>
        <p:spPr>
          <a:xfrm>
            <a:off x="5047202" y="2666697"/>
            <a:ext cx="2959028" cy="2373947"/>
          </a:xfrm>
          <a:prstGeom prst="rect">
            <a:avLst/>
          </a:prstGeom>
          <a:ln>
            <a:solidFill>
              <a:schemeClr val="accent6"/>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Combinator Selectors ─ Next Sibling</a:t>
            </a:r>
            <a:endParaRPr/>
          </a:p>
          <a:p>
            <a:pPr marL="0" lvl="0" indent="0" algn="l" rtl="0">
              <a:spcBef>
                <a:spcPts val="0"/>
              </a:spcBef>
              <a:spcAft>
                <a:spcPts val="0"/>
              </a:spcAft>
              <a:buNone/>
            </a:pPr>
            <a:endParaRPr/>
          </a:p>
        </p:txBody>
      </p:sp>
      <p:sp>
        <p:nvSpPr>
          <p:cNvPr id="197" name="Google Shape;197;p3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18</a:t>
            </a:fld>
            <a:endParaRPr>
              <a:solidFill>
                <a:schemeClr val="lt2"/>
              </a:solidFill>
            </a:endParaRPr>
          </a:p>
        </p:txBody>
      </p:sp>
      <p:sp>
        <p:nvSpPr>
          <p:cNvPr id="198" name="Google Shape;198;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Denoted by the plus symbol (+), is similar to the subsequent-sibling. However, given A + B, it only matches B if B is immediately preceded by A, with both sharing the same parent.</a:t>
            </a:r>
            <a:endParaRPr/>
          </a:p>
          <a:p>
            <a:pPr marL="457200" lvl="0" indent="-342900" algn="l" rtl="0">
              <a:spcBef>
                <a:spcPts val="0"/>
              </a:spcBef>
              <a:spcAft>
                <a:spcPts val="0"/>
              </a:spcAft>
              <a:buSzPts val="1800"/>
              <a:buChar char="●"/>
            </a:pPr>
            <a:r>
              <a:rPr lang="en"/>
              <a:t>Syntax: former_element + target_element { style properties }</a:t>
            </a:r>
            <a:endParaRPr/>
          </a:p>
        </p:txBody>
      </p:sp>
      <p:sp>
        <p:nvSpPr>
          <p:cNvPr id="6" name="文字方塊 5">
            <a:extLst>
              <a:ext uri="{FF2B5EF4-FFF2-40B4-BE49-F238E27FC236}">
                <a16:creationId xmlns:a16="http://schemas.microsoft.com/office/drawing/2014/main" id="{900B83DE-CBFD-42F6-B8B6-C65AB35B8F1E}"/>
              </a:ext>
            </a:extLst>
          </p:cNvPr>
          <p:cNvSpPr txBox="1"/>
          <p:nvPr/>
        </p:nvSpPr>
        <p:spPr>
          <a:xfrm>
            <a:off x="311700" y="2652197"/>
            <a:ext cx="4572000" cy="1338828"/>
          </a:xfrm>
          <a:prstGeom prst="rect">
            <a:avLst/>
          </a:prstGeom>
          <a:solidFill>
            <a:schemeClr val="bg2"/>
          </a:solidFill>
        </p:spPr>
        <p:txBody>
          <a:bodyPr wrap="square">
            <a:spAutoFit/>
          </a:bodyPr>
          <a:lstStyle/>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"card"</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4. </a:t>
            </a:r>
            <a:r>
              <a:rPr lang="en-US" altLang="zh-TW" sz="900" b="0" dirty="0" err="1">
                <a:solidFill>
                  <a:srgbClr val="BBBEBF"/>
                </a:solidFill>
                <a:effectLst/>
                <a:latin typeface="Consolas" panose="020B0609020204030204" pitchFamily="49" charset="0"/>
              </a:rPr>
              <a:t>former_element</a:t>
            </a:r>
            <a:r>
              <a:rPr lang="en-US" altLang="zh-TW" sz="900" b="0" dirty="0">
                <a:solidFill>
                  <a:srgbClr val="BBBEBF"/>
                </a:solidFill>
                <a:effectLst/>
                <a:latin typeface="Consolas" panose="020B0609020204030204" pitchFamily="49" charset="0"/>
              </a:rPr>
              <a:t> + </a:t>
            </a:r>
            <a:r>
              <a:rPr lang="en-US" altLang="zh-TW" sz="900" b="0" dirty="0" err="1">
                <a:solidFill>
                  <a:srgbClr val="BBBEBF"/>
                </a:solidFill>
                <a:effectLst/>
                <a:latin typeface="Consolas" panose="020B0609020204030204" pitchFamily="49" charset="0"/>
              </a:rPr>
              <a:t>target_element</a:t>
            </a:r>
            <a:r>
              <a:rPr lang="zh-TW" altLang="en-US" sz="900" b="0" dirty="0">
                <a:solidFill>
                  <a:srgbClr val="BBBEBF"/>
                </a:solidFill>
                <a:effectLst/>
                <a:latin typeface="Consolas" panose="020B0609020204030204" pitchFamily="49" charset="0"/>
              </a:rPr>
              <a:t>（緊鄰兄弟選擇器）</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h2</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"adjacent-demo"</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"lead"</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4.1 </a:t>
            </a:r>
            <a:r>
              <a:rPr lang="zh-TW" altLang="en-US" sz="900" b="0" dirty="0">
                <a:solidFill>
                  <a:srgbClr val="BBBEBF"/>
                </a:solidFill>
                <a:effectLst/>
                <a:latin typeface="Consolas" panose="020B0609020204030204" pitchFamily="49" charset="0"/>
              </a:rPr>
              <a:t>這一段不是目標</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"target"</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4.2 </a:t>
            </a:r>
            <a:r>
              <a:rPr lang="zh-TW" altLang="en-US" sz="900" b="0" dirty="0">
                <a:solidFill>
                  <a:srgbClr val="BBBEBF"/>
                </a:solidFill>
                <a:effectLst/>
                <a:latin typeface="Consolas" panose="020B0609020204030204" pitchFamily="49" charset="0"/>
              </a:rPr>
              <a:t>這一段被 </a:t>
            </a:r>
            <a:r>
              <a:rPr lang="en-US" altLang="zh-TW" sz="900" b="0" dirty="0">
                <a:solidFill>
                  <a:srgbClr val="BBBEBF"/>
                </a:solidFill>
                <a:effectLst/>
                <a:latin typeface="Consolas" panose="020B0609020204030204" pitchFamily="49" charset="0"/>
              </a:rPr>
              <a:t>.lead + .target </a:t>
            </a:r>
            <a:r>
              <a:rPr lang="zh-TW" altLang="en-US" sz="900" b="0" dirty="0">
                <a:solidFill>
                  <a:srgbClr val="BBBEBF"/>
                </a:solidFill>
                <a:effectLst/>
                <a:latin typeface="Consolas" panose="020B0609020204030204" pitchFamily="49" charset="0"/>
              </a:rPr>
              <a:t>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r>
              <a:rPr lang="en-US" altLang="zh-TW" sz="900" b="0" dirty="0">
                <a:solidFill>
                  <a:srgbClr val="BBBEBF"/>
                </a:solidFill>
                <a:effectLst/>
                <a:latin typeface="Consolas" panose="020B0609020204030204" pitchFamily="49" charset="0"/>
              </a:rPr>
              <a:t>4.3 </a:t>
            </a:r>
            <a:r>
              <a:rPr lang="zh-TW" altLang="en-US" sz="900" b="0" dirty="0">
                <a:solidFill>
                  <a:srgbClr val="BBBEBF"/>
                </a:solidFill>
                <a:effectLst/>
                <a:latin typeface="Consolas" panose="020B0609020204030204" pitchFamily="49" charset="0"/>
              </a:rPr>
              <a:t>這一段不是緊鄰元素，不會被命中</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p</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div</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class</a:t>
            </a:r>
            <a:r>
              <a:rPr lang="en-US" altLang="zh-TW" sz="900" b="0" dirty="0">
                <a:solidFill>
                  <a:srgbClr val="BBBEBF"/>
                </a:solidFill>
                <a:effectLst/>
                <a:latin typeface="Consolas" panose="020B0609020204030204" pitchFamily="49" charset="0"/>
              </a:rPr>
              <a:t>=</a:t>
            </a:r>
            <a:r>
              <a:rPr lang="en-US" altLang="zh-TW" sz="900" b="0" dirty="0">
                <a:solidFill>
                  <a:srgbClr val="A5D6FF"/>
                </a:solidFill>
                <a:effectLst/>
                <a:latin typeface="Consolas" panose="020B0609020204030204" pitchFamily="49" charset="0"/>
              </a:rPr>
              <a:t>"tag"</a:t>
            </a:r>
            <a:r>
              <a:rPr lang="en-US" altLang="zh-TW" sz="900" b="0" dirty="0">
                <a:solidFill>
                  <a:srgbClr val="808080"/>
                </a:solidFill>
                <a:effectLst/>
                <a:latin typeface="Consolas" panose="020B0609020204030204" pitchFamily="49" charset="0"/>
              </a:rPr>
              <a:t>&gt;</a:t>
            </a:r>
            <a:r>
              <a:rPr lang="zh-TW" altLang="en-US" sz="900" b="0" dirty="0">
                <a:solidFill>
                  <a:srgbClr val="BBBEBF"/>
                </a:solidFill>
                <a:effectLst/>
                <a:latin typeface="Consolas" panose="020B0609020204030204" pitchFamily="49" charset="0"/>
              </a:rPr>
              <a:t>命中：</a:t>
            </a:r>
            <a:r>
              <a:rPr lang="en-US" altLang="zh-TW" sz="900" b="0" dirty="0">
                <a:solidFill>
                  <a:srgbClr val="BBBEBF"/>
                </a:solidFill>
                <a:effectLst/>
                <a:latin typeface="Consolas" panose="020B0609020204030204" pitchFamily="49" charset="0"/>
              </a:rPr>
              <a:t>.lead + .target</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span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a:p>
            <a:r>
              <a:rPr lang="en-US" altLang="zh-TW" sz="900" b="0" dirty="0">
                <a:solidFill>
                  <a:srgbClr val="BBBEBF"/>
                </a:solidFill>
                <a:effectLst/>
                <a:latin typeface="Consolas" panose="020B0609020204030204" pitchFamily="49" charset="0"/>
              </a:rPr>
              <a:t>      </a:t>
            </a:r>
            <a:r>
              <a:rPr lang="en-US" altLang="zh-TW" sz="900" b="0" dirty="0">
                <a:solidFill>
                  <a:srgbClr val="808080"/>
                </a:solidFill>
                <a:effectLst/>
                <a:latin typeface="Consolas" panose="020B0609020204030204" pitchFamily="49" charset="0"/>
              </a:rPr>
              <a:t>&lt;/</a:t>
            </a:r>
            <a:r>
              <a:rPr lang="en-US" altLang="zh-TW" sz="900" b="0" dirty="0">
                <a:solidFill>
                  <a:srgbClr val="7EE787"/>
                </a:solidFill>
                <a:effectLst/>
                <a:latin typeface="Consolas" panose="020B0609020204030204" pitchFamily="49" charset="0"/>
              </a:rPr>
              <a:t>section</a:t>
            </a:r>
            <a:r>
              <a:rPr lang="en-US" altLang="zh-TW" sz="900" b="0" dirty="0">
                <a:solidFill>
                  <a:srgbClr val="808080"/>
                </a:solidFill>
                <a:effectLst/>
                <a:latin typeface="Consolas" panose="020B0609020204030204" pitchFamily="49" charset="0"/>
              </a:rPr>
              <a:t>&gt;</a:t>
            </a:r>
            <a:endParaRPr lang="en-US" altLang="zh-TW" sz="900" b="0" dirty="0">
              <a:solidFill>
                <a:srgbClr val="BBBEBF"/>
              </a:solidFill>
              <a:effectLst/>
              <a:latin typeface="Consolas" panose="020B0609020204030204" pitchFamily="49" charset="0"/>
            </a:endParaRPr>
          </a:p>
        </p:txBody>
      </p:sp>
      <p:sp>
        <p:nvSpPr>
          <p:cNvPr id="8" name="文字方塊 7">
            <a:extLst>
              <a:ext uri="{FF2B5EF4-FFF2-40B4-BE49-F238E27FC236}">
                <a16:creationId xmlns:a16="http://schemas.microsoft.com/office/drawing/2014/main" id="{4D1861DE-238B-4738-91ED-C034576BD998}"/>
              </a:ext>
            </a:extLst>
          </p:cNvPr>
          <p:cNvSpPr txBox="1"/>
          <p:nvPr/>
        </p:nvSpPr>
        <p:spPr>
          <a:xfrm>
            <a:off x="311700" y="4052144"/>
            <a:ext cx="3848400" cy="646331"/>
          </a:xfrm>
          <a:prstGeom prst="rect">
            <a:avLst/>
          </a:prstGeom>
          <a:solidFill>
            <a:schemeClr val="bg2"/>
          </a:solidFill>
        </p:spPr>
        <p:txBody>
          <a:bodyPr wrap="square">
            <a:spAutoFit/>
          </a:bodyPr>
          <a:lstStyle/>
          <a:p>
            <a:r>
              <a:rPr lang="en-US" altLang="zh-TW" sz="900" b="0" dirty="0">
                <a:solidFill>
                  <a:srgbClr val="8B949E"/>
                </a:solidFill>
                <a:effectLst/>
                <a:latin typeface="Consolas" panose="020B0609020204030204" pitchFamily="49" charset="0"/>
              </a:rPr>
              <a:t>/* 4. </a:t>
            </a:r>
            <a:r>
              <a:rPr lang="en-US" altLang="zh-TW" sz="900" b="0" dirty="0" err="1">
                <a:solidFill>
                  <a:srgbClr val="8B949E"/>
                </a:solidFill>
                <a:effectLst/>
                <a:latin typeface="Consolas" panose="020B0609020204030204" pitchFamily="49" charset="0"/>
              </a:rPr>
              <a:t>former_element</a:t>
            </a:r>
            <a:r>
              <a:rPr lang="en-US" altLang="zh-TW" sz="900" b="0" dirty="0">
                <a:solidFill>
                  <a:srgbClr val="8B949E"/>
                </a:solidFill>
                <a:effectLst/>
                <a:latin typeface="Consolas" panose="020B0609020204030204" pitchFamily="49" charset="0"/>
              </a:rPr>
              <a:t> + </a:t>
            </a:r>
            <a:r>
              <a:rPr lang="en-US" altLang="zh-TW" sz="900" b="0" dirty="0" err="1">
                <a:solidFill>
                  <a:srgbClr val="8B949E"/>
                </a:solidFill>
                <a:effectLst/>
                <a:latin typeface="Consolas" panose="020B0609020204030204" pitchFamily="49" charset="0"/>
              </a:rPr>
              <a:t>target_element</a:t>
            </a:r>
            <a:r>
              <a:rPr lang="en-US" altLang="zh-TW" sz="900" b="0" dirty="0">
                <a:solidFill>
                  <a:srgbClr val="8B949E"/>
                </a:solidFill>
                <a:effectLst/>
                <a:latin typeface="Consolas" panose="020B0609020204030204" pitchFamily="49" charset="0"/>
              </a:rPr>
              <a:t> - </a:t>
            </a:r>
            <a:r>
              <a:rPr lang="zh-TW" altLang="en-US" sz="900" b="0" dirty="0">
                <a:solidFill>
                  <a:srgbClr val="8B949E"/>
                </a:solidFill>
                <a:effectLst/>
                <a:latin typeface="Consolas" panose="020B0609020204030204" pitchFamily="49" charset="0"/>
              </a:rPr>
              <a:t>緊鄰兄弟選擇器 *</a:t>
            </a:r>
            <a:r>
              <a:rPr lang="en-US" altLang="zh-TW" sz="900" b="0" dirty="0">
                <a:solidFill>
                  <a:srgbClr val="8B949E"/>
                </a:solidFill>
                <a:effectLst/>
                <a:latin typeface="Consolas" panose="020B0609020204030204" pitchFamily="49" charset="0"/>
              </a:rPr>
              <a:t>/</a:t>
            </a:r>
            <a:endParaRPr lang="zh-TW" altLang="en-US" sz="900" b="0" dirty="0">
              <a:solidFill>
                <a:srgbClr val="BBBEBF"/>
              </a:solidFill>
              <a:effectLst/>
              <a:latin typeface="Consolas" panose="020B0609020204030204" pitchFamily="49" charset="0"/>
            </a:endParaRPr>
          </a:p>
          <a:p>
            <a:r>
              <a:rPr lang="en-US" altLang="zh-TW" sz="900" b="0" dirty="0">
                <a:solidFill>
                  <a:srgbClr val="D7BA7D"/>
                </a:solidFill>
                <a:effectLst/>
                <a:latin typeface="Consolas" panose="020B0609020204030204" pitchFamily="49" charset="0"/>
              </a:rPr>
              <a:t>.lead</a:t>
            </a:r>
            <a:r>
              <a:rPr lang="en-US" altLang="zh-TW" sz="900" b="0" dirty="0">
                <a:solidFill>
                  <a:srgbClr val="BBBEBF"/>
                </a:solidFill>
                <a:effectLst/>
                <a:latin typeface="Consolas" panose="020B0609020204030204" pitchFamily="49" charset="0"/>
              </a:rPr>
              <a:t> </a:t>
            </a:r>
            <a:r>
              <a:rPr lang="en-US" altLang="zh-TW" sz="900" b="0" dirty="0">
                <a:solidFill>
                  <a:srgbClr val="D4D4D4"/>
                </a:solidFill>
                <a:effectLst/>
                <a:latin typeface="Consolas" panose="020B0609020204030204" pitchFamily="49" charset="0"/>
              </a:rPr>
              <a:t>+</a:t>
            </a:r>
            <a:r>
              <a:rPr lang="en-US" altLang="zh-TW" sz="900" b="0" dirty="0">
                <a:solidFill>
                  <a:srgbClr val="BBBEBF"/>
                </a:solidFill>
                <a:effectLst/>
                <a:latin typeface="Consolas" panose="020B0609020204030204" pitchFamily="49" charset="0"/>
              </a:rPr>
              <a:t> </a:t>
            </a:r>
            <a:r>
              <a:rPr lang="en-US" altLang="zh-TW" sz="900" b="0" dirty="0">
                <a:solidFill>
                  <a:srgbClr val="D7BA7D"/>
                </a:solidFill>
                <a:effectLst/>
                <a:latin typeface="Consolas" panose="020B0609020204030204" pitchFamily="49" charset="0"/>
              </a:rPr>
              <a:t>.target</a:t>
            </a:r>
            <a:r>
              <a:rPr lang="en-US" altLang="zh-TW" sz="900" b="0" dirty="0">
                <a:solidFill>
                  <a:srgbClr val="BBBEBF"/>
                </a:solidFill>
                <a:effectLst/>
                <a:latin typeface="Consolas" panose="020B0609020204030204" pitchFamily="49" charset="0"/>
              </a:rPr>
              <a:t> {</a:t>
            </a:r>
          </a:p>
          <a:p>
            <a:r>
              <a:rPr lang="en-US" altLang="zh-TW" sz="900" b="0" dirty="0">
                <a:solidFill>
                  <a:srgbClr val="BBBEBF"/>
                </a:solidFill>
                <a:effectLst/>
                <a:latin typeface="Consolas" panose="020B0609020204030204" pitchFamily="49" charset="0"/>
              </a:rPr>
              <a:t>  </a:t>
            </a:r>
            <a:r>
              <a:rPr lang="en-US" altLang="zh-TW" sz="900" b="0" dirty="0">
                <a:solidFill>
                  <a:srgbClr val="9CDCFE"/>
                </a:solidFill>
                <a:effectLst/>
                <a:latin typeface="Consolas" panose="020B0609020204030204" pitchFamily="49" charset="0"/>
              </a:rPr>
              <a:t>color</a:t>
            </a:r>
            <a:r>
              <a:rPr lang="en-US" altLang="zh-TW" sz="900" b="0" dirty="0">
                <a:solidFill>
                  <a:srgbClr val="BBBEBF"/>
                </a:solidFill>
                <a:effectLst/>
                <a:latin typeface="Consolas" panose="020B0609020204030204" pitchFamily="49" charset="0"/>
              </a:rPr>
              <a:t>: </a:t>
            </a:r>
            <a:r>
              <a:rPr lang="en-US" altLang="zh-TW" sz="900" b="0" dirty="0">
                <a:solidFill>
                  <a:srgbClr val="CE9178"/>
                </a:solidFill>
                <a:effectLst/>
                <a:latin typeface="Consolas" panose="020B0609020204030204" pitchFamily="49" charset="0"/>
              </a:rPr>
              <a:t>#db2777</a:t>
            </a:r>
            <a:r>
              <a:rPr lang="en-US" altLang="zh-TW" sz="900" b="0" dirty="0">
                <a:solidFill>
                  <a:srgbClr val="BBBEBF"/>
                </a:solidFill>
                <a:effectLst/>
                <a:latin typeface="Consolas" panose="020B0609020204030204" pitchFamily="49" charset="0"/>
              </a:rPr>
              <a:t>;</a:t>
            </a:r>
          </a:p>
          <a:p>
            <a:r>
              <a:rPr lang="en-US" altLang="zh-TW" sz="900" b="0" dirty="0">
                <a:solidFill>
                  <a:srgbClr val="BBBEBF"/>
                </a:solidFill>
                <a:effectLst/>
                <a:latin typeface="Consolas" panose="020B0609020204030204" pitchFamily="49" charset="0"/>
              </a:rPr>
              <a:t>}</a:t>
            </a:r>
          </a:p>
        </p:txBody>
      </p:sp>
      <p:pic>
        <p:nvPicPr>
          <p:cNvPr id="5" name="圖片 4">
            <a:extLst>
              <a:ext uri="{FF2B5EF4-FFF2-40B4-BE49-F238E27FC236}">
                <a16:creationId xmlns:a16="http://schemas.microsoft.com/office/drawing/2014/main" id="{E3089328-A8E6-447F-BD87-F107DCB872F1}"/>
              </a:ext>
            </a:extLst>
          </p:cNvPr>
          <p:cNvPicPr>
            <a:picLocks noChangeAspect="1"/>
          </p:cNvPicPr>
          <p:nvPr/>
        </p:nvPicPr>
        <p:blipFill>
          <a:blip r:embed="rId3"/>
          <a:stretch>
            <a:fillRect/>
          </a:stretch>
        </p:blipFill>
        <p:spPr>
          <a:xfrm>
            <a:off x="4983902" y="2652197"/>
            <a:ext cx="3357984" cy="2322989"/>
          </a:xfrm>
          <a:prstGeom prst="rect">
            <a:avLst/>
          </a:prstGeom>
          <a:ln>
            <a:solidFill>
              <a:schemeClr val="accent6"/>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45B2C5-BBFF-47CE-80AF-1243CBE32E09}"/>
              </a:ext>
            </a:extLst>
          </p:cNvPr>
          <p:cNvSpPr>
            <a:spLocks noGrp="1"/>
          </p:cNvSpPr>
          <p:nvPr>
            <p:ph type="title"/>
          </p:nvPr>
        </p:nvSpPr>
        <p:spPr/>
        <p:txBody>
          <a:bodyPr/>
          <a:lstStyle/>
          <a:p>
            <a:r>
              <a:rPr lang="en-US" altLang="zh-TW" dirty="0"/>
              <a:t>Try it Yourself</a:t>
            </a:r>
            <a:endParaRPr lang="zh-TW" altLang="en-US" dirty="0"/>
          </a:p>
        </p:txBody>
      </p:sp>
      <p:sp>
        <p:nvSpPr>
          <p:cNvPr id="3" name="文字版面配置區 2">
            <a:extLst>
              <a:ext uri="{FF2B5EF4-FFF2-40B4-BE49-F238E27FC236}">
                <a16:creationId xmlns:a16="http://schemas.microsoft.com/office/drawing/2014/main" id="{3501A894-728F-4EB1-B7C5-C77FDB789BF3}"/>
              </a:ext>
            </a:extLst>
          </p:cNvPr>
          <p:cNvSpPr>
            <a:spLocks noGrp="1"/>
          </p:cNvSpPr>
          <p:nvPr>
            <p:ph type="body" idx="1"/>
          </p:nvPr>
        </p:nvSpPr>
        <p:spPr/>
        <p:txBody>
          <a:bodyPr/>
          <a:lstStyle/>
          <a:p>
            <a:r>
              <a:rPr lang="en-US" altLang="zh-TW" dirty="0"/>
              <a:t>Create a subsequent_sibling_selector_demo.html by modifying next_sibling_selector_demo.html so that all paragraphs following header &lt;h1&gt; are with same stylesheets.</a:t>
            </a:r>
          </a:p>
          <a:p>
            <a:pPr lvl="1">
              <a:lnSpc>
                <a:spcPct val="100000"/>
              </a:lnSpc>
              <a:spcBef>
                <a:spcPts val="600"/>
              </a:spcBef>
            </a:pPr>
            <a:r>
              <a:rPr lang="en-US" altLang="zh-TW" dirty="0"/>
              <a:t>Update border highlight from left to top and change the border color</a:t>
            </a:r>
          </a:p>
          <a:p>
            <a:pPr lvl="1">
              <a:lnSpc>
                <a:spcPct val="100000"/>
              </a:lnSpc>
              <a:spcBef>
                <a:spcPts val="600"/>
              </a:spcBef>
            </a:pPr>
            <a:r>
              <a:rPr lang="en-US" altLang="zh-TW" dirty="0"/>
              <a:t>Update background color</a:t>
            </a:r>
            <a:endParaRPr lang="zh-TW" altLang="en-US" dirty="0"/>
          </a:p>
        </p:txBody>
      </p:sp>
      <p:sp>
        <p:nvSpPr>
          <p:cNvPr id="4" name="投影片編號版面配置區 3">
            <a:extLst>
              <a:ext uri="{FF2B5EF4-FFF2-40B4-BE49-F238E27FC236}">
                <a16:creationId xmlns:a16="http://schemas.microsoft.com/office/drawing/2014/main" id="{856F8DB9-FED4-46C2-A466-CAD7A3A390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1134772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Property ─ Text</a:t>
            </a:r>
            <a:endParaRPr/>
          </a:p>
        </p:txBody>
      </p:sp>
      <p:sp>
        <p:nvSpPr>
          <p:cNvPr id="204" name="Google Shape;204;p3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20</a:t>
            </a:fld>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Color</a:t>
            </a:r>
            <a:endParaRPr/>
          </a:p>
        </p:txBody>
      </p:sp>
      <p:sp>
        <p:nvSpPr>
          <p:cNvPr id="210" name="Google Shape;210;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21</a:t>
            </a:fld>
            <a:endParaRPr>
              <a:solidFill>
                <a:schemeClr val="lt2"/>
              </a:solidFill>
            </a:endParaRPr>
          </a:p>
        </p:txBody>
      </p:sp>
      <p:sp>
        <p:nvSpPr>
          <p:cNvPr id="211" name="Google Shape;211;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Color names and hexadecimal codes may be used as the color property value.</a:t>
            </a:r>
            <a:endParaRPr/>
          </a:p>
          <a:p>
            <a:pPr marL="457200" lvl="0" indent="-342900" algn="l" rtl="0">
              <a:spcBef>
                <a:spcPts val="0"/>
              </a:spcBef>
              <a:spcAft>
                <a:spcPts val="0"/>
              </a:spcAft>
              <a:buSzPts val="1800"/>
              <a:buChar char="●"/>
            </a:pPr>
            <a:r>
              <a:rPr lang="en"/>
              <a:t>CSS Color Module Level 3</a:t>
            </a:r>
            <a:endParaRPr/>
          </a:p>
          <a:p>
            <a:pPr marL="914400" lvl="1" indent="-317500" algn="l" rtl="0">
              <a:spcBef>
                <a:spcPts val="0"/>
              </a:spcBef>
              <a:spcAft>
                <a:spcPts val="0"/>
              </a:spcAft>
              <a:buSzPts val="1400"/>
              <a:buChar char="○"/>
            </a:pPr>
            <a:r>
              <a:rPr lang="en" u="sng">
                <a:solidFill>
                  <a:schemeClr val="hlink"/>
                </a:solidFill>
                <a:hlinkClick r:id="rId3"/>
              </a:rPr>
              <a:t>https://www.w3.org/TR/css-color-3/</a:t>
            </a:r>
            <a:r>
              <a:rPr lang="en"/>
              <a:t> </a:t>
            </a:r>
            <a:endParaRPr/>
          </a:p>
        </p:txBody>
      </p:sp>
      <p:pic>
        <p:nvPicPr>
          <p:cNvPr id="212" name="Google Shape;212;p33"/>
          <p:cNvPicPr preferRelativeResize="0"/>
          <p:nvPr/>
        </p:nvPicPr>
        <p:blipFill>
          <a:blip r:embed="rId4">
            <a:alphaModFix/>
          </a:blip>
          <a:stretch>
            <a:fillRect/>
          </a:stretch>
        </p:blipFill>
        <p:spPr>
          <a:xfrm>
            <a:off x="4372400" y="1678801"/>
            <a:ext cx="2539650" cy="3271750"/>
          </a:xfrm>
          <a:prstGeom prst="rect">
            <a:avLst/>
          </a:prstGeom>
          <a:noFill/>
          <a:ln w="9525" cap="flat" cmpd="sng">
            <a:solidFill>
              <a:schemeClr val="dk2"/>
            </a:solidFill>
            <a:prstDash val="solid"/>
            <a:round/>
            <a:headEnd type="none" w="sm" len="sm"/>
            <a:tailEnd type="none" w="sm" len="sm"/>
          </a:ln>
        </p:spPr>
      </p:pic>
      <p:pic>
        <p:nvPicPr>
          <p:cNvPr id="213" name="Google Shape;213;p33"/>
          <p:cNvPicPr preferRelativeResize="0"/>
          <p:nvPr/>
        </p:nvPicPr>
        <p:blipFill>
          <a:blip r:embed="rId5">
            <a:alphaModFix/>
          </a:blip>
          <a:stretch>
            <a:fillRect/>
          </a:stretch>
        </p:blipFill>
        <p:spPr>
          <a:xfrm>
            <a:off x="846938" y="2826463"/>
            <a:ext cx="2981325" cy="21240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RGBA Colors</a:t>
            </a:r>
            <a:endParaRPr/>
          </a:p>
        </p:txBody>
      </p:sp>
      <p:sp>
        <p:nvSpPr>
          <p:cNvPr id="219" name="Google Shape;219;p3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22</a:t>
            </a:fld>
            <a:endParaRPr>
              <a:solidFill>
                <a:schemeClr val="lt2"/>
              </a:solidFill>
            </a:endParaRPr>
          </a:p>
        </p:txBody>
      </p:sp>
      <p:sp>
        <p:nvSpPr>
          <p:cNvPr id="220" name="Google Shape;220;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RGBA is an extension of RGB that adds an alpha channel for transparency.</a:t>
            </a:r>
            <a:endParaRPr/>
          </a:p>
          <a:p>
            <a:pPr marL="457200" lvl="0" indent="-342900" algn="l" rtl="0">
              <a:spcBef>
                <a:spcPts val="0"/>
              </a:spcBef>
              <a:spcAft>
                <a:spcPts val="0"/>
              </a:spcAft>
              <a:buSzPts val="1800"/>
              <a:buChar char="●"/>
            </a:pPr>
            <a:r>
              <a:rPr lang="en"/>
              <a:t>Syntax: rgba(red, green, blue, alpha)</a:t>
            </a:r>
            <a:endParaRPr/>
          </a:p>
          <a:p>
            <a:pPr marL="914400" lvl="1" indent="-317500" algn="l" rtl="0">
              <a:spcBef>
                <a:spcPts val="0"/>
              </a:spcBef>
              <a:spcAft>
                <a:spcPts val="0"/>
              </a:spcAft>
              <a:buSzPts val="1400"/>
              <a:buChar char="○"/>
            </a:pPr>
            <a:r>
              <a:rPr lang="en"/>
              <a:t>red, green, blue: values from 0–255 or percentages.</a:t>
            </a:r>
            <a:endParaRPr/>
          </a:p>
          <a:p>
            <a:pPr marL="914400" lvl="1" indent="-317500" algn="l" rtl="0">
              <a:spcBef>
                <a:spcPts val="0"/>
              </a:spcBef>
              <a:spcAft>
                <a:spcPts val="0"/>
              </a:spcAft>
              <a:buSzPts val="1400"/>
              <a:buChar char="○"/>
            </a:pPr>
            <a:r>
              <a:rPr lang="en"/>
              <a:t>alpha: value between 0.0 (fully transparent) and 1.0 (fully opaque).</a:t>
            </a:r>
            <a:endParaRPr/>
          </a:p>
        </p:txBody>
      </p:sp>
      <p:pic>
        <p:nvPicPr>
          <p:cNvPr id="221" name="Google Shape;221;p34"/>
          <p:cNvPicPr preferRelativeResize="0"/>
          <p:nvPr/>
        </p:nvPicPr>
        <p:blipFill>
          <a:blip r:embed="rId3">
            <a:alphaModFix/>
          </a:blip>
          <a:stretch>
            <a:fillRect/>
          </a:stretch>
        </p:blipFill>
        <p:spPr>
          <a:xfrm>
            <a:off x="813525" y="2571738"/>
            <a:ext cx="4800600" cy="962025"/>
          </a:xfrm>
          <a:prstGeom prst="rect">
            <a:avLst/>
          </a:prstGeom>
          <a:noFill/>
          <a:ln w="9525" cap="flat" cmpd="sng">
            <a:solidFill>
              <a:schemeClr val="dk2"/>
            </a:solidFill>
            <a:prstDash val="solid"/>
            <a:round/>
            <a:headEnd type="none" w="sm" len="sm"/>
            <a:tailEnd type="none" w="sm" len="sm"/>
          </a:ln>
        </p:spPr>
      </p:pic>
      <p:pic>
        <p:nvPicPr>
          <p:cNvPr id="222" name="Google Shape;222;p34"/>
          <p:cNvPicPr preferRelativeResize="0"/>
          <p:nvPr/>
        </p:nvPicPr>
        <p:blipFill>
          <a:blip r:embed="rId4">
            <a:alphaModFix/>
          </a:blip>
          <a:stretch>
            <a:fillRect/>
          </a:stretch>
        </p:blipFill>
        <p:spPr>
          <a:xfrm>
            <a:off x="813525" y="3703200"/>
            <a:ext cx="7639050" cy="9334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HSLA and HSL Colors</a:t>
            </a:r>
            <a:endParaRPr/>
          </a:p>
        </p:txBody>
      </p:sp>
      <p:sp>
        <p:nvSpPr>
          <p:cNvPr id="228" name="Google Shape;228;p3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23</a:t>
            </a:fld>
            <a:endParaRPr>
              <a:solidFill>
                <a:schemeClr val="lt2"/>
              </a:solidFill>
            </a:endParaRPr>
          </a:p>
        </p:txBody>
      </p:sp>
      <p:sp>
        <p:nvSpPr>
          <p:cNvPr id="229" name="Google Shape;229;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HSL stands for Hue, Saturation and Lightness.</a:t>
            </a:r>
            <a:endParaRPr dirty="0"/>
          </a:p>
          <a:p>
            <a:pPr marL="457200" lvl="0" indent="-342900" algn="l" rtl="0">
              <a:spcBef>
                <a:spcPts val="0"/>
              </a:spcBef>
              <a:spcAft>
                <a:spcPts val="0"/>
              </a:spcAft>
              <a:buSzPts val="1800"/>
              <a:buChar char="●"/>
            </a:pPr>
            <a:r>
              <a:rPr lang="en" dirty="0"/>
              <a:t>HSLA adds an alpha channel for transparency.</a:t>
            </a:r>
            <a:endParaRPr dirty="0"/>
          </a:p>
          <a:p>
            <a:pPr marL="457200" lvl="0" indent="-342900" algn="l" rtl="0">
              <a:spcBef>
                <a:spcPts val="0"/>
              </a:spcBef>
              <a:spcAft>
                <a:spcPts val="0"/>
              </a:spcAft>
              <a:buSzPts val="1800"/>
              <a:buChar char="●"/>
            </a:pPr>
            <a:r>
              <a:rPr lang="en" dirty="0"/>
              <a:t>Syntax:</a:t>
            </a:r>
            <a:endParaRPr dirty="0"/>
          </a:p>
          <a:p>
            <a:pPr marL="914400" lvl="1" indent="-317500" algn="l" rtl="0">
              <a:spcBef>
                <a:spcPts val="0"/>
              </a:spcBef>
              <a:spcAft>
                <a:spcPts val="0"/>
              </a:spcAft>
              <a:buSzPts val="1400"/>
              <a:buChar char="○"/>
            </a:pPr>
            <a:r>
              <a:rPr lang="en" dirty="0"/>
              <a:t>hsl(hue, saturation, lightness)</a:t>
            </a:r>
            <a:endParaRPr dirty="0"/>
          </a:p>
          <a:p>
            <a:pPr marL="914400" lvl="1" indent="-317500" algn="l" rtl="0">
              <a:spcBef>
                <a:spcPts val="0"/>
              </a:spcBef>
              <a:spcAft>
                <a:spcPts val="0"/>
              </a:spcAft>
              <a:buSzPts val="1400"/>
              <a:buChar char="○"/>
            </a:pPr>
            <a:r>
              <a:rPr lang="en" dirty="0"/>
              <a:t>hsla(hue, saturation, lightness, alpha)</a:t>
            </a:r>
            <a:endParaRPr dirty="0"/>
          </a:p>
          <a:p>
            <a:pPr marL="457200" lvl="0" indent="-342900" algn="l" rtl="0">
              <a:spcBef>
                <a:spcPts val="0"/>
              </a:spcBef>
              <a:spcAft>
                <a:spcPts val="0"/>
              </a:spcAft>
              <a:buSzPts val="1800"/>
              <a:buChar char="●"/>
            </a:pPr>
            <a:r>
              <a:rPr lang="en" dirty="0"/>
              <a:t>Parameters:</a:t>
            </a:r>
            <a:endParaRPr dirty="0"/>
          </a:p>
          <a:p>
            <a:pPr marL="914400" lvl="1" indent="-317500" algn="l" rtl="0">
              <a:spcBef>
                <a:spcPts val="0"/>
              </a:spcBef>
              <a:spcAft>
                <a:spcPts val="0"/>
              </a:spcAft>
              <a:buSzPts val="1400"/>
              <a:buChar char="○"/>
            </a:pPr>
            <a:r>
              <a:rPr lang="en" dirty="0"/>
              <a:t>hue: angle on the color wheel (0–360deg).</a:t>
            </a:r>
            <a:endParaRPr dirty="0"/>
          </a:p>
          <a:p>
            <a:pPr marL="914400" lvl="1" indent="-317500" algn="l" rtl="0">
              <a:spcBef>
                <a:spcPts val="0"/>
              </a:spcBef>
              <a:spcAft>
                <a:spcPts val="0"/>
              </a:spcAft>
              <a:buSzPts val="1400"/>
              <a:buChar char="○"/>
            </a:pPr>
            <a:r>
              <a:rPr lang="en" dirty="0"/>
              <a:t>saturation: percentage (0% = gray, 100% = full color).</a:t>
            </a:r>
            <a:endParaRPr dirty="0"/>
          </a:p>
          <a:p>
            <a:pPr marL="914400" lvl="1" indent="-317500" algn="l" rtl="0">
              <a:spcBef>
                <a:spcPts val="0"/>
              </a:spcBef>
              <a:spcAft>
                <a:spcPts val="0"/>
              </a:spcAft>
              <a:buSzPts val="1400"/>
              <a:buChar char="○"/>
            </a:pPr>
            <a:r>
              <a:rPr lang="en" dirty="0"/>
              <a:t>lightness: percentage (0% = black, 50% = normal, 100% = white).</a:t>
            </a:r>
            <a:endParaRPr dirty="0"/>
          </a:p>
          <a:p>
            <a:pPr marL="914400" lvl="1" indent="-317500" algn="l" rtl="0">
              <a:spcBef>
                <a:spcPts val="0"/>
              </a:spcBef>
              <a:spcAft>
                <a:spcPts val="0"/>
              </a:spcAft>
              <a:buSzPts val="1400"/>
              <a:buChar char="○"/>
            </a:pPr>
            <a:r>
              <a:rPr lang="en" dirty="0"/>
              <a:t>alpha: transparency, 0–1.</a:t>
            </a:r>
            <a:endParaRPr dirty="0"/>
          </a:p>
        </p:txBody>
      </p:sp>
      <p:pic>
        <p:nvPicPr>
          <p:cNvPr id="230" name="Google Shape;230;p35"/>
          <p:cNvPicPr preferRelativeResize="0"/>
          <p:nvPr/>
        </p:nvPicPr>
        <p:blipFill>
          <a:blip r:embed="rId3">
            <a:alphaModFix/>
          </a:blip>
          <a:stretch>
            <a:fillRect/>
          </a:stretch>
        </p:blipFill>
        <p:spPr>
          <a:xfrm>
            <a:off x="4248674" y="3848975"/>
            <a:ext cx="2861550" cy="11405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Direction</a:t>
            </a:r>
            <a:endParaRPr/>
          </a:p>
        </p:txBody>
      </p:sp>
      <p:sp>
        <p:nvSpPr>
          <p:cNvPr id="236" name="Google Shape;236;p3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24</a:t>
            </a:fld>
            <a:endParaRPr>
              <a:solidFill>
                <a:schemeClr val="lt2"/>
              </a:solidFill>
            </a:endParaRPr>
          </a:p>
        </p:txBody>
      </p:sp>
      <p:sp>
        <p:nvSpPr>
          <p:cNvPr id="237" name="Google Shape;237;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direction CSS property sets the direction of text, table and grid columns, and horizontal overflow.</a:t>
            </a:r>
            <a:endParaRPr/>
          </a:p>
          <a:p>
            <a:pPr marL="457200" lvl="0" indent="-342900" algn="l" rtl="0">
              <a:spcBef>
                <a:spcPts val="0"/>
              </a:spcBef>
              <a:spcAft>
                <a:spcPts val="0"/>
              </a:spcAft>
              <a:buSzPts val="1800"/>
              <a:buChar char="●"/>
            </a:pPr>
            <a:r>
              <a:rPr lang="en"/>
              <a:t>Use rtl for languages written from right to left (like Hebrew or Arabic), and ltr for those written from left to right (like English and most other languages).</a:t>
            </a:r>
            <a:endParaRPr/>
          </a:p>
        </p:txBody>
      </p:sp>
      <p:pic>
        <p:nvPicPr>
          <p:cNvPr id="238" name="Google Shape;238;p36"/>
          <p:cNvPicPr preferRelativeResize="0"/>
          <p:nvPr/>
        </p:nvPicPr>
        <p:blipFill>
          <a:blip r:embed="rId3">
            <a:alphaModFix/>
          </a:blip>
          <a:stretch>
            <a:fillRect/>
          </a:stretch>
        </p:blipFill>
        <p:spPr>
          <a:xfrm>
            <a:off x="220875" y="2571750"/>
            <a:ext cx="2609750" cy="1110025"/>
          </a:xfrm>
          <a:prstGeom prst="rect">
            <a:avLst/>
          </a:prstGeom>
          <a:noFill/>
          <a:ln w="9525" cap="flat" cmpd="sng">
            <a:solidFill>
              <a:schemeClr val="dk2"/>
            </a:solidFill>
            <a:prstDash val="solid"/>
            <a:round/>
            <a:headEnd type="none" w="sm" len="sm"/>
            <a:tailEnd type="none" w="sm" len="sm"/>
          </a:ln>
        </p:spPr>
      </p:pic>
      <p:pic>
        <p:nvPicPr>
          <p:cNvPr id="239" name="Google Shape;239;p36"/>
          <p:cNvPicPr preferRelativeResize="0"/>
          <p:nvPr/>
        </p:nvPicPr>
        <p:blipFill>
          <a:blip r:embed="rId4">
            <a:alphaModFix/>
          </a:blip>
          <a:stretch>
            <a:fillRect/>
          </a:stretch>
        </p:blipFill>
        <p:spPr>
          <a:xfrm>
            <a:off x="2949074" y="2571749"/>
            <a:ext cx="2095825" cy="2504325"/>
          </a:xfrm>
          <a:prstGeom prst="rect">
            <a:avLst/>
          </a:prstGeom>
          <a:noFill/>
          <a:ln w="9525" cap="flat" cmpd="sng">
            <a:solidFill>
              <a:schemeClr val="dk2"/>
            </a:solidFill>
            <a:prstDash val="solid"/>
            <a:round/>
            <a:headEnd type="none" w="sm" len="sm"/>
            <a:tailEnd type="none" w="sm" len="sm"/>
          </a:ln>
        </p:spPr>
      </p:pic>
      <p:pic>
        <p:nvPicPr>
          <p:cNvPr id="240" name="Google Shape;240;p36"/>
          <p:cNvPicPr preferRelativeResize="0"/>
          <p:nvPr/>
        </p:nvPicPr>
        <p:blipFill>
          <a:blip r:embed="rId5">
            <a:alphaModFix/>
          </a:blip>
          <a:stretch>
            <a:fillRect/>
          </a:stretch>
        </p:blipFill>
        <p:spPr>
          <a:xfrm>
            <a:off x="5427220" y="3233583"/>
            <a:ext cx="2913050" cy="11806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Text-align</a:t>
            </a:r>
            <a:endParaRPr/>
          </a:p>
        </p:txBody>
      </p:sp>
      <p:sp>
        <p:nvSpPr>
          <p:cNvPr id="246" name="Google Shape;246;p3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25</a:t>
            </a:fld>
            <a:endParaRPr>
              <a:solidFill>
                <a:schemeClr val="lt2"/>
              </a:solidFill>
            </a:endParaRPr>
          </a:p>
        </p:txBody>
      </p:sp>
      <p:sp>
        <p:nvSpPr>
          <p:cNvPr id="247" name="Google Shape;247;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Sets the horizontal alignment of the inline-level content inside a block element or table-cell box. </a:t>
            </a:r>
            <a:endParaRPr/>
          </a:p>
          <a:p>
            <a:pPr marL="457200" lvl="0" indent="-342900" algn="l" rtl="0">
              <a:spcBef>
                <a:spcPts val="0"/>
              </a:spcBef>
              <a:spcAft>
                <a:spcPts val="0"/>
              </a:spcAft>
              <a:buSzPts val="1800"/>
              <a:buChar char="●"/>
            </a:pPr>
            <a:r>
              <a:rPr lang="en"/>
              <a:t>Visualized demo of different values.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https://developer.mozilla.org/en-US/docs/Web/CSS/Reference/Properties/text-align</a:t>
            </a:r>
            <a:r>
              <a:rPr lang="en"/>
              <a:t> </a:t>
            </a:r>
            <a:endParaRPr/>
          </a:p>
        </p:txBody>
      </p:sp>
      <p:pic>
        <p:nvPicPr>
          <p:cNvPr id="248" name="Google Shape;248;p37"/>
          <p:cNvPicPr preferRelativeResize="0"/>
          <p:nvPr/>
        </p:nvPicPr>
        <p:blipFill>
          <a:blip r:embed="rId4">
            <a:alphaModFix/>
          </a:blip>
          <a:stretch>
            <a:fillRect/>
          </a:stretch>
        </p:blipFill>
        <p:spPr>
          <a:xfrm>
            <a:off x="311700" y="3036150"/>
            <a:ext cx="2609750" cy="1110025"/>
          </a:xfrm>
          <a:prstGeom prst="rect">
            <a:avLst/>
          </a:prstGeom>
          <a:noFill/>
          <a:ln w="9525" cap="flat" cmpd="sng">
            <a:solidFill>
              <a:schemeClr val="dk2"/>
            </a:solidFill>
            <a:prstDash val="solid"/>
            <a:round/>
            <a:headEnd type="none" w="sm" len="sm"/>
            <a:tailEnd type="none" w="sm" len="sm"/>
          </a:ln>
        </p:spPr>
      </p:pic>
      <p:pic>
        <p:nvPicPr>
          <p:cNvPr id="249" name="Google Shape;249;p37"/>
          <p:cNvPicPr preferRelativeResize="0"/>
          <p:nvPr/>
        </p:nvPicPr>
        <p:blipFill>
          <a:blip r:embed="rId5">
            <a:alphaModFix/>
          </a:blip>
          <a:stretch>
            <a:fillRect/>
          </a:stretch>
        </p:blipFill>
        <p:spPr>
          <a:xfrm>
            <a:off x="5518045" y="3697983"/>
            <a:ext cx="2913050" cy="1180650"/>
          </a:xfrm>
          <a:prstGeom prst="rect">
            <a:avLst/>
          </a:prstGeom>
          <a:noFill/>
          <a:ln w="9525" cap="flat" cmpd="sng">
            <a:solidFill>
              <a:srgbClr val="FF9900"/>
            </a:solidFill>
            <a:prstDash val="solid"/>
            <a:round/>
            <a:headEnd type="none" w="sm" len="sm"/>
            <a:tailEnd type="none" w="sm" len="sm"/>
          </a:ln>
        </p:spPr>
      </p:pic>
      <p:pic>
        <p:nvPicPr>
          <p:cNvPr id="250" name="Google Shape;250;p37"/>
          <p:cNvPicPr preferRelativeResize="0"/>
          <p:nvPr/>
        </p:nvPicPr>
        <p:blipFill>
          <a:blip r:embed="rId6">
            <a:alphaModFix/>
          </a:blip>
          <a:stretch>
            <a:fillRect/>
          </a:stretch>
        </p:blipFill>
        <p:spPr>
          <a:xfrm>
            <a:off x="3243214" y="2974999"/>
            <a:ext cx="1763637" cy="21073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Text-Decoration</a:t>
            </a:r>
            <a:endParaRPr/>
          </a:p>
        </p:txBody>
      </p:sp>
      <p:sp>
        <p:nvSpPr>
          <p:cNvPr id="256" name="Google Shape;256;p3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26</a:t>
            </a:fld>
            <a:endParaRPr>
              <a:solidFill>
                <a:schemeClr val="lt2"/>
              </a:solidFill>
            </a:endParaRPr>
          </a:p>
        </p:txBody>
      </p:sp>
      <p:sp>
        <p:nvSpPr>
          <p:cNvPr id="257" name="Google Shape;257;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Sets the appearance of decorative lines on text.</a:t>
            </a:r>
            <a:endParaRPr/>
          </a:p>
          <a:p>
            <a:pPr marL="457200" lvl="0" indent="-342900" algn="l" rtl="0">
              <a:spcBef>
                <a:spcPts val="0"/>
              </a:spcBef>
              <a:spcAft>
                <a:spcPts val="0"/>
              </a:spcAft>
              <a:buSzPts val="1800"/>
              <a:buChar char="●"/>
            </a:pPr>
            <a:r>
              <a:rPr lang="en"/>
              <a:t>It is a shorthand for text-decoration-line, text-decoration-color, text-decoration-style, and the newer text-decoration-thickness property.</a:t>
            </a:r>
            <a:endParaRPr/>
          </a:p>
          <a:p>
            <a:pPr marL="914400" lvl="1" indent="-317500" algn="l" rtl="0">
              <a:spcBef>
                <a:spcPts val="0"/>
              </a:spcBef>
              <a:spcAft>
                <a:spcPts val="0"/>
              </a:spcAft>
              <a:buSzPts val="1400"/>
              <a:buChar char="○"/>
            </a:pPr>
            <a:r>
              <a:rPr lang="en"/>
              <a:t>The order of values does not matter.</a:t>
            </a:r>
            <a:endParaRPr/>
          </a:p>
          <a:p>
            <a:pPr marL="457200" lvl="0" indent="-342900" algn="l" rtl="0">
              <a:spcBef>
                <a:spcPts val="0"/>
              </a:spcBef>
              <a:spcAft>
                <a:spcPts val="0"/>
              </a:spcAft>
              <a:buSzPts val="1800"/>
              <a:buChar char="●"/>
            </a:pPr>
            <a:r>
              <a:rPr lang="en"/>
              <a:t>Visualized demo of different values.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https://developer.mozilla.org/en-US/docs/Web/CSS/Reference/Properties/text-decoration</a:t>
            </a:r>
            <a:r>
              <a:rPr lang="en"/>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Text-Decoration</a:t>
            </a:r>
            <a:endParaRPr/>
          </a:p>
          <a:p>
            <a:pPr marL="0" lvl="0" indent="0" algn="l" rtl="0">
              <a:spcBef>
                <a:spcPts val="0"/>
              </a:spcBef>
              <a:spcAft>
                <a:spcPts val="0"/>
              </a:spcAft>
              <a:buNone/>
            </a:pPr>
            <a:endParaRPr/>
          </a:p>
        </p:txBody>
      </p:sp>
      <p:sp>
        <p:nvSpPr>
          <p:cNvPr id="263" name="Google Shape;263;p3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pic>
        <p:nvPicPr>
          <p:cNvPr id="264" name="Google Shape;264;p39"/>
          <p:cNvPicPr preferRelativeResize="0"/>
          <p:nvPr/>
        </p:nvPicPr>
        <p:blipFill>
          <a:blip r:embed="rId3">
            <a:alphaModFix/>
          </a:blip>
          <a:stretch>
            <a:fillRect/>
          </a:stretch>
        </p:blipFill>
        <p:spPr>
          <a:xfrm>
            <a:off x="873300" y="1115538"/>
            <a:ext cx="3230769" cy="3770276"/>
          </a:xfrm>
          <a:prstGeom prst="rect">
            <a:avLst/>
          </a:prstGeom>
          <a:noFill/>
          <a:ln w="9525" cap="flat" cmpd="sng">
            <a:solidFill>
              <a:schemeClr val="dk2"/>
            </a:solidFill>
            <a:prstDash val="solid"/>
            <a:round/>
            <a:headEnd type="none" w="sm" len="sm"/>
            <a:tailEnd type="none" w="sm" len="sm"/>
          </a:ln>
        </p:spPr>
      </p:pic>
      <p:pic>
        <p:nvPicPr>
          <p:cNvPr id="265" name="Google Shape;265;p39"/>
          <p:cNvPicPr preferRelativeResize="0"/>
          <p:nvPr/>
        </p:nvPicPr>
        <p:blipFill>
          <a:blip r:embed="rId4">
            <a:alphaModFix/>
          </a:blip>
          <a:stretch>
            <a:fillRect/>
          </a:stretch>
        </p:blipFill>
        <p:spPr>
          <a:xfrm>
            <a:off x="4394169" y="1895763"/>
            <a:ext cx="4219575" cy="22098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Text-Transform</a:t>
            </a:r>
            <a:endParaRPr/>
          </a:p>
        </p:txBody>
      </p:sp>
      <p:sp>
        <p:nvSpPr>
          <p:cNvPr id="271" name="Google Shape;271;p4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28</a:t>
            </a:fld>
            <a:endParaRPr>
              <a:solidFill>
                <a:schemeClr val="lt2"/>
              </a:solidFill>
            </a:endParaRPr>
          </a:p>
        </p:txBody>
      </p:sp>
      <p:sp>
        <p:nvSpPr>
          <p:cNvPr id="272" name="Google Shape;272;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text-transform CSS property specifies how to capitalize an element's text.</a:t>
            </a:r>
            <a:endParaRPr/>
          </a:p>
          <a:p>
            <a:pPr marL="457200" lvl="0" indent="-342900" algn="l" rtl="0">
              <a:spcBef>
                <a:spcPts val="0"/>
              </a:spcBef>
              <a:spcAft>
                <a:spcPts val="0"/>
              </a:spcAft>
              <a:buSzPts val="1800"/>
              <a:buChar char="●"/>
            </a:pPr>
            <a:r>
              <a:rPr lang="en"/>
              <a:t>Values: none; capitalize; uppercase; lowercase; full-width; full-size-kana; math-auto;</a:t>
            </a:r>
            <a:endParaRPr/>
          </a:p>
          <a:p>
            <a:pPr marL="457200" lvl="0" indent="-342900" algn="l" rtl="0">
              <a:spcBef>
                <a:spcPts val="0"/>
              </a:spcBef>
              <a:spcAft>
                <a:spcPts val="0"/>
              </a:spcAft>
              <a:buSzPts val="1800"/>
              <a:buChar char="●"/>
            </a:pPr>
            <a:r>
              <a:rPr lang="en"/>
              <a:t>The text-transform property takes into account language-specific case mapping rules. </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https://developer.mozilla.org/en-US/docs/Web/CSS/Reference/Properties/text-transform</a:t>
            </a:r>
            <a:r>
              <a:rPr lang="en"/>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Text-Transform</a:t>
            </a:r>
            <a:endParaRPr/>
          </a:p>
          <a:p>
            <a:pPr marL="0" lvl="0" indent="0" algn="l" rtl="0">
              <a:spcBef>
                <a:spcPts val="0"/>
              </a:spcBef>
              <a:spcAft>
                <a:spcPts val="0"/>
              </a:spcAft>
              <a:buNone/>
            </a:pPr>
            <a:endParaRPr/>
          </a:p>
        </p:txBody>
      </p:sp>
      <p:sp>
        <p:nvSpPr>
          <p:cNvPr id="278" name="Google Shape;278;p4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pic>
        <p:nvPicPr>
          <p:cNvPr id="279" name="Google Shape;279;p41"/>
          <p:cNvPicPr preferRelativeResize="0"/>
          <p:nvPr/>
        </p:nvPicPr>
        <p:blipFill>
          <a:blip r:embed="rId3">
            <a:alphaModFix/>
          </a:blip>
          <a:stretch>
            <a:fillRect/>
          </a:stretch>
        </p:blipFill>
        <p:spPr>
          <a:xfrm>
            <a:off x="938100" y="1107425"/>
            <a:ext cx="2926451" cy="3770275"/>
          </a:xfrm>
          <a:prstGeom prst="rect">
            <a:avLst/>
          </a:prstGeom>
          <a:noFill/>
          <a:ln w="9525" cap="flat" cmpd="sng">
            <a:solidFill>
              <a:schemeClr val="dk2"/>
            </a:solidFill>
            <a:prstDash val="solid"/>
            <a:round/>
            <a:headEnd type="none" w="sm" len="sm"/>
            <a:tailEnd type="none" w="sm" len="sm"/>
          </a:ln>
        </p:spPr>
      </p:pic>
      <p:pic>
        <p:nvPicPr>
          <p:cNvPr id="280" name="Google Shape;280;p41"/>
          <p:cNvPicPr preferRelativeResize="0"/>
          <p:nvPr/>
        </p:nvPicPr>
        <p:blipFill>
          <a:blip r:embed="rId4">
            <a:alphaModFix/>
          </a:blip>
          <a:stretch>
            <a:fillRect/>
          </a:stretch>
        </p:blipFill>
        <p:spPr>
          <a:xfrm>
            <a:off x="4332851" y="1468563"/>
            <a:ext cx="3467100" cy="30480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Text Spacing</a:t>
            </a:r>
            <a:endParaRPr/>
          </a:p>
        </p:txBody>
      </p:sp>
      <p:sp>
        <p:nvSpPr>
          <p:cNvPr id="286" name="Google Shape;286;p4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30</a:t>
            </a:fld>
            <a:endParaRPr>
              <a:solidFill>
                <a:schemeClr val="lt2"/>
              </a:solidFill>
            </a:endParaRPr>
          </a:p>
        </p:txBody>
      </p:sp>
      <p:sp>
        <p:nvSpPr>
          <p:cNvPr id="287" name="Google Shape;287;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Adjusts the space between characters, words, and lines of text by fine-tuning the horizontal and vertical spacing within text elements. Properties include letter-spacing, word-spacing, and line-height.</a:t>
            </a:r>
            <a:endParaRPr/>
          </a:p>
          <a:p>
            <a:pPr marL="457200" lvl="0" indent="-342900" algn="l" rtl="0">
              <a:spcBef>
                <a:spcPts val="0"/>
              </a:spcBef>
              <a:spcAft>
                <a:spcPts val="0"/>
              </a:spcAft>
              <a:buSzPts val="1800"/>
              <a:buChar char="●"/>
            </a:pPr>
            <a:r>
              <a:rPr lang="en"/>
              <a:t>Check examples at MDN:</a:t>
            </a:r>
            <a:endParaRPr/>
          </a:p>
          <a:p>
            <a:pPr marL="914400" lvl="1" indent="-317500" algn="l" rtl="0">
              <a:spcBef>
                <a:spcPts val="0"/>
              </a:spcBef>
              <a:spcAft>
                <a:spcPts val="0"/>
              </a:spcAft>
              <a:buSzPts val="1400"/>
              <a:buChar char="○"/>
            </a:pPr>
            <a:r>
              <a:rPr lang="en"/>
              <a:t>Letter-spacing (Arabic script expect connected letters): </a:t>
            </a:r>
            <a:r>
              <a:rPr lang="en" u="sng">
                <a:solidFill>
                  <a:schemeClr val="hlink"/>
                </a:solidFill>
                <a:hlinkClick r:id="rId3"/>
              </a:rPr>
              <a:t>https://developer.mozilla.org/en-US/docs/Web/CSS/Reference/Properties/letter-spacing</a:t>
            </a:r>
            <a:endParaRPr/>
          </a:p>
          <a:p>
            <a:pPr marL="914400" lvl="1" indent="-317500" algn="l" rtl="0">
              <a:spcBef>
                <a:spcPts val="0"/>
              </a:spcBef>
              <a:spcAft>
                <a:spcPts val="0"/>
              </a:spcAft>
              <a:buSzPts val="1400"/>
              <a:buChar char="○"/>
            </a:pPr>
            <a:r>
              <a:rPr lang="en"/>
              <a:t>Word-spacing: </a:t>
            </a:r>
            <a:r>
              <a:rPr lang="en" u="sng">
                <a:solidFill>
                  <a:schemeClr val="hlink"/>
                </a:solidFill>
                <a:hlinkClick r:id="rId4"/>
              </a:rPr>
              <a:t>https://developer.mozilla.org/en-US/docs/Web/CSS/Reference/Properties/word-spacing</a:t>
            </a:r>
            <a:r>
              <a:rPr lang="en"/>
              <a:t> </a:t>
            </a:r>
            <a:endParaRPr/>
          </a:p>
          <a:p>
            <a:pPr marL="914400" lvl="1" indent="-317500" algn="l" rtl="0">
              <a:spcBef>
                <a:spcPts val="0"/>
              </a:spcBef>
              <a:spcAft>
                <a:spcPts val="0"/>
              </a:spcAft>
              <a:buSzPts val="1400"/>
              <a:buChar char="○"/>
            </a:pPr>
            <a:r>
              <a:rPr lang="en"/>
              <a:t>Line-height (Space between lines in vertical writing modes): </a:t>
            </a:r>
            <a:r>
              <a:rPr lang="en" u="sng">
                <a:solidFill>
                  <a:schemeClr val="hlink"/>
                </a:solidFill>
                <a:hlinkClick r:id="rId5"/>
              </a:rPr>
              <a:t>https://developer.mozilla.org/en-US/docs/Web/CSS/Reference/Properties/line-height</a:t>
            </a:r>
            <a:r>
              <a:rPr lang="en"/>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Letter-Spacing</a:t>
            </a:r>
            <a:endParaRPr/>
          </a:p>
          <a:p>
            <a:pPr marL="0" lvl="0" indent="0" algn="l" rtl="0">
              <a:spcBef>
                <a:spcPts val="0"/>
              </a:spcBef>
              <a:spcAft>
                <a:spcPts val="0"/>
              </a:spcAft>
              <a:buNone/>
            </a:pPr>
            <a:endParaRPr/>
          </a:p>
        </p:txBody>
      </p:sp>
      <p:sp>
        <p:nvSpPr>
          <p:cNvPr id="293" name="Google Shape;293;p4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pic>
        <p:nvPicPr>
          <p:cNvPr id="294" name="Google Shape;294;p43"/>
          <p:cNvPicPr preferRelativeResize="0"/>
          <p:nvPr/>
        </p:nvPicPr>
        <p:blipFill>
          <a:blip r:embed="rId3">
            <a:alphaModFix/>
          </a:blip>
          <a:stretch>
            <a:fillRect/>
          </a:stretch>
        </p:blipFill>
        <p:spPr>
          <a:xfrm>
            <a:off x="273900" y="1224600"/>
            <a:ext cx="7953375" cy="666750"/>
          </a:xfrm>
          <a:prstGeom prst="rect">
            <a:avLst/>
          </a:prstGeom>
          <a:noFill/>
          <a:ln w="9525" cap="flat" cmpd="sng">
            <a:solidFill>
              <a:schemeClr val="dk2"/>
            </a:solidFill>
            <a:prstDash val="solid"/>
            <a:round/>
            <a:headEnd type="none" w="sm" len="sm"/>
            <a:tailEnd type="none" w="sm" len="sm"/>
          </a:ln>
        </p:spPr>
      </p:pic>
      <p:pic>
        <p:nvPicPr>
          <p:cNvPr id="295" name="Google Shape;295;p43"/>
          <p:cNvPicPr preferRelativeResize="0"/>
          <p:nvPr/>
        </p:nvPicPr>
        <p:blipFill>
          <a:blip r:embed="rId4">
            <a:alphaModFix/>
          </a:blip>
          <a:stretch>
            <a:fillRect/>
          </a:stretch>
        </p:blipFill>
        <p:spPr>
          <a:xfrm>
            <a:off x="2884025" y="2788113"/>
            <a:ext cx="6162675" cy="1133475"/>
          </a:xfrm>
          <a:prstGeom prst="rect">
            <a:avLst/>
          </a:prstGeom>
          <a:noFill/>
          <a:ln w="9525" cap="flat" cmpd="sng">
            <a:solidFill>
              <a:srgbClr val="FF9900"/>
            </a:solidFill>
            <a:prstDash val="solid"/>
            <a:round/>
            <a:headEnd type="none" w="sm" len="sm"/>
            <a:tailEnd type="none" w="sm" len="sm"/>
          </a:ln>
        </p:spPr>
      </p:pic>
      <p:pic>
        <p:nvPicPr>
          <p:cNvPr id="296" name="Google Shape;296;p43"/>
          <p:cNvPicPr preferRelativeResize="0"/>
          <p:nvPr/>
        </p:nvPicPr>
        <p:blipFill>
          <a:blip r:embed="rId5">
            <a:alphaModFix/>
          </a:blip>
          <a:stretch>
            <a:fillRect/>
          </a:stretch>
        </p:blipFill>
        <p:spPr>
          <a:xfrm>
            <a:off x="273900" y="2222800"/>
            <a:ext cx="2301900" cy="1974199"/>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Word-Spacing</a:t>
            </a:r>
            <a:endParaRPr/>
          </a:p>
          <a:p>
            <a:pPr marL="0" lvl="0" indent="0" algn="l" rtl="0">
              <a:spcBef>
                <a:spcPts val="0"/>
              </a:spcBef>
              <a:spcAft>
                <a:spcPts val="0"/>
              </a:spcAft>
              <a:buNone/>
            </a:pPr>
            <a:endParaRPr/>
          </a:p>
        </p:txBody>
      </p:sp>
      <p:sp>
        <p:nvSpPr>
          <p:cNvPr id="302" name="Google Shape;302;p4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pic>
        <p:nvPicPr>
          <p:cNvPr id="303" name="Google Shape;303;p44"/>
          <p:cNvPicPr preferRelativeResize="0"/>
          <p:nvPr/>
        </p:nvPicPr>
        <p:blipFill>
          <a:blip r:embed="rId3">
            <a:alphaModFix/>
          </a:blip>
          <a:stretch>
            <a:fillRect/>
          </a:stretch>
        </p:blipFill>
        <p:spPr>
          <a:xfrm>
            <a:off x="784200" y="2786400"/>
            <a:ext cx="2148200" cy="1947800"/>
          </a:xfrm>
          <a:prstGeom prst="rect">
            <a:avLst/>
          </a:prstGeom>
          <a:noFill/>
          <a:ln w="9525" cap="flat" cmpd="sng">
            <a:solidFill>
              <a:schemeClr val="dk2"/>
            </a:solidFill>
            <a:prstDash val="solid"/>
            <a:round/>
            <a:headEnd type="none" w="sm" len="sm"/>
            <a:tailEnd type="none" w="sm" len="sm"/>
          </a:ln>
        </p:spPr>
      </p:pic>
      <p:pic>
        <p:nvPicPr>
          <p:cNvPr id="304" name="Google Shape;304;p44"/>
          <p:cNvPicPr preferRelativeResize="0"/>
          <p:nvPr/>
        </p:nvPicPr>
        <p:blipFill>
          <a:blip r:embed="rId4">
            <a:alphaModFix/>
          </a:blip>
          <a:stretch>
            <a:fillRect/>
          </a:stretch>
        </p:blipFill>
        <p:spPr>
          <a:xfrm>
            <a:off x="444000" y="1755425"/>
            <a:ext cx="7743825" cy="638175"/>
          </a:xfrm>
          <a:prstGeom prst="rect">
            <a:avLst/>
          </a:prstGeom>
          <a:noFill/>
          <a:ln w="9525" cap="flat" cmpd="sng">
            <a:solidFill>
              <a:schemeClr val="dk2"/>
            </a:solidFill>
            <a:prstDash val="solid"/>
            <a:round/>
            <a:headEnd type="none" w="sm" len="sm"/>
            <a:tailEnd type="none" w="sm" len="sm"/>
          </a:ln>
        </p:spPr>
      </p:pic>
      <p:pic>
        <p:nvPicPr>
          <p:cNvPr id="305" name="Google Shape;305;p44"/>
          <p:cNvPicPr preferRelativeResize="0"/>
          <p:nvPr/>
        </p:nvPicPr>
        <p:blipFill>
          <a:blip r:embed="rId5">
            <a:alphaModFix/>
          </a:blip>
          <a:stretch>
            <a:fillRect/>
          </a:stretch>
        </p:blipFill>
        <p:spPr>
          <a:xfrm>
            <a:off x="3481625" y="3184625"/>
            <a:ext cx="5478999" cy="100307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Line-Height</a:t>
            </a:r>
            <a:endParaRPr/>
          </a:p>
          <a:p>
            <a:pPr marL="0" lvl="0" indent="0" algn="l" rtl="0">
              <a:spcBef>
                <a:spcPts val="0"/>
              </a:spcBef>
              <a:spcAft>
                <a:spcPts val="0"/>
              </a:spcAft>
              <a:buNone/>
            </a:pPr>
            <a:endParaRPr/>
          </a:p>
        </p:txBody>
      </p:sp>
      <p:sp>
        <p:nvSpPr>
          <p:cNvPr id="311" name="Google Shape;311;p4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pic>
        <p:nvPicPr>
          <p:cNvPr id="312" name="Google Shape;312;p45"/>
          <p:cNvPicPr preferRelativeResize="0"/>
          <p:nvPr/>
        </p:nvPicPr>
        <p:blipFill>
          <a:blip r:embed="rId3">
            <a:alphaModFix/>
          </a:blip>
          <a:stretch>
            <a:fillRect/>
          </a:stretch>
        </p:blipFill>
        <p:spPr>
          <a:xfrm>
            <a:off x="3596400" y="2897638"/>
            <a:ext cx="5020500" cy="1224125"/>
          </a:xfrm>
          <a:prstGeom prst="rect">
            <a:avLst/>
          </a:prstGeom>
          <a:noFill/>
          <a:ln w="9525" cap="flat" cmpd="sng">
            <a:solidFill>
              <a:srgbClr val="FF9900"/>
            </a:solidFill>
            <a:prstDash val="solid"/>
            <a:round/>
            <a:headEnd type="none" w="sm" len="sm"/>
            <a:tailEnd type="none" w="sm" len="sm"/>
          </a:ln>
        </p:spPr>
      </p:pic>
      <p:pic>
        <p:nvPicPr>
          <p:cNvPr id="313" name="Google Shape;313;p45"/>
          <p:cNvPicPr preferRelativeResize="0"/>
          <p:nvPr/>
        </p:nvPicPr>
        <p:blipFill>
          <a:blip r:embed="rId4">
            <a:alphaModFix/>
          </a:blip>
          <a:stretch>
            <a:fillRect/>
          </a:stretch>
        </p:blipFill>
        <p:spPr>
          <a:xfrm>
            <a:off x="207500" y="1779725"/>
            <a:ext cx="8839200" cy="550931"/>
          </a:xfrm>
          <a:prstGeom prst="rect">
            <a:avLst/>
          </a:prstGeom>
          <a:noFill/>
          <a:ln w="9525" cap="flat" cmpd="sng">
            <a:solidFill>
              <a:schemeClr val="dk2"/>
            </a:solidFill>
            <a:prstDash val="solid"/>
            <a:round/>
            <a:headEnd type="none" w="sm" len="sm"/>
            <a:tailEnd type="none" w="sm" len="sm"/>
          </a:ln>
        </p:spPr>
      </p:pic>
      <p:pic>
        <p:nvPicPr>
          <p:cNvPr id="314" name="Google Shape;314;p45"/>
          <p:cNvPicPr preferRelativeResize="0"/>
          <p:nvPr/>
        </p:nvPicPr>
        <p:blipFill>
          <a:blip r:embed="rId5">
            <a:alphaModFix/>
          </a:blip>
          <a:stretch>
            <a:fillRect/>
          </a:stretch>
        </p:blipFill>
        <p:spPr>
          <a:xfrm>
            <a:off x="894350" y="2571751"/>
            <a:ext cx="1640875" cy="18828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Sizing Unit</a:t>
            </a:r>
            <a:endParaRPr/>
          </a:p>
        </p:txBody>
      </p:sp>
      <p:sp>
        <p:nvSpPr>
          <p:cNvPr id="320" name="Google Shape;320;p4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34</a:t>
            </a:fld>
            <a:endParaRPr>
              <a:solidFill>
                <a:schemeClr val="lt2"/>
              </a:solidFill>
            </a:endParaRPr>
          </a:p>
        </p:txBody>
      </p:sp>
      <p:sp>
        <p:nvSpPr>
          <p:cNvPr id="321" name="Google Shape;321;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34328" algn="l" rtl="0">
              <a:spcBef>
                <a:spcPts val="0"/>
              </a:spcBef>
              <a:spcAft>
                <a:spcPts val="0"/>
              </a:spcAft>
              <a:buSzPct val="100000"/>
              <a:buChar char="●"/>
            </a:pPr>
            <a:r>
              <a:rPr lang="en" dirty="0"/>
              <a:t>Absolute Units</a:t>
            </a:r>
            <a:endParaRPr dirty="0"/>
          </a:p>
          <a:p>
            <a:pPr marL="914400" lvl="1" indent="-310832" algn="l" rtl="0">
              <a:spcBef>
                <a:spcPts val="0"/>
              </a:spcBef>
              <a:spcAft>
                <a:spcPts val="0"/>
              </a:spcAft>
              <a:buSzPct val="100000"/>
              <a:buChar char="○"/>
            </a:pPr>
            <a:r>
              <a:rPr lang="en" dirty="0"/>
              <a:t>px: Fixed pixel size. Best for borders, icons, shadows. Avoid for font sizes (hurts accessibility).</a:t>
            </a:r>
            <a:endParaRPr dirty="0"/>
          </a:p>
          <a:p>
            <a:pPr marL="914400" lvl="1" indent="-310832" algn="l" rtl="0">
              <a:spcBef>
                <a:spcPts val="0"/>
              </a:spcBef>
              <a:spcAft>
                <a:spcPts val="0"/>
              </a:spcAft>
              <a:buSzPct val="100000"/>
              <a:buChar char="○"/>
            </a:pPr>
            <a:r>
              <a:rPr lang="en" dirty="0"/>
              <a:t>pt, pc: Print typography units. Use only when matching print/PDF.</a:t>
            </a:r>
            <a:endParaRPr dirty="0"/>
          </a:p>
          <a:p>
            <a:pPr marL="1371600" lvl="2" indent="-310832" algn="l" rtl="0">
              <a:spcBef>
                <a:spcPts val="0"/>
              </a:spcBef>
              <a:spcAft>
                <a:spcPts val="0"/>
              </a:spcAft>
              <a:buSzPct val="100000"/>
              <a:buChar char="■"/>
            </a:pPr>
            <a:r>
              <a:rPr lang="en" dirty="0"/>
              <a:t>pt (points; 1 pt = 1/72 in)</a:t>
            </a:r>
            <a:endParaRPr dirty="0"/>
          </a:p>
          <a:p>
            <a:pPr marL="1371600" lvl="2" indent="-310832" algn="l" rtl="0">
              <a:spcBef>
                <a:spcPts val="0"/>
              </a:spcBef>
              <a:spcAft>
                <a:spcPts val="0"/>
              </a:spcAft>
              <a:buSzPct val="100000"/>
              <a:buChar char="■"/>
            </a:pPr>
            <a:r>
              <a:rPr lang="en" dirty="0"/>
              <a:t>pc (picas; 1 pc = 12 pt)</a:t>
            </a:r>
            <a:endParaRPr dirty="0"/>
          </a:p>
          <a:p>
            <a:pPr marL="914400" lvl="1" indent="-310832" algn="l" rtl="0">
              <a:spcBef>
                <a:spcPts val="0"/>
              </a:spcBef>
              <a:spcAft>
                <a:spcPts val="0"/>
              </a:spcAft>
              <a:buSzPct val="100000"/>
              <a:buChar char="○"/>
            </a:pPr>
            <a:r>
              <a:rPr lang="en" dirty="0"/>
              <a:t>cm, mm, in: Physical units. Reliable only in print contexts, not screens.</a:t>
            </a:r>
            <a:endParaRPr dirty="0"/>
          </a:p>
          <a:p>
            <a:pPr marL="457200" lvl="0" indent="-334328" algn="l" rtl="0">
              <a:spcBef>
                <a:spcPts val="0"/>
              </a:spcBef>
              <a:spcAft>
                <a:spcPts val="0"/>
              </a:spcAft>
              <a:buSzPct val="100000"/>
              <a:buChar char="●"/>
            </a:pPr>
            <a:r>
              <a:rPr lang="en" dirty="0"/>
              <a:t>Relative Units</a:t>
            </a:r>
            <a:endParaRPr dirty="0"/>
          </a:p>
          <a:p>
            <a:pPr marL="914400" lvl="1" indent="-310832" algn="l" rtl="0">
              <a:spcBef>
                <a:spcPts val="0"/>
              </a:spcBef>
              <a:spcAft>
                <a:spcPts val="0"/>
              </a:spcAft>
              <a:buSzPct val="100000"/>
              <a:buChar char="○"/>
            </a:pPr>
            <a:r>
              <a:rPr lang="en" dirty="0"/>
              <a:t>%: Relative to parent element. Great for fluid widths/heights.</a:t>
            </a:r>
            <a:endParaRPr dirty="0"/>
          </a:p>
          <a:p>
            <a:pPr marL="914400" lvl="1" indent="-310832" algn="l" rtl="0">
              <a:spcBef>
                <a:spcPts val="0"/>
              </a:spcBef>
              <a:spcAft>
                <a:spcPts val="0"/>
              </a:spcAft>
              <a:buSzPct val="100000"/>
              <a:buChar char="○"/>
            </a:pPr>
            <a:r>
              <a:rPr lang="en" dirty="0"/>
              <a:t>em: Relative to parent font size. Good for component spacing, but beware compounding in nested elements.</a:t>
            </a:r>
            <a:endParaRPr dirty="0"/>
          </a:p>
          <a:p>
            <a:pPr marL="1371600" lvl="2" indent="-310832" algn="l" rtl="0">
              <a:spcBef>
                <a:spcPts val="0"/>
              </a:spcBef>
              <a:spcAft>
                <a:spcPts val="0"/>
              </a:spcAft>
              <a:buSzPct val="100000"/>
              <a:buChar char="■"/>
            </a:pPr>
            <a:r>
              <a:rPr lang="en" dirty="0"/>
              <a:t>1em is equal to the current font size</a:t>
            </a:r>
            <a:endParaRPr dirty="0"/>
          </a:p>
          <a:p>
            <a:pPr marL="1371600" lvl="2" indent="-310832" algn="l" rtl="0">
              <a:spcBef>
                <a:spcPts val="0"/>
              </a:spcBef>
              <a:spcAft>
                <a:spcPts val="0"/>
              </a:spcAft>
              <a:buSzPct val="100000"/>
              <a:buChar char="■"/>
            </a:pPr>
            <a:r>
              <a:rPr lang="en" dirty="0">
                <a:solidFill>
                  <a:srgbClr val="FF0000"/>
                </a:solidFill>
              </a:rPr>
              <a:t>Nested elements multiply values</a:t>
            </a:r>
            <a:endParaRPr dirty="0">
              <a:solidFill>
                <a:srgbClr val="FF0000"/>
              </a:solidFill>
            </a:endParaRPr>
          </a:p>
          <a:p>
            <a:pPr marL="914400" lvl="1" indent="-310832" algn="l" rtl="0">
              <a:spcBef>
                <a:spcPts val="0"/>
              </a:spcBef>
              <a:spcAft>
                <a:spcPts val="0"/>
              </a:spcAft>
              <a:buSzPct val="100000"/>
              <a:buChar char="○"/>
            </a:pPr>
            <a:r>
              <a:rPr lang="en" dirty="0"/>
              <a:t>rem: Relative to root &lt;html&gt; font size. Best for font sizes and global spacing systems.</a:t>
            </a:r>
            <a:endParaRPr dirty="0"/>
          </a:p>
          <a:p>
            <a:pPr marL="914400" lvl="1" indent="-310832" algn="l" rtl="0">
              <a:spcBef>
                <a:spcPts val="0"/>
              </a:spcBef>
              <a:spcAft>
                <a:spcPts val="0"/>
              </a:spcAft>
              <a:buSzPct val="100000"/>
              <a:buChar char="○"/>
            </a:pPr>
            <a:r>
              <a:rPr lang="en" dirty="0"/>
              <a:t>ch: Width of “0” character. Useful for text line length control.</a:t>
            </a:r>
            <a:endParaRPr dirty="0"/>
          </a:p>
          <a:p>
            <a:pPr marL="457200" lvl="0" indent="-334328" algn="l" rtl="0">
              <a:spcBef>
                <a:spcPts val="0"/>
              </a:spcBef>
              <a:spcAft>
                <a:spcPts val="0"/>
              </a:spcAft>
              <a:buSzPct val="100000"/>
              <a:buChar char="●"/>
            </a:pPr>
            <a:r>
              <a:rPr lang="en" dirty="0"/>
              <a:t>Functions</a:t>
            </a:r>
            <a:endParaRPr dirty="0"/>
          </a:p>
          <a:p>
            <a:pPr marL="914400" lvl="1" indent="-310832" algn="l" rtl="0">
              <a:spcBef>
                <a:spcPts val="0"/>
              </a:spcBef>
              <a:spcAft>
                <a:spcPts val="0"/>
              </a:spcAft>
              <a:buSzPct val="100000"/>
              <a:buChar char="○"/>
            </a:pPr>
            <a:r>
              <a:rPr lang="en" dirty="0"/>
              <a:t>Using min(), max(), clamp() etc., e.g. width: max(50px, 50%); width: clamp(20%, 1px, 80%);</a:t>
            </a:r>
            <a:endParaRPr dirty="0"/>
          </a:p>
          <a:p>
            <a:pPr marL="914400" lvl="1" indent="-310832" algn="l" rtl="0">
              <a:spcBef>
                <a:spcPts val="0"/>
              </a:spcBef>
              <a:spcAft>
                <a:spcPts val="0"/>
              </a:spcAft>
              <a:buSzPct val="100000"/>
              <a:buChar char="○"/>
            </a:pPr>
            <a:r>
              <a:rPr lang="en" u="sng" dirty="0">
                <a:solidFill>
                  <a:schemeClr val="hlink"/>
                </a:solidFill>
                <a:hlinkClick r:id="rId3"/>
              </a:rPr>
              <a:t>https://developer.mozilla.org/en-US/docs/Web/CSS/Guides/Values_and_units/Using_math_functions</a:t>
            </a:r>
            <a:r>
              <a:rPr lang="en" dirty="0"/>
              <a:t> </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Font</a:t>
            </a:r>
            <a:endParaRPr/>
          </a:p>
        </p:txBody>
      </p:sp>
      <p:sp>
        <p:nvSpPr>
          <p:cNvPr id="327" name="Google Shape;327;p4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35</a:t>
            </a:fld>
            <a:endParaRPr>
              <a:solidFill>
                <a:schemeClr val="lt2"/>
              </a:solidFill>
            </a:endParaRPr>
          </a:p>
        </p:txBody>
      </p:sp>
      <p:sp>
        <p:nvSpPr>
          <p:cNvPr id="328" name="Google Shape;328;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The font CSS shorthand property sets all the different properties of an element's font.</a:t>
            </a:r>
            <a:endParaRPr dirty="0"/>
          </a:p>
          <a:p>
            <a:pPr marL="457200" lvl="0" indent="-342900" algn="l" rtl="0">
              <a:spcBef>
                <a:spcPts val="0"/>
              </a:spcBef>
              <a:spcAft>
                <a:spcPts val="0"/>
              </a:spcAft>
              <a:buSzPts val="1800"/>
              <a:buChar char="●"/>
            </a:pPr>
            <a:r>
              <a:rPr lang="en" dirty="0"/>
              <a:t>Alternatively, it sets an element's font to a system font.</a:t>
            </a:r>
            <a:endParaRPr dirty="0"/>
          </a:p>
          <a:p>
            <a:pPr marL="457200" lvl="0" indent="-342900" algn="l" rtl="0">
              <a:spcBef>
                <a:spcPts val="0"/>
              </a:spcBef>
              <a:spcAft>
                <a:spcPts val="0"/>
              </a:spcAft>
              <a:buSzPts val="1800"/>
              <a:buChar char="●"/>
            </a:pPr>
            <a:r>
              <a:rPr lang="en" dirty="0"/>
              <a:t>This property is a shorthand for the following CSS properties: font-style, font-variant, font-weight, font-stretch, font-width, font-size</a:t>
            </a:r>
            <a:r>
              <a:rPr lang="en" b="1" dirty="0">
                <a:solidFill>
                  <a:srgbClr val="0000FF"/>
                </a:solidFill>
              </a:rPr>
              <a:t>/</a:t>
            </a:r>
            <a:r>
              <a:rPr lang="en" dirty="0"/>
              <a:t>line-height, font-family.</a:t>
            </a:r>
            <a:endParaRPr dirty="0"/>
          </a:p>
          <a:p>
            <a:pPr marL="914400" lvl="1" indent="-317500" algn="l" rtl="0">
              <a:spcBef>
                <a:spcPts val="0"/>
              </a:spcBef>
              <a:spcAft>
                <a:spcPts val="0"/>
              </a:spcAft>
              <a:buSzPts val="1400"/>
              <a:buChar char="○"/>
            </a:pPr>
            <a:r>
              <a:rPr lang="en" b="1" dirty="0">
                <a:solidFill>
                  <a:srgbClr val="0000CC"/>
                </a:solidFill>
              </a:rPr>
              <a:t>The order of values does matter!</a:t>
            </a:r>
            <a:endParaRPr b="1" dirty="0">
              <a:solidFill>
                <a:srgbClr val="0000CC"/>
              </a:solidFill>
            </a:endParaRPr>
          </a:p>
          <a:p>
            <a:pPr marL="914400" lvl="1" indent="-317500" algn="l" rtl="0">
              <a:spcBef>
                <a:spcPts val="0"/>
              </a:spcBef>
              <a:spcAft>
                <a:spcPts val="0"/>
              </a:spcAft>
              <a:buSzPts val="1400"/>
              <a:buChar char="○"/>
            </a:pPr>
            <a:r>
              <a:rPr lang="en" dirty="0"/>
              <a:t>If the value is missing, browsers reset the element to their initial defaults.</a:t>
            </a:r>
            <a:endParaRPr dirty="0"/>
          </a:p>
          <a:p>
            <a:pPr marL="457200" lvl="0" indent="-342900" algn="l" rtl="0">
              <a:spcBef>
                <a:spcPts val="0"/>
              </a:spcBef>
              <a:spcAft>
                <a:spcPts val="0"/>
              </a:spcAft>
              <a:buSzPts val="1800"/>
              <a:buChar char="●"/>
            </a:pPr>
            <a:r>
              <a:rPr lang="en" dirty="0"/>
              <a:t>The value is either a shorthand specifying the various font-related properties or a single &lt;system-font-family-name&gt; keyword.</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Textual Property ─ system-font-family-name</a:t>
            </a:r>
            <a:endParaRPr sz="2800" dirty="0"/>
          </a:p>
        </p:txBody>
      </p:sp>
      <p:sp>
        <p:nvSpPr>
          <p:cNvPr id="334" name="Google Shape;334;p4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36</a:t>
            </a:fld>
            <a:endParaRPr>
              <a:solidFill>
                <a:schemeClr val="lt2"/>
              </a:solidFill>
            </a:endParaRPr>
          </a:p>
        </p:txBody>
      </p:sp>
      <p:sp>
        <p:nvSpPr>
          <p:cNvPr id="335" name="Google Shape;335;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caption</a:t>
            </a:r>
            <a:endParaRPr/>
          </a:p>
          <a:p>
            <a:pPr marL="914400" lvl="1" indent="-317500" algn="l" rtl="0">
              <a:spcBef>
                <a:spcPts val="0"/>
              </a:spcBef>
              <a:spcAft>
                <a:spcPts val="0"/>
              </a:spcAft>
              <a:buSzPts val="1400"/>
              <a:buChar char="○"/>
            </a:pPr>
            <a:r>
              <a:rPr lang="en"/>
              <a:t>The system font used for captioned controls (buttons, drop-downs, etc.).</a:t>
            </a:r>
            <a:endParaRPr/>
          </a:p>
          <a:p>
            <a:pPr marL="457200" lvl="0" indent="-342900" algn="l" rtl="0">
              <a:spcBef>
                <a:spcPts val="0"/>
              </a:spcBef>
              <a:spcAft>
                <a:spcPts val="0"/>
              </a:spcAft>
              <a:buSzPts val="1800"/>
              <a:buChar char="●"/>
            </a:pPr>
            <a:r>
              <a:rPr lang="en"/>
              <a:t>icon</a:t>
            </a:r>
            <a:endParaRPr/>
          </a:p>
          <a:p>
            <a:pPr marL="914400" lvl="1" indent="-317500" algn="l" rtl="0">
              <a:spcBef>
                <a:spcPts val="0"/>
              </a:spcBef>
              <a:spcAft>
                <a:spcPts val="0"/>
              </a:spcAft>
              <a:buSzPts val="1400"/>
              <a:buChar char="○"/>
            </a:pPr>
            <a:r>
              <a:rPr lang="en"/>
              <a:t>The system font used to label icons.</a:t>
            </a:r>
            <a:endParaRPr/>
          </a:p>
          <a:p>
            <a:pPr marL="457200" lvl="0" indent="-342900" algn="l" rtl="0">
              <a:spcBef>
                <a:spcPts val="0"/>
              </a:spcBef>
              <a:spcAft>
                <a:spcPts val="0"/>
              </a:spcAft>
              <a:buSzPts val="1800"/>
              <a:buChar char="●"/>
            </a:pPr>
            <a:r>
              <a:rPr lang="en"/>
              <a:t>menu</a:t>
            </a:r>
            <a:endParaRPr/>
          </a:p>
          <a:p>
            <a:pPr marL="914400" lvl="1" indent="-317500" algn="l" rtl="0">
              <a:spcBef>
                <a:spcPts val="0"/>
              </a:spcBef>
              <a:spcAft>
                <a:spcPts val="0"/>
              </a:spcAft>
              <a:buSzPts val="1400"/>
              <a:buChar char="○"/>
            </a:pPr>
            <a:r>
              <a:rPr lang="en"/>
              <a:t>The system font used in menus (e.g., dropdown menus and menu lists).</a:t>
            </a:r>
            <a:endParaRPr/>
          </a:p>
          <a:p>
            <a:pPr marL="457200" lvl="0" indent="-342900" algn="l" rtl="0">
              <a:spcBef>
                <a:spcPts val="0"/>
              </a:spcBef>
              <a:spcAft>
                <a:spcPts val="0"/>
              </a:spcAft>
              <a:buSzPts val="1800"/>
              <a:buChar char="●"/>
            </a:pPr>
            <a:r>
              <a:rPr lang="en"/>
              <a:t>message-box</a:t>
            </a:r>
            <a:endParaRPr/>
          </a:p>
          <a:p>
            <a:pPr marL="914400" lvl="1" indent="-317500" algn="l" rtl="0">
              <a:spcBef>
                <a:spcPts val="0"/>
              </a:spcBef>
              <a:spcAft>
                <a:spcPts val="0"/>
              </a:spcAft>
              <a:buSzPts val="1400"/>
              <a:buChar char="○"/>
            </a:pPr>
            <a:r>
              <a:rPr lang="en"/>
              <a:t>The system font used in dialog boxes.</a:t>
            </a:r>
            <a:endParaRPr/>
          </a:p>
          <a:p>
            <a:pPr marL="457200" lvl="0" indent="-342900" algn="l" rtl="0">
              <a:spcBef>
                <a:spcPts val="0"/>
              </a:spcBef>
              <a:spcAft>
                <a:spcPts val="0"/>
              </a:spcAft>
              <a:buSzPts val="1800"/>
              <a:buChar char="●"/>
            </a:pPr>
            <a:r>
              <a:rPr lang="en"/>
              <a:t>small-caption</a:t>
            </a:r>
            <a:endParaRPr/>
          </a:p>
          <a:p>
            <a:pPr marL="914400" lvl="1" indent="-317500" algn="l" rtl="0">
              <a:spcBef>
                <a:spcPts val="0"/>
              </a:spcBef>
              <a:spcAft>
                <a:spcPts val="0"/>
              </a:spcAft>
              <a:buSzPts val="1400"/>
              <a:buChar char="○"/>
            </a:pPr>
            <a:r>
              <a:rPr lang="en"/>
              <a:t>The system font used for labeling small controls.</a:t>
            </a:r>
            <a:endParaRPr/>
          </a:p>
          <a:p>
            <a:pPr marL="457200" lvl="0" indent="-342900" algn="l" rtl="0">
              <a:spcBef>
                <a:spcPts val="0"/>
              </a:spcBef>
              <a:spcAft>
                <a:spcPts val="0"/>
              </a:spcAft>
              <a:buSzPts val="1800"/>
              <a:buChar char="●"/>
            </a:pPr>
            <a:r>
              <a:rPr lang="en"/>
              <a:t>status-bar</a:t>
            </a:r>
            <a:endParaRPr/>
          </a:p>
          <a:p>
            <a:pPr marL="914400" lvl="1" indent="-317500" algn="l" rtl="0">
              <a:spcBef>
                <a:spcPts val="0"/>
              </a:spcBef>
              <a:spcAft>
                <a:spcPts val="0"/>
              </a:spcAft>
              <a:buSzPts val="1400"/>
              <a:buChar char="○"/>
            </a:pPr>
            <a:r>
              <a:rPr lang="en"/>
              <a:t>The system font used in window status bars.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Normal Font </a:t>
            </a:r>
            <a:endParaRPr/>
          </a:p>
          <a:p>
            <a:pPr marL="0" lvl="0" indent="0" algn="l" rtl="0">
              <a:spcBef>
                <a:spcPts val="0"/>
              </a:spcBef>
              <a:spcAft>
                <a:spcPts val="0"/>
              </a:spcAft>
              <a:buNone/>
            </a:pPr>
            <a:endParaRPr/>
          </a:p>
        </p:txBody>
      </p:sp>
      <p:sp>
        <p:nvSpPr>
          <p:cNvPr id="341" name="Google Shape;341;p4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pic>
        <p:nvPicPr>
          <p:cNvPr id="342" name="Google Shape;342;p49"/>
          <p:cNvPicPr preferRelativeResize="0"/>
          <p:nvPr/>
        </p:nvPicPr>
        <p:blipFill>
          <a:blip r:embed="rId3">
            <a:alphaModFix/>
          </a:blip>
          <a:stretch>
            <a:fillRect/>
          </a:stretch>
        </p:blipFill>
        <p:spPr>
          <a:xfrm>
            <a:off x="840900" y="1382825"/>
            <a:ext cx="7543800" cy="866775"/>
          </a:xfrm>
          <a:prstGeom prst="rect">
            <a:avLst/>
          </a:prstGeom>
          <a:noFill/>
          <a:ln w="9525" cap="flat" cmpd="sng">
            <a:solidFill>
              <a:schemeClr val="dk2"/>
            </a:solidFill>
            <a:prstDash val="solid"/>
            <a:round/>
            <a:headEnd type="none" w="sm" len="sm"/>
            <a:tailEnd type="none" w="sm" len="sm"/>
          </a:ln>
        </p:spPr>
      </p:pic>
      <p:pic>
        <p:nvPicPr>
          <p:cNvPr id="343" name="Google Shape;343;p49"/>
          <p:cNvPicPr preferRelativeResize="0"/>
          <p:nvPr/>
        </p:nvPicPr>
        <p:blipFill>
          <a:blip r:embed="rId4">
            <a:alphaModFix/>
          </a:blip>
          <a:stretch>
            <a:fillRect/>
          </a:stretch>
        </p:blipFill>
        <p:spPr>
          <a:xfrm>
            <a:off x="840900" y="2564000"/>
            <a:ext cx="5534025" cy="704850"/>
          </a:xfrm>
          <a:prstGeom prst="rect">
            <a:avLst/>
          </a:prstGeom>
          <a:noFill/>
          <a:ln w="9525" cap="flat" cmpd="sng">
            <a:solidFill>
              <a:schemeClr val="dk2"/>
            </a:solidFill>
            <a:prstDash val="solid"/>
            <a:round/>
            <a:headEnd type="none" w="sm" len="sm"/>
            <a:tailEnd type="none" w="sm" len="sm"/>
          </a:ln>
        </p:spPr>
      </p:pic>
      <p:pic>
        <p:nvPicPr>
          <p:cNvPr id="344" name="Google Shape;344;p49"/>
          <p:cNvPicPr preferRelativeResize="0"/>
          <p:nvPr/>
        </p:nvPicPr>
        <p:blipFill>
          <a:blip r:embed="rId5">
            <a:alphaModFix/>
          </a:blip>
          <a:stretch>
            <a:fillRect/>
          </a:stretch>
        </p:blipFill>
        <p:spPr>
          <a:xfrm>
            <a:off x="831375" y="3712850"/>
            <a:ext cx="5553075" cy="80962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Italic and Weighted Font </a:t>
            </a:r>
            <a:endParaRPr/>
          </a:p>
          <a:p>
            <a:pPr marL="0" lvl="0" indent="0" algn="l" rtl="0">
              <a:spcBef>
                <a:spcPts val="0"/>
              </a:spcBef>
              <a:spcAft>
                <a:spcPts val="0"/>
              </a:spcAft>
              <a:buNone/>
            </a:pPr>
            <a:endParaRPr/>
          </a:p>
        </p:txBody>
      </p:sp>
      <p:sp>
        <p:nvSpPr>
          <p:cNvPr id="350" name="Google Shape;350;p5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351" name="Google Shape;351;p50"/>
          <p:cNvPicPr preferRelativeResize="0"/>
          <p:nvPr/>
        </p:nvPicPr>
        <p:blipFill>
          <a:blip r:embed="rId3">
            <a:alphaModFix/>
          </a:blip>
          <a:stretch>
            <a:fillRect/>
          </a:stretch>
        </p:blipFill>
        <p:spPr>
          <a:xfrm>
            <a:off x="617650" y="3407825"/>
            <a:ext cx="5429250" cy="819150"/>
          </a:xfrm>
          <a:prstGeom prst="rect">
            <a:avLst/>
          </a:prstGeom>
          <a:noFill/>
          <a:ln w="9525" cap="flat" cmpd="sng">
            <a:solidFill>
              <a:srgbClr val="FF9900"/>
            </a:solidFill>
            <a:prstDash val="solid"/>
            <a:round/>
            <a:headEnd type="none" w="sm" len="sm"/>
            <a:tailEnd type="none" w="sm" len="sm"/>
          </a:ln>
        </p:spPr>
      </p:pic>
      <p:pic>
        <p:nvPicPr>
          <p:cNvPr id="352" name="Google Shape;352;p50"/>
          <p:cNvPicPr preferRelativeResize="0"/>
          <p:nvPr/>
        </p:nvPicPr>
        <p:blipFill>
          <a:blip r:embed="rId4">
            <a:alphaModFix/>
          </a:blip>
          <a:stretch>
            <a:fillRect/>
          </a:stretch>
        </p:blipFill>
        <p:spPr>
          <a:xfrm>
            <a:off x="617660" y="1268450"/>
            <a:ext cx="8002465" cy="819150"/>
          </a:xfrm>
          <a:prstGeom prst="rect">
            <a:avLst/>
          </a:prstGeom>
          <a:noFill/>
          <a:ln w="9525" cap="flat" cmpd="sng">
            <a:solidFill>
              <a:schemeClr val="dk2"/>
            </a:solidFill>
            <a:prstDash val="solid"/>
            <a:round/>
            <a:headEnd type="none" w="sm" len="sm"/>
            <a:tailEnd type="none" w="sm" len="sm"/>
          </a:ln>
        </p:spPr>
      </p:pic>
      <p:pic>
        <p:nvPicPr>
          <p:cNvPr id="353" name="Google Shape;353;p50"/>
          <p:cNvPicPr preferRelativeResize="0"/>
          <p:nvPr/>
        </p:nvPicPr>
        <p:blipFill>
          <a:blip r:embed="rId5">
            <a:alphaModFix/>
          </a:blip>
          <a:stretch>
            <a:fillRect/>
          </a:stretch>
        </p:blipFill>
        <p:spPr>
          <a:xfrm>
            <a:off x="617650" y="2377700"/>
            <a:ext cx="6477000" cy="6858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Font Width</a:t>
            </a:r>
            <a:endParaRPr/>
          </a:p>
          <a:p>
            <a:pPr marL="0" lvl="0" indent="0" algn="l" rtl="0">
              <a:spcBef>
                <a:spcPts val="0"/>
              </a:spcBef>
              <a:spcAft>
                <a:spcPts val="0"/>
              </a:spcAft>
              <a:buNone/>
            </a:pPr>
            <a:endParaRPr/>
          </a:p>
        </p:txBody>
      </p:sp>
      <p:sp>
        <p:nvSpPr>
          <p:cNvPr id="359" name="Google Shape;359;p5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pic>
        <p:nvPicPr>
          <p:cNvPr id="360" name="Google Shape;360;p51"/>
          <p:cNvPicPr preferRelativeResize="0"/>
          <p:nvPr/>
        </p:nvPicPr>
        <p:blipFill>
          <a:blip r:embed="rId3">
            <a:alphaModFix/>
          </a:blip>
          <a:stretch>
            <a:fillRect/>
          </a:stretch>
        </p:blipFill>
        <p:spPr>
          <a:xfrm>
            <a:off x="832800" y="1253225"/>
            <a:ext cx="7296150" cy="819150"/>
          </a:xfrm>
          <a:prstGeom prst="rect">
            <a:avLst/>
          </a:prstGeom>
          <a:noFill/>
          <a:ln w="9525" cap="flat" cmpd="sng">
            <a:solidFill>
              <a:schemeClr val="dk2"/>
            </a:solidFill>
            <a:prstDash val="solid"/>
            <a:round/>
            <a:headEnd type="none" w="sm" len="sm"/>
            <a:tailEnd type="none" w="sm" len="sm"/>
          </a:ln>
        </p:spPr>
      </p:pic>
      <p:pic>
        <p:nvPicPr>
          <p:cNvPr id="361" name="Google Shape;361;p51"/>
          <p:cNvPicPr preferRelativeResize="0"/>
          <p:nvPr/>
        </p:nvPicPr>
        <p:blipFill>
          <a:blip r:embed="rId4">
            <a:alphaModFix/>
          </a:blip>
          <a:stretch>
            <a:fillRect/>
          </a:stretch>
        </p:blipFill>
        <p:spPr>
          <a:xfrm>
            <a:off x="832800" y="2402975"/>
            <a:ext cx="5200650" cy="752475"/>
          </a:xfrm>
          <a:prstGeom prst="rect">
            <a:avLst/>
          </a:prstGeom>
          <a:noFill/>
          <a:ln w="9525" cap="flat" cmpd="sng">
            <a:solidFill>
              <a:schemeClr val="dk2"/>
            </a:solidFill>
            <a:prstDash val="solid"/>
            <a:round/>
            <a:headEnd type="none" w="sm" len="sm"/>
            <a:tailEnd type="none" w="sm" len="sm"/>
          </a:ln>
        </p:spPr>
      </p:pic>
      <p:pic>
        <p:nvPicPr>
          <p:cNvPr id="362" name="Google Shape;362;p51"/>
          <p:cNvPicPr preferRelativeResize="0"/>
          <p:nvPr/>
        </p:nvPicPr>
        <p:blipFill>
          <a:blip r:embed="rId5">
            <a:alphaModFix/>
          </a:blip>
          <a:stretch>
            <a:fillRect/>
          </a:stretch>
        </p:blipFill>
        <p:spPr>
          <a:xfrm>
            <a:off x="832800" y="3639950"/>
            <a:ext cx="8010525" cy="88582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System Font</a:t>
            </a:r>
            <a:endParaRPr/>
          </a:p>
          <a:p>
            <a:pPr marL="0" lvl="0" indent="0" algn="l" rtl="0">
              <a:spcBef>
                <a:spcPts val="0"/>
              </a:spcBef>
              <a:spcAft>
                <a:spcPts val="0"/>
              </a:spcAft>
              <a:buNone/>
            </a:pPr>
            <a:endParaRPr/>
          </a:p>
        </p:txBody>
      </p:sp>
      <p:sp>
        <p:nvSpPr>
          <p:cNvPr id="368" name="Google Shape;368;p5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pic>
        <p:nvPicPr>
          <p:cNvPr id="369" name="Google Shape;369;p52"/>
          <p:cNvPicPr preferRelativeResize="0"/>
          <p:nvPr/>
        </p:nvPicPr>
        <p:blipFill>
          <a:blip r:embed="rId3">
            <a:alphaModFix/>
          </a:blip>
          <a:stretch>
            <a:fillRect/>
          </a:stretch>
        </p:blipFill>
        <p:spPr>
          <a:xfrm>
            <a:off x="857100" y="3660050"/>
            <a:ext cx="5572125" cy="1028700"/>
          </a:xfrm>
          <a:prstGeom prst="rect">
            <a:avLst/>
          </a:prstGeom>
          <a:noFill/>
          <a:ln w="9525" cap="flat" cmpd="sng">
            <a:solidFill>
              <a:srgbClr val="FF9900"/>
            </a:solidFill>
            <a:prstDash val="solid"/>
            <a:round/>
            <a:headEnd type="none" w="sm" len="sm"/>
            <a:tailEnd type="none" w="sm" len="sm"/>
          </a:ln>
        </p:spPr>
      </p:pic>
      <p:pic>
        <p:nvPicPr>
          <p:cNvPr id="370" name="Google Shape;370;p52"/>
          <p:cNvPicPr preferRelativeResize="0"/>
          <p:nvPr/>
        </p:nvPicPr>
        <p:blipFill>
          <a:blip r:embed="rId4">
            <a:alphaModFix/>
          </a:blip>
          <a:stretch>
            <a:fillRect/>
          </a:stretch>
        </p:blipFill>
        <p:spPr>
          <a:xfrm>
            <a:off x="152400" y="2411525"/>
            <a:ext cx="8448675" cy="638175"/>
          </a:xfrm>
          <a:prstGeom prst="rect">
            <a:avLst/>
          </a:prstGeom>
          <a:noFill/>
          <a:ln w="9525" cap="flat" cmpd="sng">
            <a:solidFill>
              <a:schemeClr val="dk2"/>
            </a:solidFill>
            <a:prstDash val="solid"/>
            <a:round/>
            <a:headEnd type="none" w="sm" len="sm"/>
            <a:tailEnd type="none" w="sm" len="sm"/>
          </a:ln>
        </p:spPr>
      </p:pic>
      <p:pic>
        <p:nvPicPr>
          <p:cNvPr id="371" name="Google Shape;371;p52"/>
          <p:cNvPicPr preferRelativeResize="0"/>
          <p:nvPr/>
        </p:nvPicPr>
        <p:blipFill>
          <a:blip r:embed="rId5">
            <a:alphaModFix/>
          </a:blip>
          <a:stretch>
            <a:fillRect/>
          </a:stretch>
        </p:blipFill>
        <p:spPr>
          <a:xfrm>
            <a:off x="152400" y="1552925"/>
            <a:ext cx="8839200" cy="73860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System Font Keywords</a:t>
            </a:r>
            <a:endParaRPr/>
          </a:p>
          <a:p>
            <a:pPr marL="0" lvl="0" indent="0" algn="l" rtl="0">
              <a:spcBef>
                <a:spcPts val="0"/>
              </a:spcBef>
              <a:spcAft>
                <a:spcPts val="0"/>
              </a:spcAft>
              <a:buNone/>
            </a:pPr>
            <a:endParaRPr/>
          </a:p>
        </p:txBody>
      </p:sp>
      <p:sp>
        <p:nvSpPr>
          <p:cNvPr id="377" name="Google Shape;377;p5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pic>
        <p:nvPicPr>
          <p:cNvPr id="378" name="Google Shape;378;p53"/>
          <p:cNvPicPr preferRelativeResize="0"/>
          <p:nvPr/>
        </p:nvPicPr>
        <p:blipFill>
          <a:blip r:embed="rId3">
            <a:alphaModFix/>
          </a:blip>
          <a:stretch>
            <a:fillRect/>
          </a:stretch>
        </p:blipFill>
        <p:spPr>
          <a:xfrm>
            <a:off x="719400" y="1139825"/>
            <a:ext cx="2179553" cy="3770275"/>
          </a:xfrm>
          <a:prstGeom prst="rect">
            <a:avLst/>
          </a:prstGeom>
          <a:noFill/>
          <a:ln w="9525" cap="flat" cmpd="sng">
            <a:solidFill>
              <a:schemeClr val="dk2"/>
            </a:solidFill>
            <a:prstDash val="solid"/>
            <a:round/>
            <a:headEnd type="none" w="sm" len="sm"/>
            <a:tailEnd type="none" w="sm" len="sm"/>
          </a:ln>
        </p:spPr>
      </p:pic>
      <p:pic>
        <p:nvPicPr>
          <p:cNvPr id="379" name="Google Shape;379;p53"/>
          <p:cNvPicPr preferRelativeResize="0"/>
          <p:nvPr/>
        </p:nvPicPr>
        <p:blipFill>
          <a:blip r:embed="rId4">
            <a:alphaModFix/>
          </a:blip>
          <a:stretch>
            <a:fillRect/>
          </a:stretch>
        </p:blipFill>
        <p:spPr>
          <a:xfrm>
            <a:off x="3095828" y="1139825"/>
            <a:ext cx="5402184" cy="377027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Google Font</a:t>
            </a:r>
            <a:endParaRPr/>
          </a:p>
          <a:p>
            <a:pPr marL="0" lvl="0" indent="0" algn="l" rtl="0">
              <a:spcBef>
                <a:spcPts val="0"/>
              </a:spcBef>
              <a:spcAft>
                <a:spcPts val="0"/>
              </a:spcAft>
              <a:buNone/>
            </a:pPr>
            <a:endParaRPr/>
          </a:p>
        </p:txBody>
      </p:sp>
      <p:sp>
        <p:nvSpPr>
          <p:cNvPr id="385" name="Google Shape;385;p5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pic>
        <p:nvPicPr>
          <p:cNvPr id="386" name="Google Shape;386;p54"/>
          <p:cNvPicPr preferRelativeResize="0"/>
          <p:nvPr/>
        </p:nvPicPr>
        <p:blipFill>
          <a:blip r:embed="rId3">
            <a:alphaModFix/>
          </a:blip>
          <a:stretch>
            <a:fillRect/>
          </a:stretch>
        </p:blipFill>
        <p:spPr>
          <a:xfrm>
            <a:off x="311700" y="1237025"/>
            <a:ext cx="5753100" cy="257175"/>
          </a:xfrm>
          <a:prstGeom prst="rect">
            <a:avLst/>
          </a:prstGeom>
          <a:noFill/>
          <a:ln w="9525" cap="flat" cmpd="sng">
            <a:solidFill>
              <a:schemeClr val="dk2"/>
            </a:solidFill>
            <a:prstDash val="solid"/>
            <a:round/>
            <a:headEnd type="none" w="sm" len="sm"/>
            <a:tailEnd type="none" w="sm" len="sm"/>
          </a:ln>
        </p:spPr>
      </p:pic>
      <p:pic>
        <p:nvPicPr>
          <p:cNvPr id="387" name="Google Shape;387;p54"/>
          <p:cNvPicPr preferRelativeResize="0"/>
          <p:nvPr/>
        </p:nvPicPr>
        <p:blipFill>
          <a:blip r:embed="rId4">
            <a:alphaModFix/>
          </a:blip>
          <a:stretch>
            <a:fillRect/>
          </a:stretch>
        </p:blipFill>
        <p:spPr>
          <a:xfrm>
            <a:off x="311700" y="2220288"/>
            <a:ext cx="3006600" cy="2590725"/>
          </a:xfrm>
          <a:prstGeom prst="rect">
            <a:avLst/>
          </a:prstGeom>
          <a:noFill/>
          <a:ln w="9525" cap="flat" cmpd="sng">
            <a:solidFill>
              <a:schemeClr val="dk2"/>
            </a:solidFill>
            <a:prstDash val="solid"/>
            <a:round/>
            <a:headEnd type="none" w="sm" len="sm"/>
            <a:tailEnd type="none" w="sm" len="sm"/>
          </a:ln>
        </p:spPr>
      </p:pic>
      <p:pic>
        <p:nvPicPr>
          <p:cNvPr id="388" name="Google Shape;388;p54"/>
          <p:cNvPicPr preferRelativeResize="0"/>
          <p:nvPr/>
        </p:nvPicPr>
        <p:blipFill rotWithShape="1">
          <a:blip r:embed="rId5">
            <a:alphaModFix/>
          </a:blip>
          <a:srcRect r="22076"/>
          <a:stretch/>
        </p:blipFill>
        <p:spPr>
          <a:xfrm>
            <a:off x="3985200" y="2364500"/>
            <a:ext cx="4374001" cy="1540900"/>
          </a:xfrm>
          <a:prstGeom prst="rect">
            <a:avLst/>
          </a:prstGeom>
          <a:noFill/>
          <a:ln w="9525" cap="flat" cmpd="sng">
            <a:solidFill>
              <a:srgbClr val="FF9900"/>
            </a:solidFill>
            <a:prstDash val="solid"/>
            <a:round/>
            <a:headEnd type="none" w="sm" len="sm"/>
            <a:tailEnd type="none" w="sm" len="sm"/>
          </a:ln>
        </p:spPr>
      </p:pic>
      <p:pic>
        <p:nvPicPr>
          <p:cNvPr id="389" name="Google Shape;389;p54"/>
          <p:cNvPicPr preferRelativeResize="0"/>
          <p:nvPr/>
        </p:nvPicPr>
        <p:blipFill>
          <a:blip r:embed="rId6">
            <a:alphaModFix/>
          </a:blip>
          <a:stretch>
            <a:fillRect/>
          </a:stretch>
        </p:blipFill>
        <p:spPr>
          <a:xfrm>
            <a:off x="311700" y="1578000"/>
            <a:ext cx="8659873" cy="3936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Web Font</a:t>
            </a:r>
            <a:endParaRPr/>
          </a:p>
          <a:p>
            <a:pPr marL="0" lvl="0" indent="0" algn="l" rtl="0">
              <a:spcBef>
                <a:spcPts val="0"/>
              </a:spcBef>
              <a:spcAft>
                <a:spcPts val="0"/>
              </a:spcAft>
              <a:buNone/>
            </a:pPr>
            <a:endParaRPr/>
          </a:p>
        </p:txBody>
      </p:sp>
      <p:sp>
        <p:nvSpPr>
          <p:cNvPr id="395" name="Google Shape;395;p5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pic>
        <p:nvPicPr>
          <p:cNvPr id="396" name="Google Shape;396;p55"/>
          <p:cNvPicPr preferRelativeResize="0"/>
          <p:nvPr/>
        </p:nvPicPr>
        <p:blipFill>
          <a:blip r:embed="rId3">
            <a:alphaModFix/>
          </a:blip>
          <a:stretch>
            <a:fillRect/>
          </a:stretch>
        </p:blipFill>
        <p:spPr>
          <a:xfrm>
            <a:off x="897600" y="1285625"/>
            <a:ext cx="5543550" cy="180975"/>
          </a:xfrm>
          <a:prstGeom prst="rect">
            <a:avLst/>
          </a:prstGeom>
          <a:noFill/>
          <a:ln w="9525" cap="flat" cmpd="sng">
            <a:solidFill>
              <a:schemeClr val="dk2"/>
            </a:solidFill>
            <a:prstDash val="solid"/>
            <a:round/>
            <a:headEnd type="none" w="sm" len="sm"/>
            <a:tailEnd type="none" w="sm" len="sm"/>
          </a:ln>
        </p:spPr>
      </p:pic>
      <p:pic>
        <p:nvPicPr>
          <p:cNvPr id="397" name="Google Shape;397;p55"/>
          <p:cNvPicPr preferRelativeResize="0"/>
          <p:nvPr/>
        </p:nvPicPr>
        <p:blipFill>
          <a:blip r:embed="rId4">
            <a:alphaModFix/>
          </a:blip>
          <a:stretch>
            <a:fillRect/>
          </a:stretch>
        </p:blipFill>
        <p:spPr>
          <a:xfrm>
            <a:off x="897600" y="1602800"/>
            <a:ext cx="7987201" cy="1324750"/>
          </a:xfrm>
          <a:prstGeom prst="rect">
            <a:avLst/>
          </a:prstGeom>
          <a:noFill/>
          <a:ln w="9525" cap="flat" cmpd="sng">
            <a:solidFill>
              <a:schemeClr val="dk2"/>
            </a:solidFill>
            <a:prstDash val="solid"/>
            <a:round/>
            <a:headEnd type="none" w="sm" len="sm"/>
            <a:tailEnd type="none" w="sm" len="sm"/>
          </a:ln>
        </p:spPr>
      </p:pic>
      <p:pic>
        <p:nvPicPr>
          <p:cNvPr id="398" name="Google Shape;398;p55"/>
          <p:cNvPicPr preferRelativeResize="0"/>
          <p:nvPr/>
        </p:nvPicPr>
        <p:blipFill>
          <a:blip r:embed="rId5">
            <a:alphaModFix/>
          </a:blip>
          <a:stretch>
            <a:fillRect/>
          </a:stretch>
        </p:blipFill>
        <p:spPr>
          <a:xfrm>
            <a:off x="897600" y="3274350"/>
            <a:ext cx="4038600" cy="8191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Textual Property ─ Opacity</a:t>
            </a:r>
            <a:endParaRPr/>
          </a:p>
        </p:txBody>
      </p:sp>
      <p:sp>
        <p:nvSpPr>
          <p:cNvPr id="404" name="Google Shape;404;p5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44</a:t>
            </a:fld>
            <a:endParaRPr>
              <a:solidFill>
                <a:schemeClr val="lt2"/>
              </a:solidFill>
            </a:endParaRPr>
          </a:p>
        </p:txBody>
      </p:sp>
      <p:sp>
        <p:nvSpPr>
          <p:cNvPr id="405" name="Google Shape;405;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opacity CSS property sets the opacity of an element. Opacity is the degree to which content behind an element is hidden, and is the opposite of transparency.</a:t>
            </a:r>
            <a:endParaRPr/>
          </a:p>
          <a:p>
            <a:pPr marL="457200" lvl="0" indent="-342900" algn="l" rtl="0">
              <a:spcBef>
                <a:spcPts val="0"/>
              </a:spcBef>
              <a:spcAft>
                <a:spcPts val="0"/>
              </a:spcAft>
              <a:buSzPts val="1800"/>
              <a:buChar char="●"/>
            </a:pPr>
            <a:r>
              <a:rPr lang="en"/>
              <a:t>A &lt;number&gt; in the range 0.0 to 1.0, inclusive, or a &lt;percentage&gt; in the range 0% to 100%, inclusive, representing the opacity of the channel (that is, the value of its alpha channel). Any value outside the interval, though valid, is clamped to the nearest limit in the range.</a:t>
            </a:r>
            <a:endParaRPr/>
          </a:p>
          <a:p>
            <a:pPr marL="457200" lvl="0" indent="-342900" algn="l" rtl="0">
              <a:spcBef>
                <a:spcPts val="0"/>
              </a:spcBef>
              <a:spcAft>
                <a:spcPts val="0"/>
              </a:spcAft>
              <a:buSzPts val="1800"/>
              <a:buChar char="●"/>
            </a:pPr>
            <a:r>
              <a:rPr lang="en"/>
              <a:t>Check examples at </a:t>
            </a:r>
            <a:r>
              <a:rPr lang="en" u="sng">
                <a:solidFill>
                  <a:schemeClr val="hlink"/>
                </a:solidFill>
                <a:hlinkClick r:id="rId3"/>
              </a:rPr>
              <a:t>https://developer.mozilla.org/en-US/docs/Web/CSS/Reference/Properties/opacity</a:t>
            </a:r>
            <a:r>
              <a:rPr lang="en"/>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t>Property ─ Background Appearance</a:t>
            </a:r>
            <a:endParaRPr sz="3200" dirty="0"/>
          </a:p>
        </p:txBody>
      </p:sp>
      <p:sp>
        <p:nvSpPr>
          <p:cNvPr id="411" name="Google Shape;411;p5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45</a:t>
            </a:fld>
            <a:endParaRPr>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 Properties ─ background-color</a:t>
            </a:r>
            <a:endParaRPr/>
          </a:p>
        </p:txBody>
      </p:sp>
      <p:sp>
        <p:nvSpPr>
          <p:cNvPr id="417" name="Google Shape;417;p5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46</a:t>
            </a:fld>
            <a:endParaRPr>
              <a:solidFill>
                <a:schemeClr val="lt2"/>
              </a:solidFill>
            </a:endParaRPr>
          </a:p>
        </p:txBody>
      </p:sp>
      <p:sp>
        <p:nvSpPr>
          <p:cNvPr id="418" name="Google Shape;418;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Specifies a single &lt;color&gt; value.</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https://developer.mozilla.org/en-US/docs/Web/CSS/Reference/Values/color_value</a:t>
            </a:r>
            <a:r>
              <a:rPr lang="en"/>
              <a:t> </a:t>
            </a:r>
            <a:endParaRPr/>
          </a:p>
          <a:p>
            <a:pPr marL="457200" lvl="0" indent="-342900" algn="l" rtl="0">
              <a:spcBef>
                <a:spcPts val="0"/>
              </a:spcBef>
              <a:spcAft>
                <a:spcPts val="0"/>
              </a:spcAft>
              <a:buSzPts val="1800"/>
              <a:buChar char="●"/>
            </a:pPr>
            <a:r>
              <a:rPr lang="en"/>
              <a:t>It is rendered behind any background-image that is specified.</a:t>
            </a:r>
            <a:endParaRPr/>
          </a:p>
        </p:txBody>
      </p:sp>
      <p:pic>
        <p:nvPicPr>
          <p:cNvPr id="419" name="Google Shape;419;p58"/>
          <p:cNvPicPr preferRelativeResize="0"/>
          <p:nvPr/>
        </p:nvPicPr>
        <p:blipFill>
          <a:blip r:embed="rId4">
            <a:alphaModFix/>
          </a:blip>
          <a:stretch>
            <a:fillRect/>
          </a:stretch>
        </p:blipFill>
        <p:spPr>
          <a:xfrm>
            <a:off x="1314350" y="2228400"/>
            <a:ext cx="3960600" cy="26800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 Properties ─ background-image</a:t>
            </a:r>
            <a:endParaRPr/>
          </a:p>
        </p:txBody>
      </p:sp>
      <p:sp>
        <p:nvSpPr>
          <p:cNvPr id="425" name="Google Shape;425;p5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47</a:t>
            </a:fld>
            <a:endParaRPr>
              <a:solidFill>
                <a:schemeClr val="lt2"/>
              </a:solidFill>
            </a:endParaRPr>
          </a:p>
        </p:txBody>
      </p:sp>
      <p:sp>
        <p:nvSpPr>
          <p:cNvPr id="426" name="Google Shape;426;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Each background image is specified either as the keyword none or as an &lt;image&gt; value.</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https://developer.mozilla.org/en-US/docs/Web/CSS/Reference/Values/image</a:t>
            </a:r>
            <a:r>
              <a:rPr lang="en"/>
              <a:t> </a:t>
            </a:r>
            <a:endParaRPr/>
          </a:p>
          <a:p>
            <a:pPr marL="1371600" lvl="2" indent="-317500" algn="l" rtl="0">
              <a:spcBef>
                <a:spcPts val="0"/>
              </a:spcBef>
              <a:spcAft>
                <a:spcPts val="0"/>
              </a:spcAft>
              <a:buSzPts val="1400"/>
              <a:buChar char="■"/>
            </a:pPr>
            <a:r>
              <a:rPr lang="en"/>
              <a:t>A &lt;gradient&gt; data type is a kind of &lt;image&gt; data type.</a:t>
            </a:r>
            <a:endParaRPr/>
          </a:p>
          <a:p>
            <a:pPr marL="914400" lvl="1" indent="-317500" algn="l" rtl="0">
              <a:spcBef>
                <a:spcPts val="0"/>
              </a:spcBef>
              <a:spcAft>
                <a:spcPts val="0"/>
              </a:spcAft>
              <a:buSzPts val="1400"/>
              <a:buChar char="○"/>
            </a:pPr>
            <a:r>
              <a:rPr lang="en"/>
              <a:t>Specifies the URL of the image, in the format url(file_location)</a:t>
            </a:r>
            <a:endParaRPr/>
          </a:p>
          <a:p>
            <a:pPr marL="457200" lvl="0" indent="-342900" algn="l" rtl="0">
              <a:spcBef>
                <a:spcPts val="0"/>
              </a:spcBef>
              <a:spcAft>
                <a:spcPts val="0"/>
              </a:spcAft>
              <a:buSzPts val="1800"/>
              <a:buChar char="●"/>
            </a:pPr>
            <a:r>
              <a:rPr lang="en"/>
              <a:t>To specify multiple background images, supply multiple values, separated by a comma.</a:t>
            </a:r>
            <a:endParaRPr/>
          </a:p>
          <a:p>
            <a:pPr marL="914400" lvl="1" indent="-317500" algn="l" rtl="0">
              <a:spcBef>
                <a:spcPts val="0"/>
              </a:spcBef>
              <a:spcAft>
                <a:spcPts val="0"/>
              </a:spcAft>
              <a:buSzPts val="1400"/>
              <a:buChar char="○"/>
            </a:pPr>
            <a:r>
              <a:rPr lang="en"/>
              <a:t>The first layer specified is drawn as if it is closest to the user.</a:t>
            </a:r>
            <a:endParaRPr/>
          </a:p>
          <a:p>
            <a:pPr marL="457200" lvl="0" indent="-342900" algn="l" rtl="0">
              <a:spcBef>
                <a:spcPts val="0"/>
              </a:spcBef>
              <a:spcAft>
                <a:spcPts val="0"/>
              </a:spcAft>
              <a:buSzPts val="1800"/>
              <a:buChar char="●"/>
            </a:pPr>
            <a:r>
              <a:rPr lang="en"/>
              <a:t>Check examples at </a:t>
            </a:r>
            <a:r>
              <a:rPr lang="en" u="sng">
                <a:solidFill>
                  <a:schemeClr val="hlink"/>
                </a:solidFill>
                <a:hlinkClick r:id="rId4"/>
              </a:rPr>
              <a:t>https://developer.mozilla.org/en-US/docs/Web/CSS/Reference/Properties/background-image</a:t>
            </a:r>
            <a:r>
              <a:rPr lang="en"/>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Background Properties ─ &lt;gradient&gt; data type</a:t>
            </a:r>
            <a:endParaRPr sz="2900"/>
          </a:p>
        </p:txBody>
      </p:sp>
      <p:sp>
        <p:nvSpPr>
          <p:cNvPr id="432" name="Google Shape;432;p6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48</a:t>
            </a:fld>
            <a:endParaRPr>
              <a:solidFill>
                <a:schemeClr val="lt2"/>
              </a:solidFill>
            </a:endParaRPr>
          </a:p>
        </p:txBody>
      </p:sp>
      <p:sp>
        <p:nvSpPr>
          <p:cNvPr id="433" name="Google Shape;433;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&lt;gradient&gt; data type is defined with one of the function types listed below.</a:t>
            </a:r>
            <a:endParaRPr/>
          </a:p>
          <a:p>
            <a:pPr marL="914400" lvl="1" indent="-317500" algn="l" rtl="0">
              <a:spcBef>
                <a:spcPts val="0"/>
              </a:spcBef>
              <a:spcAft>
                <a:spcPts val="0"/>
              </a:spcAft>
              <a:buSzPts val="1400"/>
              <a:buChar char="○"/>
            </a:pPr>
            <a:r>
              <a:rPr lang="en"/>
              <a:t>linear-gradient(), radial-gradient(), conic-gradient(), repeating-linear-gradient(), repeating-radial-gradient(), and repeating-conic-gradient().</a:t>
            </a:r>
            <a:endParaRPr/>
          </a:p>
          <a:p>
            <a:pPr marL="914400" lvl="1" indent="-317500" algn="l" rtl="0">
              <a:spcBef>
                <a:spcPts val="0"/>
              </a:spcBef>
              <a:spcAft>
                <a:spcPts val="0"/>
              </a:spcAft>
              <a:buSzPts val="1400"/>
              <a:buChar char="○"/>
            </a:pPr>
            <a:r>
              <a:rPr lang="en"/>
              <a:t>A CSS gradient has no intrinsic dimensions; i.e., it has no natural or preferred size, nor a preferred ratio. Its concrete size will match the size of the element to which it applies.</a:t>
            </a:r>
            <a:endParaRPr/>
          </a:p>
          <a:p>
            <a:pPr marL="457200" lvl="0" indent="-342900" algn="l" rtl="0">
              <a:spcBef>
                <a:spcPts val="0"/>
              </a:spcBef>
              <a:spcAft>
                <a:spcPts val="0"/>
              </a:spcAft>
              <a:buSzPts val="1800"/>
              <a:buChar char="●"/>
            </a:pPr>
            <a:r>
              <a:rPr lang="en"/>
              <a:t>Check examples at </a:t>
            </a:r>
            <a:r>
              <a:rPr lang="en" u="sng">
                <a:solidFill>
                  <a:schemeClr val="hlink"/>
                </a:solidFill>
                <a:hlinkClick r:id="rId3"/>
              </a:rPr>
              <a:t>https://developer.mozilla.org/en-US/docs/Web/CSS/Reference/Values/gradient</a:t>
            </a:r>
            <a:r>
              <a:rPr lang="en"/>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Background Properties ─ background-position</a:t>
            </a:r>
            <a:endParaRPr sz="2800" dirty="0"/>
          </a:p>
        </p:txBody>
      </p:sp>
      <p:sp>
        <p:nvSpPr>
          <p:cNvPr id="439" name="Google Shape;439;p6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440" name="Google Shape;440;p6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Places the image on the page top, bottom, center, left and right individually or in combination for vertical and horizontal positioning.</a:t>
            </a:r>
            <a:endParaRPr/>
          </a:p>
          <a:p>
            <a:pPr marL="914400" lvl="1" indent="-304800" algn="l" rtl="0">
              <a:spcBef>
                <a:spcPts val="0"/>
              </a:spcBef>
              <a:spcAft>
                <a:spcPts val="0"/>
              </a:spcAft>
              <a:buSzPts val="1200"/>
              <a:buChar char="○"/>
            </a:pPr>
            <a:r>
              <a:rPr lang="en"/>
              <a:t>background-position: top;</a:t>
            </a:r>
            <a:endParaRPr/>
          </a:p>
          <a:p>
            <a:pPr marL="914400" lvl="1" indent="-304800" algn="l" rtl="0">
              <a:spcBef>
                <a:spcPts val="0"/>
              </a:spcBef>
              <a:spcAft>
                <a:spcPts val="0"/>
              </a:spcAft>
              <a:buSzPts val="1200"/>
              <a:buChar char="○"/>
            </a:pPr>
            <a:r>
              <a:rPr lang="en"/>
              <a:t>background-position: bottom;</a:t>
            </a:r>
            <a:endParaRPr/>
          </a:p>
          <a:p>
            <a:pPr marL="914400" lvl="1" indent="-304800" algn="l" rtl="0">
              <a:spcBef>
                <a:spcPts val="0"/>
              </a:spcBef>
              <a:spcAft>
                <a:spcPts val="0"/>
              </a:spcAft>
              <a:buSzPts val="1200"/>
              <a:buChar char="○"/>
            </a:pPr>
            <a:r>
              <a:rPr lang="en"/>
              <a:t>background-position: left;</a:t>
            </a:r>
            <a:endParaRPr/>
          </a:p>
          <a:p>
            <a:pPr marL="914400" lvl="1" indent="-304800" algn="l" rtl="0">
              <a:spcBef>
                <a:spcPts val="0"/>
              </a:spcBef>
              <a:spcAft>
                <a:spcPts val="0"/>
              </a:spcAft>
              <a:buSzPts val="1200"/>
              <a:buChar char="○"/>
            </a:pPr>
            <a:r>
              <a:rPr lang="en"/>
              <a:t>background-position: right;</a:t>
            </a:r>
            <a:endParaRPr/>
          </a:p>
          <a:p>
            <a:pPr marL="914400" lvl="1" indent="-304800" algn="l" rtl="0">
              <a:spcBef>
                <a:spcPts val="0"/>
              </a:spcBef>
              <a:spcAft>
                <a:spcPts val="0"/>
              </a:spcAft>
              <a:buSzPts val="1200"/>
              <a:buChar char="○"/>
            </a:pPr>
            <a:r>
              <a:rPr lang="en"/>
              <a:t>background-position: center;</a:t>
            </a:r>
            <a:endParaRPr/>
          </a:p>
          <a:p>
            <a:pPr marL="457200" lvl="0" indent="-317500" algn="l" rtl="0">
              <a:spcBef>
                <a:spcPts val="0"/>
              </a:spcBef>
              <a:spcAft>
                <a:spcPts val="0"/>
              </a:spcAft>
              <a:buSzPts val="1400"/>
              <a:buChar char="●"/>
            </a:pPr>
            <a:r>
              <a:rPr lang="en"/>
              <a:t>You can also position by using lengths</a:t>
            </a:r>
            <a:endParaRPr/>
          </a:p>
          <a:p>
            <a:pPr marL="914400" lvl="1" indent="-304800" algn="l" rtl="0">
              <a:spcBef>
                <a:spcPts val="0"/>
              </a:spcBef>
              <a:spcAft>
                <a:spcPts val="0"/>
              </a:spcAft>
              <a:buSzPts val="1200"/>
              <a:buChar char="○"/>
            </a:pPr>
            <a:r>
              <a:rPr lang="en"/>
              <a:t>background-position: 0 0;</a:t>
            </a:r>
            <a:endParaRPr/>
          </a:p>
          <a:p>
            <a:pPr marL="914400" lvl="1" indent="-304800" algn="l" rtl="0">
              <a:spcBef>
                <a:spcPts val="0"/>
              </a:spcBef>
              <a:spcAft>
                <a:spcPts val="0"/>
              </a:spcAft>
              <a:buSzPts val="1200"/>
              <a:buChar char="○"/>
            </a:pPr>
            <a:r>
              <a:rPr lang="en"/>
              <a:t>background-position: 1cm 2cm;</a:t>
            </a:r>
            <a:endParaRPr/>
          </a:p>
          <a:p>
            <a:pPr marL="914400" lvl="1" indent="-304800" algn="l" rtl="0">
              <a:spcBef>
                <a:spcPts val="0"/>
              </a:spcBef>
              <a:spcAft>
                <a:spcPts val="0"/>
              </a:spcAft>
              <a:buSzPts val="1200"/>
              <a:buChar char="○"/>
            </a:pPr>
            <a:r>
              <a:rPr lang="en"/>
              <a:t>background-position: 10ch 8em;</a:t>
            </a:r>
            <a:endParaRPr/>
          </a:p>
        </p:txBody>
      </p:sp>
      <p:sp>
        <p:nvSpPr>
          <p:cNvPr id="441" name="Google Shape;441;p6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Multiple images</a:t>
            </a:r>
            <a:endParaRPr dirty="0"/>
          </a:p>
          <a:p>
            <a:pPr marL="914400" lvl="1" indent="-304800" algn="l" rtl="0">
              <a:spcBef>
                <a:spcPts val="0"/>
              </a:spcBef>
              <a:spcAft>
                <a:spcPts val="0"/>
              </a:spcAft>
              <a:buSzPts val="1200"/>
              <a:buChar char="○"/>
            </a:pPr>
            <a:r>
              <a:rPr lang="en" dirty="0"/>
              <a:t>background-position:  0 0, center;</a:t>
            </a:r>
            <a:endParaRPr dirty="0"/>
          </a:p>
          <a:p>
            <a:pPr marL="457200" lvl="0" indent="-317500" algn="l" rtl="0">
              <a:spcBef>
                <a:spcPts val="0"/>
              </a:spcBef>
              <a:spcAft>
                <a:spcPts val="0"/>
              </a:spcAft>
              <a:buSzPts val="1400"/>
              <a:buChar char="●"/>
            </a:pPr>
            <a:r>
              <a:rPr lang="en" dirty="0"/>
              <a:t>Edge offsets values</a:t>
            </a:r>
            <a:endParaRPr dirty="0"/>
          </a:p>
          <a:p>
            <a:pPr marL="914400" lvl="1" indent="-304800" algn="l" rtl="0">
              <a:spcBef>
                <a:spcPts val="0"/>
              </a:spcBef>
              <a:spcAft>
                <a:spcPts val="0"/>
              </a:spcAft>
              <a:buSzPts val="1200"/>
              <a:buChar char="○"/>
            </a:pPr>
            <a:r>
              <a:rPr lang="en" dirty="0"/>
              <a:t>background-position: bottom 10px right 20px;</a:t>
            </a:r>
            <a:endParaRPr dirty="0"/>
          </a:p>
          <a:p>
            <a:pPr marL="914400" lvl="1" indent="-304800" algn="l" rtl="0">
              <a:spcBef>
                <a:spcPts val="0"/>
              </a:spcBef>
              <a:spcAft>
                <a:spcPts val="0"/>
              </a:spcAft>
              <a:buSzPts val="1200"/>
              <a:buChar char="○"/>
            </a:pPr>
            <a:r>
              <a:rPr lang="en" dirty="0"/>
              <a:t>background-position: right 3em bottom 10px;</a:t>
            </a:r>
            <a:endParaRPr dirty="0"/>
          </a:p>
          <a:p>
            <a:pPr marL="914400" lvl="1" indent="-304800" algn="l" rtl="0">
              <a:spcBef>
                <a:spcPts val="0"/>
              </a:spcBef>
              <a:spcAft>
                <a:spcPts val="0"/>
              </a:spcAft>
              <a:buSzPts val="1200"/>
              <a:buChar char="○"/>
            </a:pPr>
            <a:r>
              <a:rPr lang="en" dirty="0"/>
              <a:t>background-position: bottom 10px right;</a:t>
            </a:r>
            <a:endParaRPr dirty="0"/>
          </a:p>
          <a:p>
            <a:pPr marL="914400" lvl="1" indent="-304800" algn="l" rtl="0">
              <a:spcBef>
                <a:spcPts val="0"/>
              </a:spcBef>
              <a:spcAft>
                <a:spcPts val="0"/>
              </a:spcAft>
              <a:buSzPts val="1200"/>
              <a:buChar char="○"/>
            </a:pPr>
            <a:r>
              <a:rPr lang="en" dirty="0"/>
              <a:t>background-position: top right 10px;</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Background Properties ─ background-repeat</a:t>
            </a:r>
            <a:endParaRPr sz="2900"/>
          </a:p>
        </p:txBody>
      </p:sp>
      <p:sp>
        <p:nvSpPr>
          <p:cNvPr id="447" name="Google Shape;447;p6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448" name="Google Shape;448;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Controls the tiling of the background image.</a:t>
            </a:r>
            <a:endParaRPr/>
          </a:p>
          <a:p>
            <a:pPr marL="457200" lvl="0" indent="-342900" algn="l" rtl="0">
              <a:spcBef>
                <a:spcPts val="0"/>
              </a:spcBef>
              <a:spcAft>
                <a:spcPts val="0"/>
              </a:spcAft>
              <a:buSzPts val="1800"/>
              <a:buChar char="●"/>
            </a:pPr>
            <a:r>
              <a:rPr lang="en"/>
              <a:t>no-repeat: displays one copy of the background image on screen</a:t>
            </a:r>
            <a:endParaRPr/>
          </a:p>
          <a:p>
            <a:pPr marL="457200" lvl="0" indent="-342900" algn="l" rtl="0">
              <a:spcBef>
                <a:spcPts val="0"/>
              </a:spcBef>
              <a:spcAft>
                <a:spcPts val="0"/>
              </a:spcAft>
              <a:buSzPts val="1800"/>
              <a:buChar char="●"/>
            </a:pPr>
            <a:r>
              <a:rPr lang="en"/>
              <a:t>repeat (the default): tiles the image vertically and horizontally</a:t>
            </a:r>
            <a:endParaRPr/>
          </a:p>
          <a:p>
            <a:pPr marL="457200" lvl="0" indent="-342900" algn="l" rtl="0">
              <a:spcBef>
                <a:spcPts val="0"/>
              </a:spcBef>
              <a:spcAft>
                <a:spcPts val="0"/>
              </a:spcAft>
              <a:buSzPts val="1800"/>
              <a:buChar char="●"/>
            </a:pPr>
            <a:r>
              <a:rPr lang="en"/>
              <a:t>repeat-x: tiles the image only horizontally</a:t>
            </a:r>
            <a:endParaRPr/>
          </a:p>
          <a:p>
            <a:pPr marL="457200" lvl="0" indent="-342900" algn="l" rtl="0">
              <a:spcBef>
                <a:spcPts val="0"/>
              </a:spcBef>
              <a:spcAft>
                <a:spcPts val="0"/>
              </a:spcAft>
              <a:buSzPts val="1800"/>
              <a:buChar char="●"/>
            </a:pPr>
            <a:r>
              <a:rPr lang="en"/>
              <a:t>repeat-y: tile the image only vertically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Background Properties ─ background-attachment</a:t>
            </a:r>
            <a:endParaRPr sz="2400" dirty="0"/>
          </a:p>
        </p:txBody>
      </p:sp>
      <p:sp>
        <p:nvSpPr>
          <p:cNvPr id="454" name="Google Shape;454;p6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455" name="Google Shape;455;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Sets whether a background image is fixed or scrolls with the rest of the page</a:t>
            </a:r>
            <a:endParaRPr/>
          </a:p>
          <a:p>
            <a:pPr marL="457200" lvl="0" indent="-342900" algn="l" rtl="0">
              <a:spcBef>
                <a:spcPts val="0"/>
              </a:spcBef>
              <a:spcAft>
                <a:spcPts val="0"/>
              </a:spcAft>
              <a:buSzPts val="1800"/>
              <a:buChar char="●"/>
            </a:pPr>
            <a:r>
              <a:rPr lang="en"/>
              <a:t>Scroll (default)</a:t>
            </a:r>
            <a:endParaRPr/>
          </a:p>
          <a:p>
            <a:pPr marL="914400" lvl="1" indent="-317500" algn="l" rtl="0">
              <a:spcBef>
                <a:spcPts val="0"/>
              </a:spcBef>
              <a:spcAft>
                <a:spcPts val="0"/>
              </a:spcAft>
              <a:buSzPts val="1400"/>
              <a:buChar char="○"/>
            </a:pPr>
            <a:r>
              <a:rPr lang="en"/>
              <a:t>Scrolling the browser window will not move the image from its set position.</a:t>
            </a:r>
            <a:endParaRPr/>
          </a:p>
          <a:p>
            <a:pPr marL="457200" lvl="0" indent="-342900" algn="l" rtl="0">
              <a:spcBef>
                <a:spcPts val="0"/>
              </a:spcBef>
              <a:spcAft>
                <a:spcPts val="0"/>
              </a:spcAft>
              <a:buSzPts val="1800"/>
              <a:buChar char="●"/>
            </a:pPr>
            <a:r>
              <a:rPr lang="en"/>
              <a:t>Fixed</a:t>
            </a:r>
            <a:endParaRPr/>
          </a:p>
          <a:p>
            <a:pPr marL="914400" lvl="1" indent="-317500" algn="l" rtl="0">
              <a:spcBef>
                <a:spcPts val="0"/>
              </a:spcBef>
              <a:spcAft>
                <a:spcPts val="0"/>
              </a:spcAft>
              <a:buSzPts val="1400"/>
              <a:buChar char="○"/>
            </a:pPr>
            <a:r>
              <a:rPr lang="en"/>
              <a:t>Fixes the image in the position specified by background-position.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Masking Practices</a:t>
            </a:r>
            <a:endParaRPr/>
          </a:p>
          <a:p>
            <a:pPr marL="0" lvl="0" indent="0" algn="l" rtl="0">
              <a:spcBef>
                <a:spcPts val="0"/>
              </a:spcBef>
              <a:spcAft>
                <a:spcPts val="0"/>
              </a:spcAft>
              <a:buNone/>
            </a:pPr>
            <a:endParaRPr/>
          </a:p>
        </p:txBody>
      </p:sp>
      <p:sp>
        <p:nvSpPr>
          <p:cNvPr id="461" name="Google Shape;461;p6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462" name="Google Shape;462;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Play around CSS masking properties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https://developer.mozilla.org/en-US/docs/Web/CSS/Guides/Masking/Introduction</a:t>
            </a:r>
            <a:r>
              <a:rPr lang="en"/>
              <a:t>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5"/>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t>Box Model ─ Elements as Rectangles </a:t>
            </a:r>
            <a:endParaRPr sz="3200" dirty="0"/>
          </a:p>
        </p:txBody>
      </p:sp>
      <p:sp>
        <p:nvSpPr>
          <p:cNvPr id="468" name="Google Shape;468;p6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53</a:t>
            </a:fld>
            <a:endParaRPr>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6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Box Model and Text Flow</a:t>
            </a:r>
            <a:endParaRPr/>
          </a:p>
        </p:txBody>
      </p:sp>
      <p:sp>
        <p:nvSpPr>
          <p:cNvPr id="474" name="Google Shape;474;p6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54</a:t>
            </a:fld>
            <a:endParaRPr>
              <a:solidFill>
                <a:schemeClr val="lt2"/>
              </a:solidFill>
            </a:endParaRPr>
          </a:p>
        </p:txBody>
      </p:sp>
      <p:sp>
        <p:nvSpPr>
          <p:cNvPr id="475" name="Google Shape;475;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HTML elements have a virtual box drawn around them based on the box model. </a:t>
            </a:r>
            <a:endParaRPr dirty="0"/>
          </a:p>
          <a:p>
            <a:pPr marL="457200" lvl="0" indent="-342900" algn="l" rtl="0">
              <a:spcBef>
                <a:spcPts val="0"/>
              </a:spcBef>
              <a:spcAft>
                <a:spcPts val="0"/>
              </a:spcAft>
              <a:buSzPts val="1800"/>
              <a:buChar char="●"/>
            </a:pPr>
            <a:r>
              <a:rPr lang="en" dirty="0"/>
              <a:t>When the browser renders an element using the box model, the content is surrounded by padding, a margin and a border.</a:t>
            </a:r>
            <a:endParaRPr dirty="0"/>
          </a:p>
          <a:p>
            <a:pPr marL="457200" lvl="0" indent="-342900" algn="l" rtl="0">
              <a:spcBef>
                <a:spcPts val="0"/>
              </a:spcBef>
              <a:spcAft>
                <a:spcPts val="0"/>
              </a:spcAft>
              <a:buSzPts val="1800"/>
              <a:buChar char="●"/>
            </a:pPr>
            <a:r>
              <a:rPr lang="en" dirty="0"/>
              <a:t>Box width and height properties:</a:t>
            </a:r>
            <a:endParaRPr dirty="0"/>
          </a:p>
          <a:p>
            <a:pPr marL="914400" lvl="1" indent="-317500" algn="l" rtl="0">
              <a:spcBef>
                <a:spcPts val="0"/>
              </a:spcBef>
              <a:spcAft>
                <a:spcPts val="0"/>
              </a:spcAft>
              <a:buSzPts val="1400"/>
              <a:buChar char="○"/>
            </a:pPr>
            <a:r>
              <a:rPr lang="en" dirty="0"/>
              <a:t>Dimensions of elements on a page can be set with CSS by using properties height and width. </a:t>
            </a:r>
            <a:endParaRPr dirty="0"/>
          </a:p>
          <a:p>
            <a:pPr marL="914400" lvl="1" indent="-317500" algn="l" rtl="0">
              <a:spcBef>
                <a:spcPts val="0"/>
              </a:spcBef>
              <a:spcAft>
                <a:spcPts val="0"/>
              </a:spcAft>
              <a:buSzPts val="1400"/>
              <a:buChar char="○"/>
            </a:pPr>
            <a:r>
              <a:rPr lang="en" dirty="0"/>
              <a:t>Their values can be relative or absolute</a:t>
            </a:r>
            <a:endParaRPr dirty="0"/>
          </a:p>
          <a:p>
            <a:pPr marL="457200" lvl="0" indent="-342900" algn="l" rtl="0">
              <a:spcBef>
                <a:spcPts val="0"/>
              </a:spcBef>
              <a:spcAft>
                <a:spcPts val="0"/>
              </a:spcAft>
              <a:buSzPts val="1800"/>
              <a:buChar char="●"/>
            </a:pPr>
            <a:r>
              <a:rPr lang="en" dirty="0"/>
              <a:t>Content might sometimes exceed the set boundaries, in which case the element must be made large enough for all the content to fit.</a:t>
            </a:r>
            <a:endParaRPr dirty="0"/>
          </a:p>
          <a:p>
            <a:pPr marL="914400" lvl="1" indent="-317500" algn="l" rtl="0">
              <a:spcBef>
                <a:spcPts val="0"/>
              </a:spcBef>
              <a:spcAft>
                <a:spcPts val="0"/>
              </a:spcAft>
              <a:buSzPts val="1400"/>
              <a:buChar char="○"/>
            </a:pPr>
            <a:r>
              <a:rPr lang="en" dirty="0"/>
              <a:t>Sets the overflow property to scroll, which adds scroll bars if the text overflows the boundaries.</a:t>
            </a:r>
          </a:p>
          <a:p>
            <a:pPr marL="914400" lvl="1" indent="-317500" algn="l" rtl="0">
              <a:spcBef>
                <a:spcPts val="0"/>
              </a:spcBef>
              <a:spcAft>
                <a:spcPts val="0"/>
              </a:spcAft>
              <a:buSzPts val="1400"/>
              <a:buChar char="○"/>
            </a:pPr>
            <a:r>
              <a:rPr lang="en-US" dirty="0">
                <a:hlinkClick r:id="rId3"/>
              </a:rPr>
              <a:t>https://developer.mozilla.org/en-US/docs/Web/CSS/Reference/Properties/overflow</a:t>
            </a:r>
            <a:r>
              <a:rPr lang="zh-TW" altLang="en-US" dirty="0"/>
              <a:t> </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6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Box Model ─ Padding and Margin Properties</a:t>
            </a:r>
            <a:endParaRPr/>
          </a:p>
        </p:txBody>
      </p:sp>
      <p:sp>
        <p:nvSpPr>
          <p:cNvPr id="481" name="Google Shape;481;p6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55</a:t>
            </a:fld>
            <a:endParaRPr>
              <a:solidFill>
                <a:schemeClr val="lt2"/>
              </a:solidFill>
            </a:endParaRPr>
          </a:p>
        </p:txBody>
      </p:sp>
      <p:sp>
        <p:nvSpPr>
          <p:cNvPr id="482" name="Google Shape;482;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Padding</a:t>
            </a:r>
            <a:endParaRPr/>
          </a:p>
          <a:p>
            <a:pPr marL="914400" lvl="1" indent="-317500" algn="l" rtl="0">
              <a:spcBef>
                <a:spcPts val="0"/>
              </a:spcBef>
              <a:spcAft>
                <a:spcPts val="0"/>
              </a:spcAft>
              <a:buSzPts val="1400"/>
              <a:buChar char="○"/>
            </a:pPr>
            <a:r>
              <a:rPr lang="en"/>
              <a:t>The padding property determines the distance between the content inside an element and the edge of the element</a:t>
            </a:r>
            <a:endParaRPr/>
          </a:p>
          <a:p>
            <a:pPr marL="914400" lvl="1" indent="-317500" algn="l" rtl="0">
              <a:spcBef>
                <a:spcPts val="0"/>
              </a:spcBef>
              <a:spcAft>
                <a:spcPts val="0"/>
              </a:spcAft>
              <a:buSzPts val="1400"/>
              <a:buChar char="○"/>
            </a:pPr>
            <a:r>
              <a:rPr lang="en"/>
              <a:t>Padding be set for each side of the box by using padding-top, padding-right, padding-left and padding-bottom.</a:t>
            </a:r>
            <a:endParaRPr/>
          </a:p>
          <a:p>
            <a:pPr marL="457200" lvl="0" indent="-342900" algn="l" rtl="0">
              <a:spcBef>
                <a:spcPts val="0"/>
              </a:spcBef>
              <a:spcAft>
                <a:spcPts val="0"/>
              </a:spcAft>
              <a:buSzPts val="1800"/>
              <a:buChar char="●"/>
            </a:pPr>
            <a:r>
              <a:rPr lang="en"/>
              <a:t>Margin</a:t>
            </a:r>
            <a:endParaRPr/>
          </a:p>
          <a:p>
            <a:pPr marL="914400" lvl="1" indent="-317500" algn="l" rtl="0">
              <a:spcBef>
                <a:spcPts val="0"/>
              </a:spcBef>
              <a:spcAft>
                <a:spcPts val="0"/>
              </a:spcAft>
              <a:buSzPts val="1400"/>
              <a:buChar char="○"/>
            </a:pPr>
            <a:r>
              <a:rPr lang="en"/>
              <a:t>Determines the distance between the element’s edge and any outside text.</a:t>
            </a:r>
            <a:endParaRPr/>
          </a:p>
          <a:p>
            <a:pPr marL="914400" lvl="1" indent="-317500" algn="l" rtl="0">
              <a:spcBef>
                <a:spcPts val="0"/>
              </a:spcBef>
              <a:spcAft>
                <a:spcPts val="0"/>
              </a:spcAft>
              <a:buSzPts val="1400"/>
              <a:buChar char="○"/>
            </a:pPr>
            <a:r>
              <a:rPr lang="en"/>
              <a:t>Margins for individual sides of an element can be specified by using margin-top, margin-right, margin-left and margin-bottom.</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6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Box Model ─ Border Properties</a:t>
            </a:r>
            <a:endParaRPr/>
          </a:p>
        </p:txBody>
      </p:sp>
      <p:sp>
        <p:nvSpPr>
          <p:cNvPr id="488" name="Google Shape;488;p6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56</a:t>
            </a:fld>
            <a:endParaRPr>
              <a:solidFill>
                <a:schemeClr val="lt2"/>
              </a:solidFill>
            </a:endParaRPr>
          </a:p>
        </p:txBody>
      </p:sp>
      <p:sp>
        <p:nvSpPr>
          <p:cNvPr id="489" name="Google Shape;489;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border is controlled using the properties: </a:t>
            </a:r>
            <a:endParaRPr/>
          </a:p>
          <a:p>
            <a:pPr marL="457200" lvl="0" indent="-342900" algn="l" rtl="0">
              <a:spcBef>
                <a:spcPts val="0"/>
              </a:spcBef>
              <a:spcAft>
                <a:spcPts val="0"/>
              </a:spcAft>
              <a:buSzPts val="1800"/>
              <a:buChar char="●"/>
            </a:pPr>
            <a:r>
              <a:rPr lang="en"/>
              <a:t>Border-width</a:t>
            </a:r>
            <a:endParaRPr/>
          </a:p>
          <a:p>
            <a:pPr marL="914400" lvl="1" indent="-317500" algn="l" rtl="0">
              <a:spcBef>
                <a:spcPts val="0"/>
              </a:spcBef>
              <a:spcAft>
                <a:spcPts val="0"/>
              </a:spcAft>
              <a:buSzPts val="1400"/>
              <a:buChar char="○"/>
            </a:pPr>
            <a:r>
              <a:rPr lang="en"/>
              <a:t>May be set to any of the CSS lengths or to the predefined value of thin, medium or thick . </a:t>
            </a:r>
            <a:endParaRPr/>
          </a:p>
          <a:p>
            <a:pPr marL="457200" lvl="0" indent="-342900" algn="l" rtl="0">
              <a:spcBef>
                <a:spcPts val="0"/>
              </a:spcBef>
              <a:spcAft>
                <a:spcPts val="0"/>
              </a:spcAft>
              <a:buSzPts val="1800"/>
              <a:buChar char="●"/>
            </a:pPr>
            <a:r>
              <a:rPr lang="en"/>
              <a:t>Border-color</a:t>
            </a:r>
            <a:endParaRPr/>
          </a:p>
          <a:p>
            <a:pPr marL="914400" lvl="1" indent="-317500" algn="l" rtl="0">
              <a:spcBef>
                <a:spcPts val="0"/>
              </a:spcBef>
              <a:spcAft>
                <a:spcPts val="0"/>
              </a:spcAft>
              <a:buSzPts val="1400"/>
              <a:buChar char="○"/>
            </a:pPr>
            <a:r>
              <a:rPr lang="en"/>
              <a:t>Sets the color used for the border</a:t>
            </a:r>
            <a:endParaRPr/>
          </a:p>
          <a:p>
            <a:pPr marL="457200" lvl="0" indent="-342900" algn="l" rtl="0">
              <a:spcBef>
                <a:spcPts val="0"/>
              </a:spcBef>
              <a:spcAft>
                <a:spcPts val="0"/>
              </a:spcAft>
              <a:buSzPts val="1800"/>
              <a:buChar char="●"/>
            </a:pPr>
            <a:r>
              <a:rPr lang="en"/>
              <a:t>Border-style</a:t>
            </a:r>
            <a:endParaRPr/>
          </a:p>
          <a:p>
            <a:pPr marL="914400" lvl="1" indent="-317500" algn="l" rtl="0">
              <a:spcBef>
                <a:spcPts val="0"/>
              </a:spcBef>
              <a:spcAft>
                <a:spcPts val="0"/>
              </a:spcAft>
              <a:buSzPts val="1400"/>
              <a:buChar char="○"/>
            </a:pPr>
            <a:r>
              <a:rPr lang="en"/>
              <a:t>Options are: none, hidden, dotted, dashed, solid, double, groove, ridge, inset and outset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Inspection by Developer Tool in Browser</a:t>
            </a:r>
            <a:endParaRPr/>
          </a:p>
        </p:txBody>
      </p:sp>
      <p:sp>
        <p:nvSpPr>
          <p:cNvPr id="495" name="Google Shape;495;p6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pic>
        <p:nvPicPr>
          <p:cNvPr id="496" name="Google Shape;496;p69"/>
          <p:cNvPicPr preferRelativeResize="0"/>
          <p:nvPr/>
        </p:nvPicPr>
        <p:blipFill>
          <a:blip r:embed="rId3">
            <a:alphaModFix/>
          </a:blip>
          <a:stretch>
            <a:fillRect/>
          </a:stretch>
        </p:blipFill>
        <p:spPr>
          <a:xfrm>
            <a:off x="4302075" y="2501650"/>
            <a:ext cx="3128100" cy="2288450"/>
          </a:xfrm>
          <a:prstGeom prst="rect">
            <a:avLst/>
          </a:prstGeom>
          <a:noFill/>
          <a:ln>
            <a:noFill/>
          </a:ln>
        </p:spPr>
      </p:pic>
      <p:sp>
        <p:nvSpPr>
          <p:cNvPr id="497" name="Google Shape;497;p69"/>
          <p:cNvSpPr txBox="1"/>
          <p:nvPr/>
        </p:nvSpPr>
        <p:spPr>
          <a:xfrm>
            <a:off x="508225" y="2683200"/>
            <a:ext cx="3171900" cy="201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50" i="1" dirty="0">
                <a:solidFill>
                  <a:srgbClr val="1F1F1F"/>
                </a:solidFill>
                <a:highlight>
                  <a:srgbClr val="FFFFFF"/>
                </a:highlight>
                <a:latin typeface="Courier New"/>
                <a:ea typeface="Courier New"/>
                <a:cs typeface="Courier New"/>
                <a:sym typeface="Courier New"/>
              </a:rPr>
              <a:t>h1 {</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display</a:t>
            </a:r>
            <a:r>
              <a:rPr lang="en" sz="1050" i="1" dirty="0">
                <a:solidFill>
                  <a:srgbClr val="1F1F1F"/>
                </a:solidFill>
                <a:highlight>
                  <a:srgbClr val="FFFFFF"/>
                </a:highlight>
                <a:latin typeface="Courier New"/>
                <a:ea typeface="Courier New"/>
                <a:cs typeface="Courier New"/>
                <a:sym typeface="Courier New"/>
              </a:rPr>
              <a:t>: block;</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font-size</a:t>
            </a:r>
            <a:r>
              <a:rPr lang="en" sz="1050" i="1" dirty="0">
                <a:solidFill>
                  <a:srgbClr val="1F1F1F"/>
                </a:solidFill>
                <a:highlight>
                  <a:srgbClr val="FFFFFF"/>
                </a:highlight>
                <a:latin typeface="Courier New"/>
                <a:ea typeface="Courier New"/>
                <a:cs typeface="Courier New"/>
                <a:sym typeface="Courier New"/>
              </a:rPr>
              <a:t>: 2em;</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margin-block-start</a:t>
            </a:r>
            <a:r>
              <a:rPr lang="en" sz="1050" i="1" dirty="0">
                <a:solidFill>
                  <a:srgbClr val="1F1F1F"/>
                </a:solidFill>
                <a:highlight>
                  <a:srgbClr val="FFFFFF"/>
                </a:highlight>
                <a:latin typeface="Courier New"/>
                <a:ea typeface="Courier New"/>
                <a:cs typeface="Courier New"/>
                <a:sym typeface="Courier New"/>
              </a:rPr>
              <a:t>: 0.67em;</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margin-block-end</a:t>
            </a:r>
            <a:r>
              <a:rPr lang="en" sz="1050" i="1" dirty="0">
                <a:solidFill>
                  <a:srgbClr val="1F1F1F"/>
                </a:solidFill>
                <a:highlight>
                  <a:srgbClr val="FFFFFF"/>
                </a:highlight>
                <a:latin typeface="Courier New"/>
                <a:ea typeface="Courier New"/>
                <a:cs typeface="Courier New"/>
                <a:sym typeface="Courier New"/>
              </a:rPr>
              <a:t>: 0.67em;</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margin-inline-start</a:t>
            </a:r>
            <a:r>
              <a:rPr lang="en" sz="1050" i="1" dirty="0">
                <a:solidFill>
                  <a:srgbClr val="1F1F1F"/>
                </a:solidFill>
                <a:highlight>
                  <a:srgbClr val="FFFFFF"/>
                </a:highlight>
                <a:latin typeface="Courier New"/>
                <a:ea typeface="Courier New"/>
                <a:cs typeface="Courier New"/>
                <a:sym typeface="Courier New"/>
              </a:rPr>
              <a:t>: 0px;</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margin-inline-end</a:t>
            </a:r>
            <a:r>
              <a:rPr lang="en" sz="1050" i="1" dirty="0">
                <a:solidFill>
                  <a:srgbClr val="1F1F1F"/>
                </a:solidFill>
                <a:highlight>
                  <a:srgbClr val="FFFFFF"/>
                </a:highlight>
                <a:latin typeface="Courier New"/>
                <a:ea typeface="Courier New"/>
                <a:cs typeface="Courier New"/>
                <a:sym typeface="Courier New"/>
              </a:rPr>
              <a:t>: 0px;</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font-weight</a:t>
            </a:r>
            <a:r>
              <a:rPr lang="en" sz="1050" i="1" dirty="0">
                <a:solidFill>
                  <a:srgbClr val="1F1F1F"/>
                </a:solidFill>
                <a:highlight>
                  <a:srgbClr val="FFFFFF"/>
                </a:highlight>
                <a:latin typeface="Courier New"/>
                <a:ea typeface="Courier New"/>
                <a:cs typeface="Courier New"/>
                <a:sym typeface="Courier New"/>
              </a:rPr>
              <a:t>: bold;</a:t>
            </a:r>
            <a:endParaRPr sz="1050" i="1" dirty="0">
              <a:solidFill>
                <a:srgbClr val="1F1F1F"/>
              </a:solidFill>
              <a:highlight>
                <a:srgbClr val="FFFFFF"/>
              </a:highlight>
              <a:latin typeface="Courier New"/>
              <a:ea typeface="Courier New"/>
              <a:cs typeface="Courier New"/>
              <a:sym typeface="Courier New"/>
            </a:endParaRPr>
          </a:p>
          <a:p>
            <a:pPr marL="457200" marR="38100" lvl="0" indent="-228600" algn="l" rtl="0">
              <a:lnSpc>
                <a:spcPct val="115000"/>
              </a:lnSpc>
              <a:spcBef>
                <a:spcPts val="0"/>
              </a:spcBef>
              <a:spcAft>
                <a:spcPts val="0"/>
              </a:spcAft>
              <a:buClr>
                <a:srgbClr val="1F1F1F"/>
              </a:buClr>
              <a:buSzPts val="1050"/>
              <a:buFont typeface="Courier New"/>
              <a:buNone/>
            </a:pPr>
            <a:r>
              <a:rPr lang="en" sz="1050" i="1" dirty="0">
                <a:solidFill>
                  <a:srgbClr val="1F1F1F"/>
                </a:solidFill>
                <a:highlight>
                  <a:srgbClr val="FFFFFF"/>
                </a:highlight>
                <a:latin typeface="Courier New"/>
                <a:ea typeface="Courier New"/>
                <a:cs typeface="Courier New"/>
                <a:sym typeface="Courier New"/>
              </a:rPr>
              <a:t>   </a:t>
            </a:r>
            <a:r>
              <a:rPr lang="en" sz="1050" i="1" dirty="0">
                <a:solidFill>
                  <a:srgbClr val="DC362E"/>
                </a:solidFill>
                <a:highlight>
                  <a:srgbClr val="FFFFFF"/>
                </a:highlight>
                <a:latin typeface="Courier New"/>
                <a:ea typeface="Courier New"/>
                <a:cs typeface="Courier New"/>
                <a:sym typeface="Courier New"/>
              </a:rPr>
              <a:t>unicode-bidi</a:t>
            </a:r>
            <a:r>
              <a:rPr lang="en" sz="1050" i="1" dirty="0">
                <a:solidFill>
                  <a:srgbClr val="1F1F1F"/>
                </a:solidFill>
                <a:highlight>
                  <a:srgbClr val="FFFFFF"/>
                </a:highlight>
                <a:latin typeface="Courier New"/>
                <a:ea typeface="Courier New"/>
                <a:cs typeface="Courier New"/>
                <a:sym typeface="Courier New"/>
              </a:rPr>
              <a:t>: isolate;</a:t>
            </a:r>
            <a:endParaRPr sz="1050" i="1" dirty="0">
              <a:solidFill>
                <a:srgbClr val="1F1F1F"/>
              </a:solidFill>
              <a:highlight>
                <a:srgbClr val="FFFFFF"/>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 sz="1050" i="1" dirty="0">
                <a:solidFill>
                  <a:srgbClr val="1F1F1F"/>
                </a:solidFill>
                <a:highlight>
                  <a:srgbClr val="FFFFFF"/>
                </a:highlight>
                <a:latin typeface="Courier New"/>
                <a:ea typeface="Courier New"/>
                <a:cs typeface="Courier New"/>
                <a:sym typeface="Courier New"/>
              </a:rPr>
              <a:t>}</a:t>
            </a:r>
            <a:endParaRPr sz="1050" i="1" dirty="0">
              <a:solidFill>
                <a:srgbClr val="1F1F1F"/>
              </a:solidFill>
              <a:highlight>
                <a:srgbClr val="FFFFFF"/>
              </a:highlight>
              <a:latin typeface="Courier New"/>
              <a:ea typeface="Courier New"/>
              <a:cs typeface="Courier New"/>
              <a:sym typeface="Courier New"/>
            </a:endParaRPr>
          </a:p>
        </p:txBody>
      </p:sp>
      <p:pic>
        <p:nvPicPr>
          <p:cNvPr id="498" name="Google Shape;498;p69"/>
          <p:cNvPicPr preferRelativeResize="0"/>
          <p:nvPr/>
        </p:nvPicPr>
        <p:blipFill>
          <a:blip r:embed="rId4">
            <a:alphaModFix/>
          </a:blip>
          <a:stretch>
            <a:fillRect/>
          </a:stretch>
        </p:blipFill>
        <p:spPr>
          <a:xfrm>
            <a:off x="266325" y="1474550"/>
            <a:ext cx="8193200" cy="802523"/>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6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Box Model ─ Box-Sizing Properties</a:t>
            </a:r>
            <a:endParaRPr dirty="0"/>
          </a:p>
        </p:txBody>
      </p:sp>
      <p:sp>
        <p:nvSpPr>
          <p:cNvPr id="488" name="Google Shape;488;p6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58</a:t>
            </a:fld>
            <a:endParaRPr>
              <a:solidFill>
                <a:schemeClr val="lt2"/>
              </a:solidFill>
            </a:endParaRPr>
          </a:p>
        </p:txBody>
      </p:sp>
      <p:sp>
        <p:nvSpPr>
          <p:cNvPr id="489" name="Google Shape;489;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US" dirty="0"/>
              <a:t>The box-sizing CSS property sets how the total width and height of an element is calculated.</a:t>
            </a:r>
          </a:p>
          <a:p>
            <a:pPr marL="457200" lvl="0" indent="-342900" algn="l" rtl="0">
              <a:spcBef>
                <a:spcPts val="0"/>
              </a:spcBef>
              <a:spcAft>
                <a:spcPts val="0"/>
              </a:spcAft>
              <a:buSzPts val="1800"/>
              <a:buChar char="●"/>
            </a:pPr>
            <a:r>
              <a:rPr lang="en-US" dirty="0"/>
              <a:t>`content-box`</a:t>
            </a:r>
          </a:p>
          <a:p>
            <a:pPr lvl="1">
              <a:spcBef>
                <a:spcPts val="0"/>
              </a:spcBef>
            </a:pPr>
            <a:r>
              <a:rPr lang="en-US" dirty="0"/>
              <a:t>This is the initial and default value as specified by the CSS standard. The width and height properties include the content, but </a:t>
            </a:r>
            <a:r>
              <a:rPr lang="en-US" dirty="0">
                <a:solidFill>
                  <a:srgbClr val="FF0000"/>
                </a:solidFill>
              </a:rPr>
              <a:t>does not include the padding, border, or margin</a:t>
            </a:r>
            <a:r>
              <a:rPr lang="en-US" dirty="0"/>
              <a:t>. </a:t>
            </a:r>
          </a:p>
          <a:p>
            <a:pPr lvl="1">
              <a:spcBef>
                <a:spcPts val="0"/>
              </a:spcBef>
            </a:pPr>
            <a:r>
              <a:rPr lang="en-US" dirty="0"/>
              <a:t>For example, .box {width: 350px; border: 10px solid black;} renders a box that is 370px wide.</a:t>
            </a:r>
            <a:endParaRPr dirty="0"/>
          </a:p>
          <a:p>
            <a:pPr marL="457200" lvl="0" indent="-342900" algn="l" rtl="0">
              <a:spcBef>
                <a:spcPts val="0"/>
              </a:spcBef>
              <a:spcAft>
                <a:spcPts val="0"/>
              </a:spcAft>
              <a:buSzPts val="1800"/>
              <a:buChar char="●"/>
            </a:pPr>
            <a:r>
              <a:rPr lang="en" dirty="0"/>
              <a:t>`</a:t>
            </a:r>
            <a:r>
              <a:rPr lang="en-US" dirty="0"/>
              <a:t>border-box</a:t>
            </a:r>
            <a:r>
              <a:rPr lang="en" dirty="0"/>
              <a:t>`</a:t>
            </a:r>
            <a:endParaRPr dirty="0"/>
          </a:p>
          <a:p>
            <a:pPr marL="914400" lvl="1" indent="-317500" algn="l" rtl="0">
              <a:spcBef>
                <a:spcPts val="0"/>
              </a:spcBef>
              <a:spcAft>
                <a:spcPts val="0"/>
              </a:spcAft>
              <a:buSzPts val="1400"/>
              <a:buChar char="○"/>
            </a:pPr>
            <a:r>
              <a:rPr lang="en-US" dirty="0"/>
              <a:t>The width and height properties include the content, padding, and border, but do not include the margin.</a:t>
            </a:r>
          </a:p>
          <a:p>
            <a:pPr marL="914400" lvl="1" indent="-317500" algn="l" rtl="0">
              <a:spcBef>
                <a:spcPts val="0"/>
              </a:spcBef>
              <a:spcAft>
                <a:spcPts val="0"/>
              </a:spcAft>
              <a:buSzPts val="1400"/>
              <a:buChar char="○"/>
            </a:pPr>
            <a:r>
              <a:rPr lang="en-US" dirty="0"/>
              <a:t>Note that </a:t>
            </a:r>
            <a:r>
              <a:rPr lang="en-US" dirty="0">
                <a:solidFill>
                  <a:srgbClr val="0000CC"/>
                </a:solidFill>
              </a:rPr>
              <a:t>padding and border </a:t>
            </a:r>
            <a:r>
              <a:rPr lang="en-US" dirty="0"/>
              <a:t>will be inside of the box. </a:t>
            </a:r>
          </a:p>
          <a:p>
            <a:pPr marL="914400" lvl="1" indent="-317500" algn="l" rtl="0">
              <a:spcBef>
                <a:spcPts val="0"/>
              </a:spcBef>
              <a:spcAft>
                <a:spcPts val="0"/>
              </a:spcAft>
              <a:buSzPts val="1400"/>
              <a:buChar char="○"/>
            </a:pPr>
            <a:r>
              <a:rPr lang="en-US" dirty="0"/>
              <a:t>For example, .box {width: 350px; border: 10px solid black;} renders a box that is 350px wide, with the area for content being 330px wide.</a:t>
            </a:r>
          </a:p>
          <a:p>
            <a:pPr indent="-317500">
              <a:buSzPts val="1400"/>
              <a:buFont typeface="Wingdings" panose="05000000000000000000" pitchFamily="2" charset="2"/>
              <a:buChar char="l"/>
            </a:pPr>
            <a:r>
              <a:rPr lang="en-US" dirty="0"/>
              <a:t>Best practice</a:t>
            </a:r>
          </a:p>
          <a:p>
            <a:pPr lvl="1">
              <a:spcBef>
                <a:spcPts val="0"/>
              </a:spcBef>
            </a:pPr>
            <a:r>
              <a:rPr lang="en-US" dirty="0"/>
              <a:t>*, *::before, *::after {box-sizing: border-box;}</a:t>
            </a:r>
          </a:p>
          <a:p>
            <a:pPr indent="-317500">
              <a:buSzPts val="1400"/>
              <a:buFont typeface="Wingdings" panose="05000000000000000000" pitchFamily="2" charset="2"/>
              <a:buChar char="l"/>
            </a:pPr>
            <a:r>
              <a:rPr lang="en-US" dirty="0"/>
              <a:t>Reference</a:t>
            </a:r>
          </a:p>
          <a:p>
            <a:pPr lvl="1">
              <a:lnSpc>
                <a:spcPct val="110000"/>
              </a:lnSpc>
              <a:spcBef>
                <a:spcPts val="0"/>
              </a:spcBef>
            </a:pPr>
            <a:r>
              <a:rPr lang="en-US" dirty="0">
                <a:hlinkClick r:id="rId3"/>
              </a:rPr>
              <a:t>https://developer.mozilla.org/en-US/docs/Web/CSS/Reference/Properties/box-sizing</a:t>
            </a:r>
            <a:r>
              <a:rPr lang="en-US" dirty="0"/>
              <a:t> </a:t>
            </a:r>
          </a:p>
        </p:txBody>
      </p:sp>
    </p:spTree>
    <p:extLst>
      <p:ext uri="{BB962C8B-B14F-4D97-AF65-F5344CB8AC3E}">
        <p14:creationId xmlns:p14="http://schemas.microsoft.com/office/powerpoint/2010/main" val="1683532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7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CSS Conflicting</a:t>
            </a:r>
            <a:endParaRPr/>
          </a:p>
        </p:txBody>
      </p:sp>
      <p:sp>
        <p:nvSpPr>
          <p:cNvPr id="504" name="Google Shape;504;p7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59</a:t>
            </a:fld>
            <a:endParaRPr>
              <a:solidFill>
                <a:schemeClr val="lt2"/>
              </a:solidFill>
            </a:endParaRPr>
          </a:p>
        </p:txBody>
      </p:sp>
      <p:sp>
        <p:nvSpPr>
          <p:cNvPr id="505" name="Google Shape;505;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Styles may be defined by a user, an author or a user agent. </a:t>
            </a:r>
            <a:endParaRPr/>
          </a:p>
          <a:p>
            <a:pPr marL="914400" lvl="1" indent="-317500" algn="l" rtl="0">
              <a:spcBef>
                <a:spcPts val="0"/>
              </a:spcBef>
              <a:spcAft>
                <a:spcPts val="0"/>
              </a:spcAft>
              <a:buSzPts val="1400"/>
              <a:buChar char="○"/>
            </a:pPr>
            <a:r>
              <a:rPr lang="en"/>
              <a:t>User style sheet</a:t>
            </a:r>
            <a:endParaRPr/>
          </a:p>
          <a:p>
            <a:pPr marL="1371600" lvl="2" indent="-317500" algn="l" rtl="0">
              <a:spcBef>
                <a:spcPts val="0"/>
              </a:spcBef>
              <a:spcAft>
                <a:spcPts val="0"/>
              </a:spcAft>
              <a:buSzPts val="1400"/>
              <a:buChar char="■"/>
            </a:pPr>
            <a:r>
              <a:rPr lang="en"/>
              <a:t>A user agent may also allow a user to create a customized set of styles to use by default, or for specific documents.</a:t>
            </a:r>
            <a:endParaRPr/>
          </a:p>
          <a:p>
            <a:pPr marL="914400" lvl="1" indent="-317500" algn="l" rtl="0">
              <a:spcBef>
                <a:spcPts val="0"/>
              </a:spcBef>
              <a:spcAft>
                <a:spcPts val="0"/>
              </a:spcAft>
              <a:buSzPts val="1400"/>
              <a:buChar char="○"/>
            </a:pPr>
            <a:r>
              <a:rPr lang="en"/>
              <a:t>Author style sheets</a:t>
            </a:r>
            <a:endParaRPr/>
          </a:p>
          <a:p>
            <a:pPr marL="1371600" lvl="2" indent="-317500" algn="l" rtl="0">
              <a:spcBef>
                <a:spcPts val="0"/>
              </a:spcBef>
              <a:spcAft>
                <a:spcPts val="0"/>
              </a:spcAft>
              <a:buSzPts val="1400"/>
              <a:buChar char="■"/>
            </a:pPr>
            <a:r>
              <a:rPr lang="en"/>
              <a:t>that are linked to the document via a link element, specified using a style element within the document’s head element, or specified within an element style attribute </a:t>
            </a:r>
            <a:endParaRPr/>
          </a:p>
          <a:p>
            <a:pPr marL="914400" lvl="1" indent="-317500" algn="l" rtl="0">
              <a:spcBef>
                <a:spcPts val="0"/>
              </a:spcBef>
              <a:spcAft>
                <a:spcPts val="0"/>
              </a:spcAft>
              <a:buSzPts val="1400"/>
              <a:buChar char="○"/>
            </a:pPr>
            <a:r>
              <a:rPr lang="en"/>
              <a:t>User Agent (typically a web browser) style sheets</a:t>
            </a:r>
            <a:endParaRPr/>
          </a:p>
          <a:p>
            <a:pPr marL="1371600" lvl="2" indent="-317500" algn="l" rtl="0">
              <a:spcBef>
                <a:spcPts val="0"/>
              </a:spcBef>
              <a:spcAft>
                <a:spcPts val="0"/>
              </a:spcAft>
              <a:buSzPts val="1400"/>
              <a:buChar char="■"/>
            </a:pPr>
            <a:r>
              <a:rPr lang="en"/>
              <a:t>the default sets of declarations applied by the user agent</a:t>
            </a:r>
            <a:endParaRPr/>
          </a:p>
          <a:p>
            <a:pPr marL="457200" lvl="0" indent="-342900" algn="l" rtl="0">
              <a:spcBef>
                <a:spcPts val="0"/>
              </a:spcBef>
              <a:spcAft>
                <a:spcPts val="0"/>
              </a:spcAft>
              <a:buSzPts val="1800"/>
              <a:buChar char="●"/>
            </a:pPr>
            <a:r>
              <a:rPr lang="en"/>
              <a:t>Priority: author &gt; user &gt; user agent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7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Box Model ─ Float Property</a:t>
            </a:r>
            <a:endParaRPr/>
          </a:p>
        </p:txBody>
      </p:sp>
      <p:sp>
        <p:nvSpPr>
          <p:cNvPr id="511" name="Google Shape;511;p7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60</a:t>
            </a:fld>
            <a:endParaRPr>
              <a:solidFill>
                <a:schemeClr val="lt2"/>
              </a:solidFill>
            </a:endParaRPr>
          </a:p>
        </p:txBody>
      </p:sp>
      <p:sp>
        <p:nvSpPr>
          <p:cNvPr id="512" name="Google Shape;512;p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Floating allows you to move an element to one side of the screen; other content in the document then flows around the floated element.</a:t>
            </a:r>
            <a:endParaRPr dirty="0"/>
          </a:p>
          <a:p>
            <a:pPr marL="914400" lvl="1" indent="-317500" algn="l" rtl="0">
              <a:spcBef>
                <a:spcPts val="0"/>
              </a:spcBef>
              <a:spcAft>
                <a:spcPts val="0"/>
              </a:spcAft>
              <a:buSzPts val="1400"/>
              <a:buChar char="○"/>
            </a:pPr>
            <a:r>
              <a:rPr lang="en" dirty="0"/>
              <a:t>Values: none, left or right.</a:t>
            </a:r>
            <a:endParaRPr dirty="0"/>
          </a:p>
          <a:p>
            <a:pPr marL="914400" lvl="1" indent="-317500" algn="l" rtl="0">
              <a:spcBef>
                <a:spcPts val="0"/>
              </a:spcBef>
              <a:spcAft>
                <a:spcPts val="0"/>
              </a:spcAft>
              <a:buSzPts val="1400"/>
              <a:buChar char="○"/>
            </a:pPr>
            <a:r>
              <a:rPr lang="en" dirty="0"/>
              <a:t>Absolutely positioned elements ignores the float property!</a:t>
            </a:r>
            <a:endParaRPr dirty="0"/>
          </a:p>
          <a:p>
            <a:pPr marL="914400" lvl="1" indent="-317500" algn="l" rtl="0">
              <a:spcBef>
                <a:spcPts val="0"/>
              </a:spcBef>
              <a:spcAft>
                <a:spcPts val="0"/>
              </a:spcAft>
              <a:buSzPts val="1400"/>
              <a:buChar char="○"/>
            </a:pPr>
            <a:r>
              <a:rPr lang="en" dirty="0"/>
              <a:t>It’s a legacy layout technique – now prefer Flexbox/Grid for layout; use float mainly for text wrap.</a:t>
            </a:r>
            <a:endParaRPr dirty="0"/>
          </a:p>
          <a:p>
            <a:pPr marL="457200" lvl="0" indent="-342900" algn="l" rtl="0">
              <a:spcBef>
                <a:spcPts val="0"/>
              </a:spcBef>
              <a:spcAft>
                <a:spcPts val="0"/>
              </a:spcAft>
              <a:buSzPts val="1800"/>
              <a:buChar char="●"/>
            </a:pPr>
            <a:r>
              <a:rPr lang="en" dirty="0"/>
              <a:t>CSS Float Theory (Out of </a:t>
            </a:r>
            <a:r>
              <a:rPr lang="en" u="sng" dirty="0">
                <a:solidFill>
                  <a:schemeClr val="hlink"/>
                </a:solidFill>
                <a:hlinkClick r:id="rId3" action="ppaction://hlinksldjump"/>
              </a:rPr>
              <a:t>normal flow</a:t>
            </a:r>
            <a:r>
              <a:rPr lang="en" dirty="0"/>
              <a:t> in terms of box model)</a:t>
            </a:r>
            <a:endParaRPr dirty="0"/>
          </a:p>
          <a:p>
            <a:pPr marL="914400" lvl="1" indent="-317500" algn="l" rtl="0">
              <a:spcBef>
                <a:spcPts val="0"/>
              </a:spcBef>
              <a:spcAft>
                <a:spcPts val="0"/>
              </a:spcAft>
              <a:buSzPts val="1400"/>
              <a:buChar char="○"/>
            </a:pPr>
            <a:r>
              <a:rPr lang="en" dirty="0"/>
              <a:t>When we float an element it is shifted to the right or to the left until it reaches the edge of the containing block.</a:t>
            </a:r>
            <a:endParaRPr dirty="0"/>
          </a:p>
          <a:p>
            <a:pPr marL="914400" lvl="1" indent="-317500" algn="l" rtl="0">
              <a:spcBef>
                <a:spcPts val="0"/>
              </a:spcBef>
              <a:spcAft>
                <a:spcPts val="0"/>
              </a:spcAft>
              <a:buSzPts val="1400"/>
              <a:buChar char="○"/>
            </a:pPr>
            <a:r>
              <a:rPr lang="en" dirty="0"/>
              <a:t>If we then float another element nearby in the same direction, it will be shifted until its edge reaches the edge of the first floating element.</a:t>
            </a:r>
            <a:endParaRPr dirty="0"/>
          </a:p>
          <a:p>
            <a:pPr marL="914400" lvl="1" indent="-317500" algn="l" rtl="0">
              <a:spcBef>
                <a:spcPts val="0"/>
              </a:spcBef>
              <a:spcAft>
                <a:spcPts val="0"/>
              </a:spcAft>
              <a:buSzPts val="1400"/>
              <a:buChar char="○"/>
            </a:pPr>
            <a:r>
              <a:rPr lang="en" dirty="0"/>
              <a:t>When there is insufficient space on the line, they are shifted downward until they fit.</a:t>
            </a:r>
            <a:endParaRPr dirty="0"/>
          </a:p>
          <a:p>
            <a:pPr marL="914400" lvl="1" indent="-317500" algn="l" rtl="0">
              <a:spcBef>
                <a:spcPts val="0"/>
              </a:spcBef>
              <a:spcAft>
                <a:spcPts val="0"/>
              </a:spcAft>
              <a:buSzPts val="1400"/>
              <a:buChar char="○"/>
            </a:pPr>
            <a:r>
              <a:rPr lang="en" u="sng" dirty="0">
                <a:solidFill>
                  <a:schemeClr val="hlink"/>
                </a:solidFill>
                <a:hlinkClick r:id="rId4"/>
              </a:rPr>
              <a:t>https://developer.mozilla.org/en-US/docs/Web/CSS/Reference/Properties/float</a:t>
            </a:r>
            <a:r>
              <a:rPr lang="en" dirty="0"/>
              <a:t> </a:t>
            </a: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7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Box Model Practices</a:t>
            </a:r>
            <a:endParaRPr/>
          </a:p>
          <a:p>
            <a:pPr marL="0" lvl="0" indent="0" algn="l" rtl="0">
              <a:spcBef>
                <a:spcPts val="0"/>
              </a:spcBef>
              <a:spcAft>
                <a:spcPts val="0"/>
              </a:spcAft>
              <a:buNone/>
            </a:pPr>
            <a:endParaRPr/>
          </a:p>
        </p:txBody>
      </p:sp>
      <p:sp>
        <p:nvSpPr>
          <p:cNvPr id="518" name="Google Shape;518;p7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
        <p:nvSpPr>
          <p:cNvPr id="519" name="Google Shape;519;p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Play around more box model properties</a:t>
            </a:r>
            <a:endParaRPr/>
          </a:p>
          <a:p>
            <a:pPr marL="914400" lvl="1" indent="-317500" algn="l" rtl="0">
              <a:spcBef>
                <a:spcPts val="0"/>
              </a:spcBef>
              <a:spcAft>
                <a:spcPts val="0"/>
              </a:spcAft>
              <a:buSzPts val="1400"/>
              <a:buChar char="○"/>
            </a:pPr>
            <a:r>
              <a:rPr lang="en"/>
              <a:t>Outline: </a:t>
            </a:r>
            <a:r>
              <a:rPr lang="en" u="sng">
                <a:solidFill>
                  <a:schemeClr val="hlink"/>
                </a:solidFill>
                <a:hlinkClick r:id="rId3"/>
              </a:rPr>
              <a:t>https://developer.mozilla.org/en-US/docs/Web/CSS/Reference/Properties/outline</a:t>
            </a:r>
            <a:r>
              <a:rPr lang="en"/>
              <a:t> </a:t>
            </a:r>
            <a:endParaRPr/>
          </a:p>
          <a:p>
            <a:pPr marL="914400" lvl="1" indent="-317500" algn="l" rtl="0">
              <a:spcBef>
                <a:spcPts val="0"/>
              </a:spcBef>
              <a:spcAft>
                <a:spcPts val="0"/>
              </a:spcAft>
              <a:buSzPts val="1400"/>
              <a:buChar char="○"/>
            </a:pPr>
            <a:r>
              <a:rPr lang="en"/>
              <a:t>Box shadow: </a:t>
            </a:r>
            <a:r>
              <a:rPr lang="en" u="sng">
                <a:solidFill>
                  <a:schemeClr val="hlink"/>
                </a:solidFill>
                <a:hlinkClick r:id="rId4"/>
              </a:rPr>
              <a:t>https://developer.mozilla.org/en-US/docs/Web/CSS/Reference/Properties/box-shadow</a:t>
            </a:r>
            <a:r>
              <a:rPr lang="en"/>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Display and Position </a:t>
            </a:r>
            <a:endParaRPr/>
          </a:p>
        </p:txBody>
      </p:sp>
      <p:sp>
        <p:nvSpPr>
          <p:cNvPr id="525" name="Google Shape;525;p7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62</a:t>
            </a:fld>
            <a:endParaRPr>
              <a:solidFill>
                <a:schemeClr val="lt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Property</a:t>
            </a:r>
            <a:endParaRPr/>
          </a:p>
        </p:txBody>
      </p:sp>
      <p:sp>
        <p:nvSpPr>
          <p:cNvPr id="531" name="Google Shape;531;p7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63</a:t>
            </a:fld>
            <a:endParaRPr>
              <a:solidFill>
                <a:schemeClr val="lt2"/>
              </a:solidFill>
            </a:endParaRPr>
          </a:p>
        </p:txBody>
      </p:sp>
      <p:sp>
        <p:nvSpPr>
          <p:cNvPr id="532" name="Google Shape;532;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dirty="0"/>
              <a:t>The display property sets whether an element is treated as a block or inline box and the layout used for its children, such as flow layout, grid or flex.</a:t>
            </a:r>
            <a:endParaRPr dirty="0"/>
          </a:p>
          <a:p>
            <a:pPr marL="914400" lvl="1" indent="-310832" algn="l" rtl="0">
              <a:spcBef>
                <a:spcPts val="0"/>
              </a:spcBef>
              <a:spcAft>
                <a:spcPts val="0"/>
              </a:spcAft>
              <a:buSzPct val="100000"/>
              <a:buChar char="○"/>
            </a:pPr>
            <a:r>
              <a:rPr lang="en" dirty="0"/>
              <a:t>Formally, the display property sets an element's inner and outer display types.</a:t>
            </a:r>
            <a:endParaRPr dirty="0"/>
          </a:p>
          <a:p>
            <a:pPr marL="457200" lvl="0" indent="-334328" algn="l" rtl="0">
              <a:spcBef>
                <a:spcPts val="0"/>
              </a:spcBef>
              <a:spcAft>
                <a:spcPts val="0"/>
              </a:spcAft>
              <a:buSzPct val="100000"/>
              <a:buChar char="●"/>
            </a:pPr>
            <a:r>
              <a:rPr lang="en" dirty="0"/>
              <a:t>The outer type sets an element's participation in flow layout; the inner type sets the layout of children.</a:t>
            </a:r>
            <a:endParaRPr dirty="0"/>
          </a:p>
          <a:p>
            <a:pPr marL="914400" lvl="1" indent="-310832" algn="l" rtl="0">
              <a:spcBef>
                <a:spcPts val="0"/>
              </a:spcBef>
              <a:spcAft>
                <a:spcPts val="0"/>
              </a:spcAft>
              <a:buSzPct val="100000"/>
              <a:buChar char="○"/>
            </a:pPr>
            <a:r>
              <a:rPr lang="en" dirty="0"/>
              <a:t>The inner value defaults to flow if only outer value is specified.</a:t>
            </a:r>
            <a:endParaRPr dirty="0"/>
          </a:p>
          <a:p>
            <a:pPr marL="914400" lvl="1" indent="-310832" algn="l" rtl="0">
              <a:spcBef>
                <a:spcPts val="0"/>
              </a:spcBef>
              <a:spcAft>
                <a:spcPts val="0"/>
              </a:spcAft>
              <a:buSzPct val="100000"/>
              <a:buChar char="○"/>
            </a:pPr>
            <a:r>
              <a:rPr lang="en" dirty="0"/>
              <a:t>Mostly the outer value defaults to block if only inner value is specified (exception like ruby).</a:t>
            </a:r>
            <a:endParaRPr dirty="0"/>
          </a:p>
          <a:p>
            <a:pPr marL="457200" lvl="0" indent="-334328" algn="l" rtl="0">
              <a:spcBef>
                <a:spcPts val="0"/>
              </a:spcBef>
              <a:spcAft>
                <a:spcPts val="0"/>
              </a:spcAft>
              <a:buSzPct val="100000"/>
              <a:buChar char="●"/>
            </a:pPr>
            <a:r>
              <a:rPr lang="en" dirty="0"/>
              <a:t>The CSS display property is specified using keyword values.</a:t>
            </a:r>
            <a:endParaRPr dirty="0"/>
          </a:p>
          <a:p>
            <a:pPr marL="914400" lvl="1" indent="-310832" algn="l" rtl="0">
              <a:spcBef>
                <a:spcPts val="0"/>
              </a:spcBef>
              <a:spcAft>
                <a:spcPts val="0"/>
              </a:spcAft>
              <a:buSzPct val="100000"/>
              <a:buChar char="○"/>
            </a:pPr>
            <a:r>
              <a:rPr lang="en" dirty="0"/>
              <a:t>For browser compatibility, you may use the single-value syntax as a fallback for multi-keyword syntax.</a:t>
            </a:r>
            <a:endParaRPr dirty="0"/>
          </a:p>
          <a:p>
            <a:pPr marL="914400" lvl="1" indent="-310832" algn="l" rtl="0">
              <a:spcBef>
                <a:spcPts val="0"/>
              </a:spcBef>
              <a:spcAft>
                <a:spcPts val="0"/>
              </a:spcAft>
              <a:buSzPct val="100000"/>
              <a:buChar char="○"/>
            </a:pPr>
            <a:r>
              <a:rPr lang="en" dirty="0"/>
              <a:t>.container {</a:t>
            </a:r>
            <a:endParaRPr dirty="0"/>
          </a:p>
          <a:p>
            <a:pPr marL="914400" lvl="1" indent="-310832" algn="l" rtl="0">
              <a:spcBef>
                <a:spcPts val="0"/>
              </a:spcBef>
              <a:spcAft>
                <a:spcPts val="0"/>
              </a:spcAft>
              <a:buSzPct val="100000"/>
              <a:buChar char="○"/>
            </a:pPr>
            <a:r>
              <a:rPr lang="en" dirty="0"/>
              <a:t>  display: inline-flex;</a:t>
            </a:r>
            <a:endParaRPr dirty="0"/>
          </a:p>
          <a:p>
            <a:pPr marL="914400" lvl="1" indent="-310832" algn="l" rtl="0">
              <a:spcBef>
                <a:spcPts val="0"/>
              </a:spcBef>
              <a:spcAft>
                <a:spcPts val="0"/>
              </a:spcAft>
              <a:buSzPct val="100000"/>
              <a:buChar char="○"/>
            </a:pPr>
            <a:r>
              <a:rPr lang="en" dirty="0"/>
              <a:t>  display: inline flex;</a:t>
            </a:r>
            <a:endParaRPr dirty="0"/>
          </a:p>
          <a:p>
            <a:pPr marL="914400" lvl="1" indent="-310832" algn="l" rtl="0">
              <a:spcBef>
                <a:spcPts val="0"/>
              </a:spcBef>
              <a:spcAft>
                <a:spcPts val="0"/>
              </a:spcAft>
              <a:buSzPct val="100000"/>
              <a:buChar char="○"/>
            </a:pPr>
            <a:r>
              <a:rPr lang="en" dirty="0"/>
              <a:t>}</a:t>
            </a:r>
            <a:endParaRPr dirty="0"/>
          </a:p>
          <a:p>
            <a:pPr marL="457200" lvl="0" indent="-334328" algn="l" rtl="0">
              <a:spcBef>
                <a:spcPts val="0"/>
              </a:spcBef>
              <a:spcAft>
                <a:spcPts val="0"/>
              </a:spcAft>
              <a:buSzPct val="100000"/>
              <a:buChar char="●"/>
            </a:pPr>
            <a:r>
              <a:rPr lang="en" dirty="0"/>
              <a:t>Some values of display are fully defined in their own individual specifications</a:t>
            </a:r>
            <a:endParaRPr dirty="0"/>
          </a:p>
          <a:p>
            <a:pPr marL="914400" lvl="1" indent="-310832" algn="l" rtl="0">
              <a:spcBef>
                <a:spcPts val="0"/>
              </a:spcBef>
              <a:spcAft>
                <a:spcPts val="0"/>
              </a:spcAft>
              <a:buSzPct val="100000"/>
              <a:buChar char="○"/>
            </a:pPr>
            <a:r>
              <a:rPr lang="en" u="sng" dirty="0">
                <a:solidFill>
                  <a:schemeClr val="hlink"/>
                </a:solidFill>
                <a:hlinkClick r:id="rId3"/>
              </a:rPr>
              <a:t>https://developer.mozilla.org/en-US/docs/Web/CSS/Reference/Properties/display</a:t>
            </a:r>
            <a:r>
              <a:rPr lang="en" dirty="0"/>
              <a:t> </a:t>
            </a: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7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Property ─ Outside</a:t>
            </a:r>
            <a:endParaRPr/>
          </a:p>
        </p:txBody>
      </p:sp>
      <p:sp>
        <p:nvSpPr>
          <p:cNvPr id="538" name="Google Shape;538;p7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64</a:t>
            </a:fld>
            <a:endParaRPr>
              <a:solidFill>
                <a:schemeClr val="lt2"/>
              </a:solidFill>
            </a:endParaRPr>
          </a:p>
        </p:txBody>
      </p:sp>
      <p:sp>
        <p:nvSpPr>
          <p:cNvPr id="539" name="Google Shape;539;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Block</a:t>
            </a:r>
            <a:endParaRPr/>
          </a:p>
          <a:p>
            <a:pPr marL="914400" lvl="1" indent="-317500" algn="l" rtl="0">
              <a:spcBef>
                <a:spcPts val="0"/>
              </a:spcBef>
              <a:spcAft>
                <a:spcPts val="0"/>
              </a:spcAft>
              <a:buSzPts val="1400"/>
              <a:buChar char="○"/>
            </a:pPr>
            <a:r>
              <a:rPr lang="en"/>
              <a:t>Generates a block box, line breaks both before and after the element when in the normal flow.</a:t>
            </a:r>
            <a:endParaRPr/>
          </a:p>
          <a:p>
            <a:pPr marL="457200" lvl="0" indent="-342900" algn="l" rtl="0">
              <a:spcBef>
                <a:spcPts val="0"/>
              </a:spcBef>
              <a:spcAft>
                <a:spcPts val="0"/>
              </a:spcAft>
              <a:buSzPts val="1800"/>
              <a:buChar char="●"/>
            </a:pPr>
            <a:r>
              <a:rPr lang="en"/>
              <a:t>Inline</a:t>
            </a:r>
            <a:endParaRPr/>
          </a:p>
          <a:p>
            <a:pPr marL="914400" lvl="1" indent="-317500" algn="l" rtl="0">
              <a:spcBef>
                <a:spcPts val="0"/>
              </a:spcBef>
              <a:spcAft>
                <a:spcPts val="0"/>
              </a:spcAft>
              <a:buSzPts val="1400"/>
              <a:buChar char="○"/>
            </a:pPr>
            <a:r>
              <a:rPr lang="en"/>
              <a:t>Generates one or more inline boxes that do not generate line breaks before or after themselves. </a:t>
            </a:r>
            <a:endParaRPr/>
          </a:p>
          <a:p>
            <a:pPr marL="457200" lvl="0" indent="-342900" algn="l" rtl="0">
              <a:spcBef>
                <a:spcPts val="0"/>
              </a:spcBef>
              <a:spcAft>
                <a:spcPts val="0"/>
              </a:spcAft>
              <a:buSzPts val="1800"/>
              <a:buChar char="●"/>
            </a:pPr>
            <a:r>
              <a:rPr lang="en"/>
              <a:t>Block and inline layout in </a:t>
            </a:r>
            <a:r>
              <a:rPr lang="en" u="sng">
                <a:solidFill>
                  <a:schemeClr val="hlink"/>
                </a:solidFill>
                <a:hlinkClick r:id="rId3" action="ppaction://hlinksldjump"/>
              </a:rPr>
              <a:t>normal flow</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https://developer.mozilla.org/en-US/docs/Web/CSS/Guides/Display/Block_and_inline_layout</a:t>
            </a:r>
            <a:r>
              <a:rPr lang="en"/>
              <a:t> </a:t>
            </a:r>
            <a:endParaRPr/>
          </a:p>
        </p:txBody>
      </p:sp>
      <p:grpSp>
        <p:nvGrpSpPr>
          <p:cNvPr id="540" name="Google Shape;540;p75"/>
          <p:cNvGrpSpPr/>
          <p:nvPr/>
        </p:nvGrpSpPr>
        <p:grpSpPr>
          <a:xfrm>
            <a:off x="1051468" y="3009750"/>
            <a:ext cx="2359700" cy="2051098"/>
            <a:chOff x="1051468" y="3009750"/>
            <a:chExt cx="2359700" cy="2051098"/>
          </a:xfrm>
        </p:grpSpPr>
        <p:pic>
          <p:nvPicPr>
            <p:cNvPr id="541" name="Google Shape;541;p75"/>
            <p:cNvPicPr preferRelativeResize="0"/>
            <p:nvPr/>
          </p:nvPicPr>
          <p:blipFill>
            <a:blip r:embed="rId5">
              <a:alphaModFix/>
            </a:blip>
            <a:stretch>
              <a:fillRect/>
            </a:stretch>
          </p:blipFill>
          <p:spPr>
            <a:xfrm>
              <a:off x="1051468" y="3009750"/>
              <a:ext cx="2359700" cy="1739650"/>
            </a:xfrm>
            <a:prstGeom prst="rect">
              <a:avLst/>
            </a:prstGeom>
            <a:noFill/>
            <a:ln>
              <a:noFill/>
            </a:ln>
          </p:spPr>
        </p:pic>
        <p:sp>
          <p:nvSpPr>
            <p:cNvPr id="542" name="Google Shape;542;p75"/>
            <p:cNvSpPr txBox="1"/>
            <p:nvPr/>
          </p:nvSpPr>
          <p:spPr>
            <a:xfrm>
              <a:off x="1518975" y="4691548"/>
              <a:ext cx="14247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1200">
                  <a:solidFill>
                    <a:srgbClr val="434343"/>
                  </a:solidFill>
                  <a:latin typeface="Source Sans Pro"/>
                  <a:ea typeface="Source Sans Pro"/>
                  <a:cs typeface="Source Sans Pro"/>
                  <a:sym typeface="Source Sans Pro"/>
                </a:rPr>
                <a:t>Horizontal writing</a:t>
              </a:r>
              <a:endParaRPr sz="1200"/>
            </a:p>
          </p:txBody>
        </p:sp>
      </p:grpSp>
      <p:grpSp>
        <p:nvGrpSpPr>
          <p:cNvPr id="543" name="Google Shape;543;p75"/>
          <p:cNvGrpSpPr/>
          <p:nvPr/>
        </p:nvGrpSpPr>
        <p:grpSpPr>
          <a:xfrm>
            <a:off x="4337050" y="3009750"/>
            <a:ext cx="1929918" cy="2038762"/>
            <a:chOff x="4337050" y="3009750"/>
            <a:chExt cx="1929918" cy="2038762"/>
          </a:xfrm>
        </p:grpSpPr>
        <p:pic>
          <p:nvPicPr>
            <p:cNvPr id="544" name="Google Shape;544;p75"/>
            <p:cNvPicPr preferRelativeResize="0"/>
            <p:nvPr/>
          </p:nvPicPr>
          <p:blipFill>
            <a:blip r:embed="rId6">
              <a:alphaModFix/>
            </a:blip>
            <a:stretch>
              <a:fillRect/>
            </a:stretch>
          </p:blipFill>
          <p:spPr>
            <a:xfrm>
              <a:off x="4337050" y="3009750"/>
              <a:ext cx="1929918" cy="1739650"/>
            </a:xfrm>
            <a:prstGeom prst="rect">
              <a:avLst/>
            </a:prstGeom>
            <a:noFill/>
            <a:ln>
              <a:noFill/>
            </a:ln>
          </p:spPr>
        </p:pic>
        <p:sp>
          <p:nvSpPr>
            <p:cNvPr id="545" name="Google Shape;545;p75"/>
            <p:cNvSpPr txBox="1"/>
            <p:nvPr/>
          </p:nvSpPr>
          <p:spPr>
            <a:xfrm>
              <a:off x="4609312" y="4679212"/>
              <a:ext cx="13854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1200">
                  <a:solidFill>
                    <a:srgbClr val="434343"/>
                  </a:solidFill>
                  <a:latin typeface="Source Sans Pro"/>
                  <a:ea typeface="Source Sans Pro"/>
                  <a:cs typeface="Source Sans Pro"/>
                  <a:sym typeface="Source Sans Pro"/>
                </a:rPr>
                <a:t>Vertical writing</a:t>
              </a:r>
              <a:endParaRPr sz="1200">
                <a:solidFill>
                  <a:schemeClr val="dk2"/>
                </a:solidFil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Property ─ Inside</a:t>
            </a:r>
            <a:endParaRPr/>
          </a:p>
        </p:txBody>
      </p:sp>
      <p:sp>
        <p:nvSpPr>
          <p:cNvPr id="551" name="Google Shape;551;p7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65</a:t>
            </a:fld>
            <a:endParaRPr>
              <a:solidFill>
                <a:schemeClr val="lt2"/>
              </a:solidFill>
            </a:endParaRPr>
          </a:p>
        </p:txBody>
      </p:sp>
      <p:sp>
        <p:nvSpPr>
          <p:cNvPr id="552" name="Google Shape;552;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a:t>Flow</a:t>
            </a:r>
            <a:endParaRPr/>
          </a:p>
          <a:p>
            <a:pPr marL="914400" lvl="1" indent="-310832" algn="l" rtl="0">
              <a:spcBef>
                <a:spcPts val="0"/>
              </a:spcBef>
              <a:spcAft>
                <a:spcPts val="0"/>
              </a:spcAft>
              <a:buSzPct val="100000"/>
              <a:buChar char="○"/>
            </a:pPr>
            <a:r>
              <a:rPr lang="en"/>
              <a:t>The element lays out its contents using flow layout (block-and-inline layout).</a:t>
            </a:r>
            <a:endParaRPr/>
          </a:p>
          <a:p>
            <a:pPr marL="457200" lvl="0" indent="-334328" algn="l" rtl="0">
              <a:spcBef>
                <a:spcPts val="0"/>
              </a:spcBef>
              <a:spcAft>
                <a:spcPts val="0"/>
              </a:spcAft>
              <a:buSzPct val="100000"/>
              <a:buChar char="●"/>
            </a:pPr>
            <a:r>
              <a:rPr lang="en"/>
              <a:t>Flow-root</a:t>
            </a:r>
            <a:endParaRPr/>
          </a:p>
          <a:p>
            <a:pPr marL="914400" lvl="1" indent="-310832" algn="l" rtl="0">
              <a:spcBef>
                <a:spcPts val="0"/>
              </a:spcBef>
              <a:spcAft>
                <a:spcPts val="0"/>
              </a:spcAft>
              <a:buSzPct val="100000"/>
              <a:buChar char="○"/>
            </a:pPr>
            <a:r>
              <a:rPr lang="en"/>
              <a:t>The element generates a block box that establishes a new block formatting context, defining where the formatting root lies.</a:t>
            </a:r>
            <a:endParaRPr/>
          </a:p>
          <a:p>
            <a:pPr marL="457200" lvl="0" indent="-334328" algn="l" rtl="0">
              <a:spcBef>
                <a:spcPts val="0"/>
              </a:spcBef>
              <a:spcAft>
                <a:spcPts val="0"/>
              </a:spcAft>
              <a:buSzPct val="100000"/>
              <a:buChar char="●"/>
            </a:pPr>
            <a:r>
              <a:rPr lang="en"/>
              <a:t>Table</a:t>
            </a:r>
            <a:endParaRPr/>
          </a:p>
          <a:p>
            <a:pPr marL="914400" lvl="1" indent="-310832" algn="l" rtl="0">
              <a:spcBef>
                <a:spcPts val="0"/>
              </a:spcBef>
              <a:spcAft>
                <a:spcPts val="0"/>
              </a:spcAft>
              <a:buSzPct val="100000"/>
              <a:buChar char="○"/>
            </a:pPr>
            <a:r>
              <a:rPr lang="en"/>
              <a:t>These elements behave like HTML &lt;table&gt; elements. It defines a block-level box.</a:t>
            </a:r>
            <a:endParaRPr/>
          </a:p>
          <a:p>
            <a:pPr marL="457200" lvl="0" indent="-334328" algn="l" rtl="0">
              <a:spcBef>
                <a:spcPts val="0"/>
              </a:spcBef>
              <a:spcAft>
                <a:spcPts val="0"/>
              </a:spcAft>
              <a:buSzPct val="100000"/>
              <a:buChar char="●"/>
            </a:pPr>
            <a:r>
              <a:rPr lang="en" u="sng">
                <a:solidFill>
                  <a:schemeClr val="hlink"/>
                </a:solidFill>
                <a:hlinkClick r:id="rId3" action="ppaction://hlinksldjump"/>
              </a:rPr>
              <a:t>Flex</a:t>
            </a:r>
            <a:endParaRPr/>
          </a:p>
          <a:p>
            <a:pPr marL="914400" lvl="1" indent="-310832" algn="l" rtl="0">
              <a:spcBef>
                <a:spcPts val="0"/>
              </a:spcBef>
              <a:spcAft>
                <a:spcPts val="0"/>
              </a:spcAft>
              <a:buSzPct val="100000"/>
              <a:buChar char="○"/>
            </a:pPr>
            <a:r>
              <a:rPr lang="en"/>
              <a:t>The element behaves like a block-level element and lays out its content according to the flexbox model.</a:t>
            </a:r>
            <a:endParaRPr/>
          </a:p>
          <a:p>
            <a:pPr marL="457200" lvl="0" indent="-334328" algn="l" rtl="0">
              <a:spcBef>
                <a:spcPts val="0"/>
              </a:spcBef>
              <a:spcAft>
                <a:spcPts val="0"/>
              </a:spcAft>
              <a:buSzPct val="100000"/>
              <a:buChar char="●"/>
            </a:pPr>
            <a:r>
              <a:rPr lang="en"/>
              <a:t>Grid</a:t>
            </a:r>
            <a:endParaRPr/>
          </a:p>
          <a:p>
            <a:pPr marL="914400" lvl="1" indent="-310832" algn="l" rtl="0">
              <a:spcBef>
                <a:spcPts val="0"/>
              </a:spcBef>
              <a:spcAft>
                <a:spcPts val="0"/>
              </a:spcAft>
              <a:buSzPct val="100000"/>
              <a:buChar char="○"/>
            </a:pPr>
            <a:r>
              <a:rPr lang="en"/>
              <a:t>The element behaves like a block-level element and lays out its content according to the grid model.</a:t>
            </a:r>
            <a:endParaRPr/>
          </a:p>
          <a:p>
            <a:pPr marL="457200" lvl="0" indent="-334328" algn="l" rtl="0">
              <a:spcBef>
                <a:spcPts val="0"/>
              </a:spcBef>
              <a:spcAft>
                <a:spcPts val="0"/>
              </a:spcAft>
              <a:buSzPct val="100000"/>
              <a:buChar char="●"/>
            </a:pPr>
            <a:r>
              <a:rPr lang="en"/>
              <a:t>Ruby</a:t>
            </a:r>
            <a:endParaRPr/>
          </a:p>
          <a:p>
            <a:pPr marL="914400" lvl="1" indent="-310832" algn="l" rtl="0">
              <a:spcBef>
                <a:spcPts val="0"/>
              </a:spcBef>
              <a:spcAft>
                <a:spcPts val="0"/>
              </a:spcAft>
              <a:buSzPct val="100000"/>
              <a:buChar char="○"/>
            </a:pPr>
            <a:r>
              <a:rPr lang="en"/>
              <a:t>The element behaves like an inline-level element and lays out its content according to the ruby formatting model. It behaves like the corresponding HTML &lt;ruby&gt; elements.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7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Property ─ List Item</a:t>
            </a:r>
            <a:endParaRPr/>
          </a:p>
        </p:txBody>
      </p:sp>
      <p:sp>
        <p:nvSpPr>
          <p:cNvPr id="558" name="Google Shape;558;p7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66</a:t>
            </a:fld>
            <a:endParaRPr>
              <a:solidFill>
                <a:schemeClr val="lt2"/>
              </a:solidFill>
            </a:endParaRPr>
          </a:p>
        </p:txBody>
      </p:sp>
      <p:sp>
        <p:nvSpPr>
          <p:cNvPr id="559" name="Google Shape;559;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element generates a block box for the content and a separate list-item inline box.</a:t>
            </a:r>
            <a:endParaRPr/>
          </a:p>
          <a:p>
            <a:pPr marL="914400" lvl="1" indent="-317500" algn="l" rtl="0">
              <a:spcBef>
                <a:spcPts val="0"/>
              </a:spcBef>
              <a:spcAft>
                <a:spcPts val="0"/>
              </a:spcAft>
              <a:buSzPts val="1400"/>
              <a:buChar char="○"/>
            </a:pPr>
            <a:r>
              <a:rPr lang="en"/>
              <a:t>Generates a ::marker pseudo-element with the content specified by its list-style properties (for example a bullet point) together with a principal box of the specified type for its own contents.</a:t>
            </a:r>
            <a:endParaRPr/>
          </a:p>
          <a:p>
            <a:pPr marL="457200" lvl="0" indent="-342900" algn="l" rtl="0">
              <a:spcBef>
                <a:spcPts val="0"/>
              </a:spcBef>
              <a:spcAft>
                <a:spcPts val="0"/>
              </a:spcAft>
              <a:buSzPts val="1800"/>
              <a:buChar char="●"/>
            </a:pPr>
            <a:r>
              <a:rPr lang="en"/>
              <a:t>A single value of list-item will cause the element to behave like a list item. This can be used together with list-style-type and list-style-position.</a:t>
            </a:r>
            <a:endParaRPr/>
          </a:p>
        </p:txBody>
      </p:sp>
      <p:sp>
        <p:nvSpPr>
          <p:cNvPr id="560" name="Google Shape;560;p77"/>
          <p:cNvSpPr txBox="1"/>
          <p:nvPr/>
        </p:nvSpPr>
        <p:spPr>
          <a:xfrm>
            <a:off x="911300" y="3084350"/>
            <a:ext cx="3000000" cy="1293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800">
                <a:solidFill>
                  <a:srgbClr val="434343"/>
                </a:solidFill>
                <a:latin typeface="Source Sans Pro"/>
                <a:ea typeface="Source Sans Pro"/>
                <a:cs typeface="Source Sans Pro"/>
                <a:sym typeface="Source Sans Pro"/>
              </a:rPr>
              <a:t>.fake-list {</a:t>
            </a:r>
            <a:endParaRPr sz="1800">
              <a:solidFill>
                <a:srgbClr val="434343"/>
              </a:solidFill>
              <a:latin typeface="Source Sans Pro"/>
              <a:ea typeface="Source Sans Pro"/>
              <a:cs typeface="Source Sans Pro"/>
              <a:sym typeface="Source Sans Pro"/>
            </a:endParaRPr>
          </a:p>
          <a:p>
            <a:pPr marL="0" lvl="0" indent="0" algn="l" rtl="0">
              <a:lnSpc>
                <a:spcPct val="100000"/>
              </a:lnSpc>
              <a:spcBef>
                <a:spcPts val="0"/>
              </a:spcBef>
              <a:spcAft>
                <a:spcPts val="0"/>
              </a:spcAft>
              <a:buNone/>
            </a:pPr>
            <a:r>
              <a:rPr lang="en" sz="1800">
                <a:solidFill>
                  <a:srgbClr val="434343"/>
                </a:solidFill>
                <a:latin typeface="Source Sans Pro"/>
                <a:ea typeface="Source Sans Pro"/>
                <a:cs typeface="Source Sans Pro"/>
                <a:sym typeface="Source Sans Pro"/>
              </a:rPr>
              <a:t>  display: list-item;</a:t>
            </a:r>
            <a:endParaRPr sz="1800">
              <a:solidFill>
                <a:srgbClr val="434343"/>
              </a:solidFill>
              <a:latin typeface="Source Sans Pro"/>
              <a:ea typeface="Source Sans Pro"/>
              <a:cs typeface="Source Sans Pro"/>
              <a:sym typeface="Source Sans Pro"/>
            </a:endParaRPr>
          </a:p>
          <a:p>
            <a:pPr marL="0" lvl="0" indent="0" algn="l" rtl="0">
              <a:lnSpc>
                <a:spcPct val="100000"/>
              </a:lnSpc>
              <a:spcBef>
                <a:spcPts val="0"/>
              </a:spcBef>
              <a:spcAft>
                <a:spcPts val="0"/>
              </a:spcAft>
              <a:buNone/>
            </a:pPr>
            <a:r>
              <a:rPr lang="en" sz="1800">
                <a:solidFill>
                  <a:srgbClr val="434343"/>
                </a:solidFill>
                <a:latin typeface="Source Sans Pro"/>
                <a:ea typeface="Source Sans Pro"/>
                <a:cs typeface="Source Sans Pro"/>
                <a:sym typeface="Source Sans Pro"/>
              </a:rPr>
              <a:t>  list-style-position: inside;</a:t>
            </a:r>
            <a:endParaRPr sz="1800">
              <a:solidFill>
                <a:srgbClr val="434343"/>
              </a:solidFill>
              <a:latin typeface="Source Sans Pro"/>
              <a:ea typeface="Source Sans Pro"/>
              <a:cs typeface="Source Sans Pro"/>
              <a:sym typeface="Source Sans Pro"/>
            </a:endParaRPr>
          </a:p>
          <a:p>
            <a:pPr marL="0" lvl="0" indent="0" algn="l" rtl="0">
              <a:lnSpc>
                <a:spcPct val="100000"/>
              </a:lnSpc>
              <a:spcBef>
                <a:spcPts val="0"/>
              </a:spcBef>
              <a:spcAft>
                <a:spcPts val="0"/>
              </a:spcAft>
              <a:buNone/>
            </a:pPr>
            <a:r>
              <a:rPr lang="en" sz="1800">
                <a:solidFill>
                  <a:srgbClr val="434343"/>
                </a:solidFill>
                <a:latin typeface="Source Sans Pro"/>
                <a:ea typeface="Source Sans Pro"/>
                <a:cs typeface="Source Sans Pro"/>
                <a:sym typeface="Source Sans Pro"/>
              </a:rPr>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7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Property ─ Box</a:t>
            </a:r>
            <a:endParaRPr/>
          </a:p>
        </p:txBody>
      </p:sp>
      <p:sp>
        <p:nvSpPr>
          <p:cNvPr id="566" name="Google Shape;566;p7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67</a:t>
            </a:fld>
            <a:endParaRPr>
              <a:solidFill>
                <a:schemeClr val="lt2"/>
              </a:solidFill>
            </a:endParaRPr>
          </a:p>
        </p:txBody>
      </p:sp>
      <p:sp>
        <p:nvSpPr>
          <p:cNvPr id="567" name="Google Shape;567;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Contents</a:t>
            </a:r>
            <a:endParaRPr dirty="0"/>
          </a:p>
          <a:p>
            <a:pPr marL="914400" lvl="1" indent="-317500" algn="l" rtl="0">
              <a:spcBef>
                <a:spcPts val="0"/>
              </a:spcBef>
              <a:spcAft>
                <a:spcPts val="0"/>
              </a:spcAft>
              <a:buSzPts val="1400"/>
              <a:buChar char="○"/>
            </a:pPr>
            <a:r>
              <a:rPr lang="en" b="1" dirty="0">
                <a:solidFill>
                  <a:srgbClr val="FF0000"/>
                </a:solidFill>
              </a:rPr>
              <a:t>These elements don't produce a specific box by themselves</a:t>
            </a:r>
            <a:r>
              <a:rPr lang="en" dirty="0"/>
              <a:t>. They are replaced by their pseudo-box and their child boxes.</a:t>
            </a:r>
            <a:endParaRPr dirty="0"/>
          </a:p>
          <a:p>
            <a:pPr marL="1371600" lvl="2" indent="-317500" algn="l" rtl="0">
              <a:spcBef>
                <a:spcPts val="0"/>
              </a:spcBef>
              <a:spcAft>
                <a:spcPts val="0"/>
              </a:spcAft>
              <a:buSzPts val="1400"/>
              <a:buChar char="■"/>
            </a:pPr>
            <a:r>
              <a:rPr lang="en" dirty="0"/>
              <a:t>Useful for scenarios with semantic tags or div soups. Styles can be applied to descendants.</a:t>
            </a:r>
            <a:endParaRPr dirty="0"/>
          </a:p>
          <a:p>
            <a:pPr marL="457200" lvl="0" indent="-342900" algn="l" rtl="0">
              <a:spcBef>
                <a:spcPts val="0"/>
              </a:spcBef>
              <a:spcAft>
                <a:spcPts val="0"/>
              </a:spcAft>
              <a:buSzPts val="1800"/>
              <a:buChar char="●"/>
            </a:pPr>
            <a:r>
              <a:rPr lang="en" dirty="0"/>
              <a:t>None</a:t>
            </a:r>
            <a:endParaRPr dirty="0"/>
          </a:p>
          <a:p>
            <a:pPr marL="914400" lvl="1" indent="-317500" algn="l" rtl="0">
              <a:spcBef>
                <a:spcPts val="0"/>
              </a:spcBef>
              <a:spcAft>
                <a:spcPts val="0"/>
              </a:spcAft>
              <a:buSzPts val="1400"/>
              <a:buChar char="○"/>
            </a:pPr>
            <a:r>
              <a:rPr lang="en" b="1" dirty="0">
                <a:solidFill>
                  <a:srgbClr val="FF0000"/>
                </a:solidFill>
              </a:rPr>
              <a:t>Turns off the display of an element so that it has no effect on layout </a:t>
            </a:r>
            <a:r>
              <a:rPr lang="en" dirty="0"/>
              <a:t>(the document is rendered as though the element did not exist).</a:t>
            </a:r>
            <a:endParaRPr dirty="0"/>
          </a:p>
          <a:p>
            <a:pPr marL="914400" lvl="1" indent="-317500" algn="l" rtl="0">
              <a:spcBef>
                <a:spcPts val="0"/>
              </a:spcBef>
              <a:spcAft>
                <a:spcPts val="0"/>
              </a:spcAft>
              <a:buSzPts val="1400"/>
              <a:buChar char="○"/>
            </a:pPr>
            <a:r>
              <a:rPr lang="en" dirty="0"/>
              <a:t>All descendant elements also have their display turned off.</a:t>
            </a:r>
            <a:endParaRPr dirty="0"/>
          </a:p>
          <a:p>
            <a:pPr marL="914400" lvl="1" indent="-317500" algn="l" rtl="0">
              <a:spcBef>
                <a:spcPts val="0"/>
              </a:spcBef>
              <a:spcAft>
                <a:spcPts val="0"/>
              </a:spcAft>
              <a:buSzPts val="1400"/>
              <a:buChar char="○"/>
            </a:pPr>
            <a:r>
              <a:rPr lang="en" dirty="0"/>
              <a:t>To have an element take up the space that it would normally take, but without actually rendering anything, use the visibility property instead.</a:t>
            </a: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7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Position Property </a:t>
            </a:r>
            <a:endParaRPr/>
          </a:p>
        </p:txBody>
      </p:sp>
      <p:sp>
        <p:nvSpPr>
          <p:cNvPr id="573" name="Google Shape;573;p7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68</a:t>
            </a:fld>
            <a:endParaRPr>
              <a:solidFill>
                <a:schemeClr val="lt2"/>
              </a:solidFill>
            </a:endParaRPr>
          </a:p>
        </p:txBody>
      </p:sp>
      <p:sp>
        <p:nvSpPr>
          <p:cNvPr id="574" name="Google Shape;574;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dirty="0"/>
              <a:t>static :  positioned element is always positioned according to the normal flow of the page.</a:t>
            </a:r>
            <a:endParaRPr dirty="0"/>
          </a:p>
          <a:p>
            <a:pPr marL="914400" lvl="1" indent="-310832" algn="l" rtl="0">
              <a:spcBef>
                <a:spcPts val="0"/>
              </a:spcBef>
              <a:spcAft>
                <a:spcPts val="0"/>
              </a:spcAft>
              <a:buSzPct val="100000"/>
              <a:buChar char="○"/>
            </a:pPr>
            <a:r>
              <a:rPr lang="en" dirty="0"/>
              <a:t>The top, right, bottom, left, and z-index properties have no effect.</a:t>
            </a:r>
            <a:endParaRPr dirty="0"/>
          </a:p>
          <a:p>
            <a:pPr marL="457200" lvl="0" indent="-334328" algn="l" rtl="0">
              <a:spcBef>
                <a:spcPts val="0"/>
              </a:spcBef>
              <a:spcAft>
                <a:spcPts val="0"/>
              </a:spcAft>
              <a:buSzPct val="100000"/>
              <a:buChar char="●"/>
            </a:pPr>
            <a:r>
              <a:rPr lang="en" dirty="0"/>
              <a:t>relative: positioned relative to its normal position</a:t>
            </a:r>
            <a:endParaRPr dirty="0"/>
          </a:p>
          <a:p>
            <a:pPr marL="457200" lvl="0" indent="-334328" algn="l" rtl="0">
              <a:spcBef>
                <a:spcPts val="0"/>
              </a:spcBef>
              <a:spcAft>
                <a:spcPts val="0"/>
              </a:spcAft>
              <a:buSzPct val="100000"/>
              <a:buChar char="●"/>
            </a:pPr>
            <a:r>
              <a:rPr lang="en" dirty="0"/>
              <a:t>absolute : positioned relative to the first parent element</a:t>
            </a:r>
            <a:endParaRPr dirty="0"/>
          </a:p>
          <a:p>
            <a:pPr marL="457200" lvl="0" indent="-334328" algn="l" rtl="0">
              <a:spcBef>
                <a:spcPts val="0"/>
              </a:spcBef>
              <a:spcAft>
                <a:spcPts val="0"/>
              </a:spcAft>
              <a:buSzPct val="100000"/>
              <a:buChar char="●"/>
            </a:pPr>
            <a:r>
              <a:rPr lang="en" dirty="0"/>
              <a:t>fixed: positioned relative to the browser window (viewport)</a:t>
            </a:r>
            <a:endParaRPr dirty="0"/>
          </a:p>
          <a:p>
            <a:pPr marL="457200" lvl="0" indent="-334328" algn="l" rtl="0">
              <a:spcBef>
                <a:spcPts val="0"/>
              </a:spcBef>
              <a:spcAft>
                <a:spcPts val="0"/>
              </a:spcAft>
              <a:buSzPct val="100000"/>
              <a:buChar char="●"/>
            </a:pPr>
            <a:r>
              <a:rPr lang="en" dirty="0"/>
              <a:t>sticky: positioned according to the normal flow of the document, and then offset relative to its nearest scrolling ancestor and containing block (nearest block-level ancestor), including table-related elements, based on the values of top, right, bottom, and left.</a:t>
            </a:r>
            <a:endParaRPr dirty="0"/>
          </a:p>
          <a:p>
            <a:pPr marL="914400" lvl="1" indent="-310832" algn="l" rtl="0">
              <a:spcBef>
                <a:spcPts val="0"/>
              </a:spcBef>
              <a:spcAft>
                <a:spcPts val="0"/>
              </a:spcAft>
              <a:buSzPct val="100000"/>
              <a:buChar char="○"/>
            </a:pPr>
            <a:r>
              <a:rPr lang="en" dirty="0"/>
              <a:t>"sticks" to its nearest ancestor that has a "scrolling mechanism"</a:t>
            </a:r>
            <a:endParaRPr dirty="0"/>
          </a:p>
          <a:p>
            <a:pPr marL="457200" lvl="0" indent="-334328" algn="l" rtl="0">
              <a:spcBef>
                <a:spcPts val="0"/>
              </a:spcBef>
              <a:spcAft>
                <a:spcPts val="0"/>
              </a:spcAft>
              <a:buSzPct val="100000"/>
              <a:buChar char="●"/>
            </a:pPr>
            <a:r>
              <a:rPr lang="en" dirty="0"/>
              <a:t>Check examples at </a:t>
            </a:r>
            <a:r>
              <a:rPr lang="en" u="sng" dirty="0">
                <a:solidFill>
                  <a:schemeClr val="hlink"/>
                </a:solidFill>
                <a:hlinkClick r:id="rId3"/>
              </a:rPr>
              <a:t>https://developer.mozilla.org/en-US/docs/Web/CSS/Reference/Properties/position</a:t>
            </a:r>
            <a:r>
              <a:rPr lang="en" dirty="0"/>
              <a:t> </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8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Position Property ─ z-index</a:t>
            </a:r>
            <a:endParaRPr/>
          </a:p>
        </p:txBody>
      </p:sp>
      <p:sp>
        <p:nvSpPr>
          <p:cNvPr id="580" name="Google Shape;580;p8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69</a:t>
            </a:fld>
            <a:endParaRPr>
              <a:solidFill>
                <a:schemeClr val="lt2"/>
              </a:solidFill>
            </a:endParaRPr>
          </a:p>
        </p:txBody>
      </p:sp>
      <p:sp>
        <p:nvSpPr>
          <p:cNvPr id="581" name="Google Shape;581;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z-index (the stack order of an element) property sets the z-order of a positioned element and its descendants or flex and grid items.</a:t>
            </a:r>
            <a:endParaRPr/>
          </a:p>
          <a:p>
            <a:pPr marL="457200" lvl="0" indent="-342900" algn="l" rtl="0">
              <a:spcBef>
                <a:spcPts val="0"/>
              </a:spcBef>
              <a:spcAft>
                <a:spcPts val="0"/>
              </a:spcAft>
              <a:buSzPts val="1800"/>
              <a:buChar char="●"/>
            </a:pPr>
            <a:r>
              <a:rPr lang="en"/>
              <a:t>Overlapping elements with a larger z-index cover those with a smaller one.</a:t>
            </a:r>
            <a:endParaRPr/>
          </a:p>
          <a:p>
            <a:pPr marL="457200" lvl="0" indent="-342900" algn="l" rtl="0">
              <a:spcBef>
                <a:spcPts val="0"/>
              </a:spcBef>
              <a:spcAft>
                <a:spcPts val="0"/>
              </a:spcAft>
              <a:buSzPts val="1800"/>
              <a:buChar char="●"/>
            </a:pPr>
            <a:r>
              <a:rPr lang="en"/>
              <a:t>If two positioned elements overlap without a z-index specified, the element positioned last in the HTML code will be shown on top.</a:t>
            </a:r>
            <a:endParaRPr/>
          </a:p>
          <a:p>
            <a:pPr marL="457200" lvl="0" indent="-342900" algn="l" rtl="0">
              <a:spcBef>
                <a:spcPts val="0"/>
              </a:spcBef>
              <a:spcAft>
                <a:spcPts val="0"/>
              </a:spcAft>
              <a:buSzPts val="1800"/>
              <a:buChar char="●"/>
            </a:pPr>
            <a:r>
              <a:rPr lang="en"/>
              <a:t>Check effects at </a:t>
            </a:r>
            <a:r>
              <a:rPr lang="en" u="sng">
                <a:solidFill>
                  <a:schemeClr val="hlink"/>
                </a:solidFill>
                <a:hlinkClick r:id="rId3"/>
              </a:rPr>
              <a:t>https://developer.mozilla.org/en-US/docs/Web/CSS/Reference/Properties/z-index</a:t>
            </a:r>
            <a:r>
              <a:rPr lang="en"/>
              <a:t>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8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Element Specific Effects</a:t>
            </a:r>
            <a:endParaRPr/>
          </a:p>
          <a:p>
            <a:pPr marL="0" lvl="0" indent="0" algn="l" rtl="0">
              <a:spcBef>
                <a:spcPts val="0"/>
              </a:spcBef>
              <a:spcAft>
                <a:spcPts val="0"/>
              </a:spcAft>
              <a:buNone/>
            </a:pPr>
            <a:endParaRPr/>
          </a:p>
        </p:txBody>
      </p:sp>
      <p:sp>
        <p:nvSpPr>
          <p:cNvPr id="587" name="Google Shape;587;p8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sp>
        <p:nvSpPr>
          <p:cNvPr id="588" name="Google Shape;588;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Any two of followings for each element: properties, functions, Pseudo-elements.</a:t>
            </a:r>
            <a:endParaRPr/>
          </a:p>
          <a:p>
            <a:pPr marL="457200" lvl="0" indent="-342900" algn="l" rtl="0">
              <a:spcBef>
                <a:spcPts val="0"/>
              </a:spcBef>
              <a:spcAft>
                <a:spcPts val="0"/>
              </a:spcAft>
              <a:buSzPts val="1800"/>
              <a:buChar char="●"/>
            </a:pPr>
            <a:r>
              <a:rPr lang="en"/>
              <a:t>Table</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https://developer.mozilla.org/en-US/docs/Web/CSS/Guides/Table</a:t>
            </a:r>
            <a:r>
              <a:rPr lang="en"/>
              <a:t> </a:t>
            </a:r>
            <a:endParaRPr/>
          </a:p>
          <a:p>
            <a:pPr marL="457200" lvl="0" indent="-342900" algn="l" rtl="0">
              <a:spcBef>
                <a:spcPts val="0"/>
              </a:spcBef>
              <a:spcAft>
                <a:spcPts val="0"/>
              </a:spcAft>
              <a:buSzPts val="1800"/>
              <a:buChar char="●"/>
            </a:pPr>
            <a:r>
              <a:rPr lang="en"/>
              <a:t>List and Counter</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https://developer.mozilla.org/en-US/docs/Web/CSS/Guides/Lists</a:t>
            </a:r>
            <a:r>
              <a:rPr lang="en"/>
              <a:t> </a:t>
            </a:r>
            <a:endParaRPr/>
          </a:p>
          <a:p>
            <a:pPr marL="457200" lvl="0" indent="-342900" algn="l" rtl="0">
              <a:spcBef>
                <a:spcPts val="0"/>
              </a:spcBef>
              <a:spcAft>
                <a:spcPts val="0"/>
              </a:spcAft>
              <a:buSzPts val="1800"/>
              <a:buChar char="●"/>
            </a:pPr>
            <a:r>
              <a:rPr lang="en"/>
              <a:t>Image</a:t>
            </a:r>
            <a:endParaRPr/>
          </a:p>
          <a:p>
            <a:pPr marL="914400" lvl="1" indent="-317500" algn="l" rtl="0">
              <a:spcBef>
                <a:spcPts val="0"/>
              </a:spcBef>
              <a:spcAft>
                <a:spcPts val="0"/>
              </a:spcAft>
              <a:buSzPts val="1400"/>
              <a:buChar char="○"/>
            </a:pPr>
            <a:r>
              <a:rPr lang="en" u="sng">
                <a:solidFill>
                  <a:schemeClr val="hlink"/>
                </a:solidFill>
                <a:hlinkClick r:id="rId5"/>
              </a:rPr>
              <a:t>https://developer.mozilla.org/en-US/docs/Web/CSS/Guides/Images</a:t>
            </a:r>
            <a:r>
              <a:rPr lang="en"/>
              <a:t> </a:t>
            </a:r>
            <a:endParaRPr/>
          </a:p>
          <a:p>
            <a:pPr marL="457200" lvl="0" indent="-342900" algn="l" rtl="0">
              <a:spcBef>
                <a:spcPts val="0"/>
              </a:spcBef>
              <a:spcAft>
                <a:spcPts val="0"/>
              </a:spcAft>
              <a:buSzPts val="1800"/>
              <a:buChar char="●"/>
            </a:pPr>
            <a:r>
              <a:rPr lang="en"/>
              <a:t>Filter</a:t>
            </a:r>
            <a:endParaRPr/>
          </a:p>
          <a:p>
            <a:pPr marL="914400" lvl="1" indent="-317500" algn="l" rtl="0">
              <a:spcBef>
                <a:spcPts val="0"/>
              </a:spcBef>
              <a:spcAft>
                <a:spcPts val="0"/>
              </a:spcAft>
              <a:buSzPts val="1400"/>
              <a:buChar char="○"/>
            </a:pPr>
            <a:r>
              <a:rPr lang="en" u="sng">
                <a:solidFill>
                  <a:schemeClr val="hlink"/>
                </a:solidFill>
                <a:hlinkClick r:id="rId6"/>
              </a:rPr>
              <a:t>https://developer.mozilla.org/en-US/docs/Web/CSS/Guides/Filter_effects</a:t>
            </a:r>
            <a:r>
              <a:rPr lang="en"/>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82"/>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t>Mastering the CSS Cascade &amp; Specificity</a:t>
            </a:r>
            <a:endParaRPr sz="3200" dirty="0"/>
          </a:p>
        </p:txBody>
      </p:sp>
      <p:sp>
        <p:nvSpPr>
          <p:cNvPr id="594" name="Google Shape;594;p8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71</a:t>
            </a:fld>
            <a:endParaRPr>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8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5 Steps of the Cascade Algorithm</a:t>
            </a:r>
            <a:endParaRPr/>
          </a:p>
          <a:p>
            <a:pPr marL="0" lvl="0" indent="0" algn="l" rtl="0">
              <a:spcBef>
                <a:spcPts val="0"/>
              </a:spcBef>
              <a:spcAft>
                <a:spcPts val="0"/>
              </a:spcAft>
              <a:buNone/>
            </a:pPr>
            <a:endParaRPr/>
          </a:p>
        </p:txBody>
      </p:sp>
      <p:sp>
        <p:nvSpPr>
          <p:cNvPr id="600" name="Google Shape;600;p8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When multiple CSS rules target the same HTML element, the browser filters and sorts them using 5 distinct steps:</a:t>
            </a:r>
            <a:endParaRPr dirty="0"/>
          </a:p>
          <a:p>
            <a:pPr marL="914400" lvl="1" indent="-317500" algn="l" rtl="0">
              <a:spcBef>
                <a:spcPts val="0"/>
              </a:spcBef>
              <a:spcAft>
                <a:spcPts val="0"/>
              </a:spcAft>
              <a:buSzPts val="1400"/>
              <a:buChar char="○"/>
            </a:pPr>
            <a:r>
              <a:rPr lang="en" dirty="0"/>
              <a:t>Relevance – Filter out non-matching rules</a:t>
            </a:r>
            <a:endParaRPr dirty="0"/>
          </a:p>
          <a:p>
            <a:pPr marL="914400" lvl="1" indent="-317500" algn="l" rtl="0">
              <a:spcBef>
                <a:spcPts val="0"/>
              </a:spcBef>
              <a:spcAft>
                <a:spcPts val="0"/>
              </a:spcAft>
              <a:buSzPts val="1400"/>
              <a:buChar char="○"/>
            </a:pPr>
            <a:r>
              <a:rPr lang="en" dirty="0"/>
              <a:t>Origin &amp; Importance – Check where the style comes from and if it has !important</a:t>
            </a:r>
            <a:endParaRPr dirty="0"/>
          </a:p>
          <a:p>
            <a:pPr marL="914400" lvl="1" indent="-317500" algn="l" rtl="0">
              <a:spcBef>
                <a:spcPts val="0"/>
              </a:spcBef>
              <a:spcAft>
                <a:spcPts val="0"/>
              </a:spcAft>
              <a:buSzPts val="1400"/>
              <a:buChar char="○"/>
            </a:pPr>
            <a:r>
              <a:rPr lang="en" dirty="0"/>
              <a:t>Specificity – Calculate the weight of the selectors</a:t>
            </a:r>
            <a:endParaRPr dirty="0"/>
          </a:p>
          <a:p>
            <a:pPr marL="914400" lvl="1" indent="-317500" algn="l" rtl="0">
              <a:spcBef>
                <a:spcPts val="0"/>
              </a:spcBef>
              <a:spcAft>
                <a:spcPts val="0"/>
              </a:spcAft>
              <a:buSzPts val="1400"/>
              <a:buChar char="○"/>
            </a:pPr>
            <a:r>
              <a:rPr lang="en" dirty="0"/>
              <a:t>Scoping Proximity – Measure DOM distance within @scope</a:t>
            </a:r>
            <a:endParaRPr dirty="0"/>
          </a:p>
          <a:p>
            <a:pPr marL="914400" lvl="1" indent="-317500" algn="l" rtl="0">
              <a:spcBef>
                <a:spcPts val="0"/>
              </a:spcBef>
              <a:spcAft>
                <a:spcPts val="0"/>
              </a:spcAft>
              <a:buSzPts val="1400"/>
              <a:buChar char="○"/>
            </a:pPr>
            <a:r>
              <a:rPr lang="en" dirty="0"/>
              <a:t>Order of Appearance – Apply the "last one wins" rule if all else is equal</a:t>
            </a:r>
            <a:endParaRPr dirty="0"/>
          </a:p>
        </p:txBody>
      </p:sp>
      <p:sp>
        <p:nvSpPr>
          <p:cNvPr id="601" name="Google Shape;601;p8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8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Origin &amp; Importance Hierarchy</a:t>
            </a:r>
            <a:endParaRPr/>
          </a:p>
          <a:p>
            <a:pPr marL="0" lvl="0" indent="0" algn="l" rtl="0">
              <a:spcBef>
                <a:spcPts val="0"/>
              </a:spcBef>
              <a:spcAft>
                <a:spcPts val="0"/>
              </a:spcAft>
              <a:buNone/>
            </a:pPr>
            <a:endParaRPr/>
          </a:p>
        </p:txBody>
      </p:sp>
      <p:sp>
        <p:nvSpPr>
          <p:cNvPr id="607" name="Google Shape;607;p8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Styles are sorted by their source and weight. The order below runs from lowest to highest precedence (the latter overrides the former):</a:t>
            </a:r>
            <a:endParaRPr dirty="0"/>
          </a:p>
          <a:p>
            <a:pPr marL="914400" lvl="1" indent="-317500" algn="l" rtl="0">
              <a:spcBef>
                <a:spcPts val="0"/>
              </a:spcBef>
              <a:spcAft>
                <a:spcPts val="0"/>
              </a:spcAft>
              <a:buSzPts val="1400"/>
              <a:buChar char="○"/>
            </a:pPr>
            <a:r>
              <a:rPr lang="en" dirty="0"/>
              <a:t>User-Agent Styles (Browser defaults)</a:t>
            </a:r>
            <a:endParaRPr dirty="0"/>
          </a:p>
          <a:p>
            <a:pPr marL="914400" lvl="1" indent="-317500" algn="l" rtl="0">
              <a:spcBef>
                <a:spcPts val="0"/>
              </a:spcBef>
              <a:spcAft>
                <a:spcPts val="0"/>
              </a:spcAft>
              <a:buSzPts val="1400"/>
              <a:buChar char="○"/>
            </a:pPr>
            <a:r>
              <a:rPr lang="en" dirty="0"/>
              <a:t>User Styles (Custom browser settings/extensions)</a:t>
            </a:r>
            <a:endParaRPr dirty="0"/>
          </a:p>
          <a:p>
            <a:pPr marL="914400" lvl="1" indent="-317500" algn="l" rtl="0">
              <a:spcBef>
                <a:spcPts val="0"/>
              </a:spcBef>
              <a:spcAft>
                <a:spcPts val="0"/>
              </a:spcAft>
              <a:buSzPts val="1400"/>
              <a:buChar char="○"/>
            </a:pPr>
            <a:r>
              <a:rPr lang="en" dirty="0"/>
              <a:t>Author Styles (Normal) (Styles written by developers—External, Embedded, Inline)</a:t>
            </a:r>
            <a:endParaRPr dirty="0"/>
          </a:p>
          <a:p>
            <a:pPr marL="914400" lvl="1" indent="-317500" algn="l" rtl="0">
              <a:spcBef>
                <a:spcPts val="0"/>
              </a:spcBef>
              <a:spcAft>
                <a:spcPts val="0"/>
              </a:spcAft>
              <a:buSzPts val="1400"/>
              <a:buChar char="○"/>
            </a:pPr>
            <a:r>
              <a:rPr lang="en" dirty="0"/>
              <a:t>CSS Animations (@keyframes execution)</a:t>
            </a:r>
            <a:endParaRPr dirty="0"/>
          </a:p>
          <a:p>
            <a:pPr marL="914400" lvl="1" indent="-317500" algn="l" rtl="0">
              <a:spcBef>
                <a:spcPts val="0"/>
              </a:spcBef>
              <a:spcAft>
                <a:spcPts val="0"/>
              </a:spcAft>
              <a:buSzPts val="1400"/>
              <a:buChar char="○"/>
            </a:pPr>
            <a:r>
              <a:rPr lang="en" dirty="0"/>
              <a:t>Author Styles (!important)</a:t>
            </a:r>
            <a:endParaRPr dirty="0"/>
          </a:p>
          <a:p>
            <a:pPr marL="914400" lvl="1" indent="-317500" algn="l" rtl="0">
              <a:spcBef>
                <a:spcPts val="0"/>
              </a:spcBef>
              <a:spcAft>
                <a:spcPts val="0"/>
              </a:spcAft>
              <a:buSzPts val="1400"/>
              <a:buChar char="○"/>
            </a:pPr>
            <a:r>
              <a:rPr lang="en" dirty="0"/>
              <a:t>User Styles (!important)</a:t>
            </a:r>
            <a:endParaRPr dirty="0"/>
          </a:p>
          <a:p>
            <a:pPr marL="914400" lvl="1" indent="-317500" algn="l" rtl="0">
              <a:spcBef>
                <a:spcPts val="0"/>
              </a:spcBef>
              <a:spcAft>
                <a:spcPts val="0"/>
              </a:spcAft>
              <a:buSzPts val="1400"/>
              <a:buChar char="○"/>
            </a:pPr>
            <a:r>
              <a:rPr lang="en" dirty="0"/>
              <a:t>User-Agent Styles (!important)</a:t>
            </a:r>
            <a:endParaRPr dirty="0"/>
          </a:p>
          <a:p>
            <a:pPr marL="914400" lvl="1" indent="-317500" algn="l" rtl="0">
              <a:spcBef>
                <a:spcPts val="0"/>
              </a:spcBef>
              <a:spcAft>
                <a:spcPts val="0"/>
              </a:spcAft>
              <a:buSzPts val="1400"/>
              <a:buChar char="○"/>
            </a:pPr>
            <a:r>
              <a:rPr lang="en" dirty="0"/>
              <a:t>CSS Transitions (Active state transitions hold the absolute highest priority)</a:t>
            </a:r>
            <a:endParaRPr dirty="0"/>
          </a:p>
        </p:txBody>
      </p:sp>
      <p:sp>
        <p:nvSpPr>
          <p:cNvPr id="608" name="Google Shape;608;p8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8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@layer Affects Precedence</a:t>
            </a:r>
            <a:endParaRPr dirty="0"/>
          </a:p>
          <a:p>
            <a:pPr marL="0" lvl="0" indent="0" algn="l" rtl="0">
              <a:spcBef>
                <a:spcPts val="0"/>
              </a:spcBef>
              <a:spcAft>
                <a:spcPts val="0"/>
              </a:spcAft>
              <a:buNone/>
            </a:pPr>
            <a:endParaRPr dirty="0"/>
          </a:p>
        </p:txBody>
      </p:sp>
      <p:sp>
        <p:nvSpPr>
          <p:cNvPr id="614" name="Google Shape;614;p8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Within the same origin (e.g., Author Styles), Cascade Layers modify the priority chain:</a:t>
            </a:r>
            <a:endParaRPr/>
          </a:p>
          <a:p>
            <a:pPr marL="914400" lvl="1" indent="-317500" algn="l" rtl="0">
              <a:spcBef>
                <a:spcPts val="0"/>
              </a:spcBef>
              <a:spcAft>
                <a:spcPts val="0"/>
              </a:spcAft>
              <a:buSzPts val="1400"/>
              <a:buChar char="○"/>
            </a:pPr>
            <a:r>
              <a:rPr lang="en"/>
              <a:t>Normal Styles: Unlayered styles always win over layered styles.</a:t>
            </a:r>
            <a:endParaRPr/>
          </a:p>
          <a:p>
            <a:pPr marL="1371600" lvl="2" indent="-317500" algn="l" rtl="0">
              <a:spcBef>
                <a:spcPts val="0"/>
              </a:spcBef>
              <a:spcAft>
                <a:spcPts val="0"/>
              </a:spcAft>
              <a:buSzPts val="1400"/>
              <a:buChar char="■"/>
            </a:pPr>
            <a:r>
              <a:rPr lang="en"/>
              <a:t>Order: Unlayered &gt; Later Layers &gt; Earlier Layers</a:t>
            </a:r>
            <a:endParaRPr/>
          </a:p>
          <a:p>
            <a:pPr marL="914400" lvl="1" indent="-317500" algn="l" rtl="0">
              <a:spcBef>
                <a:spcPts val="0"/>
              </a:spcBef>
              <a:spcAft>
                <a:spcPts val="0"/>
              </a:spcAft>
              <a:buSzPts val="1400"/>
              <a:buChar char="○"/>
            </a:pPr>
            <a:r>
              <a:rPr lang="en"/>
              <a:t>Important Styles (!important): The logic is completely reversed!</a:t>
            </a:r>
            <a:endParaRPr/>
          </a:p>
          <a:p>
            <a:pPr marL="1371600" lvl="2" indent="-317500" algn="l" rtl="0">
              <a:spcBef>
                <a:spcPts val="0"/>
              </a:spcBef>
              <a:spcAft>
                <a:spcPts val="0"/>
              </a:spcAft>
              <a:buSzPts val="1400"/>
              <a:buChar char="■"/>
            </a:pPr>
            <a:r>
              <a:rPr lang="en"/>
              <a:t>Order: Earlier Layers &gt; Later Layers &gt; Unlayered</a:t>
            </a:r>
            <a:endParaRPr/>
          </a:p>
          <a:p>
            <a:pPr marL="914400" lvl="1" indent="-317500" algn="l" rtl="0">
              <a:spcBef>
                <a:spcPts val="0"/>
              </a:spcBef>
              <a:spcAft>
                <a:spcPts val="0"/>
              </a:spcAft>
              <a:buSzPts val="1400"/>
              <a:buChar char="○"/>
            </a:pPr>
            <a:r>
              <a:rPr lang="en"/>
              <a:t>Inline Styles (style="..."): Higher than any normal layer/unlayered styles, but still overridden by any !important declaration.</a:t>
            </a:r>
            <a:endParaRPr/>
          </a:p>
        </p:txBody>
      </p:sp>
      <p:sp>
        <p:nvSpPr>
          <p:cNvPr id="615" name="Google Shape;615;p8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8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Specificity Scoring System</a:t>
            </a:r>
            <a:endParaRPr/>
          </a:p>
          <a:p>
            <a:pPr marL="0" lvl="0" indent="0" algn="l" rtl="0">
              <a:spcBef>
                <a:spcPts val="0"/>
              </a:spcBef>
              <a:spcAft>
                <a:spcPts val="0"/>
              </a:spcAft>
              <a:buNone/>
            </a:pPr>
            <a:endParaRPr/>
          </a:p>
        </p:txBody>
      </p:sp>
      <p:sp>
        <p:nvSpPr>
          <p:cNvPr id="621" name="Google Shape;621;p8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If competing rules are in the same origin and layer, the browser calculates a three-column score: (ID, CLASS, TYPE)</a:t>
            </a:r>
            <a:endParaRPr/>
          </a:p>
          <a:p>
            <a:pPr marL="914400" lvl="1" indent="-317500" algn="l" rtl="0">
              <a:spcBef>
                <a:spcPts val="0"/>
              </a:spcBef>
              <a:spcAft>
                <a:spcPts val="0"/>
              </a:spcAft>
              <a:buSzPts val="1400"/>
              <a:buChar char="○"/>
            </a:pPr>
            <a:r>
              <a:rPr lang="en"/>
              <a:t>Compared from left to right, one column at a time. A higher value in a left column wins instantly.</a:t>
            </a:r>
            <a:endParaRPr/>
          </a:p>
          <a:p>
            <a:pPr marL="1371600" lvl="2" indent="-317500" algn="l" rtl="0">
              <a:spcBef>
                <a:spcPts val="0"/>
              </a:spcBef>
              <a:spcAft>
                <a:spcPts val="0"/>
              </a:spcAft>
              <a:buSzPts val="1400"/>
              <a:buChar char="■"/>
            </a:pPr>
            <a:r>
              <a:rPr lang="en"/>
              <a:t>ID Column (1, 0, 0) – Counts ID selectors (e.g., #header).</a:t>
            </a:r>
            <a:endParaRPr/>
          </a:p>
          <a:p>
            <a:pPr marL="1371600" lvl="2" indent="-317500" algn="l" rtl="0">
              <a:spcBef>
                <a:spcPts val="0"/>
              </a:spcBef>
              <a:spcAft>
                <a:spcPts val="0"/>
              </a:spcAft>
              <a:buSzPts val="1400"/>
              <a:buChar char="■"/>
            </a:pPr>
            <a:r>
              <a:rPr lang="en"/>
              <a:t>CLASS Column (0, 1, 0) – Counts Class selectors (.btn), Attribute selectors ([type="text"]), and Pseudo-classes (:hover).</a:t>
            </a:r>
            <a:endParaRPr/>
          </a:p>
          <a:p>
            <a:pPr marL="1371600" lvl="2" indent="-317500" algn="l" rtl="0">
              <a:spcBef>
                <a:spcPts val="0"/>
              </a:spcBef>
              <a:spcAft>
                <a:spcPts val="0"/>
              </a:spcAft>
              <a:buSzPts val="1400"/>
              <a:buChar char="■"/>
            </a:pPr>
            <a:r>
              <a:rPr lang="en"/>
              <a:t>TYPE Column (0, 0, 1) – Counts Element tags (p, div) and Pseudo-elements (::before).</a:t>
            </a:r>
            <a:endParaRPr/>
          </a:p>
          <a:p>
            <a:pPr marL="914400" lvl="1" indent="-317500" algn="l" rtl="0">
              <a:spcBef>
                <a:spcPts val="0"/>
              </a:spcBef>
              <a:spcAft>
                <a:spcPts val="0"/>
              </a:spcAft>
              <a:buSzPts val="1400"/>
              <a:buChar char="○"/>
            </a:pPr>
            <a:r>
              <a:rPr lang="en"/>
              <a:t>Special Score Rules:</a:t>
            </a:r>
            <a:endParaRPr/>
          </a:p>
          <a:p>
            <a:pPr marL="1371600" lvl="2" indent="-317500" algn="l" rtl="0">
              <a:spcBef>
                <a:spcPts val="0"/>
              </a:spcBef>
              <a:spcAft>
                <a:spcPts val="0"/>
              </a:spcAft>
              <a:buSzPts val="1400"/>
              <a:buChar char="■"/>
            </a:pPr>
            <a:r>
              <a:rPr lang="en"/>
              <a:t>Universal selector (*) and :where() pseudo-class have zero weight (0, 0, 0).</a:t>
            </a:r>
            <a:endParaRPr/>
          </a:p>
          <a:p>
            <a:pPr marL="1371600" lvl="2" indent="-317500" algn="l" rtl="0">
              <a:spcBef>
                <a:spcPts val="0"/>
              </a:spcBef>
              <a:spcAft>
                <a:spcPts val="0"/>
              </a:spcAft>
              <a:buSzPts val="1400"/>
              <a:buChar char="■"/>
            </a:pPr>
            <a:r>
              <a:rPr lang="en"/>
              <a:t>:is(), :not(), and :has() have no weight themselves, but they take the weight of their most specific argument.</a:t>
            </a:r>
            <a:endParaRPr/>
          </a:p>
        </p:txBody>
      </p:sp>
      <p:sp>
        <p:nvSpPr>
          <p:cNvPr id="622" name="Google Shape;622;p8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8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Resolving Equal Specificity</a:t>
            </a:r>
            <a:endParaRPr/>
          </a:p>
          <a:p>
            <a:pPr marL="0" lvl="0" indent="0" algn="l" rtl="0">
              <a:spcBef>
                <a:spcPts val="0"/>
              </a:spcBef>
              <a:spcAft>
                <a:spcPts val="0"/>
              </a:spcAft>
              <a:buNone/>
            </a:pPr>
            <a:endParaRPr/>
          </a:p>
        </p:txBody>
      </p:sp>
      <p:sp>
        <p:nvSpPr>
          <p:cNvPr id="628" name="Google Shape;628;p8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Scoping Proximity</a:t>
            </a:r>
            <a:endParaRPr/>
          </a:p>
          <a:p>
            <a:pPr marL="914400" lvl="1" indent="-317500" algn="l" rtl="0">
              <a:spcBef>
                <a:spcPts val="0"/>
              </a:spcBef>
              <a:spcAft>
                <a:spcPts val="0"/>
              </a:spcAft>
              <a:buSzPts val="1400"/>
              <a:buChar char="○"/>
            </a:pPr>
            <a:r>
              <a:rPr lang="en"/>
              <a:t>Applies when conflicting rules are inside @scope blocks.</a:t>
            </a:r>
            <a:endParaRPr/>
          </a:p>
          <a:p>
            <a:pPr marL="914400" lvl="1" indent="-317500" algn="l" rtl="0">
              <a:spcBef>
                <a:spcPts val="0"/>
              </a:spcBef>
              <a:spcAft>
                <a:spcPts val="0"/>
              </a:spcAft>
              <a:buSzPts val="1400"/>
              <a:buChar char="○"/>
            </a:pPr>
            <a:r>
              <a:rPr lang="en"/>
              <a:t>The rule with the fewest hops (shortest DOM distance) to its scope root wins.</a:t>
            </a:r>
            <a:endParaRPr/>
          </a:p>
          <a:p>
            <a:pPr marL="457200" lvl="0" indent="-342900" algn="l" rtl="0">
              <a:spcBef>
                <a:spcPts val="0"/>
              </a:spcBef>
              <a:spcAft>
                <a:spcPts val="0"/>
              </a:spcAft>
              <a:buSzPts val="1800"/>
              <a:buChar char="●"/>
            </a:pPr>
            <a:r>
              <a:rPr lang="en"/>
              <a:t>Order of Appearance (The Final Decider)</a:t>
            </a:r>
            <a:endParaRPr/>
          </a:p>
          <a:p>
            <a:pPr marL="914400" lvl="1" indent="-317500" algn="l" rtl="0">
              <a:spcBef>
                <a:spcPts val="0"/>
              </a:spcBef>
              <a:spcAft>
                <a:spcPts val="0"/>
              </a:spcAft>
              <a:buSzPts val="1400"/>
              <a:buChar char="○"/>
            </a:pPr>
            <a:r>
              <a:rPr lang="en"/>
              <a:t>If origin, layer, specificity, and proximity are all identical, the "last one wins" rule applies.</a:t>
            </a:r>
            <a:endParaRPr/>
          </a:p>
          <a:p>
            <a:pPr marL="914400" lvl="1" indent="-317500" algn="l" rtl="0">
              <a:spcBef>
                <a:spcPts val="0"/>
              </a:spcBef>
              <a:spcAft>
                <a:spcPts val="0"/>
              </a:spcAft>
              <a:buSzPts val="1400"/>
              <a:buChar char="○"/>
            </a:pPr>
            <a:r>
              <a:rPr lang="en"/>
              <a:t>The declaration loaded later in the source code (or in a subsequent &lt;link&gt;/&lt;style&gt; tag) overrides the earlier one.</a:t>
            </a:r>
            <a:endParaRPr/>
          </a:p>
        </p:txBody>
      </p:sp>
      <p:sp>
        <p:nvSpPr>
          <p:cNvPr id="629" name="Google Shape;629;p8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Rules for Clean Architecture</a:t>
            </a:r>
            <a:endParaRPr/>
          </a:p>
          <a:p>
            <a:pPr marL="0" lvl="0" indent="0" algn="l" rtl="0">
              <a:spcBef>
                <a:spcPts val="0"/>
              </a:spcBef>
              <a:spcAft>
                <a:spcPts val="0"/>
              </a:spcAft>
              <a:buNone/>
            </a:pPr>
            <a:endParaRPr/>
          </a:p>
        </p:txBody>
      </p:sp>
      <p:sp>
        <p:nvSpPr>
          <p:cNvPr id="635" name="Google Shape;635;p8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Direct Selection &gt; Inheritance: Directly targeted elements always override styles inherited from ancestors (inherited styles have a specificity of 0).</a:t>
            </a:r>
            <a:endParaRPr/>
          </a:p>
          <a:p>
            <a:pPr marL="457200" lvl="0" indent="-342900" algn="l" rtl="0">
              <a:spcBef>
                <a:spcPts val="0"/>
              </a:spcBef>
              <a:spcAft>
                <a:spcPts val="0"/>
              </a:spcAft>
              <a:buSzPts val="1800"/>
              <a:buChar char="●"/>
            </a:pPr>
            <a:r>
              <a:rPr lang="en"/>
              <a:t>Avoid !important Weaponization: Use Cascade Layers (@layer) or manage Specificity instead of relying on !important to force overrides.</a:t>
            </a:r>
            <a:endParaRPr/>
          </a:p>
          <a:p>
            <a:pPr marL="457200" lvl="0" indent="-342900" algn="l" rtl="0">
              <a:spcBef>
                <a:spcPts val="0"/>
              </a:spcBef>
              <a:spcAft>
                <a:spcPts val="0"/>
              </a:spcAft>
              <a:buSzPts val="1800"/>
              <a:buChar char="●"/>
            </a:pPr>
            <a:r>
              <a:rPr lang="en"/>
              <a:t>Keep Specificity Low: Rely on component classes rather than deep nesting or IDs to keep your stylesheets maintainable and flexible.</a:t>
            </a:r>
            <a:endParaRPr/>
          </a:p>
          <a:p>
            <a:pPr marL="457200" lvl="0" indent="-342900" algn="l" rtl="0">
              <a:spcBef>
                <a:spcPts val="0"/>
              </a:spcBef>
              <a:spcAft>
                <a:spcPts val="0"/>
              </a:spcAft>
              <a:buSzPts val="1800"/>
              <a:buChar char="●"/>
            </a:pPr>
            <a:r>
              <a:rPr lang="en"/>
              <a:t>References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https://developer.mozilla.org/en-US/docs/Learn_web_development/Core/Styling_basics/Handling_conflicts</a:t>
            </a:r>
            <a:r>
              <a:rPr lang="en"/>
              <a:t>  </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https://developer.mozilla.org/en-US/docs/Web/CSS/Guides/Cascade/Introduction</a:t>
            </a:r>
            <a:r>
              <a:rPr lang="en"/>
              <a:t>  </a:t>
            </a:r>
            <a:endParaRPr/>
          </a:p>
        </p:txBody>
      </p:sp>
      <p:sp>
        <p:nvSpPr>
          <p:cNvPr id="636" name="Google Shape;636;p8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9"/>
          <p:cNvSpPr txBox="1">
            <a:spLocks noGrp="1"/>
          </p:cNvSpPr>
          <p:nvPr>
            <p:ph type="title"/>
          </p:nvPr>
        </p:nvSpPr>
        <p:spPr>
          <a:xfrm>
            <a:off x="485875" y="1320300"/>
            <a:ext cx="8183700" cy="1179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Advanced Selector ─ </a:t>
            </a:r>
            <a:endParaRPr/>
          </a:p>
          <a:p>
            <a:pPr marL="0" lvl="0" indent="0" algn="l" rtl="0">
              <a:spcBef>
                <a:spcPts val="0"/>
              </a:spcBef>
              <a:spcAft>
                <a:spcPts val="0"/>
              </a:spcAft>
              <a:buNone/>
            </a:pPr>
            <a:r>
              <a:rPr lang="en"/>
              <a:t>Pseudo-Class and -Element  </a:t>
            </a:r>
            <a:endParaRPr/>
          </a:p>
        </p:txBody>
      </p:sp>
      <p:sp>
        <p:nvSpPr>
          <p:cNvPr id="642" name="Google Shape;642;p8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78</a:t>
            </a:fld>
            <a:endParaRPr>
              <a:solidFill>
                <a:schemeClr val="lt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Pseudo-classes</a:t>
            </a:r>
            <a:endParaRPr/>
          </a:p>
        </p:txBody>
      </p:sp>
      <p:sp>
        <p:nvSpPr>
          <p:cNvPr id="648" name="Google Shape;648;p9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79</a:t>
            </a:fld>
            <a:endParaRPr>
              <a:solidFill>
                <a:schemeClr val="lt2"/>
              </a:solidFill>
            </a:endParaRPr>
          </a:p>
        </p:txBody>
      </p:sp>
      <p:sp>
        <p:nvSpPr>
          <p:cNvPr id="649" name="Google Shape;649;p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CSS pseudo-class is a keyword added to a selector that lets you select elements based on information that lies outside of the document tree, such as a specific state of the selected element(s).</a:t>
            </a:r>
            <a:endParaRPr/>
          </a:p>
          <a:p>
            <a:pPr marL="914400" lvl="1" indent="-317500" algn="l" rtl="0">
              <a:spcBef>
                <a:spcPts val="0"/>
              </a:spcBef>
              <a:spcAft>
                <a:spcPts val="0"/>
              </a:spcAft>
              <a:buSzPts val="1400"/>
              <a:buChar char="○"/>
            </a:pPr>
            <a:r>
              <a:rPr lang="en"/>
              <a:t>Pseudo-classes let you apply a style to an element not only in relation to the content of the document tree, but also in relation to external factors like the history of the navigator (:visited, for example), the status of its content (like :checked on certain form elements), or the position of the mouse (like :hover, which lets you know if the mouse is over an element or not).</a:t>
            </a:r>
            <a:endParaRPr/>
          </a:p>
          <a:p>
            <a:pPr marL="914400" lvl="1" indent="-317500" algn="l" rtl="0">
              <a:spcBef>
                <a:spcPts val="0"/>
              </a:spcBef>
              <a:spcAft>
                <a:spcPts val="0"/>
              </a:spcAft>
              <a:buSzPts val="1400"/>
              <a:buChar char="○"/>
            </a:pPr>
            <a:r>
              <a:rPr lang="en"/>
              <a:t>A pseudo-class consists of a colon (:) followed by the pseudo-class name (e.g., :hover).</a:t>
            </a:r>
            <a:endParaRPr/>
          </a:p>
          <a:p>
            <a:pPr marL="457200" lvl="0" indent="-342900" algn="l" rtl="0">
              <a:spcBef>
                <a:spcPts val="0"/>
              </a:spcBef>
              <a:spcAft>
                <a:spcPts val="0"/>
              </a:spcAft>
              <a:buSzPts val="1800"/>
              <a:buChar char="●"/>
            </a:pPr>
            <a:r>
              <a:rPr lang="en"/>
              <a:t>Check pseudo-class names at </a:t>
            </a:r>
            <a:r>
              <a:rPr lang="en" u="sng">
                <a:solidFill>
                  <a:schemeClr val="hlink"/>
                </a:solidFill>
                <a:hlinkClick r:id="rId3"/>
              </a:rPr>
              <a:t>https://developer.mozilla.org/en-US/docs/Web/CSS/Reference/Selectors/Pseudo-classes</a:t>
            </a:r>
            <a:r>
              <a:rPr lang="en"/>
              <a:t>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9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Pseudo-elements</a:t>
            </a:r>
            <a:endParaRPr/>
          </a:p>
        </p:txBody>
      </p:sp>
      <p:sp>
        <p:nvSpPr>
          <p:cNvPr id="655" name="Google Shape;655;p9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80</a:t>
            </a:fld>
            <a:endParaRPr>
              <a:solidFill>
                <a:schemeClr val="lt2"/>
              </a:solidFill>
            </a:endParaRPr>
          </a:p>
        </p:txBody>
      </p:sp>
      <p:sp>
        <p:nvSpPr>
          <p:cNvPr id="656" name="Google Shape;656;p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457200" lvl="0" indent="-317183" algn="l" rtl="0">
              <a:spcBef>
                <a:spcPts val="0"/>
              </a:spcBef>
              <a:spcAft>
                <a:spcPts val="0"/>
              </a:spcAft>
              <a:buSzPct val="100000"/>
              <a:buChar char="●"/>
            </a:pPr>
            <a:r>
              <a:rPr lang="en"/>
              <a:t>A CSS pseudo-element is a keyword added to a selector that lets you style a specific part of the selected element(s).</a:t>
            </a:r>
            <a:endParaRPr/>
          </a:p>
          <a:p>
            <a:pPr marL="457200" lvl="0" indent="-317183" algn="l" rtl="0">
              <a:spcBef>
                <a:spcPts val="0"/>
              </a:spcBef>
              <a:spcAft>
                <a:spcPts val="0"/>
              </a:spcAft>
              <a:buSzPct val="100000"/>
              <a:buChar char="●"/>
            </a:pPr>
            <a:r>
              <a:rPr lang="en"/>
              <a:t>Syntax</a:t>
            </a:r>
            <a:endParaRPr/>
          </a:p>
          <a:p>
            <a:pPr marL="457200" lvl="0" indent="0" algn="l" rtl="0">
              <a:lnSpc>
                <a:spcPct val="100000"/>
              </a:lnSpc>
              <a:spcBef>
                <a:spcPts val="1000"/>
              </a:spcBef>
              <a:spcAft>
                <a:spcPts val="0"/>
              </a:spcAft>
              <a:buNone/>
            </a:pPr>
            <a:r>
              <a:rPr lang="en"/>
              <a:t>selector::pseudo-element {</a:t>
            </a:r>
            <a:endParaRPr/>
          </a:p>
          <a:p>
            <a:pPr marL="457200" lvl="0" indent="0" algn="l" rtl="0">
              <a:lnSpc>
                <a:spcPct val="100000"/>
              </a:lnSpc>
              <a:spcBef>
                <a:spcPts val="0"/>
              </a:spcBef>
              <a:spcAft>
                <a:spcPts val="0"/>
              </a:spcAft>
              <a:buNone/>
            </a:pPr>
            <a:r>
              <a:rPr lang="en"/>
              <a:t>  property: value;</a:t>
            </a:r>
            <a:endParaRPr/>
          </a:p>
          <a:p>
            <a:pPr marL="457200" lvl="0" indent="0" algn="l" rtl="0">
              <a:lnSpc>
                <a:spcPct val="100000"/>
              </a:lnSpc>
              <a:spcBef>
                <a:spcPts val="0"/>
              </a:spcBef>
              <a:spcAft>
                <a:spcPts val="0"/>
              </a:spcAft>
              <a:buNone/>
            </a:pPr>
            <a:r>
              <a:rPr lang="en"/>
              <a:t>}</a:t>
            </a:r>
            <a:endParaRPr/>
          </a:p>
          <a:p>
            <a:pPr marL="457200" lvl="0" indent="-317183" algn="l" rtl="0">
              <a:lnSpc>
                <a:spcPct val="100000"/>
              </a:lnSpc>
              <a:spcBef>
                <a:spcPts val="1000"/>
              </a:spcBef>
              <a:spcAft>
                <a:spcPts val="0"/>
              </a:spcAft>
              <a:buSzPct val="100000"/>
              <a:buChar char="●"/>
            </a:pPr>
            <a:r>
              <a:rPr lang="en"/>
              <a:t>For example, ::first-line can be used to change the font of the first line of a paragraph.</a:t>
            </a:r>
            <a:endParaRPr/>
          </a:p>
          <a:p>
            <a:pPr marL="457200" lvl="0" indent="0" algn="l" rtl="0">
              <a:lnSpc>
                <a:spcPct val="100000"/>
              </a:lnSpc>
              <a:spcBef>
                <a:spcPts val="1000"/>
              </a:spcBef>
              <a:spcAft>
                <a:spcPts val="0"/>
              </a:spcAft>
              <a:buNone/>
            </a:pPr>
            <a:r>
              <a:rPr lang="en"/>
              <a:t>/* The first line of every &lt;p&gt; element. */</a:t>
            </a:r>
            <a:endParaRPr/>
          </a:p>
          <a:p>
            <a:pPr marL="457200" lvl="0" indent="0" algn="l" rtl="0">
              <a:lnSpc>
                <a:spcPct val="100000"/>
              </a:lnSpc>
              <a:spcBef>
                <a:spcPts val="0"/>
              </a:spcBef>
              <a:spcAft>
                <a:spcPts val="0"/>
              </a:spcAft>
              <a:buNone/>
            </a:pPr>
            <a:r>
              <a:rPr lang="en"/>
              <a:t>p::first-line {</a:t>
            </a:r>
            <a:endParaRPr/>
          </a:p>
          <a:p>
            <a:pPr marL="457200" lvl="0" indent="0" algn="l" rtl="0">
              <a:lnSpc>
                <a:spcPct val="100000"/>
              </a:lnSpc>
              <a:spcBef>
                <a:spcPts val="0"/>
              </a:spcBef>
              <a:spcAft>
                <a:spcPts val="0"/>
              </a:spcAft>
              <a:buNone/>
            </a:pPr>
            <a:r>
              <a:rPr lang="en"/>
              <a:t>  color: blue;</a:t>
            </a:r>
            <a:endParaRPr/>
          </a:p>
          <a:p>
            <a:pPr marL="457200" lvl="0" indent="0" algn="l" rtl="0">
              <a:lnSpc>
                <a:spcPct val="100000"/>
              </a:lnSpc>
              <a:spcBef>
                <a:spcPts val="0"/>
              </a:spcBef>
              <a:spcAft>
                <a:spcPts val="0"/>
              </a:spcAft>
              <a:buNone/>
            </a:pPr>
            <a:r>
              <a:rPr lang="en"/>
              <a:t>  text-transform: uppercase;</a:t>
            </a:r>
            <a:endParaRPr/>
          </a:p>
          <a:p>
            <a:pPr marL="457200" lvl="0" indent="0" algn="l" rtl="0">
              <a:lnSpc>
                <a:spcPct val="100000"/>
              </a:lnSpc>
              <a:spcBef>
                <a:spcPts val="0"/>
              </a:spcBef>
              <a:spcAft>
                <a:spcPts val="0"/>
              </a:spcAft>
              <a:buNone/>
            </a:pPr>
            <a:r>
              <a:rPr lang="en"/>
              <a:t>}</a:t>
            </a:r>
            <a:endParaRPr/>
          </a:p>
          <a:p>
            <a:pPr marL="457200" lvl="0" indent="-317183" algn="l" rtl="0">
              <a:spcBef>
                <a:spcPts val="1000"/>
              </a:spcBef>
              <a:spcAft>
                <a:spcPts val="0"/>
              </a:spcAft>
              <a:buSzPct val="100000"/>
              <a:buChar char="●"/>
            </a:pPr>
            <a:r>
              <a:rPr lang="en"/>
              <a:t>Check pseudo-element names at </a:t>
            </a:r>
            <a:r>
              <a:rPr lang="en" u="sng">
                <a:solidFill>
                  <a:schemeClr val="hlink"/>
                </a:solidFill>
                <a:hlinkClick r:id="rId3"/>
              </a:rPr>
              <a:t>https://developer.mozilla.org/en-US/docs/Web/CSS/Reference/Selectors/Pseudo-elements</a:t>
            </a:r>
            <a:r>
              <a:rPr lang="en"/>
              <a:t>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92"/>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Layout Design </a:t>
            </a:r>
            <a:endParaRPr/>
          </a:p>
        </p:txBody>
      </p:sp>
      <p:sp>
        <p:nvSpPr>
          <p:cNvPr id="662" name="Google Shape;662;p9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81</a:t>
            </a:fld>
            <a:endParaRPr>
              <a:solidFill>
                <a:schemeClr val="lt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9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Flow Layout</a:t>
            </a:r>
            <a:endParaRPr/>
          </a:p>
        </p:txBody>
      </p:sp>
      <p:sp>
        <p:nvSpPr>
          <p:cNvPr id="668" name="Google Shape;668;p9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82</a:t>
            </a:fld>
            <a:endParaRPr>
              <a:solidFill>
                <a:schemeClr val="lt2"/>
              </a:solidFill>
            </a:endParaRPr>
          </a:p>
        </p:txBody>
      </p:sp>
      <p:sp>
        <p:nvSpPr>
          <p:cNvPr id="669" name="Google Shape;669;p9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Normal Flow, or Flow Layout, is the way that block and inline elements are displayed on a page before any changes are made to their layout.</a:t>
            </a:r>
            <a:endParaRPr/>
          </a:p>
          <a:p>
            <a:pPr marL="457200" lvl="0" indent="-342900" algn="l" rtl="0">
              <a:spcBef>
                <a:spcPts val="0"/>
              </a:spcBef>
              <a:spcAft>
                <a:spcPts val="0"/>
              </a:spcAft>
              <a:buSzPts val="1800"/>
              <a:buChar char="●"/>
            </a:pPr>
            <a:r>
              <a:rPr lang="en"/>
              <a:t>Once something is taken out of flow it works independently.</a:t>
            </a:r>
            <a:endParaRPr/>
          </a:p>
          <a:p>
            <a:pPr marL="457200" lvl="0" indent="-342900" algn="l" rtl="0">
              <a:spcBef>
                <a:spcPts val="0"/>
              </a:spcBef>
              <a:spcAft>
                <a:spcPts val="0"/>
              </a:spcAft>
              <a:buSzPts val="1800"/>
              <a:buChar char="●"/>
            </a:pPr>
            <a:r>
              <a:rPr lang="en" u="sng">
                <a:solidFill>
                  <a:schemeClr val="hlink"/>
                </a:solidFill>
                <a:hlinkClick r:id="rId3" action="ppaction://hlinksldjump"/>
              </a:rPr>
              <a:t>Flow layout and writing mode</a:t>
            </a:r>
            <a:r>
              <a:rPr lang="en"/>
              <a:t>.</a:t>
            </a:r>
            <a:endParaRPr/>
          </a:p>
          <a:p>
            <a:pPr marL="457200" lvl="0" indent="-342900" algn="l" rtl="0">
              <a:spcBef>
                <a:spcPts val="0"/>
              </a:spcBef>
              <a:spcAft>
                <a:spcPts val="0"/>
              </a:spcAft>
              <a:buSzPts val="1800"/>
              <a:buChar char="●"/>
            </a:pPr>
            <a:r>
              <a:rPr lang="en"/>
              <a:t>In and out of flow by example: </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https://developer.mozilla.org/en-US/docs/Web/CSS/Guides/Display/In_flow_and_out_of_flow</a:t>
            </a:r>
            <a:r>
              <a:rPr lang="en"/>
              <a:t> </a:t>
            </a:r>
            <a:endParaRPr/>
          </a:p>
          <a:p>
            <a:pPr marL="457200" lvl="0" indent="-342900" algn="l" rtl="0">
              <a:spcBef>
                <a:spcPts val="0"/>
              </a:spcBef>
              <a:spcAft>
                <a:spcPts val="0"/>
              </a:spcAft>
              <a:buSzPts val="1800"/>
              <a:buChar char="●"/>
            </a:pPr>
            <a:r>
              <a:rPr lang="en" u="sng">
                <a:solidFill>
                  <a:schemeClr val="hlink"/>
                </a:solidFill>
                <a:hlinkClick r:id="rId5" action="ppaction://hlinksldjump"/>
              </a:rPr>
              <a:t>Box Model ─ float property</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9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Multi-Column Layouts</a:t>
            </a:r>
            <a:endParaRPr/>
          </a:p>
        </p:txBody>
      </p:sp>
      <p:sp>
        <p:nvSpPr>
          <p:cNvPr id="675" name="Google Shape;675;p9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a:t>Multi-column layout, usually referred to as multicol layout, is a specification for laying out content into a set of column boxes much like columns in a newspaper.</a:t>
            </a:r>
            <a:endParaRPr/>
          </a:p>
          <a:p>
            <a:pPr marL="914400" lvl="1" indent="-304165" algn="l" rtl="0">
              <a:spcBef>
                <a:spcPts val="0"/>
              </a:spcBef>
              <a:spcAft>
                <a:spcPts val="0"/>
              </a:spcAft>
              <a:buSzPct val="100000"/>
              <a:buChar char="○"/>
            </a:pPr>
            <a:r>
              <a:rPr lang="en"/>
              <a:t>It fragments the content, including all descendant elements, into columns.</a:t>
            </a:r>
            <a:endParaRPr/>
          </a:p>
          <a:p>
            <a:pPr marL="457200" lvl="0" indent="-325755" algn="l" rtl="0">
              <a:spcBef>
                <a:spcPts val="0"/>
              </a:spcBef>
              <a:spcAft>
                <a:spcPts val="0"/>
              </a:spcAft>
              <a:buSzPct val="100000"/>
              <a:buChar char="●"/>
            </a:pPr>
            <a:r>
              <a:rPr lang="en"/>
              <a:t>Column-count property</a:t>
            </a:r>
            <a:endParaRPr/>
          </a:p>
          <a:p>
            <a:pPr marL="914400" lvl="1" indent="-304165" algn="l" rtl="0">
              <a:spcBef>
                <a:spcPts val="0"/>
              </a:spcBef>
              <a:spcAft>
                <a:spcPts val="0"/>
              </a:spcAft>
              <a:buSzPct val="100000"/>
              <a:buChar char="○"/>
            </a:pPr>
            <a:r>
              <a:rPr lang="en"/>
              <a:t>Specifies the number of columns that you would like the content to be displayed as.</a:t>
            </a:r>
            <a:endParaRPr/>
          </a:p>
          <a:p>
            <a:pPr marL="457200" lvl="0" indent="-325755" algn="l" rtl="0">
              <a:spcBef>
                <a:spcPts val="0"/>
              </a:spcBef>
              <a:spcAft>
                <a:spcPts val="0"/>
              </a:spcAft>
              <a:buSzPct val="100000"/>
              <a:buChar char="●"/>
            </a:pPr>
            <a:r>
              <a:rPr lang="en"/>
              <a:t>Column-width property</a:t>
            </a:r>
            <a:endParaRPr/>
          </a:p>
          <a:p>
            <a:pPr marL="914400" lvl="1" indent="-304165" algn="l" rtl="0">
              <a:spcBef>
                <a:spcPts val="0"/>
              </a:spcBef>
              <a:spcAft>
                <a:spcPts val="0"/>
              </a:spcAft>
              <a:buSzPct val="100000"/>
              <a:buChar char="○"/>
            </a:pPr>
            <a:r>
              <a:rPr lang="en"/>
              <a:t>Sets the optimal width for every column box.</a:t>
            </a:r>
            <a:endParaRPr/>
          </a:p>
          <a:p>
            <a:pPr marL="914400" lvl="1" indent="-304165" algn="l" rtl="0">
              <a:spcBef>
                <a:spcPts val="0"/>
              </a:spcBef>
              <a:spcAft>
                <a:spcPts val="0"/>
              </a:spcAft>
              <a:buSzPct val="100000"/>
              <a:buChar char="○"/>
            </a:pPr>
            <a:r>
              <a:rPr lang="en"/>
              <a:t>Browsers work out how many columns of that width will fit into the multicol container and distribute any extra space equally between the columns.</a:t>
            </a:r>
            <a:endParaRPr/>
          </a:p>
          <a:p>
            <a:pPr marL="457200" lvl="0" indent="-325755" algn="l" rtl="0">
              <a:spcBef>
                <a:spcPts val="0"/>
              </a:spcBef>
              <a:spcAft>
                <a:spcPts val="0"/>
              </a:spcAft>
              <a:buSzPct val="100000"/>
              <a:buChar char="●"/>
            </a:pPr>
            <a:r>
              <a:rPr lang="en"/>
              <a:t>Specifying both number and width of columns</a:t>
            </a:r>
            <a:endParaRPr/>
          </a:p>
          <a:p>
            <a:pPr marL="914400" lvl="1" indent="-304165" algn="l" rtl="0">
              <a:spcBef>
                <a:spcPts val="0"/>
              </a:spcBef>
              <a:spcAft>
                <a:spcPts val="0"/>
              </a:spcAft>
              <a:buSzPct val="100000"/>
              <a:buChar char="○"/>
            </a:pPr>
            <a:r>
              <a:rPr lang="en"/>
              <a:t>The behavior as described for column-width will happen, until the number of columns in column-count is reached.</a:t>
            </a:r>
            <a:endParaRPr/>
          </a:p>
          <a:p>
            <a:pPr marL="457200" lvl="0" indent="-325755" algn="l" rtl="0">
              <a:spcBef>
                <a:spcPts val="0"/>
              </a:spcBef>
              <a:spcAft>
                <a:spcPts val="0"/>
              </a:spcAft>
              <a:buSzPct val="100000"/>
              <a:buChar char="●"/>
            </a:pPr>
            <a:r>
              <a:rPr lang="en"/>
              <a:t>Columns property</a:t>
            </a:r>
            <a:endParaRPr/>
          </a:p>
          <a:p>
            <a:pPr marL="914400" lvl="1" indent="-304165" algn="l" rtl="0">
              <a:spcBef>
                <a:spcPts val="0"/>
              </a:spcBef>
              <a:spcAft>
                <a:spcPts val="0"/>
              </a:spcAft>
              <a:buSzPct val="100000"/>
              <a:buChar char="○"/>
            </a:pPr>
            <a:r>
              <a:rPr lang="en"/>
              <a:t>You can use the columns shorthand to set the column-count and column-width values.</a:t>
            </a:r>
            <a:endParaRPr/>
          </a:p>
          <a:p>
            <a:pPr marL="457200" lvl="0" indent="-325755" algn="l" rtl="0">
              <a:spcBef>
                <a:spcPts val="0"/>
              </a:spcBef>
              <a:spcAft>
                <a:spcPts val="0"/>
              </a:spcAft>
              <a:buSzPct val="100000"/>
              <a:buChar char="●"/>
            </a:pPr>
            <a:r>
              <a:rPr lang="en"/>
              <a:t>Check more properties at</a:t>
            </a:r>
            <a:endParaRPr/>
          </a:p>
          <a:p>
            <a:pPr marL="914400" lvl="1" indent="-304165" algn="l" rtl="0">
              <a:spcBef>
                <a:spcPts val="0"/>
              </a:spcBef>
              <a:spcAft>
                <a:spcPts val="0"/>
              </a:spcAft>
              <a:buSzPct val="100000"/>
              <a:buChar char="○"/>
            </a:pPr>
            <a:r>
              <a:rPr lang="en" u="sng">
                <a:solidFill>
                  <a:schemeClr val="hlink"/>
                </a:solidFill>
                <a:hlinkClick r:id="rId3"/>
              </a:rPr>
              <a:t>https://developer.mozilla.org/en-US/docs/Web/CSS/Guides/Multicol_layout/Basic_concepts</a:t>
            </a:r>
            <a:r>
              <a:rPr lang="en"/>
              <a:t> </a:t>
            </a:r>
            <a:endParaRPr/>
          </a:p>
        </p:txBody>
      </p:sp>
      <p:sp>
        <p:nvSpPr>
          <p:cNvPr id="676" name="Google Shape;676;p9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9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Multi-Column Layout</a:t>
            </a:r>
            <a:endParaRPr/>
          </a:p>
        </p:txBody>
      </p:sp>
      <p:sp>
        <p:nvSpPr>
          <p:cNvPr id="682" name="Google Shape;682;p9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84</a:t>
            </a:fld>
            <a:endParaRPr/>
          </a:p>
        </p:txBody>
      </p:sp>
      <p:pic>
        <p:nvPicPr>
          <p:cNvPr id="683" name="Google Shape;683;p95"/>
          <p:cNvPicPr preferRelativeResize="0"/>
          <p:nvPr/>
        </p:nvPicPr>
        <p:blipFill>
          <a:blip r:embed="rId3">
            <a:alphaModFix/>
          </a:blip>
          <a:stretch>
            <a:fillRect/>
          </a:stretch>
        </p:blipFill>
        <p:spPr>
          <a:xfrm>
            <a:off x="275075" y="1395550"/>
            <a:ext cx="3615400" cy="3293200"/>
          </a:xfrm>
          <a:prstGeom prst="rect">
            <a:avLst/>
          </a:prstGeom>
          <a:noFill/>
          <a:ln w="9525" cap="flat" cmpd="sng">
            <a:solidFill>
              <a:schemeClr val="dk2"/>
            </a:solidFill>
            <a:prstDash val="solid"/>
            <a:round/>
            <a:headEnd type="none" w="sm" len="sm"/>
            <a:tailEnd type="none" w="sm" len="sm"/>
          </a:ln>
        </p:spPr>
      </p:pic>
      <p:sp>
        <p:nvSpPr>
          <p:cNvPr id="684" name="Google Shape;684;p95"/>
          <p:cNvSpPr txBox="1"/>
          <p:nvPr/>
        </p:nvSpPr>
        <p:spPr>
          <a:xfrm>
            <a:off x="4388300" y="1225800"/>
            <a:ext cx="4109700" cy="363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800000"/>
                </a:solidFill>
                <a:highlight>
                  <a:srgbClr val="FFFFFF"/>
                </a:highlight>
                <a:latin typeface="Courier New"/>
                <a:ea typeface="Courier New"/>
                <a:cs typeface="Courier New"/>
                <a:sym typeface="Courier New"/>
              </a:rPr>
              <a:t>h2</a:t>
            </a:r>
            <a:r>
              <a:rPr lang="en">
                <a:solidFill>
                  <a:schemeClr val="dk2"/>
                </a:solidFill>
                <a:highlight>
                  <a:srgbClr val="FFFFFF"/>
                </a:highlight>
                <a:latin typeface="Courier New"/>
                <a:ea typeface="Courier New"/>
                <a:cs typeface="Courier New"/>
                <a:sym typeface="Courier New"/>
              </a:rPr>
              <a:t> {</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column-span</a:t>
            </a:r>
            <a:r>
              <a:rPr lang="en">
                <a:solidFill>
                  <a:schemeClr val="dk2"/>
                </a:solidFill>
                <a:highlight>
                  <a:srgbClr val="FFFFFF"/>
                </a:highlight>
                <a:latin typeface="Courier New"/>
                <a:ea typeface="Courier New"/>
                <a:cs typeface="Courier New"/>
                <a:sym typeface="Courier New"/>
              </a:rPr>
              <a:t>: </a:t>
            </a:r>
            <a:r>
              <a:rPr lang="en">
                <a:solidFill>
                  <a:srgbClr val="0451A5"/>
                </a:solidFill>
                <a:highlight>
                  <a:srgbClr val="FFFFFF"/>
                </a:highlight>
                <a:latin typeface="Courier New"/>
                <a:ea typeface="Courier New"/>
                <a:cs typeface="Courier New"/>
                <a:sym typeface="Courier New"/>
              </a:rPr>
              <a:t>all</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008000"/>
                </a:solidFill>
                <a:highlight>
                  <a:srgbClr val="FFFFFF"/>
                </a:highlight>
                <a:latin typeface="Courier New"/>
                <a:ea typeface="Courier New"/>
                <a:cs typeface="Courier New"/>
                <a:sym typeface="Courier New"/>
              </a:rPr>
              <a:t>/* Example using column-count */</a:t>
            </a:r>
            <a:endParaRPr>
              <a:solidFill>
                <a:srgbClr val="008000"/>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800000"/>
                </a:solidFill>
                <a:highlight>
                  <a:srgbClr val="FFFFFF"/>
                </a:highlight>
                <a:latin typeface="Courier New"/>
                <a:ea typeface="Courier New"/>
                <a:cs typeface="Courier New"/>
                <a:sym typeface="Courier New"/>
              </a:rPr>
              <a:t>.count-example</a:t>
            </a:r>
            <a:r>
              <a:rPr lang="en">
                <a:solidFill>
                  <a:schemeClr val="dk2"/>
                </a:solidFill>
                <a:highlight>
                  <a:srgbClr val="FFFFFF"/>
                </a:highlight>
                <a:latin typeface="Courier New"/>
                <a:ea typeface="Courier New"/>
                <a:cs typeface="Courier New"/>
                <a:sym typeface="Courier New"/>
              </a:rPr>
              <a:t> {</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column-count</a:t>
            </a:r>
            <a:r>
              <a:rPr lang="en">
                <a:solidFill>
                  <a:schemeClr val="dk2"/>
                </a:solidFill>
                <a:highlight>
                  <a:srgbClr val="FFFFFF"/>
                </a:highlight>
                <a:latin typeface="Courier New"/>
                <a:ea typeface="Courier New"/>
                <a:cs typeface="Courier New"/>
                <a:sym typeface="Courier New"/>
              </a:rPr>
              <a:t>: </a:t>
            </a:r>
            <a:r>
              <a:rPr lang="en">
                <a:solidFill>
                  <a:srgbClr val="098658"/>
                </a:solidFill>
                <a:highlight>
                  <a:srgbClr val="FFFFFF"/>
                </a:highlight>
                <a:latin typeface="Courier New"/>
                <a:ea typeface="Courier New"/>
                <a:cs typeface="Courier New"/>
                <a:sym typeface="Courier New"/>
              </a:rPr>
              <a:t>3</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column-gap</a:t>
            </a:r>
            <a:r>
              <a:rPr lang="en">
                <a:solidFill>
                  <a:schemeClr val="dk2"/>
                </a:solidFill>
                <a:highlight>
                  <a:srgbClr val="FFFFFF"/>
                </a:highlight>
                <a:latin typeface="Courier New"/>
                <a:ea typeface="Courier New"/>
                <a:cs typeface="Courier New"/>
                <a:sym typeface="Courier New"/>
              </a:rPr>
              <a:t>: </a:t>
            </a:r>
            <a:r>
              <a:rPr lang="en">
                <a:solidFill>
                  <a:srgbClr val="098658"/>
                </a:solidFill>
                <a:highlight>
                  <a:srgbClr val="FFFFFF"/>
                </a:highlight>
                <a:latin typeface="Courier New"/>
                <a:ea typeface="Courier New"/>
                <a:cs typeface="Courier New"/>
                <a:sym typeface="Courier New"/>
              </a:rPr>
              <a:t>1.25rem</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008000"/>
                </a:solidFill>
                <a:highlight>
                  <a:srgbClr val="FFFFFF"/>
                </a:highlight>
                <a:latin typeface="Courier New"/>
                <a:ea typeface="Courier New"/>
                <a:cs typeface="Courier New"/>
                <a:sym typeface="Courier New"/>
              </a:rPr>
              <a:t>/* Example using column-width */</a:t>
            </a:r>
            <a:endParaRPr>
              <a:solidFill>
                <a:srgbClr val="008000"/>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800000"/>
                </a:solidFill>
                <a:highlight>
                  <a:srgbClr val="FFFFFF"/>
                </a:highlight>
                <a:latin typeface="Courier New"/>
                <a:ea typeface="Courier New"/>
                <a:cs typeface="Courier New"/>
                <a:sym typeface="Courier New"/>
              </a:rPr>
              <a:t>.width-example</a:t>
            </a:r>
            <a:r>
              <a:rPr lang="en">
                <a:solidFill>
                  <a:schemeClr val="dk2"/>
                </a:solidFill>
                <a:highlight>
                  <a:srgbClr val="FFFFFF"/>
                </a:highlight>
                <a:latin typeface="Courier New"/>
                <a:ea typeface="Courier New"/>
                <a:cs typeface="Courier New"/>
                <a:sym typeface="Courier New"/>
              </a:rPr>
              <a:t> {</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column-width</a:t>
            </a:r>
            <a:r>
              <a:rPr lang="en">
                <a:solidFill>
                  <a:schemeClr val="dk2"/>
                </a:solidFill>
                <a:highlight>
                  <a:srgbClr val="FFFFFF"/>
                </a:highlight>
                <a:latin typeface="Courier New"/>
                <a:ea typeface="Courier New"/>
                <a:cs typeface="Courier New"/>
                <a:sym typeface="Courier New"/>
              </a:rPr>
              <a:t>: </a:t>
            </a:r>
            <a:r>
              <a:rPr lang="en">
                <a:solidFill>
                  <a:srgbClr val="098658"/>
                </a:solidFill>
                <a:highlight>
                  <a:srgbClr val="FFFFFF"/>
                </a:highlight>
                <a:latin typeface="Courier New"/>
                <a:ea typeface="Courier New"/>
                <a:cs typeface="Courier New"/>
                <a:sym typeface="Courier New"/>
              </a:rPr>
              <a:t>220px</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column-gap</a:t>
            </a:r>
            <a:r>
              <a:rPr lang="en">
                <a:solidFill>
                  <a:schemeClr val="dk2"/>
                </a:solidFill>
                <a:highlight>
                  <a:srgbClr val="FFFFFF"/>
                </a:highlight>
                <a:latin typeface="Courier New"/>
                <a:ea typeface="Courier New"/>
                <a:cs typeface="Courier New"/>
                <a:sym typeface="Courier New"/>
              </a:rPr>
              <a:t>: </a:t>
            </a:r>
            <a:r>
              <a:rPr lang="en">
                <a:solidFill>
                  <a:srgbClr val="098658"/>
                </a:solidFill>
                <a:highlight>
                  <a:srgbClr val="FFFFFF"/>
                </a:highlight>
                <a:latin typeface="Courier New"/>
                <a:ea typeface="Courier New"/>
                <a:cs typeface="Courier New"/>
                <a:sym typeface="Courier New"/>
              </a:rPr>
              <a:t>1rem</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   </a:t>
            </a:r>
            <a:r>
              <a:rPr lang="en">
                <a:solidFill>
                  <a:srgbClr val="E50000"/>
                </a:solidFill>
                <a:highlight>
                  <a:srgbClr val="FFFFFF"/>
                </a:highlight>
                <a:latin typeface="Courier New"/>
                <a:ea typeface="Courier New"/>
                <a:cs typeface="Courier New"/>
                <a:sym typeface="Courier New"/>
              </a:rPr>
              <a:t>column-rule</a:t>
            </a:r>
            <a:r>
              <a:rPr lang="en">
                <a:solidFill>
                  <a:schemeClr val="dk2"/>
                </a:solidFill>
                <a:highlight>
                  <a:srgbClr val="FFFFFF"/>
                </a:highlight>
                <a:latin typeface="Courier New"/>
                <a:ea typeface="Courier New"/>
                <a:cs typeface="Courier New"/>
                <a:sym typeface="Courier New"/>
              </a:rPr>
              <a:t>: </a:t>
            </a:r>
            <a:r>
              <a:rPr lang="en">
                <a:solidFill>
                  <a:srgbClr val="098658"/>
                </a:solidFill>
                <a:highlight>
                  <a:srgbClr val="FFFFFF"/>
                </a:highlight>
                <a:latin typeface="Courier New"/>
                <a:ea typeface="Courier New"/>
                <a:cs typeface="Courier New"/>
                <a:sym typeface="Courier New"/>
              </a:rPr>
              <a:t>5px</a:t>
            </a:r>
            <a:r>
              <a:rPr lang="en">
                <a:solidFill>
                  <a:schemeClr val="dk2"/>
                </a:solidFill>
                <a:highlight>
                  <a:srgbClr val="FFFFFF"/>
                </a:highlight>
                <a:latin typeface="Courier New"/>
                <a:ea typeface="Courier New"/>
                <a:cs typeface="Courier New"/>
                <a:sym typeface="Courier New"/>
              </a:rPr>
              <a:t> </a:t>
            </a:r>
            <a:r>
              <a:rPr lang="en">
                <a:solidFill>
                  <a:srgbClr val="0451A5"/>
                </a:solidFill>
                <a:highlight>
                  <a:srgbClr val="FFFFFF"/>
                </a:highlight>
                <a:latin typeface="Courier New"/>
                <a:ea typeface="Courier New"/>
                <a:cs typeface="Courier New"/>
                <a:sym typeface="Courier New"/>
              </a:rPr>
              <a:t>dashed</a:t>
            </a:r>
            <a:r>
              <a:rPr lang="en">
                <a:solidFill>
                  <a:schemeClr val="dk2"/>
                </a:solidFill>
                <a:highlight>
                  <a:srgbClr val="FFFFFF"/>
                </a:highlight>
                <a:latin typeface="Courier New"/>
                <a:ea typeface="Courier New"/>
                <a:cs typeface="Courier New"/>
                <a:sym typeface="Courier New"/>
              </a:rPr>
              <a:t> </a:t>
            </a:r>
            <a:r>
              <a:rPr lang="en">
                <a:solidFill>
                  <a:srgbClr val="0451A5"/>
                </a:solidFill>
                <a:highlight>
                  <a:srgbClr val="FFFFFF"/>
                </a:highlight>
                <a:latin typeface="Courier New"/>
                <a:ea typeface="Courier New"/>
                <a:cs typeface="Courier New"/>
                <a:sym typeface="Courier New"/>
              </a:rPr>
              <a:t>#ccc</a:t>
            </a: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chemeClr val="dk2"/>
                </a:solidFill>
                <a:highlight>
                  <a:srgbClr val="FFFFFF"/>
                </a:highlight>
                <a:latin typeface="Courier New"/>
                <a:ea typeface="Courier New"/>
                <a:cs typeface="Courier New"/>
                <a:sym typeface="Courier New"/>
              </a:rPr>
              <a:t>}</a:t>
            </a:r>
            <a:endParaRPr>
              <a:solidFill>
                <a:schemeClr val="dk2"/>
              </a:solidFill>
              <a:highlight>
                <a:srgbClr val="FFFFFF"/>
              </a:highlight>
              <a:latin typeface="Courier New"/>
              <a:ea typeface="Courier New"/>
              <a:cs typeface="Courier New"/>
              <a:sym typeface="Courier New"/>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9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Multi-Column Layout (Cont.)</a:t>
            </a:r>
            <a:endParaRPr/>
          </a:p>
        </p:txBody>
      </p:sp>
      <p:sp>
        <p:nvSpPr>
          <p:cNvPr id="690" name="Google Shape;690;p9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85</a:t>
            </a:fld>
            <a:endParaRPr/>
          </a:p>
        </p:txBody>
      </p:sp>
      <p:pic>
        <p:nvPicPr>
          <p:cNvPr id="691" name="Google Shape;691;p96"/>
          <p:cNvPicPr preferRelativeResize="0"/>
          <p:nvPr/>
        </p:nvPicPr>
        <p:blipFill>
          <a:blip r:embed="rId3">
            <a:alphaModFix/>
          </a:blip>
          <a:stretch>
            <a:fillRect/>
          </a:stretch>
        </p:blipFill>
        <p:spPr>
          <a:xfrm>
            <a:off x="390425" y="1492700"/>
            <a:ext cx="8107573" cy="22171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9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Layout</a:t>
            </a:r>
            <a:endParaRPr/>
          </a:p>
        </p:txBody>
      </p:sp>
      <p:sp>
        <p:nvSpPr>
          <p:cNvPr id="697" name="Google Shape;697;p9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86</a:t>
            </a:fld>
            <a:endParaRPr/>
          </a:p>
        </p:txBody>
      </p:sp>
      <p:sp>
        <p:nvSpPr>
          <p:cNvPr id="698" name="Google Shape;698;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Flexbox is a one-dimensional layout method for arranging items in rows or columns.</a:t>
            </a:r>
            <a:endParaRPr/>
          </a:p>
          <a:p>
            <a:pPr marL="914400" lvl="1" indent="-317500" algn="l" rtl="0">
              <a:spcBef>
                <a:spcPts val="0"/>
              </a:spcBef>
              <a:spcAft>
                <a:spcPts val="0"/>
              </a:spcAft>
              <a:buSzPts val="1400"/>
              <a:buChar char="○"/>
            </a:pPr>
            <a:r>
              <a:rPr lang="en"/>
              <a:t>Items flex (expand) to fill additional space or shrink to fit into smaller spaces.</a:t>
            </a:r>
            <a:endParaRPr/>
          </a:p>
          <a:p>
            <a:pPr marL="457200" lvl="0" indent="-342900" algn="l" rtl="0">
              <a:spcBef>
                <a:spcPts val="0"/>
              </a:spcBef>
              <a:spcAft>
                <a:spcPts val="0"/>
              </a:spcAft>
              <a:buSzPts val="1800"/>
              <a:buChar char="●"/>
            </a:pPr>
            <a:r>
              <a:rPr lang="en"/>
              <a:t>Flex Container</a:t>
            </a:r>
            <a:endParaRPr/>
          </a:p>
          <a:p>
            <a:pPr marL="914400" lvl="1" indent="-317500" algn="l" rtl="0">
              <a:spcBef>
                <a:spcPts val="0"/>
              </a:spcBef>
              <a:spcAft>
                <a:spcPts val="0"/>
              </a:spcAft>
              <a:buSzPts val="1400"/>
              <a:buChar char="○"/>
            </a:pPr>
            <a:r>
              <a:rPr lang="en"/>
              <a:t>Adding a </a:t>
            </a:r>
            <a:r>
              <a:rPr lang="en" u="sng">
                <a:solidFill>
                  <a:schemeClr val="hlink"/>
                </a:solidFill>
                <a:hlinkClick r:id="rId3" action="ppaction://hlinksldjump"/>
              </a:rPr>
              <a:t>display value of flex</a:t>
            </a:r>
            <a:r>
              <a:rPr lang="en"/>
              <a:t> to an element makes it a flex container.</a:t>
            </a:r>
            <a:endParaRPr/>
          </a:p>
          <a:p>
            <a:pPr marL="457200" lvl="0" indent="-342900" algn="l" rtl="0">
              <a:spcBef>
                <a:spcPts val="0"/>
              </a:spcBef>
              <a:spcAft>
                <a:spcPts val="0"/>
              </a:spcAft>
              <a:buSzPts val="1800"/>
              <a:buChar char="●"/>
            </a:pPr>
            <a:r>
              <a:rPr lang="en"/>
              <a:t>Flex Item</a:t>
            </a:r>
            <a:endParaRPr/>
          </a:p>
          <a:p>
            <a:pPr marL="914400" lvl="1" indent="-317500" algn="l" rtl="0">
              <a:spcBef>
                <a:spcPts val="0"/>
              </a:spcBef>
              <a:spcAft>
                <a:spcPts val="0"/>
              </a:spcAft>
              <a:buSzPts val="1400"/>
              <a:buChar char="○"/>
            </a:pPr>
            <a:r>
              <a:rPr lang="en"/>
              <a:t>When the element is converted to a flex container, its children are converted to (and laid out as) flex items.</a:t>
            </a:r>
            <a:endParaRPr/>
          </a:p>
        </p:txBody>
      </p:sp>
      <p:pic>
        <p:nvPicPr>
          <p:cNvPr id="699" name="Google Shape;699;p97"/>
          <p:cNvPicPr preferRelativeResize="0"/>
          <p:nvPr/>
        </p:nvPicPr>
        <p:blipFill>
          <a:blip r:embed="rId4">
            <a:alphaModFix/>
          </a:blip>
          <a:stretch>
            <a:fillRect/>
          </a:stretch>
        </p:blipFill>
        <p:spPr>
          <a:xfrm>
            <a:off x="2486471" y="3519575"/>
            <a:ext cx="3067050" cy="1276350"/>
          </a:xfrm>
          <a:prstGeom prst="rect">
            <a:avLst/>
          </a:prstGeom>
          <a:noFill/>
          <a:ln>
            <a:noFill/>
          </a:ln>
        </p:spPr>
      </p:pic>
      <p:pic>
        <p:nvPicPr>
          <p:cNvPr id="700" name="Google Shape;700;p97"/>
          <p:cNvPicPr preferRelativeResize="0"/>
          <p:nvPr/>
        </p:nvPicPr>
        <p:blipFill>
          <a:blip r:embed="rId5">
            <a:alphaModFix/>
          </a:blip>
          <a:stretch>
            <a:fillRect/>
          </a:stretch>
        </p:blipFill>
        <p:spPr>
          <a:xfrm>
            <a:off x="5641246" y="3379000"/>
            <a:ext cx="3067050" cy="1371600"/>
          </a:xfrm>
          <a:prstGeom prst="rect">
            <a:avLst/>
          </a:prstGeom>
          <a:noFill/>
          <a:ln>
            <a:noFill/>
          </a:ln>
        </p:spPr>
      </p:pic>
      <p:sp>
        <p:nvSpPr>
          <p:cNvPr id="701" name="Google Shape;701;p97"/>
          <p:cNvSpPr txBox="1"/>
          <p:nvPr/>
        </p:nvSpPr>
        <p:spPr>
          <a:xfrm>
            <a:off x="330846" y="3900074"/>
            <a:ext cx="2067900" cy="738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Courier New"/>
                <a:ea typeface="Courier New"/>
                <a:cs typeface="Courier New"/>
                <a:sym typeface="Courier New"/>
              </a:rPr>
              <a:t>section {</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display: flex;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a:t>
            </a:r>
            <a:endParaRPr/>
          </a:p>
        </p:txBody>
      </p:sp>
      <p:sp>
        <p:nvSpPr>
          <p:cNvPr id="702" name="Google Shape;702;p97"/>
          <p:cNvSpPr txBox="1"/>
          <p:nvPr/>
        </p:nvSpPr>
        <p:spPr>
          <a:xfrm>
            <a:off x="2537500" y="4652925"/>
            <a:ext cx="6119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Source: Coyier, C. (2026, May 28). </a:t>
            </a:r>
            <a:r>
              <a:rPr lang="en" sz="1000" i="1"/>
              <a:t>A Complete CSS Flexbox Layout Guide</a:t>
            </a:r>
            <a:r>
              <a:rPr lang="en" sz="1000"/>
              <a:t>. </a:t>
            </a:r>
            <a:r>
              <a:rPr lang="en" sz="1000" u="sng">
                <a:solidFill>
                  <a:schemeClr val="hlink"/>
                </a:solidFill>
                <a:hlinkClick r:id="rId6"/>
              </a:rPr>
              <a:t>https://css-tricks.com/snippets/css/a-guide-to-flexbox/</a:t>
            </a:r>
            <a:r>
              <a:rPr lang="en" sz="1000"/>
              <a:t> </a:t>
            </a:r>
            <a:endParaRPr sz="10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9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Model</a:t>
            </a:r>
            <a:endParaRPr/>
          </a:p>
        </p:txBody>
      </p:sp>
      <p:sp>
        <p:nvSpPr>
          <p:cNvPr id="708" name="Google Shape;708;p9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87</a:t>
            </a:fld>
            <a:endParaRPr/>
          </a:p>
        </p:txBody>
      </p:sp>
      <p:pic>
        <p:nvPicPr>
          <p:cNvPr id="709" name="Google Shape;709;p98"/>
          <p:cNvPicPr preferRelativeResize="0"/>
          <p:nvPr/>
        </p:nvPicPr>
        <p:blipFill>
          <a:blip r:embed="rId3">
            <a:alphaModFix/>
          </a:blip>
          <a:stretch>
            <a:fillRect/>
          </a:stretch>
        </p:blipFill>
        <p:spPr>
          <a:xfrm>
            <a:off x="3525329" y="2117925"/>
            <a:ext cx="4188580" cy="2535000"/>
          </a:xfrm>
          <a:prstGeom prst="rect">
            <a:avLst/>
          </a:prstGeom>
          <a:noFill/>
          <a:ln>
            <a:noFill/>
          </a:ln>
        </p:spPr>
      </p:pic>
      <p:sp>
        <p:nvSpPr>
          <p:cNvPr id="710" name="Google Shape;710;p98"/>
          <p:cNvSpPr txBox="1">
            <a:spLocks noGrp="1"/>
          </p:cNvSpPr>
          <p:nvPr>
            <p:ph type="body" idx="1"/>
          </p:nvPr>
        </p:nvSpPr>
        <p:spPr>
          <a:xfrm>
            <a:off x="311700" y="1152475"/>
            <a:ext cx="8520600" cy="2052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Flexbox provides a property called flex-direction that specifies which direction the main axis runs (which direction the flexbox children are laid out in).</a:t>
            </a:r>
            <a:endParaRPr/>
          </a:p>
          <a:p>
            <a:pPr marL="457200" lvl="0" indent="-342900" algn="l" rtl="0">
              <a:spcBef>
                <a:spcPts val="0"/>
              </a:spcBef>
              <a:spcAft>
                <a:spcPts val="0"/>
              </a:spcAft>
              <a:buSzPts val="1800"/>
              <a:buChar char="●"/>
            </a:pPr>
            <a:r>
              <a:rPr lang="en"/>
              <a:t>By default this is set to row. Other options: column, row-reverse, column-reverse.</a:t>
            </a:r>
            <a:endParaRPr/>
          </a:p>
        </p:txBody>
      </p:sp>
      <p:sp>
        <p:nvSpPr>
          <p:cNvPr id="711" name="Google Shape;711;p98"/>
          <p:cNvSpPr txBox="1"/>
          <p:nvPr/>
        </p:nvSpPr>
        <p:spPr>
          <a:xfrm>
            <a:off x="403079" y="3268375"/>
            <a:ext cx="3000000" cy="36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Courier New"/>
                <a:ea typeface="Courier New"/>
                <a:cs typeface="Courier New"/>
                <a:sym typeface="Courier New"/>
              </a:rPr>
              <a:t>flex-direction: column;</a:t>
            </a:r>
            <a:endParaRPr/>
          </a:p>
        </p:txBody>
      </p:sp>
      <p:sp>
        <p:nvSpPr>
          <p:cNvPr id="712" name="Google Shape;712;p98"/>
          <p:cNvSpPr txBox="1"/>
          <p:nvPr/>
        </p:nvSpPr>
        <p:spPr>
          <a:xfrm>
            <a:off x="3431263" y="4618651"/>
            <a:ext cx="6119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Source: MDN. (2026). </a:t>
            </a:r>
            <a:r>
              <a:rPr lang="en" sz="1000" i="1"/>
              <a:t>Flexbox</a:t>
            </a:r>
            <a:r>
              <a:rPr lang="en" sz="1000"/>
              <a:t>. </a:t>
            </a:r>
            <a:r>
              <a:rPr lang="en" sz="1000" u="sng">
                <a:solidFill>
                  <a:schemeClr val="hlink"/>
                </a:solidFill>
                <a:hlinkClick r:id="rId4"/>
              </a:rPr>
              <a:t>https://developer.mozilla.org/en-US/docs/Learn_web_development/Core/CSS_layout/Flexbox</a:t>
            </a:r>
            <a:r>
              <a:rPr lang="en" sz="1000"/>
              <a:t> </a:t>
            </a:r>
            <a:endParaRPr sz="10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9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Wrapping</a:t>
            </a:r>
            <a:endParaRPr/>
          </a:p>
        </p:txBody>
      </p:sp>
      <p:sp>
        <p:nvSpPr>
          <p:cNvPr id="718" name="Google Shape;718;p9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88</a:t>
            </a:fld>
            <a:endParaRPr/>
          </a:p>
        </p:txBody>
      </p:sp>
      <p:sp>
        <p:nvSpPr>
          <p:cNvPr id="719" name="Google Shape;719;p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When you have a fixed width or height in your layout is that eventually your flexbox children will overflow their container, breaking the layout.</a:t>
            </a:r>
            <a:endParaRPr/>
          </a:p>
          <a:p>
            <a:pPr marL="457200" lvl="0" indent="-342900" algn="l" rtl="0">
              <a:spcBef>
                <a:spcPts val="0"/>
              </a:spcBef>
              <a:spcAft>
                <a:spcPts val="0"/>
              </a:spcAft>
              <a:buSzPts val="1800"/>
              <a:buChar char="●"/>
            </a:pPr>
            <a:r>
              <a:rPr lang="en"/>
              <a:t>By default, the browser tries to place all the flex items in a single row or column.</a:t>
            </a:r>
            <a:endParaRPr/>
          </a:p>
          <a:p>
            <a:pPr marL="914400" lvl="1" indent="-317500" algn="l" rtl="0">
              <a:spcBef>
                <a:spcPts val="0"/>
              </a:spcBef>
              <a:spcAft>
                <a:spcPts val="0"/>
              </a:spcAft>
              <a:buSzPts val="1400"/>
              <a:buChar char="○"/>
            </a:pPr>
            <a:r>
              <a:rPr lang="en"/>
              <a:t>Using {flex-wrap: wrap;} to force a line break among flex items.</a:t>
            </a:r>
            <a:endParaRPr/>
          </a:p>
          <a:p>
            <a:pPr marL="457200" lvl="0" indent="-342900" algn="l" rtl="0">
              <a:spcBef>
                <a:spcPts val="0"/>
              </a:spcBef>
              <a:spcAft>
                <a:spcPts val="0"/>
              </a:spcAft>
              <a:buSzPts val="1800"/>
              <a:buChar char="●"/>
            </a:pPr>
            <a:r>
              <a:rPr lang="en"/>
              <a:t>Flex-flow: a shorthand for flex-direction and flex-wrap.</a:t>
            </a:r>
            <a:endParaRPr/>
          </a:p>
          <a:p>
            <a:pPr marL="914400" lvl="1" indent="-317500" algn="l" rtl="0">
              <a:spcBef>
                <a:spcPts val="0"/>
              </a:spcBef>
              <a:spcAft>
                <a:spcPts val="0"/>
              </a:spcAft>
              <a:buSzPts val="1400"/>
              <a:buChar char="○"/>
            </a:pPr>
            <a:r>
              <a:rPr lang="en"/>
              <a:t>{flex-flow: row wrap;}</a:t>
            </a:r>
            <a:endParaRPr/>
          </a:p>
        </p:txBody>
      </p:sp>
      <p:pic>
        <p:nvPicPr>
          <p:cNvPr id="720" name="Google Shape;720;p99"/>
          <p:cNvPicPr preferRelativeResize="0"/>
          <p:nvPr/>
        </p:nvPicPr>
        <p:blipFill>
          <a:blip r:embed="rId3">
            <a:alphaModFix/>
          </a:blip>
          <a:stretch>
            <a:fillRect/>
          </a:stretch>
        </p:blipFill>
        <p:spPr>
          <a:xfrm>
            <a:off x="1111150" y="3048500"/>
            <a:ext cx="2749025" cy="956800"/>
          </a:xfrm>
          <a:prstGeom prst="rect">
            <a:avLst/>
          </a:prstGeom>
          <a:noFill/>
          <a:ln w="9525" cap="flat" cmpd="sng">
            <a:solidFill>
              <a:srgbClr val="FF9900"/>
            </a:solidFill>
            <a:prstDash val="solid"/>
            <a:round/>
            <a:headEnd type="none" w="sm" len="sm"/>
            <a:tailEnd type="none" w="sm" len="sm"/>
          </a:ln>
        </p:spPr>
      </p:pic>
      <p:pic>
        <p:nvPicPr>
          <p:cNvPr id="721" name="Google Shape;721;p99"/>
          <p:cNvPicPr preferRelativeResize="0"/>
          <p:nvPr/>
        </p:nvPicPr>
        <p:blipFill>
          <a:blip r:embed="rId4">
            <a:alphaModFix/>
          </a:blip>
          <a:stretch>
            <a:fillRect/>
          </a:stretch>
        </p:blipFill>
        <p:spPr>
          <a:xfrm>
            <a:off x="4865063" y="2958075"/>
            <a:ext cx="3283076" cy="1999700"/>
          </a:xfrm>
          <a:prstGeom prst="rect">
            <a:avLst/>
          </a:prstGeom>
          <a:noFill/>
          <a:ln w="9525" cap="flat" cmpd="sng">
            <a:solidFill>
              <a:srgbClr val="FF9900"/>
            </a:solidFill>
            <a:prstDash val="solid"/>
            <a:round/>
            <a:headEnd type="none" w="sm" len="sm"/>
            <a:tailEnd type="none" w="sm" len="sm"/>
          </a:ln>
        </p:spPr>
      </p:pic>
      <p:pic>
        <p:nvPicPr>
          <p:cNvPr id="722" name="Google Shape;722;p99"/>
          <p:cNvPicPr preferRelativeResize="0"/>
          <p:nvPr/>
        </p:nvPicPr>
        <p:blipFill>
          <a:blip r:embed="rId5">
            <a:alphaModFix/>
          </a:blip>
          <a:stretch>
            <a:fillRect/>
          </a:stretch>
        </p:blipFill>
        <p:spPr>
          <a:xfrm>
            <a:off x="1461739" y="4108800"/>
            <a:ext cx="2047850" cy="9034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10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 justify-content Property</a:t>
            </a:r>
            <a:endParaRPr/>
          </a:p>
        </p:txBody>
      </p:sp>
      <p:sp>
        <p:nvSpPr>
          <p:cNvPr id="728" name="Google Shape;728;p10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89</a:t>
            </a:fld>
            <a:endParaRPr/>
          </a:p>
        </p:txBody>
      </p:sp>
      <p:graphicFrame>
        <p:nvGraphicFramePr>
          <p:cNvPr id="729" name="Google Shape;729;p100"/>
          <p:cNvGraphicFramePr/>
          <p:nvPr/>
        </p:nvGraphicFramePr>
        <p:xfrm>
          <a:off x="611400" y="2277375"/>
          <a:ext cx="5502000" cy="2742990"/>
        </p:xfrm>
        <a:graphic>
          <a:graphicData uri="http://schemas.openxmlformats.org/drawingml/2006/table">
            <a:tbl>
              <a:tblPr>
                <a:noFill/>
                <a:tableStyleId>{E1A03D88-5CAB-4523-A037-8932B7E51F44}</a:tableStyleId>
              </a:tblPr>
              <a:tblGrid>
                <a:gridCol w="1277625">
                  <a:extLst>
                    <a:ext uri="{9D8B030D-6E8A-4147-A177-3AD203B41FA5}">
                      <a16:colId xmlns:a16="http://schemas.microsoft.com/office/drawing/2014/main" val="20000"/>
                    </a:ext>
                  </a:extLst>
                </a:gridCol>
                <a:gridCol w="4224375">
                  <a:extLst>
                    <a:ext uri="{9D8B030D-6E8A-4147-A177-3AD203B41FA5}">
                      <a16:colId xmlns:a16="http://schemas.microsoft.com/office/drawing/2014/main" val="20001"/>
                    </a:ext>
                  </a:extLst>
                </a:gridCol>
              </a:tblGrid>
              <a:tr h="321625">
                <a:tc>
                  <a:txBody>
                    <a:bodyPr/>
                    <a:lstStyle/>
                    <a:p>
                      <a:pPr marL="0" lvl="0" indent="0" algn="ctr" rtl="0">
                        <a:lnSpc>
                          <a:spcPct val="100000"/>
                        </a:lnSpc>
                        <a:spcBef>
                          <a:spcPts val="0"/>
                        </a:spcBef>
                        <a:spcAft>
                          <a:spcPts val="0"/>
                        </a:spcAft>
                        <a:buNone/>
                      </a:pPr>
                      <a:r>
                        <a:rPr lang="en" sz="1200" b="1"/>
                        <a:t>Value</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b="1"/>
                        <a:t>Description</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1600">
                <a:tc>
                  <a:txBody>
                    <a:bodyPr/>
                    <a:lstStyle/>
                    <a:p>
                      <a:pPr marL="0" lvl="0" indent="0" algn="ctr" rtl="0">
                        <a:lnSpc>
                          <a:spcPct val="100000"/>
                        </a:lnSpc>
                        <a:spcBef>
                          <a:spcPts val="0"/>
                        </a:spcBef>
                        <a:spcAft>
                          <a:spcPts val="0"/>
                        </a:spcAft>
                        <a:buNone/>
                      </a:pPr>
                      <a:r>
                        <a:rPr lang="en" sz="1200"/>
                        <a:t>flex-start</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Default value. Items are positioned at the beginning of the container</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21625">
                <a:tc>
                  <a:txBody>
                    <a:bodyPr/>
                    <a:lstStyle/>
                    <a:p>
                      <a:pPr marL="0" lvl="0" indent="0" algn="ctr" rtl="0">
                        <a:lnSpc>
                          <a:spcPct val="100000"/>
                        </a:lnSpc>
                        <a:spcBef>
                          <a:spcPts val="0"/>
                        </a:spcBef>
                        <a:spcAft>
                          <a:spcPts val="0"/>
                        </a:spcAft>
                        <a:buNone/>
                      </a:pPr>
                      <a:r>
                        <a:rPr lang="en" sz="1200"/>
                        <a:t>flex-end</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Items are positioned at the end of the container</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21625">
                <a:tc>
                  <a:txBody>
                    <a:bodyPr/>
                    <a:lstStyle/>
                    <a:p>
                      <a:pPr marL="0" lvl="0" indent="0" algn="ctr" rtl="0">
                        <a:lnSpc>
                          <a:spcPct val="100000"/>
                        </a:lnSpc>
                        <a:spcBef>
                          <a:spcPts val="0"/>
                        </a:spcBef>
                        <a:spcAft>
                          <a:spcPts val="0"/>
                        </a:spcAft>
                        <a:buNone/>
                      </a:pPr>
                      <a:r>
                        <a:rPr lang="en" sz="1200"/>
                        <a:t>center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Items are positioned in the center of the container</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1625">
                <a:tc>
                  <a:txBody>
                    <a:bodyPr/>
                    <a:lstStyle/>
                    <a:p>
                      <a:pPr marL="0" lvl="0" indent="0" algn="ctr" rtl="0">
                        <a:lnSpc>
                          <a:spcPct val="100000"/>
                        </a:lnSpc>
                        <a:spcBef>
                          <a:spcPts val="0"/>
                        </a:spcBef>
                        <a:spcAft>
                          <a:spcPts val="0"/>
                        </a:spcAft>
                        <a:buNone/>
                      </a:pPr>
                      <a:r>
                        <a:rPr lang="en" sz="1200"/>
                        <a:t>space-between</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Items will have space between them</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21625">
                <a:tc>
                  <a:txBody>
                    <a:bodyPr/>
                    <a:lstStyle/>
                    <a:p>
                      <a:pPr marL="0" lvl="0" indent="0" algn="ctr" rtl="0">
                        <a:lnSpc>
                          <a:spcPct val="100000"/>
                        </a:lnSpc>
                        <a:spcBef>
                          <a:spcPts val="0"/>
                        </a:spcBef>
                        <a:spcAft>
                          <a:spcPts val="0"/>
                        </a:spcAft>
                        <a:buNone/>
                      </a:pPr>
                      <a:r>
                        <a:rPr lang="en" sz="1200"/>
                        <a:t>space-around</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Items will have space before, between, and after them</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21625">
                <a:tc>
                  <a:txBody>
                    <a:bodyPr/>
                    <a:lstStyle/>
                    <a:p>
                      <a:pPr marL="0" lvl="0" indent="0" algn="ctr" rtl="0">
                        <a:lnSpc>
                          <a:spcPct val="100000"/>
                        </a:lnSpc>
                        <a:spcBef>
                          <a:spcPts val="0"/>
                        </a:spcBef>
                        <a:spcAft>
                          <a:spcPts val="0"/>
                        </a:spcAft>
                        <a:buNone/>
                      </a:pPr>
                      <a:r>
                        <a:rPr lang="en" sz="1200"/>
                        <a:t>space-evenly</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Items will have equal space around them</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730" name="Google Shape;730;p100"/>
          <p:cNvPicPr preferRelativeResize="0"/>
          <p:nvPr/>
        </p:nvPicPr>
        <p:blipFill>
          <a:blip r:embed="rId3">
            <a:alphaModFix/>
          </a:blip>
          <a:stretch>
            <a:fillRect/>
          </a:stretch>
        </p:blipFill>
        <p:spPr>
          <a:xfrm>
            <a:off x="6427650" y="1234850"/>
            <a:ext cx="2305898" cy="3770275"/>
          </a:xfrm>
          <a:prstGeom prst="rect">
            <a:avLst/>
          </a:prstGeom>
          <a:noFill/>
          <a:ln>
            <a:noFill/>
          </a:ln>
        </p:spPr>
      </p:pic>
      <p:sp>
        <p:nvSpPr>
          <p:cNvPr id="731" name="Google Shape;731;p100"/>
          <p:cNvSpPr txBox="1"/>
          <p:nvPr/>
        </p:nvSpPr>
        <p:spPr>
          <a:xfrm>
            <a:off x="477900" y="1107975"/>
            <a:ext cx="5578800" cy="11298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highlight>
                  <a:srgbClr val="FFFFFF"/>
                </a:highlight>
                <a:latin typeface="Roboto"/>
                <a:ea typeface="Roboto"/>
                <a:cs typeface="Roboto"/>
                <a:sym typeface="Roboto"/>
              </a:rPr>
              <a:t>This defines the alignment along the main axis.</a:t>
            </a:r>
            <a:endParaRPr sz="1200">
              <a:solidFill>
                <a:schemeClr val="dk2"/>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highlight>
                  <a:srgbClr val="FFFFFF"/>
                </a:highlight>
                <a:latin typeface="Roboto"/>
                <a:ea typeface="Roboto"/>
                <a:cs typeface="Roboto"/>
                <a:sym typeface="Roboto"/>
              </a:rPr>
              <a:t>Syntax: .container { justify-content: flex-start | flex-end | center | space-between | space-around | space-evenly...;}</a:t>
            </a:r>
            <a:endParaRPr sz="1200">
              <a:solidFill>
                <a:schemeClr val="dk2"/>
              </a:solidFill>
              <a:highlight>
                <a:srgbClr val="FFFFFF"/>
              </a:highlight>
              <a:latin typeface="Roboto"/>
              <a:ea typeface="Roboto"/>
              <a:cs typeface="Roboto"/>
              <a:sym typeface="Roboto"/>
            </a:endParaRPr>
          </a:p>
          <a:p>
            <a:pPr marL="457200" lvl="0" indent="-292100" algn="l" rtl="0">
              <a:spcBef>
                <a:spcPts val="0"/>
              </a:spcBef>
              <a:spcAft>
                <a:spcPts val="0"/>
              </a:spcAft>
              <a:buClr>
                <a:schemeClr val="dk2"/>
              </a:buClr>
              <a:buSzPts val="1000"/>
              <a:buFont typeface="Roboto"/>
              <a:buChar char="●"/>
            </a:pPr>
            <a:r>
              <a:rPr lang="en" sz="1000" u="sng">
                <a:solidFill>
                  <a:schemeClr val="hlink"/>
                </a:solidFill>
                <a:highlight>
                  <a:srgbClr val="FFFFFF"/>
                </a:highlight>
                <a:latin typeface="Roboto"/>
                <a:ea typeface="Roboto"/>
                <a:cs typeface="Roboto"/>
                <a:sym typeface="Roboto"/>
                <a:hlinkClick r:id="rId4"/>
              </a:rPr>
              <a:t>https://www.w3schools.com/cssref/playdemo.php?filename=playcss_justify-content&amp;preval=flex-start</a:t>
            </a:r>
            <a:r>
              <a:rPr lang="en" sz="1000">
                <a:solidFill>
                  <a:schemeClr val="dk2"/>
                </a:solidFill>
                <a:highlight>
                  <a:srgbClr val="FFFFFF"/>
                </a:highlight>
                <a:latin typeface="Roboto"/>
                <a:ea typeface="Roboto"/>
                <a:cs typeface="Roboto"/>
                <a:sym typeface="Roboto"/>
              </a:rPr>
              <a:t> </a:t>
            </a:r>
            <a:endParaRPr sz="1000">
              <a:solidFill>
                <a:schemeClr val="dk2"/>
              </a:solidFill>
              <a:highlight>
                <a:srgbClr val="FFFFFF"/>
              </a:highlight>
              <a:latin typeface="Roboto"/>
              <a:ea typeface="Roboto"/>
              <a:cs typeface="Roboto"/>
              <a:sym typeface="Roboto"/>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10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Flexbox ─ align-content Property</a:t>
            </a:r>
            <a:endParaRPr dirty="0"/>
          </a:p>
        </p:txBody>
      </p:sp>
      <p:sp>
        <p:nvSpPr>
          <p:cNvPr id="737" name="Google Shape;737;p10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90</a:t>
            </a:fld>
            <a:endParaRPr/>
          </a:p>
        </p:txBody>
      </p:sp>
      <p:sp>
        <p:nvSpPr>
          <p:cNvPr id="738" name="Google Shape;738;p10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Align-content: This aligns a flex container’s lines within when there is extra space in the cross-axis.</a:t>
            </a:r>
            <a:endParaRPr dirty="0"/>
          </a:p>
          <a:p>
            <a:pPr marL="457200" lvl="0" indent="-317500" algn="l" rtl="0">
              <a:spcBef>
                <a:spcPts val="0"/>
              </a:spcBef>
              <a:spcAft>
                <a:spcPts val="0"/>
              </a:spcAft>
              <a:buSzPts val="1400"/>
              <a:buChar char="●"/>
            </a:pPr>
            <a:r>
              <a:rPr lang="en" dirty="0"/>
              <a:t>This property only takes effect on multi-line flexible containers, where flex-wrap is set to either wrap or wrap-reverse.</a:t>
            </a:r>
            <a:endParaRPr dirty="0"/>
          </a:p>
          <a:p>
            <a:pPr marL="457200" lvl="0" indent="-317500" algn="l" rtl="0">
              <a:spcBef>
                <a:spcPts val="0"/>
              </a:spcBef>
              <a:spcAft>
                <a:spcPts val="0"/>
              </a:spcAft>
              <a:buSzPts val="1400"/>
              <a:buChar char="●"/>
            </a:pPr>
            <a:r>
              <a:rPr lang="en" u="sng" dirty="0">
                <a:solidFill>
                  <a:schemeClr val="hlink"/>
                </a:solidFill>
                <a:hlinkClick r:id="rId3"/>
              </a:rPr>
              <a:t>https://developer.mozilla.org/en-US/docs/Web/CSS/Reference/Properties/align-content</a:t>
            </a:r>
            <a:r>
              <a:rPr lang="en" dirty="0"/>
              <a:t> </a:t>
            </a:r>
            <a:endParaRPr dirty="0"/>
          </a:p>
        </p:txBody>
      </p:sp>
      <p:pic>
        <p:nvPicPr>
          <p:cNvPr id="739" name="Google Shape;739;p101"/>
          <p:cNvPicPr preferRelativeResize="0"/>
          <p:nvPr/>
        </p:nvPicPr>
        <p:blipFill>
          <a:blip r:embed="rId4">
            <a:alphaModFix/>
          </a:blip>
          <a:stretch>
            <a:fillRect/>
          </a:stretch>
        </p:blipFill>
        <p:spPr>
          <a:xfrm>
            <a:off x="4840775" y="1152475"/>
            <a:ext cx="2859056" cy="37702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10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 align-items Property</a:t>
            </a:r>
            <a:endParaRPr/>
          </a:p>
        </p:txBody>
      </p:sp>
      <p:sp>
        <p:nvSpPr>
          <p:cNvPr id="745" name="Google Shape;745;p10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91</a:t>
            </a:fld>
            <a:endParaRPr/>
          </a:p>
        </p:txBody>
      </p:sp>
      <p:sp>
        <p:nvSpPr>
          <p:cNvPr id="746" name="Google Shape;746;p102"/>
          <p:cNvSpPr txBox="1"/>
          <p:nvPr/>
        </p:nvSpPr>
        <p:spPr>
          <a:xfrm>
            <a:off x="469800" y="1205175"/>
            <a:ext cx="5578800" cy="7635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highlight>
                  <a:srgbClr val="FFFFFF"/>
                </a:highlight>
                <a:latin typeface="Roboto"/>
                <a:ea typeface="Roboto"/>
                <a:cs typeface="Roboto"/>
                <a:sym typeface="Roboto"/>
              </a:rPr>
              <a:t>This defines the alignment along the cross axis.</a:t>
            </a:r>
            <a:endParaRPr sz="1200">
              <a:solidFill>
                <a:schemeClr val="dk2"/>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highlight>
                  <a:srgbClr val="FFFFFF"/>
                </a:highlight>
                <a:latin typeface="Roboto"/>
                <a:ea typeface="Roboto"/>
                <a:cs typeface="Roboto"/>
                <a:sym typeface="Roboto"/>
              </a:rPr>
              <a:t>Syntax: .container { stretch | flex-start | flex-end | center | baseline...;}</a:t>
            </a:r>
            <a:endParaRPr sz="1200">
              <a:solidFill>
                <a:schemeClr val="dk2"/>
              </a:solidFill>
              <a:highlight>
                <a:srgbClr val="FFFFFF"/>
              </a:highlight>
              <a:latin typeface="Roboto"/>
              <a:ea typeface="Roboto"/>
              <a:cs typeface="Roboto"/>
              <a:sym typeface="Roboto"/>
            </a:endParaRPr>
          </a:p>
          <a:p>
            <a:pPr marL="457200" lvl="0" indent="-292100" algn="l" rtl="0">
              <a:spcBef>
                <a:spcPts val="0"/>
              </a:spcBef>
              <a:spcAft>
                <a:spcPts val="0"/>
              </a:spcAft>
              <a:buClr>
                <a:schemeClr val="dk2"/>
              </a:buClr>
              <a:buSzPts val="1000"/>
              <a:buFont typeface="Roboto"/>
              <a:buChar char="●"/>
            </a:pPr>
            <a:r>
              <a:rPr lang="en" sz="1000" u="sng">
                <a:solidFill>
                  <a:schemeClr val="hlink"/>
                </a:solidFill>
                <a:highlight>
                  <a:srgbClr val="FFFFFF"/>
                </a:highlight>
                <a:latin typeface="Roboto"/>
                <a:ea typeface="Roboto"/>
                <a:cs typeface="Roboto"/>
                <a:sym typeface="Roboto"/>
                <a:hlinkClick r:id="rId3"/>
              </a:rPr>
              <a:t>https://www.w3schools.com/cssref/playdemo.php?filename=playcss_align-items</a:t>
            </a:r>
            <a:r>
              <a:rPr lang="en" sz="1000">
                <a:solidFill>
                  <a:schemeClr val="dk2"/>
                </a:solidFill>
                <a:highlight>
                  <a:srgbClr val="FFFFFF"/>
                </a:highlight>
                <a:latin typeface="Roboto"/>
                <a:ea typeface="Roboto"/>
                <a:cs typeface="Roboto"/>
                <a:sym typeface="Roboto"/>
              </a:rPr>
              <a:t> </a:t>
            </a:r>
            <a:endParaRPr sz="1000">
              <a:solidFill>
                <a:schemeClr val="dk2"/>
              </a:solidFill>
              <a:highlight>
                <a:srgbClr val="FFFFFF"/>
              </a:highlight>
              <a:latin typeface="Roboto"/>
              <a:ea typeface="Roboto"/>
              <a:cs typeface="Roboto"/>
              <a:sym typeface="Roboto"/>
            </a:endParaRPr>
          </a:p>
        </p:txBody>
      </p:sp>
      <p:graphicFrame>
        <p:nvGraphicFramePr>
          <p:cNvPr id="747" name="Google Shape;747;p102"/>
          <p:cNvGraphicFramePr/>
          <p:nvPr/>
        </p:nvGraphicFramePr>
        <p:xfrm>
          <a:off x="437850" y="2034700"/>
          <a:ext cx="5642700" cy="3078130"/>
        </p:xfrm>
        <a:graphic>
          <a:graphicData uri="http://schemas.openxmlformats.org/drawingml/2006/table">
            <a:tbl>
              <a:tblPr>
                <a:noFill/>
                <a:tableStyleId>{E1A03D88-5CAB-4523-A037-8932B7E51F44}</a:tableStyleId>
              </a:tblPr>
              <a:tblGrid>
                <a:gridCol w="794950">
                  <a:extLst>
                    <a:ext uri="{9D8B030D-6E8A-4147-A177-3AD203B41FA5}">
                      <a16:colId xmlns:a16="http://schemas.microsoft.com/office/drawing/2014/main" val="20000"/>
                    </a:ext>
                  </a:extLst>
                </a:gridCol>
                <a:gridCol w="4847750">
                  <a:extLst>
                    <a:ext uri="{9D8B030D-6E8A-4147-A177-3AD203B41FA5}">
                      <a16:colId xmlns:a16="http://schemas.microsoft.com/office/drawing/2014/main" val="20001"/>
                    </a:ext>
                  </a:extLst>
                </a:gridCol>
              </a:tblGrid>
              <a:tr h="240925">
                <a:tc>
                  <a:txBody>
                    <a:bodyPr/>
                    <a:lstStyle/>
                    <a:p>
                      <a:pPr marL="0" lvl="0" indent="0" algn="ctr" rtl="0">
                        <a:lnSpc>
                          <a:spcPct val="100000"/>
                        </a:lnSpc>
                        <a:spcBef>
                          <a:spcPts val="0"/>
                        </a:spcBef>
                        <a:spcAft>
                          <a:spcPts val="0"/>
                        </a:spcAft>
                        <a:buNone/>
                      </a:pPr>
                      <a:r>
                        <a:rPr lang="en" sz="900" b="1"/>
                        <a:t>Value</a:t>
                      </a:r>
                      <a:endParaRPr sz="9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900" b="1"/>
                        <a:t>Description</a:t>
                      </a:r>
                      <a:endParaRPr sz="9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lnSpc>
                          <a:spcPct val="100000"/>
                        </a:lnSpc>
                        <a:spcBef>
                          <a:spcPts val="0"/>
                        </a:spcBef>
                        <a:spcAft>
                          <a:spcPts val="0"/>
                        </a:spcAft>
                        <a:buNone/>
                      </a:pPr>
                      <a:r>
                        <a:rPr lang="en" sz="900"/>
                        <a:t>normal</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Default. Behaves like 'stretch' for flexbox and grid items, or 'start' for grid items with a defined block size.</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40925">
                <a:tc>
                  <a:txBody>
                    <a:bodyPr/>
                    <a:lstStyle/>
                    <a:p>
                      <a:pPr marL="0" lvl="0" indent="0" algn="ctr" rtl="0">
                        <a:lnSpc>
                          <a:spcPct val="100000"/>
                        </a:lnSpc>
                        <a:spcBef>
                          <a:spcPts val="0"/>
                        </a:spcBef>
                        <a:spcAft>
                          <a:spcPts val="0"/>
                        </a:spcAft>
                        <a:buNone/>
                      </a:pPr>
                      <a:r>
                        <a:rPr lang="en" sz="900"/>
                        <a:t>stretch</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stretched to fit the container</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40925">
                <a:tc>
                  <a:txBody>
                    <a:bodyPr/>
                    <a:lstStyle/>
                    <a:p>
                      <a:pPr marL="0" lvl="0" indent="0" algn="ctr" rtl="0">
                        <a:lnSpc>
                          <a:spcPct val="100000"/>
                        </a:lnSpc>
                        <a:spcBef>
                          <a:spcPts val="0"/>
                        </a:spcBef>
                        <a:spcAft>
                          <a:spcPts val="0"/>
                        </a:spcAft>
                        <a:buNone/>
                      </a:pPr>
                      <a:r>
                        <a:rPr lang="en" sz="900"/>
                        <a:t>center</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center of the container</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40925">
                <a:tc>
                  <a:txBody>
                    <a:bodyPr/>
                    <a:lstStyle/>
                    <a:p>
                      <a:pPr marL="0" lvl="0" indent="0" algn="ctr" rtl="0">
                        <a:lnSpc>
                          <a:spcPct val="100000"/>
                        </a:lnSpc>
                        <a:spcBef>
                          <a:spcPts val="0"/>
                        </a:spcBef>
                        <a:spcAft>
                          <a:spcPts val="0"/>
                        </a:spcAft>
                        <a:buNone/>
                      </a:pPr>
                      <a:r>
                        <a:rPr lang="en" sz="900"/>
                        <a:t>flex-start</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beginning of the container</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40925">
                <a:tc>
                  <a:txBody>
                    <a:bodyPr/>
                    <a:lstStyle/>
                    <a:p>
                      <a:pPr marL="0" lvl="0" indent="0" algn="ctr" rtl="0">
                        <a:lnSpc>
                          <a:spcPct val="100000"/>
                        </a:lnSpc>
                        <a:spcBef>
                          <a:spcPts val="0"/>
                        </a:spcBef>
                        <a:spcAft>
                          <a:spcPts val="0"/>
                        </a:spcAft>
                        <a:buNone/>
                      </a:pPr>
                      <a:r>
                        <a:rPr lang="en" sz="900"/>
                        <a:t>flex-end</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end of the container</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50450">
                <a:tc>
                  <a:txBody>
                    <a:bodyPr/>
                    <a:lstStyle/>
                    <a:p>
                      <a:pPr marL="0" lvl="0" indent="0" algn="ctr" rtl="0">
                        <a:lnSpc>
                          <a:spcPct val="100000"/>
                        </a:lnSpc>
                        <a:spcBef>
                          <a:spcPts val="0"/>
                        </a:spcBef>
                        <a:spcAft>
                          <a:spcPts val="0"/>
                        </a:spcAft>
                        <a:buNone/>
                      </a:pPr>
                      <a:r>
                        <a:rPr lang="en" sz="900"/>
                        <a:t>start</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beginning of their individual grid cells, in the block direction</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0450">
                <a:tc>
                  <a:txBody>
                    <a:bodyPr/>
                    <a:lstStyle/>
                    <a:p>
                      <a:pPr marL="0" lvl="0" indent="0" algn="ctr" rtl="0">
                        <a:lnSpc>
                          <a:spcPct val="100000"/>
                        </a:lnSpc>
                        <a:spcBef>
                          <a:spcPts val="0"/>
                        </a:spcBef>
                        <a:spcAft>
                          <a:spcPts val="0"/>
                        </a:spcAft>
                        <a:buNone/>
                      </a:pPr>
                      <a:r>
                        <a:rPr lang="en" sz="900"/>
                        <a:t>end</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end of the their individual grid cells, in the block direction</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40925">
                <a:tc>
                  <a:txBody>
                    <a:bodyPr/>
                    <a:lstStyle/>
                    <a:p>
                      <a:pPr marL="0" lvl="0" indent="0" algn="ctr" rtl="0">
                        <a:lnSpc>
                          <a:spcPct val="100000"/>
                        </a:lnSpc>
                        <a:spcBef>
                          <a:spcPts val="0"/>
                        </a:spcBef>
                        <a:spcAft>
                          <a:spcPts val="0"/>
                        </a:spcAft>
                        <a:buNone/>
                      </a:pPr>
                      <a:r>
                        <a:rPr lang="en" sz="900"/>
                        <a:t>baseline</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900"/>
                        <a:t>Items are positioned at the baseline of the container</a:t>
                      </a:r>
                      <a:endParaRPr sz="9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748" name="Google Shape;748;p102"/>
          <p:cNvPicPr preferRelativeResize="0"/>
          <p:nvPr/>
        </p:nvPicPr>
        <p:blipFill>
          <a:blip r:embed="rId4">
            <a:alphaModFix/>
          </a:blip>
          <a:stretch>
            <a:fillRect/>
          </a:stretch>
        </p:blipFill>
        <p:spPr>
          <a:xfrm>
            <a:off x="6224850" y="1766825"/>
            <a:ext cx="2553858" cy="331553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10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Flexbox ─ gap, row-gap, column-gap Property</a:t>
            </a:r>
            <a:endParaRPr sz="2900"/>
          </a:p>
        </p:txBody>
      </p:sp>
      <p:sp>
        <p:nvSpPr>
          <p:cNvPr id="754" name="Google Shape;754;p10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92</a:t>
            </a:fld>
            <a:endParaRPr/>
          </a:p>
        </p:txBody>
      </p:sp>
      <p:sp>
        <p:nvSpPr>
          <p:cNvPr id="755" name="Google Shape;755;p103"/>
          <p:cNvSpPr txBox="1">
            <a:spLocks noGrp="1"/>
          </p:cNvSpPr>
          <p:nvPr>
            <p:ph type="body" idx="1"/>
          </p:nvPr>
        </p:nvSpPr>
        <p:spPr>
          <a:xfrm>
            <a:off x="311700" y="1152475"/>
            <a:ext cx="3999900" cy="1528800"/>
          </a:xfrm>
          <a:prstGeom prst="rect">
            <a:avLst/>
          </a:prstGeom>
        </p:spPr>
        <p:txBody>
          <a:bodyPr spcFirstLastPara="1" wrap="square" lIns="91425" tIns="91425" rIns="91425" bIns="91425" anchor="t" anchorCtr="0">
            <a:normAutofit lnSpcReduction="10000"/>
          </a:bodyPr>
          <a:lstStyle/>
          <a:p>
            <a:pPr marL="457200" lvl="0" indent="-317500" algn="l" rtl="0">
              <a:spcBef>
                <a:spcPts val="0"/>
              </a:spcBef>
              <a:spcAft>
                <a:spcPts val="0"/>
              </a:spcAft>
              <a:buSzPts val="1400"/>
              <a:buChar char="●"/>
            </a:pPr>
            <a:r>
              <a:rPr lang="en"/>
              <a:t>The gap property explicitly controls the space between flex items. It applies that spacing only between items not on the outer edges.</a:t>
            </a:r>
            <a:endParaRPr/>
          </a:p>
          <a:p>
            <a:pPr marL="457200" lvl="0" indent="-317500" algn="l" rtl="0">
              <a:spcBef>
                <a:spcPts val="0"/>
              </a:spcBef>
              <a:spcAft>
                <a:spcPts val="0"/>
              </a:spcAft>
              <a:buSzPts val="1400"/>
              <a:buChar char="●"/>
            </a:pPr>
            <a:r>
              <a:rPr lang="en"/>
              <a:t>It is not exclusively for flexbox, gap works in grid and multi-column layout as well.</a:t>
            </a:r>
            <a:endParaRPr/>
          </a:p>
        </p:txBody>
      </p:sp>
      <p:sp>
        <p:nvSpPr>
          <p:cNvPr id="756" name="Google Shape;756;p103"/>
          <p:cNvSpPr txBox="1"/>
          <p:nvPr/>
        </p:nvSpPr>
        <p:spPr>
          <a:xfrm>
            <a:off x="543275" y="2765325"/>
            <a:ext cx="38205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.container {</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display: flex;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gap: 10px;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gap: 10px 20px; /* row-/column-gap */</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row-gap: 10px;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  column-gap: 20px;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a:t>
            </a:r>
            <a:endParaRPr sz="1200">
              <a:solidFill>
                <a:schemeClr val="dk2"/>
              </a:solidFill>
              <a:latin typeface="Courier New"/>
              <a:ea typeface="Courier New"/>
              <a:cs typeface="Courier New"/>
              <a:sym typeface="Courier New"/>
            </a:endParaRPr>
          </a:p>
        </p:txBody>
      </p:sp>
      <p:pic>
        <p:nvPicPr>
          <p:cNvPr id="757" name="Google Shape;757;p103"/>
          <p:cNvPicPr preferRelativeResize="0"/>
          <p:nvPr/>
        </p:nvPicPr>
        <p:blipFill>
          <a:blip r:embed="rId3">
            <a:alphaModFix/>
          </a:blip>
          <a:stretch>
            <a:fillRect/>
          </a:stretch>
        </p:blipFill>
        <p:spPr>
          <a:xfrm>
            <a:off x="4945525" y="1152475"/>
            <a:ext cx="3224949" cy="37702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0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 Order Property</a:t>
            </a:r>
            <a:endParaRPr/>
          </a:p>
        </p:txBody>
      </p:sp>
      <p:sp>
        <p:nvSpPr>
          <p:cNvPr id="763" name="Google Shape;763;p1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By default, flex items are laid out in the source order.</a:t>
            </a:r>
            <a:endParaRPr/>
          </a:p>
          <a:p>
            <a:pPr marL="457200" lvl="0" indent="-342900" algn="l" rtl="0">
              <a:spcBef>
                <a:spcPts val="0"/>
              </a:spcBef>
              <a:spcAft>
                <a:spcPts val="0"/>
              </a:spcAft>
              <a:buSzPts val="1800"/>
              <a:buChar char="●"/>
            </a:pPr>
            <a:r>
              <a:rPr lang="en"/>
              <a:t>Only effect for flex item or grid item.</a:t>
            </a:r>
            <a:endParaRPr/>
          </a:p>
          <a:p>
            <a:pPr marL="457200" lvl="0" indent="-342900" algn="l" rtl="0">
              <a:spcBef>
                <a:spcPts val="0"/>
              </a:spcBef>
              <a:spcAft>
                <a:spcPts val="0"/>
              </a:spcAft>
              <a:buSzPts val="1800"/>
              <a:buChar char="●"/>
            </a:pPr>
            <a:r>
              <a:rPr lang="en"/>
              <a:t>Items in a container are sorted by ascending order value and then by their source code order.</a:t>
            </a:r>
            <a:endParaRPr/>
          </a:p>
          <a:p>
            <a:pPr marL="457200" lvl="0" indent="-342900" algn="l" rtl="0">
              <a:spcBef>
                <a:spcPts val="0"/>
              </a:spcBef>
              <a:spcAft>
                <a:spcPts val="0"/>
              </a:spcAft>
              <a:buSzPts val="1800"/>
              <a:buChar char="●"/>
            </a:pPr>
            <a:r>
              <a:rPr lang="en"/>
              <a:t>Syntax: {order: number;}</a:t>
            </a:r>
            <a:endParaRPr/>
          </a:p>
        </p:txBody>
      </p:sp>
      <p:sp>
        <p:nvSpPr>
          <p:cNvPr id="764" name="Google Shape;764;p10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93</a:t>
            </a:fld>
            <a:endParaRPr/>
          </a:p>
        </p:txBody>
      </p:sp>
      <p:pic>
        <p:nvPicPr>
          <p:cNvPr id="765" name="Google Shape;765;p104"/>
          <p:cNvPicPr preferRelativeResize="0"/>
          <p:nvPr/>
        </p:nvPicPr>
        <p:blipFill>
          <a:blip r:embed="rId3">
            <a:alphaModFix/>
          </a:blip>
          <a:stretch>
            <a:fillRect/>
          </a:stretch>
        </p:blipFill>
        <p:spPr>
          <a:xfrm>
            <a:off x="3732275" y="2571750"/>
            <a:ext cx="4507099" cy="20354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10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Flexbox ─ Flex Property</a:t>
            </a:r>
            <a:endParaRPr/>
          </a:p>
        </p:txBody>
      </p:sp>
      <p:sp>
        <p:nvSpPr>
          <p:cNvPr id="771" name="Google Shape;771;p10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dirty="0"/>
              <a:t>The flex property is the shorthand for flex-grow, flex-shrink and flex-basis combined.</a:t>
            </a:r>
            <a:endParaRPr dirty="0"/>
          </a:p>
          <a:p>
            <a:pPr marL="457200" lvl="0" indent="-317500" algn="l" rtl="0">
              <a:spcBef>
                <a:spcPts val="0"/>
              </a:spcBef>
              <a:spcAft>
                <a:spcPts val="0"/>
              </a:spcAft>
              <a:buSzPts val="1400"/>
              <a:buChar char="●"/>
            </a:pPr>
            <a:r>
              <a:rPr lang="en" dirty="0"/>
              <a:t>The value default is 0 1 auto.</a:t>
            </a:r>
            <a:endParaRPr dirty="0"/>
          </a:p>
          <a:p>
            <a:pPr marL="457200" lvl="0" indent="-317500" algn="l" rtl="0">
              <a:spcBef>
                <a:spcPts val="0"/>
              </a:spcBef>
              <a:spcAft>
                <a:spcPts val="0"/>
              </a:spcAft>
              <a:buSzPts val="1400"/>
              <a:buChar char="●"/>
            </a:pPr>
            <a:r>
              <a:rPr lang="en" dirty="0"/>
              <a:t>&lt;'flex-grow'&gt;</a:t>
            </a:r>
            <a:endParaRPr dirty="0"/>
          </a:p>
          <a:p>
            <a:pPr marL="914400" lvl="1" indent="-304800" algn="l" rtl="0">
              <a:spcBef>
                <a:spcPts val="0"/>
              </a:spcBef>
              <a:spcAft>
                <a:spcPts val="0"/>
              </a:spcAft>
              <a:buSzPts val="1200"/>
              <a:buChar char="○"/>
            </a:pPr>
            <a:r>
              <a:rPr lang="en" dirty="0"/>
              <a:t>Negative values are considered invalid. Defaults to 1 when omitted. (initial is 0)</a:t>
            </a:r>
            <a:endParaRPr dirty="0"/>
          </a:p>
          <a:p>
            <a:pPr marL="457200" lvl="0" indent="-317500" algn="l" rtl="0">
              <a:spcBef>
                <a:spcPts val="0"/>
              </a:spcBef>
              <a:spcAft>
                <a:spcPts val="0"/>
              </a:spcAft>
              <a:buSzPts val="1400"/>
              <a:buChar char="●"/>
            </a:pPr>
            <a:r>
              <a:rPr lang="en" dirty="0"/>
              <a:t>&lt;'flex-shrink'&gt;</a:t>
            </a:r>
            <a:endParaRPr dirty="0"/>
          </a:p>
          <a:p>
            <a:pPr marL="914400" lvl="1" indent="-304800" algn="l" rtl="0">
              <a:spcBef>
                <a:spcPts val="0"/>
              </a:spcBef>
              <a:spcAft>
                <a:spcPts val="0"/>
              </a:spcAft>
              <a:buSzPts val="1200"/>
              <a:buChar char="○"/>
            </a:pPr>
            <a:r>
              <a:rPr lang="en" dirty="0"/>
              <a:t>Negative values are considered invalid. Defaults to 1 when omitted. (initial is 1)</a:t>
            </a:r>
            <a:endParaRPr dirty="0"/>
          </a:p>
          <a:p>
            <a:pPr marL="457200" lvl="0" indent="-317500" algn="l" rtl="0">
              <a:spcBef>
                <a:spcPts val="0"/>
              </a:spcBef>
              <a:spcAft>
                <a:spcPts val="0"/>
              </a:spcAft>
              <a:buSzPts val="1400"/>
              <a:buChar char="●"/>
            </a:pPr>
            <a:r>
              <a:rPr lang="en" dirty="0"/>
              <a:t>&lt;'flex-basis'&gt;</a:t>
            </a:r>
            <a:endParaRPr dirty="0"/>
          </a:p>
          <a:p>
            <a:pPr marL="914400" lvl="1" indent="-304800" algn="l" rtl="0">
              <a:spcBef>
                <a:spcPts val="0"/>
              </a:spcBef>
              <a:spcAft>
                <a:spcPts val="0"/>
              </a:spcAft>
              <a:buSzPts val="1200"/>
              <a:buChar char="○"/>
            </a:pPr>
            <a:r>
              <a:rPr lang="en" dirty="0"/>
              <a:t>Defaults to 0% when omitted. The initial value is auto.</a:t>
            </a:r>
            <a:endParaRPr dirty="0"/>
          </a:p>
        </p:txBody>
      </p:sp>
      <p:sp>
        <p:nvSpPr>
          <p:cNvPr id="772" name="Google Shape;772;p10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94</a:t>
            </a:fld>
            <a:endParaRPr/>
          </a:p>
        </p:txBody>
      </p:sp>
      <p:sp>
        <p:nvSpPr>
          <p:cNvPr id="773" name="Google Shape;773;p105"/>
          <p:cNvSpPr txBox="1"/>
          <p:nvPr/>
        </p:nvSpPr>
        <p:spPr>
          <a:xfrm>
            <a:off x="5125975" y="1068425"/>
            <a:ext cx="3000000" cy="831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t>{ </a:t>
            </a:r>
            <a:endParaRPr/>
          </a:p>
          <a:p>
            <a:pPr marL="0" lvl="0" indent="0" algn="l" rtl="0">
              <a:spcBef>
                <a:spcPts val="0"/>
              </a:spcBef>
              <a:spcAft>
                <a:spcPts val="0"/>
              </a:spcAft>
              <a:buNone/>
            </a:pPr>
            <a:r>
              <a:rPr lang="en"/>
              <a:t>  flex: 1 1 100px;</a:t>
            </a:r>
            <a:endParaRPr/>
          </a:p>
          <a:p>
            <a:pPr marL="0" lvl="0" indent="0" algn="l" rtl="0">
              <a:spcBef>
                <a:spcPts val="0"/>
              </a:spcBef>
              <a:spcAft>
                <a:spcPts val="0"/>
              </a:spcAft>
              <a:buNone/>
            </a:pPr>
            <a:r>
              <a:rPr lang="en"/>
              <a:t>}</a:t>
            </a:r>
            <a:endParaRPr/>
          </a:p>
        </p:txBody>
      </p:sp>
      <p:pic>
        <p:nvPicPr>
          <p:cNvPr id="774" name="Google Shape;774;p105"/>
          <p:cNvPicPr preferRelativeResize="0"/>
          <p:nvPr/>
        </p:nvPicPr>
        <p:blipFill>
          <a:blip r:embed="rId3">
            <a:alphaModFix/>
          </a:blip>
          <a:stretch>
            <a:fillRect/>
          </a:stretch>
        </p:blipFill>
        <p:spPr>
          <a:xfrm>
            <a:off x="5125975" y="2093075"/>
            <a:ext cx="3409950" cy="26479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10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Grid Layout</a:t>
            </a:r>
            <a:endParaRPr/>
          </a:p>
        </p:txBody>
      </p:sp>
      <p:sp>
        <p:nvSpPr>
          <p:cNvPr id="780" name="Google Shape;780;p10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Like tables, grid layout enables aligning elements into columns and rows, i.e. two-dimensional.</a:t>
            </a:r>
            <a:endParaRPr/>
          </a:p>
          <a:p>
            <a:pPr marL="914400" lvl="1" indent="-317500" algn="l" rtl="0">
              <a:spcBef>
                <a:spcPts val="0"/>
              </a:spcBef>
              <a:spcAft>
                <a:spcPts val="0"/>
              </a:spcAft>
              <a:buSzPts val="1400"/>
              <a:buChar char="○"/>
            </a:pPr>
            <a:r>
              <a:rPr lang="en"/>
              <a:t>Many more layouts are either possible or easier with CSS grid than they were with tables.</a:t>
            </a:r>
            <a:endParaRPr/>
          </a:p>
          <a:p>
            <a:pPr marL="457200" lvl="0" indent="-342900" algn="l" rtl="0">
              <a:spcBef>
                <a:spcPts val="0"/>
              </a:spcBef>
              <a:spcAft>
                <a:spcPts val="0"/>
              </a:spcAft>
              <a:buSzPts val="1800"/>
              <a:buChar char="●"/>
            </a:pPr>
            <a:r>
              <a:rPr lang="en"/>
              <a:t>Grid container</a:t>
            </a:r>
            <a:endParaRPr/>
          </a:p>
          <a:p>
            <a:pPr marL="914400" lvl="1" indent="-317500" algn="l" rtl="0">
              <a:spcBef>
                <a:spcPts val="0"/>
              </a:spcBef>
              <a:spcAft>
                <a:spcPts val="0"/>
              </a:spcAft>
              <a:buSzPts val="1400"/>
              <a:buChar char="○"/>
            </a:pPr>
            <a:r>
              <a:rPr lang="en"/>
              <a:t>We create a grid container by declaring {display: grid;}</a:t>
            </a:r>
            <a:endParaRPr/>
          </a:p>
          <a:p>
            <a:pPr marL="914400" lvl="1" indent="-317500" algn="l" rtl="0">
              <a:spcBef>
                <a:spcPts val="0"/>
              </a:spcBef>
              <a:spcAft>
                <a:spcPts val="0"/>
              </a:spcAft>
              <a:buSzPts val="1400"/>
              <a:buChar char="○"/>
            </a:pPr>
            <a:r>
              <a:rPr lang="en"/>
              <a:t>Grid item: All direct children of that element become grid items.</a:t>
            </a:r>
            <a:endParaRPr/>
          </a:p>
          <a:p>
            <a:pPr marL="457200" lvl="0" indent="-342900" algn="l" rtl="0">
              <a:spcBef>
                <a:spcPts val="0"/>
              </a:spcBef>
              <a:spcAft>
                <a:spcPts val="0"/>
              </a:spcAft>
              <a:buSzPts val="1800"/>
              <a:buChar char="●"/>
            </a:pPr>
            <a:r>
              <a:rPr lang="en"/>
              <a:t>Grid track</a:t>
            </a:r>
            <a:endParaRPr/>
          </a:p>
          <a:p>
            <a:pPr marL="914400" lvl="1" indent="-317500" algn="l" rtl="0">
              <a:spcBef>
                <a:spcPts val="0"/>
              </a:spcBef>
              <a:spcAft>
                <a:spcPts val="0"/>
              </a:spcAft>
              <a:buSzPts val="1400"/>
              <a:buChar char="○"/>
            </a:pPr>
            <a:r>
              <a:rPr lang="en"/>
              <a:t>The space between any two adjacent lines on the grid.</a:t>
            </a:r>
            <a:endParaRPr/>
          </a:p>
          <a:p>
            <a:pPr marL="914400" lvl="1" indent="-317500" algn="l" rtl="0">
              <a:spcBef>
                <a:spcPts val="0"/>
              </a:spcBef>
              <a:spcAft>
                <a:spcPts val="0"/>
              </a:spcAft>
              <a:buSzPts val="1400"/>
              <a:buChar char="○"/>
            </a:pPr>
            <a:r>
              <a:rPr lang="en"/>
              <a:t>Rows and columns are defined by the grid-template-rows and grid-template-columns properties.</a:t>
            </a:r>
            <a:endParaRPr/>
          </a:p>
          <a:p>
            <a:pPr marL="457200" lvl="0" indent="-342900" algn="l" rtl="0">
              <a:spcBef>
                <a:spcPts val="0"/>
              </a:spcBef>
              <a:spcAft>
                <a:spcPts val="0"/>
              </a:spcAft>
              <a:buSzPts val="1800"/>
              <a:buChar char="●"/>
            </a:pPr>
            <a:r>
              <a:rPr lang="en"/>
              <a:t>Shorthands</a:t>
            </a:r>
            <a:endParaRPr/>
          </a:p>
          <a:p>
            <a:pPr marL="914400" lvl="1" indent="-317500" algn="l" rtl="0">
              <a:spcBef>
                <a:spcPts val="0"/>
              </a:spcBef>
              <a:spcAft>
                <a:spcPts val="0"/>
              </a:spcAft>
              <a:buSzPts val="1400"/>
              <a:buChar char="○"/>
            </a:pPr>
            <a:r>
              <a:rPr lang="en"/>
              <a:t>Grid property: grid-auto-columns, grid-auto-flow, grid-auto-rows, grid-template-areas, grid-template-columns, grid-template-rows.</a:t>
            </a:r>
            <a:endParaRPr/>
          </a:p>
          <a:p>
            <a:pPr marL="914400" lvl="1" indent="-317500" algn="l" rtl="0">
              <a:spcBef>
                <a:spcPts val="0"/>
              </a:spcBef>
              <a:spcAft>
                <a:spcPts val="0"/>
              </a:spcAft>
              <a:buSzPts val="1400"/>
              <a:buChar char="○"/>
            </a:pPr>
            <a:r>
              <a:rPr lang="en"/>
              <a:t>Grid-template property: grid-template-areas, grid-template-columns, grid-template-rows.</a:t>
            </a:r>
            <a:endParaRPr/>
          </a:p>
        </p:txBody>
      </p:sp>
      <p:sp>
        <p:nvSpPr>
          <p:cNvPr id="781" name="Google Shape;781;p10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95</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10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Grid Layout ─ Fractional unit</a:t>
            </a:r>
            <a:endParaRPr/>
          </a:p>
        </p:txBody>
      </p:sp>
      <p:sp>
        <p:nvSpPr>
          <p:cNvPr id="787" name="Google Shape;787;p10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Pixel based</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200px 200px 200px;</a:t>
            </a:r>
            <a:endParaRPr/>
          </a:p>
          <a:p>
            <a:pPr marL="914400" lvl="1" indent="-304800" algn="l" rtl="0">
              <a:spcBef>
                <a:spcPts val="0"/>
              </a:spcBef>
              <a:spcAft>
                <a:spcPts val="0"/>
              </a:spcAft>
              <a:buSzPts val="1200"/>
              <a:buChar char="○"/>
            </a:pPr>
            <a:r>
              <a:rPr lang="en"/>
              <a:t>}</a:t>
            </a:r>
            <a:endParaRPr/>
          </a:p>
          <a:p>
            <a:pPr marL="457200" lvl="0" indent="-317500" algn="l" rtl="0">
              <a:spcBef>
                <a:spcPts val="0"/>
              </a:spcBef>
              <a:spcAft>
                <a:spcPts val="0"/>
              </a:spcAft>
              <a:buSzPts val="1400"/>
              <a:buChar char="●"/>
            </a:pPr>
            <a:r>
              <a:rPr lang="en"/>
              <a:t>fr unit: The fr unit represents a fraction of the available space in the grid container.</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1fr 1fr 1fr;</a:t>
            </a:r>
            <a:endParaRPr/>
          </a:p>
          <a:p>
            <a:pPr marL="914400" lvl="1" indent="-304800" algn="l" rtl="0">
              <a:spcBef>
                <a:spcPts val="0"/>
              </a:spcBef>
              <a:spcAft>
                <a:spcPts val="0"/>
              </a:spcAft>
              <a:buSzPts val="1200"/>
              <a:buChar char="○"/>
            </a:pPr>
            <a:r>
              <a:rPr lang="en"/>
              <a:t>}</a:t>
            </a:r>
            <a:endParaRPr/>
          </a:p>
        </p:txBody>
      </p:sp>
      <p:sp>
        <p:nvSpPr>
          <p:cNvPr id="788" name="Google Shape;788;p10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96</a:t>
            </a:fld>
            <a:endParaRPr/>
          </a:p>
        </p:txBody>
      </p:sp>
      <p:sp>
        <p:nvSpPr>
          <p:cNvPr id="789" name="Google Shape;789;p10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Unequal sizes</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2fr 1fr 1fr;</a:t>
            </a:r>
            <a:endParaRPr/>
          </a:p>
          <a:p>
            <a:pPr marL="914400" lvl="1" indent="-304800" algn="l" rtl="0">
              <a:spcBef>
                <a:spcPts val="0"/>
              </a:spcBef>
              <a:spcAft>
                <a:spcPts val="0"/>
              </a:spcAft>
              <a:buSzPts val="1200"/>
              <a:buChar char="○"/>
            </a:pPr>
            <a:r>
              <a:rPr lang="en"/>
              <a:t>}</a:t>
            </a:r>
            <a:endParaRPr/>
          </a:p>
          <a:p>
            <a:pPr marL="457200" lvl="0" indent="-317500" algn="l" rtl="0">
              <a:spcBef>
                <a:spcPts val="0"/>
              </a:spcBef>
              <a:spcAft>
                <a:spcPts val="0"/>
              </a:spcAft>
              <a:buSzPts val="1400"/>
              <a:buChar char="●"/>
            </a:pPr>
            <a:r>
              <a:rPr lang="en"/>
              <a:t>Mixing flexible and absolute sizes</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500px 1fr 2fr;</a:t>
            </a:r>
            <a:endParaRPr/>
          </a:p>
          <a:p>
            <a:pPr marL="914400" lvl="1" indent="-304800" algn="l" rtl="0">
              <a:spcBef>
                <a:spcPts val="0"/>
              </a:spcBef>
              <a:spcAft>
                <a:spcPts val="0"/>
              </a:spcAft>
              <a:buSzPts val="1200"/>
              <a:buChar char="○"/>
            </a:pPr>
            <a:r>
              <a:rPr lang="en"/>
              <a: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10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Grid Layout ─ Function and Implicit Grid</a:t>
            </a:r>
            <a:endParaRPr/>
          </a:p>
        </p:txBody>
      </p:sp>
      <p:sp>
        <p:nvSpPr>
          <p:cNvPr id="795" name="Google Shape;795;p10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lnSpcReduction="10000"/>
          </a:bodyPr>
          <a:lstStyle/>
          <a:p>
            <a:pPr marL="457200" lvl="0" indent="-317500" algn="l" rtl="0">
              <a:spcBef>
                <a:spcPts val="0"/>
              </a:spcBef>
              <a:spcAft>
                <a:spcPts val="0"/>
              </a:spcAft>
              <a:buSzPts val="1400"/>
              <a:buChar char="●"/>
            </a:pPr>
            <a:r>
              <a:rPr lang="en"/>
              <a:t>repeat() function</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repeat(3, 1fr);</a:t>
            </a:r>
            <a:endParaRPr/>
          </a:p>
          <a:p>
            <a:pPr marL="914400" lvl="1" indent="-304800" algn="l" rtl="0">
              <a:spcBef>
                <a:spcPts val="0"/>
              </a:spcBef>
              <a:spcAft>
                <a:spcPts val="0"/>
              </a:spcAft>
              <a:buSzPts val="1200"/>
              <a:buChar char="○"/>
            </a:pPr>
            <a:r>
              <a:rPr lang="en"/>
              <a:t>}</a:t>
            </a:r>
            <a:endParaRPr/>
          </a:p>
          <a:p>
            <a:pPr marL="457200" lvl="0" indent="-317500" algn="l" rtl="0">
              <a:spcBef>
                <a:spcPts val="0"/>
              </a:spcBef>
              <a:spcAft>
                <a:spcPts val="0"/>
              </a:spcAft>
              <a:buSzPts val="1400"/>
              <a:buChar char="●"/>
            </a:pPr>
            <a:r>
              <a:rPr lang="en"/>
              <a:t>Mixed mode</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20px repeat(6, 1fr) 20px;</a:t>
            </a:r>
            <a:endParaRPr/>
          </a:p>
          <a:p>
            <a:pPr marL="914400" lvl="1" indent="-304800" algn="l" rtl="0">
              <a:spcBef>
                <a:spcPts val="0"/>
              </a:spcBef>
              <a:spcAft>
                <a:spcPts val="0"/>
              </a:spcAft>
              <a:buSzPts val="1200"/>
              <a:buChar char="○"/>
            </a:pPr>
            <a:r>
              <a:rPr lang="en"/>
              <a:t>}</a:t>
            </a:r>
            <a:endParaRPr/>
          </a:p>
          <a:p>
            <a:pPr marL="457200" lvl="0" indent="-317500" algn="l" rtl="0">
              <a:spcBef>
                <a:spcPts val="0"/>
              </a:spcBef>
              <a:spcAft>
                <a:spcPts val="0"/>
              </a:spcAft>
              <a:buSzPts val="1400"/>
              <a:buChar char="●"/>
            </a:pPr>
            <a:r>
              <a:rPr lang="en"/>
              <a:t>Repeated pattern </a:t>
            </a:r>
            <a:endParaRPr/>
          </a:p>
          <a:p>
            <a:pPr marL="914400" lvl="1" indent="-304800" algn="l" rtl="0">
              <a:spcBef>
                <a:spcPts val="0"/>
              </a:spcBef>
              <a:spcAft>
                <a:spcPts val="0"/>
              </a:spcAft>
              <a:buSzPts val="1200"/>
              <a:buChar char="○"/>
            </a:pPr>
            <a:r>
              <a:rPr lang="en"/>
              <a:t>.wrapper {</a:t>
            </a:r>
            <a:endParaRPr/>
          </a:p>
          <a:p>
            <a:pPr marL="914400" lvl="1" indent="-304800" algn="l" rtl="0">
              <a:spcBef>
                <a:spcPts val="0"/>
              </a:spcBef>
              <a:spcAft>
                <a:spcPts val="0"/>
              </a:spcAft>
              <a:buSzPts val="1200"/>
              <a:buChar char="○"/>
            </a:pPr>
            <a:r>
              <a:rPr lang="en"/>
              <a:t>  display: grid;</a:t>
            </a:r>
            <a:endParaRPr/>
          </a:p>
          <a:p>
            <a:pPr marL="914400" lvl="1" indent="-304800" algn="l" rtl="0">
              <a:spcBef>
                <a:spcPts val="0"/>
              </a:spcBef>
              <a:spcAft>
                <a:spcPts val="0"/>
              </a:spcAft>
              <a:buSzPts val="1200"/>
              <a:buChar char="○"/>
            </a:pPr>
            <a:r>
              <a:rPr lang="en"/>
              <a:t>  grid-template-columns: repeat(5, 1fr 2fr);</a:t>
            </a:r>
            <a:endParaRPr/>
          </a:p>
          <a:p>
            <a:pPr marL="914400" lvl="1" indent="-304800" algn="l" rtl="0">
              <a:spcBef>
                <a:spcPts val="0"/>
              </a:spcBef>
              <a:spcAft>
                <a:spcPts val="0"/>
              </a:spcAft>
              <a:buSzPts val="1200"/>
              <a:buChar char="○"/>
            </a:pPr>
            <a:r>
              <a:rPr lang="en"/>
              <a:t>}</a:t>
            </a:r>
            <a:endParaRPr/>
          </a:p>
        </p:txBody>
      </p:sp>
      <p:sp>
        <p:nvSpPr>
          <p:cNvPr id="796" name="Google Shape;796;p10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97</a:t>
            </a:fld>
            <a:endParaRPr/>
          </a:p>
        </p:txBody>
      </p:sp>
      <p:sp>
        <p:nvSpPr>
          <p:cNvPr id="797" name="Google Shape;797;p10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85000" lnSpcReduction="20000"/>
          </a:bodyPr>
          <a:lstStyle/>
          <a:p>
            <a:pPr marL="457200" lvl="0" indent="-304165" algn="l" rtl="0">
              <a:spcBef>
                <a:spcPts val="0"/>
              </a:spcBef>
              <a:spcAft>
                <a:spcPts val="0"/>
              </a:spcAft>
              <a:buSzPct val="100000"/>
              <a:buChar char="●"/>
            </a:pPr>
            <a:r>
              <a:rPr lang="en"/>
              <a:t>Implicit grid</a:t>
            </a:r>
            <a:endParaRPr/>
          </a:p>
          <a:p>
            <a:pPr marL="914400" lvl="1" indent="-293370" algn="l" rtl="0">
              <a:spcBef>
                <a:spcPts val="0"/>
              </a:spcBef>
              <a:spcAft>
                <a:spcPts val="0"/>
              </a:spcAft>
              <a:buSzPct val="100000"/>
              <a:buChar char="○"/>
            </a:pPr>
            <a:r>
              <a:rPr lang="en"/>
              <a:t>No explicit declared, e.g. grid-template-rows</a:t>
            </a:r>
            <a:endParaRPr/>
          </a:p>
          <a:p>
            <a:pPr marL="914400" lvl="1" indent="-293370" algn="l" rtl="0">
              <a:spcBef>
                <a:spcPts val="0"/>
              </a:spcBef>
              <a:spcAft>
                <a:spcPts val="0"/>
              </a:spcAft>
              <a:buSzPct val="100000"/>
              <a:buChar char="○"/>
            </a:pPr>
            <a:r>
              <a:rPr lang="en"/>
              <a:t>The number of grid items exceeds the capacity of the defined tracks.</a:t>
            </a:r>
            <a:endParaRPr/>
          </a:p>
          <a:p>
            <a:pPr marL="914400" lvl="1" indent="-293370" algn="l" rtl="0">
              <a:spcBef>
                <a:spcPts val="0"/>
              </a:spcBef>
              <a:spcAft>
                <a:spcPts val="0"/>
              </a:spcAft>
              <a:buSzPct val="100000"/>
              <a:buChar char="○"/>
            </a:pPr>
            <a:r>
              <a:rPr lang="en"/>
              <a:t>Placement of grid item is outside of defined tracks.</a:t>
            </a:r>
            <a:endParaRPr/>
          </a:p>
          <a:p>
            <a:pPr marL="457200" lvl="0" indent="-304165" algn="l" rtl="0">
              <a:spcBef>
                <a:spcPts val="0"/>
              </a:spcBef>
              <a:spcAft>
                <a:spcPts val="0"/>
              </a:spcAft>
              <a:buSzPct val="100000"/>
              <a:buChar char="●"/>
            </a:pPr>
            <a:r>
              <a:rPr lang="en"/>
              <a:t>Implicit tracks are auto-sized by default</a:t>
            </a:r>
            <a:endParaRPr/>
          </a:p>
          <a:p>
            <a:pPr marL="914400" lvl="1" indent="-293370" algn="l" rtl="0">
              <a:spcBef>
                <a:spcPts val="0"/>
              </a:spcBef>
              <a:spcAft>
                <a:spcPts val="0"/>
              </a:spcAft>
              <a:buSzPct val="100000"/>
              <a:buChar char="○"/>
            </a:pPr>
            <a:r>
              <a:rPr lang="en"/>
              <a:t>The auto keyword allows accommodating content while also sharing any remaining space.</a:t>
            </a:r>
            <a:endParaRPr/>
          </a:p>
          <a:p>
            <a:pPr marL="914400" lvl="1" indent="-293370" algn="l" rtl="0">
              <a:spcBef>
                <a:spcPts val="0"/>
              </a:spcBef>
              <a:spcAft>
                <a:spcPts val="0"/>
              </a:spcAft>
              <a:buSzPct val="100000"/>
              <a:buChar char="○"/>
            </a:pPr>
            <a:r>
              <a:rPr lang="en"/>
              <a:t>Using grid-auto-rows and grid-auto-columns properties to define size of tracks.</a:t>
            </a:r>
            <a:endParaRPr/>
          </a:p>
          <a:p>
            <a:pPr marL="914400" lvl="1" indent="-293370" algn="l" rtl="0">
              <a:spcBef>
                <a:spcPts val="0"/>
              </a:spcBef>
              <a:spcAft>
                <a:spcPts val="0"/>
              </a:spcAft>
              <a:buSzPct val="100000"/>
              <a:buChar char="○"/>
            </a:pPr>
            <a:r>
              <a:rPr lang="en"/>
              <a:t>.wrapper {</a:t>
            </a:r>
            <a:endParaRPr/>
          </a:p>
          <a:p>
            <a:pPr marL="914400" lvl="1" indent="-293370" algn="l" rtl="0">
              <a:spcBef>
                <a:spcPts val="0"/>
              </a:spcBef>
              <a:spcAft>
                <a:spcPts val="0"/>
              </a:spcAft>
              <a:buSzPct val="100000"/>
              <a:buChar char="○"/>
            </a:pPr>
            <a:r>
              <a:rPr lang="en"/>
              <a:t>  display: grid;</a:t>
            </a:r>
            <a:endParaRPr/>
          </a:p>
          <a:p>
            <a:pPr marL="914400" lvl="1" indent="-293370" algn="l" rtl="0">
              <a:spcBef>
                <a:spcPts val="0"/>
              </a:spcBef>
              <a:spcAft>
                <a:spcPts val="0"/>
              </a:spcAft>
              <a:buSzPct val="100000"/>
              <a:buChar char="○"/>
            </a:pPr>
            <a:r>
              <a:rPr lang="en"/>
              <a:t>  grid-template-columns: repeat(3, 1fr);</a:t>
            </a:r>
            <a:endParaRPr/>
          </a:p>
          <a:p>
            <a:pPr marL="914400" lvl="1" indent="-293370" algn="l" rtl="0">
              <a:spcBef>
                <a:spcPts val="0"/>
              </a:spcBef>
              <a:spcAft>
                <a:spcPts val="0"/>
              </a:spcAft>
              <a:buSzPct val="100000"/>
              <a:buChar char="○"/>
            </a:pPr>
            <a:r>
              <a:rPr lang="en"/>
              <a:t>  grid-auto-rows: 200px;</a:t>
            </a:r>
            <a:endParaRPr/>
          </a:p>
          <a:p>
            <a:pPr marL="914400" lvl="1" indent="-293370" algn="l" rtl="0">
              <a:spcBef>
                <a:spcPts val="0"/>
              </a:spcBef>
              <a:spcAft>
                <a:spcPts val="0"/>
              </a:spcAft>
              <a:buSzPct val="100000"/>
              <a:buChar char="○"/>
            </a:pPr>
            <a:r>
              <a:rPr lang="en"/>
              <a:t>}</a:t>
            </a:r>
            <a:endParaRPr/>
          </a:p>
          <a:p>
            <a:pPr marL="457200" lvl="0" indent="-304165" algn="l" rtl="0">
              <a:spcBef>
                <a:spcPts val="0"/>
              </a:spcBef>
              <a:spcAft>
                <a:spcPts val="0"/>
              </a:spcAft>
              <a:buSzPct val="100000"/>
              <a:buChar char="●"/>
            </a:pPr>
            <a:r>
              <a:rPr lang="en"/>
              <a:t>minmax(min_value, max_value)</a:t>
            </a:r>
            <a:endParaRPr/>
          </a:p>
          <a:p>
            <a:pPr marL="914400" lvl="1" indent="-293370" algn="l" rtl="0">
              <a:spcBef>
                <a:spcPts val="0"/>
              </a:spcBef>
              <a:spcAft>
                <a:spcPts val="0"/>
              </a:spcAft>
              <a:buSzPct val="100000"/>
              <a:buChar char="○"/>
            </a:pPr>
            <a:r>
              <a:rPr lang="en"/>
              <a:t>.wrapper {</a:t>
            </a:r>
            <a:endParaRPr/>
          </a:p>
          <a:p>
            <a:pPr marL="914400" lvl="1" indent="-293370" algn="l" rtl="0">
              <a:spcBef>
                <a:spcPts val="0"/>
              </a:spcBef>
              <a:spcAft>
                <a:spcPts val="0"/>
              </a:spcAft>
              <a:buSzPct val="100000"/>
              <a:buChar char="○"/>
            </a:pPr>
            <a:r>
              <a:rPr lang="en"/>
              <a:t>  display: grid;</a:t>
            </a:r>
            <a:endParaRPr/>
          </a:p>
          <a:p>
            <a:pPr marL="914400" lvl="1" indent="-293370" algn="l" rtl="0">
              <a:spcBef>
                <a:spcPts val="0"/>
              </a:spcBef>
              <a:spcAft>
                <a:spcPts val="0"/>
              </a:spcAft>
              <a:buSzPct val="100000"/>
              <a:buChar char="○"/>
            </a:pPr>
            <a:r>
              <a:rPr lang="en"/>
              <a:t>  grid-template-columns: repeat(3, 1fr);</a:t>
            </a:r>
            <a:endParaRPr/>
          </a:p>
          <a:p>
            <a:pPr marL="914400" lvl="1" indent="-293370" algn="l" rtl="0">
              <a:spcBef>
                <a:spcPts val="0"/>
              </a:spcBef>
              <a:spcAft>
                <a:spcPts val="0"/>
              </a:spcAft>
              <a:buSzPct val="100000"/>
              <a:buChar char="○"/>
            </a:pPr>
            <a:r>
              <a:rPr lang="en"/>
              <a:t>  grid-auto-rows: minmax(100px, auto);</a:t>
            </a:r>
            <a:endParaRPr/>
          </a:p>
          <a:p>
            <a:pPr marL="914400" lvl="1" indent="-293370" algn="l" rtl="0">
              <a:spcBef>
                <a:spcPts val="0"/>
              </a:spcBef>
              <a:spcAft>
                <a:spcPts val="0"/>
              </a:spcAft>
              <a:buSzPct val="100000"/>
              <a:buChar char="○"/>
            </a:pPr>
            <a:r>
              <a:rPr lang="en"/>
              <a:t>}</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0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Grid Layout ─ Grid Line and Positioning Items</a:t>
            </a:r>
            <a:endParaRPr sz="2800" dirty="0"/>
          </a:p>
        </p:txBody>
      </p:sp>
      <p:sp>
        <p:nvSpPr>
          <p:cNvPr id="803" name="Google Shape;803;p109"/>
          <p:cNvSpPr txBox="1">
            <a:spLocks noGrp="1"/>
          </p:cNvSpPr>
          <p:nvPr>
            <p:ph type="body" idx="1"/>
          </p:nvPr>
        </p:nvSpPr>
        <p:spPr>
          <a:xfrm>
            <a:off x="311700" y="1152475"/>
            <a:ext cx="3999900" cy="8367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Lines are numbered according to the writing mode of the document.</a:t>
            </a:r>
            <a:endParaRPr/>
          </a:p>
        </p:txBody>
      </p:sp>
      <p:sp>
        <p:nvSpPr>
          <p:cNvPr id="804" name="Google Shape;804;p109"/>
          <p:cNvSpPr txBox="1">
            <a:spLocks noGrp="1"/>
          </p:cNvSpPr>
          <p:nvPr>
            <p:ph type="body" idx="2"/>
          </p:nvPr>
        </p:nvSpPr>
        <p:spPr>
          <a:xfrm>
            <a:off x="4832400" y="1152475"/>
            <a:ext cx="3999900" cy="2317500"/>
          </a:xfrm>
          <a:prstGeom prst="rect">
            <a:avLst/>
          </a:prstGeom>
        </p:spPr>
        <p:txBody>
          <a:bodyPr spcFirstLastPara="1" wrap="square" lIns="91425" tIns="91425" rIns="91425" bIns="91425" anchor="t" anchorCtr="0">
            <a:normAutofit fontScale="77500" lnSpcReduction="20000"/>
          </a:bodyPr>
          <a:lstStyle/>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.wrapper {</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display: grid;</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grid-template-columns: repeat(3, 1fr);</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grid-auto-rows: 100px;</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.box1 {</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grid-column-start: 1;</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grid-column-end: 4;</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grid-row-start: 1;</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grid-row-end: 3;</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.box2 {</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grid-column-start: 1;</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grid-row-start: 3;</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  grid-row-end: 5;</a:t>
            </a:r>
            <a:endParaRPr sz="1200">
              <a:solidFill>
                <a:schemeClr val="dk2"/>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200">
                <a:solidFill>
                  <a:schemeClr val="dk2"/>
                </a:solidFill>
                <a:latin typeface="Courier New"/>
                <a:ea typeface="Courier New"/>
                <a:cs typeface="Courier New"/>
                <a:sym typeface="Courier New"/>
              </a:rPr>
              <a:t>}</a:t>
            </a:r>
            <a:endParaRPr/>
          </a:p>
        </p:txBody>
      </p:sp>
      <p:sp>
        <p:nvSpPr>
          <p:cNvPr id="805" name="Google Shape;805;p10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98</a:t>
            </a:fld>
            <a:endParaRPr/>
          </a:p>
        </p:txBody>
      </p:sp>
      <p:pic>
        <p:nvPicPr>
          <p:cNvPr id="806" name="Google Shape;806;p109"/>
          <p:cNvPicPr preferRelativeResize="0"/>
          <p:nvPr/>
        </p:nvPicPr>
        <p:blipFill>
          <a:blip r:embed="rId3">
            <a:alphaModFix/>
          </a:blip>
          <a:stretch>
            <a:fillRect/>
          </a:stretch>
        </p:blipFill>
        <p:spPr>
          <a:xfrm>
            <a:off x="161175" y="1858200"/>
            <a:ext cx="4527600" cy="2710680"/>
          </a:xfrm>
          <a:prstGeom prst="rect">
            <a:avLst/>
          </a:prstGeom>
          <a:noFill/>
          <a:ln>
            <a:noFill/>
          </a:ln>
        </p:spPr>
      </p:pic>
      <p:pic>
        <p:nvPicPr>
          <p:cNvPr id="807" name="Google Shape;807;p109"/>
          <p:cNvPicPr preferRelativeResize="0"/>
          <p:nvPr/>
        </p:nvPicPr>
        <p:blipFill>
          <a:blip r:embed="rId4">
            <a:alphaModFix/>
          </a:blip>
          <a:stretch>
            <a:fillRect/>
          </a:stretch>
        </p:blipFill>
        <p:spPr>
          <a:xfrm>
            <a:off x="5342490" y="3417298"/>
            <a:ext cx="2642001" cy="14651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1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Grid Layout ─ Line-positioning shorthands</a:t>
            </a:r>
            <a:endParaRPr/>
          </a:p>
        </p:txBody>
      </p:sp>
      <p:sp>
        <p:nvSpPr>
          <p:cNvPr id="813" name="Google Shape;813;p11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457200" lvl="0" indent="-317183" algn="l" rtl="0">
              <a:spcBef>
                <a:spcPts val="0"/>
              </a:spcBef>
              <a:spcAft>
                <a:spcPts val="0"/>
              </a:spcAft>
              <a:buSzPct val="100000"/>
              <a:buChar char="●"/>
            </a:pPr>
            <a:r>
              <a:rPr lang="en" dirty="0"/>
              <a:t>The longhand values used above can be compressed onto one line for columns with the grid-column shorthand, and one line for rows with the grid-row shorthand.</a:t>
            </a:r>
            <a:endParaRPr dirty="0"/>
          </a:p>
          <a:p>
            <a:pPr marL="0" lvl="0" indent="457200" algn="l" rtl="0">
              <a:lnSpc>
                <a:spcPct val="100000"/>
              </a:lnSpc>
              <a:spcBef>
                <a:spcPts val="1600"/>
              </a:spcBef>
              <a:spcAft>
                <a:spcPts val="0"/>
              </a:spcAft>
              <a:buNone/>
            </a:pPr>
            <a:r>
              <a:rPr lang="en" dirty="0"/>
              <a:t>.wrapper {</a:t>
            </a:r>
            <a:endParaRPr dirty="0"/>
          </a:p>
          <a:p>
            <a:pPr marL="0" lvl="0" indent="457200" algn="l" rtl="0">
              <a:lnSpc>
                <a:spcPct val="100000"/>
              </a:lnSpc>
              <a:spcBef>
                <a:spcPts val="0"/>
              </a:spcBef>
              <a:spcAft>
                <a:spcPts val="0"/>
              </a:spcAft>
              <a:buNone/>
            </a:pPr>
            <a:r>
              <a:rPr lang="en" dirty="0"/>
              <a:t>  display: grid;</a:t>
            </a:r>
            <a:endParaRPr dirty="0"/>
          </a:p>
          <a:p>
            <a:pPr marL="0" lvl="0" indent="457200" algn="l" rtl="0">
              <a:lnSpc>
                <a:spcPct val="100000"/>
              </a:lnSpc>
              <a:spcBef>
                <a:spcPts val="0"/>
              </a:spcBef>
              <a:spcAft>
                <a:spcPts val="0"/>
              </a:spcAft>
              <a:buNone/>
            </a:pPr>
            <a:r>
              <a:rPr lang="en" dirty="0"/>
              <a:t>  grid-template-columns: repeat(3, 1fr);</a:t>
            </a:r>
            <a:endParaRPr dirty="0"/>
          </a:p>
          <a:p>
            <a:pPr marL="0" lvl="0" indent="457200" algn="l" rtl="0">
              <a:lnSpc>
                <a:spcPct val="100000"/>
              </a:lnSpc>
              <a:spcBef>
                <a:spcPts val="0"/>
              </a:spcBef>
              <a:spcAft>
                <a:spcPts val="0"/>
              </a:spcAft>
              <a:buNone/>
            </a:pPr>
            <a:r>
              <a:rPr lang="en" dirty="0"/>
              <a:t>  grid-auto-rows: 100px;</a:t>
            </a:r>
            <a:endParaRPr dirty="0"/>
          </a:p>
          <a:p>
            <a:pPr marL="0" lvl="0" indent="457200" algn="l" rtl="0">
              <a:lnSpc>
                <a:spcPct val="100000"/>
              </a:lnSpc>
              <a:spcBef>
                <a:spcPts val="0"/>
              </a:spcBef>
              <a:spcAft>
                <a:spcPts val="0"/>
              </a:spcAft>
              <a:buNone/>
            </a:pPr>
            <a:r>
              <a:rPr lang="en" dirty="0"/>
              <a:t>}</a:t>
            </a:r>
            <a:endParaRPr dirty="0"/>
          </a:p>
          <a:p>
            <a:pPr marL="0" lvl="0" indent="457200" algn="l" rtl="0">
              <a:lnSpc>
                <a:spcPct val="100000"/>
              </a:lnSpc>
              <a:spcBef>
                <a:spcPts val="0"/>
              </a:spcBef>
              <a:spcAft>
                <a:spcPts val="0"/>
              </a:spcAft>
              <a:buNone/>
            </a:pPr>
            <a:endParaRPr dirty="0"/>
          </a:p>
          <a:p>
            <a:pPr marL="0" lvl="0" indent="457200" algn="l" rtl="0">
              <a:lnSpc>
                <a:spcPct val="100000"/>
              </a:lnSpc>
              <a:spcBef>
                <a:spcPts val="0"/>
              </a:spcBef>
              <a:spcAft>
                <a:spcPts val="0"/>
              </a:spcAft>
              <a:buNone/>
            </a:pPr>
            <a:r>
              <a:rPr lang="en" dirty="0"/>
              <a:t>.box1 {</a:t>
            </a:r>
            <a:endParaRPr dirty="0"/>
          </a:p>
          <a:p>
            <a:pPr marL="0" lvl="0" indent="457200" algn="l" rtl="0">
              <a:lnSpc>
                <a:spcPct val="100000"/>
              </a:lnSpc>
              <a:spcBef>
                <a:spcPts val="0"/>
              </a:spcBef>
              <a:spcAft>
                <a:spcPts val="0"/>
              </a:spcAft>
              <a:buNone/>
            </a:pPr>
            <a:r>
              <a:rPr lang="en" dirty="0"/>
              <a:t>  grid-column: 1 / 4;</a:t>
            </a:r>
            <a:endParaRPr dirty="0"/>
          </a:p>
          <a:p>
            <a:pPr marL="0" lvl="0" indent="457200" algn="l" rtl="0">
              <a:lnSpc>
                <a:spcPct val="100000"/>
              </a:lnSpc>
              <a:spcBef>
                <a:spcPts val="0"/>
              </a:spcBef>
              <a:spcAft>
                <a:spcPts val="0"/>
              </a:spcAft>
              <a:buNone/>
            </a:pPr>
            <a:r>
              <a:rPr lang="en" dirty="0"/>
              <a:t>  grid-row: 1 / 3;</a:t>
            </a:r>
            <a:endParaRPr dirty="0"/>
          </a:p>
          <a:p>
            <a:pPr marL="0" lvl="0" indent="457200" algn="l" rtl="0">
              <a:lnSpc>
                <a:spcPct val="100000"/>
              </a:lnSpc>
              <a:spcBef>
                <a:spcPts val="0"/>
              </a:spcBef>
              <a:spcAft>
                <a:spcPts val="0"/>
              </a:spcAft>
              <a:buNone/>
            </a:pPr>
            <a:r>
              <a:rPr lang="en" dirty="0"/>
              <a:t>}</a:t>
            </a:r>
            <a:endParaRPr dirty="0"/>
          </a:p>
          <a:p>
            <a:pPr marL="0" lvl="0" indent="457200" algn="l" rtl="0">
              <a:lnSpc>
                <a:spcPct val="100000"/>
              </a:lnSpc>
              <a:spcBef>
                <a:spcPts val="0"/>
              </a:spcBef>
              <a:spcAft>
                <a:spcPts val="0"/>
              </a:spcAft>
              <a:buNone/>
            </a:pPr>
            <a:endParaRPr dirty="0"/>
          </a:p>
          <a:p>
            <a:pPr marL="0" lvl="0" indent="457200" algn="l" rtl="0">
              <a:lnSpc>
                <a:spcPct val="100000"/>
              </a:lnSpc>
              <a:spcBef>
                <a:spcPts val="0"/>
              </a:spcBef>
              <a:spcAft>
                <a:spcPts val="0"/>
              </a:spcAft>
              <a:buNone/>
            </a:pPr>
            <a:r>
              <a:rPr lang="en" dirty="0"/>
              <a:t>.box2 {</a:t>
            </a:r>
            <a:endParaRPr dirty="0"/>
          </a:p>
          <a:p>
            <a:pPr marL="0" lvl="0" indent="457200" algn="l" rtl="0">
              <a:lnSpc>
                <a:spcPct val="100000"/>
              </a:lnSpc>
              <a:spcBef>
                <a:spcPts val="0"/>
              </a:spcBef>
              <a:spcAft>
                <a:spcPts val="0"/>
              </a:spcAft>
              <a:buNone/>
            </a:pPr>
            <a:r>
              <a:rPr lang="en" dirty="0"/>
              <a:t>  grid-column: 1;</a:t>
            </a:r>
            <a:endParaRPr dirty="0"/>
          </a:p>
          <a:p>
            <a:pPr marL="0" lvl="0" indent="457200" algn="l" rtl="0">
              <a:lnSpc>
                <a:spcPct val="100000"/>
              </a:lnSpc>
              <a:spcBef>
                <a:spcPts val="0"/>
              </a:spcBef>
              <a:spcAft>
                <a:spcPts val="0"/>
              </a:spcAft>
              <a:buNone/>
            </a:pPr>
            <a:r>
              <a:rPr lang="en" dirty="0"/>
              <a:t>  grid-row: 3 / 5;</a:t>
            </a:r>
            <a:endParaRPr dirty="0"/>
          </a:p>
          <a:p>
            <a:pPr marL="0" lvl="0" indent="457200" algn="l" rtl="0">
              <a:lnSpc>
                <a:spcPct val="100000"/>
              </a:lnSpc>
              <a:spcBef>
                <a:spcPts val="0"/>
              </a:spcBef>
              <a:spcAft>
                <a:spcPts val="0"/>
              </a:spcAft>
              <a:buNone/>
            </a:pPr>
            <a:r>
              <a:rPr lang="en" dirty="0"/>
              <a:t>}</a:t>
            </a:r>
            <a:endParaRPr dirty="0"/>
          </a:p>
        </p:txBody>
      </p:sp>
      <p:sp>
        <p:nvSpPr>
          <p:cNvPr id="814" name="Google Shape;814;p1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99</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1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Grid Layout ─ Grid Cell and Gaps</a:t>
            </a:r>
            <a:endParaRPr/>
          </a:p>
        </p:txBody>
      </p:sp>
      <p:sp>
        <p:nvSpPr>
          <p:cNvPr id="820" name="Google Shape;820;p11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The space between two adjacent row and two adjacent column grid lines.</a:t>
            </a:r>
            <a:endParaRPr/>
          </a:p>
          <a:p>
            <a:pPr marL="914400" lvl="1" indent="-304800" algn="l" rtl="0">
              <a:spcBef>
                <a:spcPts val="0"/>
              </a:spcBef>
              <a:spcAft>
                <a:spcPts val="0"/>
              </a:spcAft>
              <a:buSzPts val="1200"/>
              <a:buChar char="○"/>
            </a:pPr>
            <a:r>
              <a:rPr lang="en"/>
              <a:t>A grid cell is the smallest unit on a grid.</a:t>
            </a:r>
            <a:endParaRPr/>
          </a:p>
          <a:p>
            <a:pPr marL="457200" lvl="0" indent="-317500" algn="l" rtl="0">
              <a:spcBef>
                <a:spcPts val="0"/>
              </a:spcBef>
              <a:spcAft>
                <a:spcPts val="0"/>
              </a:spcAft>
              <a:buSzPts val="1400"/>
              <a:buChar char="●"/>
            </a:pPr>
            <a:r>
              <a:rPr lang="en"/>
              <a:t>Gutters or alleys between grid cells can be created using the column-gap and row-gap properties, or the shorthand gap.</a:t>
            </a:r>
            <a:endParaRPr/>
          </a:p>
        </p:txBody>
      </p:sp>
      <p:sp>
        <p:nvSpPr>
          <p:cNvPr id="821" name="Google Shape;821;p1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100</a:t>
            </a:fld>
            <a:endParaRPr/>
          </a:p>
        </p:txBody>
      </p:sp>
      <p:pic>
        <p:nvPicPr>
          <p:cNvPr id="822" name="Google Shape;822;p111"/>
          <p:cNvPicPr preferRelativeResize="0"/>
          <p:nvPr/>
        </p:nvPicPr>
        <p:blipFill>
          <a:blip r:embed="rId3">
            <a:alphaModFix/>
          </a:blip>
          <a:stretch>
            <a:fillRect/>
          </a:stretch>
        </p:blipFill>
        <p:spPr>
          <a:xfrm>
            <a:off x="1287313" y="3136600"/>
            <a:ext cx="6569375" cy="1682700"/>
          </a:xfrm>
          <a:prstGeom prst="rect">
            <a:avLst/>
          </a:prstGeom>
          <a:noFill/>
          <a:ln>
            <a:noFill/>
          </a:ln>
        </p:spPr>
      </p:pic>
      <p:sp>
        <p:nvSpPr>
          <p:cNvPr id="823" name="Google Shape;823;p11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.wrapper {</a:t>
            </a:r>
            <a:endParaRPr/>
          </a:p>
          <a:p>
            <a:pPr marL="0" lvl="0" indent="0" algn="l" rtl="0">
              <a:spcBef>
                <a:spcPts val="0"/>
              </a:spcBef>
              <a:spcAft>
                <a:spcPts val="0"/>
              </a:spcAft>
              <a:buNone/>
            </a:pPr>
            <a:r>
              <a:rPr lang="en"/>
              <a:t>  display: grid;</a:t>
            </a:r>
            <a:endParaRPr/>
          </a:p>
          <a:p>
            <a:pPr marL="0" lvl="0" indent="0" algn="l" rtl="0">
              <a:spcBef>
                <a:spcPts val="0"/>
              </a:spcBef>
              <a:spcAft>
                <a:spcPts val="0"/>
              </a:spcAft>
              <a:buNone/>
            </a:pPr>
            <a:r>
              <a:rPr lang="en"/>
              <a:t>  grid-template-columns: repeat(3, 1fr);</a:t>
            </a:r>
            <a:endParaRPr/>
          </a:p>
          <a:p>
            <a:pPr marL="0" lvl="0" indent="0" algn="l" rtl="0">
              <a:spcBef>
                <a:spcPts val="0"/>
              </a:spcBef>
              <a:spcAft>
                <a:spcPts val="0"/>
              </a:spcAft>
              <a:buNone/>
            </a:pPr>
            <a:r>
              <a:rPr lang="en"/>
              <a:t>  column-gap: 10px;</a:t>
            </a:r>
            <a:endParaRPr/>
          </a:p>
          <a:p>
            <a:pPr marL="0" lvl="0" indent="0" algn="l" rtl="0">
              <a:spcBef>
                <a:spcPts val="0"/>
              </a:spcBef>
              <a:spcAft>
                <a:spcPts val="0"/>
              </a:spcAft>
              <a:buNone/>
            </a:pPr>
            <a:r>
              <a:rPr lang="en"/>
              <a:t>  row-gap: 1em;</a:t>
            </a:r>
            <a:endParaRPr/>
          </a:p>
          <a:p>
            <a:pPr marL="0" lvl="0" indent="0" algn="l" rtl="0">
              <a:spcBef>
                <a:spcPts val="0"/>
              </a:spcBef>
              <a:spcAft>
                <a:spcPts val="0"/>
              </a:spcAft>
              <a:buNone/>
            </a:pPr>
            <a:r>
              <a:rPr lang="en"/>
              <a:t>}</a:t>
            </a:r>
            <a:endParaRPr/>
          </a:p>
          <a:p>
            <a:pPr marL="0" lvl="0" indent="0" algn="l" rtl="0">
              <a:spcBef>
                <a:spcPts val="0"/>
              </a:spcBef>
              <a:spcAft>
                <a:spcPts val="1600"/>
              </a:spcAft>
              <a:buNone/>
            </a:pP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1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Nesting Grid and Animations</a:t>
            </a:r>
            <a:endParaRPr/>
          </a:p>
          <a:p>
            <a:pPr marL="0" lvl="0" indent="0" algn="l" rtl="0">
              <a:spcBef>
                <a:spcPts val="0"/>
              </a:spcBef>
              <a:spcAft>
                <a:spcPts val="0"/>
              </a:spcAft>
              <a:buNone/>
            </a:pPr>
            <a:endParaRPr/>
          </a:p>
        </p:txBody>
      </p:sp>
      <p:sp>
        <p:nvSpPr>
          <p:cNvPr id="829" name="Google Shape;829;p11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Learn nesting grids (with keyword subgrid) and layering items with z-index</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https://developer.mozilla.org/en-US/docs/Web/CSS/Guides/Grid_layout/Basic_concepts#nesting_grids</a:t>
            </a:r>
            <a:r>
              <a:rPr lang="en"/>
              <a:t> </a:t>
            </a:r>
            <a:endParaRPr/>
          </a:p>
          <a:p>
            <a:pPr marL="457200" lvl="0" indent="-342900" algn="l" rtl="0">
              <a:spcBef>
                <a:spcPts val="0"/>
              </a:spcBef>
              <a:spcAft>
                <a:spcPts val="0"/>
              </a:spcAft>
              <a:buSzPts val="1800"/>
              <a:buChar char="●"/>
            </a:pPr>
            <a:r>
              <a:rPr lang="en"/>
              <a:t>Advanced topics</a:t>
            </a:r>
            <a:endParaRPr/>
          </a:p>
          <a:p>
            <a:pPr marL="914400" lvl="1" indent="-317500" algn="l" rtl="0">
              <a:spcBef>
                <a:spcPts val="0"/>
              </a:spcBef>
              <a:spcAft>
                <a:spcPts val="0"/>
              </a:spcAft>
              <a:buSzPts val="1400"/>
              <a:buChar char="○"/>
            </a:pPr>
            <a:r>
              <a:rPr lang="en"/>
              <a:t>Animations</a:t>
            </a:r>
            <a:endParaRPr/>
          </a:p>
          <a:p>
            <a:pPr marL="1371600" lvl="2" indent="-317500" algn="l" rtl="0">
              <a:spcBef>
                <a:spcPts val="0"/>
              </a:spcBef>
              <a:spcAft>
                <a:spcPts val="0"/>
              </a:spcAft>
              <a:buSzPts val="1400"/>
              <a:buChar char="■"/>
            </a:pPr>
            <a:r>
              <a:rPr lang="en" u="sng">
                <a:solidFill>
                  <a:schemeClr val="hlink"/>
                </a:solidFill>
                <a:hlinkClick r:id="rId4"/>
              </a:rPr>
              <a:t>https://developer.mozilla.org/en-US/docs/Web/CSS/Guides/Animations</a:t>
            </a:r>
            <a:r>
              <a:rPr lang="en"/>
              <a:t> </a:t>
            </a:r>
            <a:endParaRPr/>
          </a:p>
          <a:p>
            <a:pPr marL="914400" lvl="1" indent="-317500" algn="l" rtl="0">
              <a:spcBef>
                <a:spcPts val="0"/>
              </a:spcBef>
              <a:spcAft>
                <a:spcPts val="0"/>
              </a:spcAft>
              <a:buSzPts val="1400"/>
              <a:buChar char="○"/>
            </a:pPr>
            <a:r>
              <a:rPr lang="en"/>
              <a:t>Transforms</a:t>
            </a:r>
            <a:endParaRPr/>
          </a:p>
          <a:p>
            <a:pPr marL="1371600" lvl="2" indent="-317500" algn="l" rtl="0">
              <a:spcBef>
                <a:spcPts val="0"/>
              </a:spcBef>
              <a:spcAft>
                <a:spcPts val="0"/>
              </a:spcAft>
              <a:buSzPts val="1400"/>
              <a:buChar char="■"/>
            </a:pPr>
            <a:r>
              <a:rPr lang="en" u="sng">
                <a:solidFill>
                  <a:schemeClr val="hlink"/>
                </a:solidFill>
                <a:hlinkClick r:id="rId5"/>
              </a:rPr>
              <a:t>https://developer.mozilla.org/en-US/docs/Web/CSS/Guides/Transforms</a:t>
            </a:r>
            <a:r>
              <a:rPr lang="en"/>
              <a:t> </a:t>
            </a:r>
            <a:endParaRPr/>
          </a:p>
        </p:txBody>
      </p:sp>
      <p:sp>
        <p:nvSpPr>
          <p:cNvPr id="830" name="Google Shape;830;p1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101</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1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Responsive Design ─ Media Query</a:t>
            </a:r>
            <a:endParaRPr/>
          </a:p>
        </p:txBody>
      </p:sp>
      <p:sp>
        <p:nvSpPr>
          <p:cNvPr id="836" name="Google Shape;836;p11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102</a:t>
            </a:fld>
            <a:endParaRPr>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1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media queries</a:t>
            </a:r>
            <a:endParaRPr/>
          </a:p>
        </p:txBody>
      </p:sp>
      <p:sp>
        <p:nvSpPr>
          <p:cNvPr id="842" name="Google Shape;842;p11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103</a:t>
            </a:fld>
            <a:endParaRPr>
              <a:solidFill>
                <a:schemeClr val="lt2"/>
              </a:solidFill>
            </a:endParaRPr>
          </a:p>
        </p:txBody>
      </p:sp>
      <p:sp>
        <p:nvSpPr>
          <p:cNvPr id="843" name="Google Shape;843;p114"/>
          <p:cNvSpPr txBox="1">
            <a:spLocks noGrp="1"/>
          </p:cNvSpPr>
          <p:nvPr>
            <p:ph type="body" idx="1"/>
          </p:nvPr>
        </p:nvSpPr>
        <p:spPr>
          <a:xfrm>
            <a:off x="311700" y="1152475"/>
            <a:ext cx="8520600" cy="2326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Allow you to apply CSS styles depending on a device's media type (such as print vs. screen) or other features or characteristics such as screen resolution or orientation, aspect ratio, browser viewport width or height, user preferences such as preferring reduced motion, data usage, or transparency.</a:t>
            </a:r>
            <a:endParaRPr/>
          </a:p>
          <a:p>
            <a:pPr marL="457200" lvl="0" indent="-342900" algn="l" rtl="0">
              <a:spcBef>
                <a:spcPts val="0"/>
              </a:spcBef>
              <a:spcAft>
                <a:spcPts val="0"/>
              </a:spcAft>
              <a:buSzPts val="1800"/>
              <a:buChar char="●"/>
            </a:pPr>
            <a:r>
              <a:rPr lang="en"/>
              <a:t>The @media CSS at-rule can be used to apply part of a style sheet based on the result of one or more media queries.</a:t>
            </a:r>
            <a:endParaRPr/>
          </a:p>
        </p:txBody>
      </p:sp>
      <p:pic>
        <p:nvPicPr>
          <p:cNvPr id="844" name="Google Shape;844;p114"/>
          <p:cNvPicPr preferRelativeResize="0"/>
          <p:nvPr/>
        </p:nvPicPr>
        <p:blipFill>
          <a:blip r:embed="rId3">
            <a:alphaModFix/>
          </a:blip>
          <a:stretch>
            <a:fillRect/>
          </a:stretch>
        </p:blipFill>
        <p:spPr>
          <a:xfrm>
            <a:off x="257175" y="3478675"/>
            <a:ext cx="8629650" cy="67627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Media Types and Media Features</a:t>
            </a:r>
            <a:endParaRPr/>
          </a:p>
        </p:txBody>
      </p:sp>
      <p:sp>
        <p:nvSpPr>
          <p:cNvPr id="850" name="Google Shape;850;p11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A &lt;media-type&gt; describes the general category of a device. Except when using the only logical operator, the media type is optional and the all type is implied.</a:t>
            </a:r>
            <a:endParaRPr/>
          </a:p>
          <a:p>
            <a:pPr marL="457200" lvl="0" indent="-317500" algn="l" rtl="0">
              <a:spcBef>
                <a:spcPts val="0"/>
              </a:spcBef>
              <a:spcAft>
                <a:spcPts val="0"/>
              </a:spcAft>
              <a:buSzPts val="1400"/>
              <a:buChar char="●"/>
            </a:pPr>
            <a:r>
              <a:rPr lang="en"/>
              <a:t>All</a:t>
            </a:r>
            <a:endParaRPr/>
          </a:p>
          <a:p>
            <a:pPr marL="914400" lvl="1" indent="-304800" algn="l" rtl="0">
              <a:spcBef>
                <a:spcPts val="0"/>
              </a:spcBef>
              <a:spcAft>
                <a:spcPts val="0"/>
              </a:spcAft>
              <a:buSzPts val="1200"/>
              <a:buChar char="○"/>
            </a:pPr>
            <a:r>
              <a:rPr lang="en"/>
              <a:t>Suitable for all devices.</a:t>
            </a:r>
            <a:endParaRPr/>
          </a:p>
          <a:p>
            <a:pPr marL="457200" lvl="0" indent="-317500" algn="l" rtl="0">
              <a:spcBef>
                <a:spcPts val="0"/>
              </a:spcBef>
              <a:spcAft>
                <a:spcPts val="0"/>
              </a:spcAft>
              <a:buSzPts val="1400"/>
              <a:buChar char="●"/>
            </a:pPr>
            <a:r>
              <a:rPr lang="en"/>
              <a:t>Print</a:t>
            </a:r>
            <a:endParaRPr/>
          </a:p>
          <a:p>
            <a:pPr marL="914400" lvl="1" indent="-304800" algn="l" rtl="0">
              <a:spcBef>
                <a:spcPts val="0"/>
              </a:spcBef>
              <a:spcAft>
                <a:spcPts val="0"/>
              </a:spcAft>
              <a:buSzPts val="1200"/>
              <a:buChar char="○"/>
            </a:pPr>
            <a:r>
              <a:rPr lang="en"/>
              <a:t>Intended for paged material and documents viewed on a screen in print preview mode. (Please see paged media for information about formatting issues that are specific to these formats.)</a:t>
            </a:r>
            <a:endParaRPr/>
          </a:p>
          <a:p>
            <a:pPr marL="457200" lvl="0" indent="-317500" algn="l" rtl="0">
              <a:spcBef>
                <a:spcPts val="0"/>
              </a:spcBef>
              <a:spcAft>
                <a:spcPts val="0"/>
              </a:spcAft>
              <a:buSzPts val="1400"/>
              <a:buChar char="●"/>
            </a:pPr>
            <a:r>
              <a:rPr lang="en"/>
              <a:t>Screen</a:t>
            </a:r>
            <a:endParaRPr/>
          </a:p>
          <a:p>
            <a:pPr marL="914400" lvl="1" indent="-304800" algn="l" rtl="0">
              <a:spcBef>
                <a:spcPts val="0"/>
              </a:spcBef>
              <a:spcAft>
                <a:spcPts val="0"/>
              </a:spcAft>
              <a:buSzPts val="1200"/>
              <a:buChar char="○"/>
            </a:pPr>
            <a:r>
              <a:rPr lang="en"/>
              <a:t>Intended primarily for screens.</a:t>
            </a:r>
            <a:endParaRPr/>
          </a:p>
        </p:txBody>
      </p:sp>
      <p:sp>
        <p:nvSpPr>
          <p:cNvPr id="851" name="Google Shape;851;p11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104</a:t>
            </a:fld>
            <a:endParaRPr/>
          </a:p>
        </p:txBody>
      </p:sp>
      <p:sp>
        <p:nvSpPr>
          <p:cNvPr id="852" name="Google Shape;852;p11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85000" lnSpcReduction="10000"/>
          </a:bodyPr>
          <a:lstStyle/>
          <a:p>
            <a:pPr marL="457200" lvl="0" indent="-304165" algn="l" rtl="0">
              <a:spcBef>
                <a:spcPts val="0"/>
              </a:spcBef>
              <a:spcAft>
                <a:spcPts val="0"/>
              </a:spcAft>
              <a:buSzPct val="100000"/>
              <a:buChar char="●"/>
            </a:pPr>
            <a:r>
              <a:rPr lang="en"/>
              <a:t>A &lt;media feature&gt; describes specific characteristics of the user agent, output device, or environment.</a:t>
            </a:r>
            <a:endParaRPr/>
          </a:p>
          <a:p>
            <a:pPr marL="457200" lvl="0" indent="-304165" algn="l" rtl="0">
              <a:spcBef>
                <a:spcPts val="0"/>
              </a:spcBef>
              <a:spcAft>
                <a:spcPts val="0"/>
              </a:spcAft>
              <a:buSzPct val="100000"/>
              <a:buChar char="●"/>
            </a:pPr>
            <a:r>
              <a:rPr lang="en"/>
              <a:t>Common media features include:</a:t>
            </a:r>
            <a:endParaRPr/>
          </a:p>
          <a:p>
            <a:pPr marL="914400" lvl="1" indent="-293370" algn="l" rtl="0">
              <a:spcBef>
                <a:spcPts val="0"/>
              </a:spcBef>
              <a:spcAft>
                <a:spcPts val="0"/>
              </a:spcAft>
              <a:buSzPct val="100000"/>
              <a:buChar char="○"/>
            </a:pPr>
            <a:r>
              <a:rPr lang="en"/>
              <a:t>width—the width of the part of the screen on which the document is rendered, including any scrollbars</a:t>
            </a:r>
            <a:endParaRPr/>
          </a:p>
          <a:p>
            <a:pPr marL="914400" lvl="1" indent="-293370" algn="l" rtl="0">
              <a:spcBef>
                <a:spcPts val="0"/>
              </a:spcBef>
              <a:spcAft>
                <a:spcPts val="0"/>
              </a:spcAft>
              <a:buSzPct val="100000"/>
              <a:buChar char="○"/>
            </a:pPr>
            <a:r>
              <a:rPr lang="en"/>
              <a:t>height—the height of the part of the screen on which the document is rendered, including any scrollbars</a:t>
            </a:r>
            <a:endParaRPr/>
          </a:p>
          <a:p>
            <a:pPr marL="914400" lvl="1" indent="-293370" algn="l" rtl="0">
              <a:spcBef>
                <a:spcPts val="0"/>
              </a:spcBef>
              <a:spcAft>
                <a:spcPts val="0"/>
              </a:spcAft>
              <a:buSzPct val="100000"/>
              <a:buChar char="○"/>
            </a:pPr>
            <a:r>
              <a:rPr lang="en"/>
              <a:t>orientation—if the height is greater than the width, orientation is portrait, and if the width is greater than the height, orientation is landscape</a:t>
            </a:r>
            <a:endParaRPr/>
          </a:p>
          <a:p>
            <a:pPr marL="914400" lvl="1" indent="-293370" algn="l" rtl="0">
              <a:spcBef>
                <a:spcPts val="0"/>
              </a:spcBef>
              <a:spcAft>
                <a:spcPts val="0"/>
              </a:spcAft>
              <a:buSzPct val="100000"/>
              <a:buChar char="○"/>
            </a:pPr>
            <a:r>
              <a:rPr lang="en"/>
              <a:t>aspect-ratio—the ratio of width to height</a:t>
            </a:r>
            <a:endParaRPr/>
          </a:p>
          <a:p>
            <a:pPr marL="914400" lvl="1" indent="-293370" algn="l" rtl="0">
              <a:spcBef>
                <a:spcPts val="0"/>
              </a:spcBef>
              <a:spcAft>
                <a:spcPts val="0"/>
              </a:spcAft>
              <a:buSzPct val="100000"/>
              <a:buChar char="○"/>
            </a:pPr>
            <a:r>
              <a:rPr lang="en"/>
              <a:t>device-aspect-ratio—the ratio of device-width to device-height</a:t>
            </a:r>
            <a:endParaRPr/>
          </a:p>
          <a:p>
            <a:pPr marL="914400" lvl="1" indent="-293370" algn="l" rtl="0">
              <a:spcBef>
                <a:spcPts val="0"/>
              </a:spcBef>
              <a:spcAft>
                <a:spcPts val="0"/>
              </a:spcAft>
              <a:buSzPct val="100000"/>
              <a:buChar char="○"/>
            </a:pPr>
            <a:r>
              <a:rPr lang="en"/>
              <a:t>Prefers-color-scheme</a:t>
            </a:r>
            <a:endParaRPr/>
          </a:p>
          <a:p>
            <a:pPr marL="914400" lvl="1" indent="-293370" algn="l" rtl="0">
              <a:spcBef>
                <a:spcPts val="0"/>
              </a:spcBef>
              <a:spcAft>
                <a:spcPts val="0"/>
              </a:spcAft>
              <a:buSzPct val="100000"/>
              <a:buChar char="○"/>
            </a:pPr>
            <a:r>
              <a:rPr lang="en"/>
              <a:t>Prefers-reduced-motion</a:t>
            </a:r>
            <a:endParaRPr/>
          </a:p>
          <a:p>
            <a:pPr marL="457200" lvl="0" indent="-304165" algn="l" rtl="0">
              <a:spcBef>
                <a:spcPts val="0"/>
              </a:spcBef>
              <a:spcAft>
                <a:spcPts val="0"/>
              </a:spcAft>
              <a:buSzPct val="100000"/>
              <a:buChar char="●"/>
            </a:pPr>
            <a:r>
              <a:rPr lang="en" u="sng">
                <a:solidFill>
                  <a:schemeClr val="hlink"/>
                </a:solidFill>
                <a:hlinkClick r:id="rId3"/>
              </a:rPr>
              <a:t>https://developer.mozilla.org/en-US/docs/Web/CSS/Reference/At-rules/@media#media_features</a:t>
            </a:r>
            <a:r>
              <a:rPr lang="en"/>
              <a:t> </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@custom-media CSS at-rule</a:t>
            </a:r>
            <a:endParaRPr/>
          </a:p>
        </p:txBody>
      </p:sp>
      <p:sp>
        <p:nvSpPr>
          <p:cNvPr id="858" name="Google Shape;858;p116"/>
          <p:cNvSpPr txBox="1">
            <a:spLocks noGrp="1"/>
          </p:cNvSpPr>
          <p:nvPr>
            <p:ph type="body" idx="1"/>
          </p:nvPr>
        </p:nvSpPr>
        <p:spPr>
          <a:xfrm>
            <a:off x="311700" y="1152475"/>
            <a:ext cx="8520600" cy="22911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a:t>The @custom-media CSS at-rule defines aliases for long or complex media queries.</a:t>
            </a:r>
            <a:endParaRPr/>
          </a:p>
          <a:p>
            <a:pPr marL="457200" lvl="0" indent="-342900" algn="l" rtl="0">
              <a:spcBef>
                <a:spcPts val="0"/>
              </a:spcBef>
              <a:spcAft>
                <a:spcPts val="0"/>
              </a:spcAft>
              <a:buSzPts val="1800"/>
              <a:buChar char="●"/>
            </a:pPr>
            <a:r>
              <a:rPr lang="en"/>
              <a:t>Instead of duplicate queries, you can define them once in a @custom-media at-rule and referenced throughout the stylesheet whenever needed.</a:t>
            </a:r>
            <a:endParaRPr/>
          </a:p>
          <a:p>
            <a:pPr marL="457200" lvl="0" indent="-342900" algn="l" rtl="0">
              <a:spcBef>
                <a:spcPts val="0"/>
              </a:spcBef>
              <a:spcAft>
                <a:spcPts val="0"/>
              </a:spcAft>
              <a:buSzPts val="1800"/>
              <a:buChar char="●"/>
            </a:pPr>
            <a:r>
              <a:rPr lang="en"/>
              <a:t>Syntax</a:t>
            </a:r>
            <a:endParaRPr/>
          </a:p>
          <a:p>
            <a:pPr marL="914400" lvl="1" indent="-317500" algn="l" rtl="0">
              <a:spcBef>
                <a:spcPts val="0"/>
              </a:spcBef>
              <a:spcAft>
                <a:spcPts val="0"/>
              </a:spcAft>
              <a:buSzPts val="1400"/>
              <a:buChar char="○"/>
            </a:pPr>
            <a:r>
              <a:rPr lang="en"/>
              <a:t>@custom-media &lt;extension-name&gt; [&lt;media-query-list&gt; | true | false ];</a:t>
            </a:r>
            <a:endParaRPr/>
          </a:p>
          <a:p>
            <a:pPr marL="914400" lvl="1" indent="-317500" algn="l" rtl="0">
              <a:spcBef>
                <a:spcPts val="0"/>
              </a:spcBef>
              <a:spcAft>
                <a:spcPts val="0"/>
              </a:spcAft>
              <a:buSzPts val="1400"/>
              <a:buChar char="○"/>
            </a:pPr>
            <a:r>
              <a:rPr lang="en"/>
              <a:t>&lt;extension-name&gt;: A &lt;dashed-ident&gt;; the name identifying the custom media query.</a:t>
            </a:r>
            <a:endParaRPr/>
          </a:p>
          <a:p>
            <a:pPr marL="914400" lvl="1" indent="-317500" algn="l" rtl="0">
              <a:spcBef>
                <a:spcPts val="0"/>
              </a:spcBef>
              <a:spcAft>
                <a:spcPts val="0"/>
              </a:spcAft>
              <a:buSzPts val="1400"/>
              <a:buChar char="○"/>
            </a:pPr>
            <a:r>
              <a:rPr lang="en"/>
              <a:t>&lt;media-query-list&gt;: A comma-separated list of &lt;media-query&gt; values.</a:t>
            </a:r>
            <a:endParaRPr/>
          </a:p>
        </p:txBody>
      </p:sp>
      <p:sp>
        <p:nvSpPr>
          <p:cNvPr id="859" name="Google Shape;859;p11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105</a:t>
            </a:fld>
            <a:endParaRPr/>
          </a:p>
        </p:txBody>
      </p:sp>
      <p:sp>
        <p:nvSpPr>
          <p:cNvPr id="860" name="Google Shape;860;p116"/>
          <p:cNvSpPr txBox="1"/>
          <p:nvPr/>
        </p:nvSpPr>
        <p:spPr>
          <a:xfrm>
            <a:off x="779867" y="3395762"/>
            <a:ext cx="3000000" cy="1293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--medium-screen (min-width: 40em) and (max-width: 60em);</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@media (--medium-screen) {</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a:t>
            </a:r>
            <a:endParaRPr/>
          </a:p>
        </p:txBody>
      </p:sp>
      <p:sp>
        <p:nvSpPr>
          <p:cNvPr id="861" name="Google Shape;861;p116"/>
          <p:cNvSpPr txBox="1"/>
          <p:nvPr/>
        </p:nvSpPr>
        <p:spPr>
          <a:xfrm>
            <a:off x="3978100" y="3395750"/>
            <a:ext cx="4758000" cy="1108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--mobile-screen (width &lt; 480px);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--tablet-screen (width &lt; 768px);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--laptop-screen (width &lt; 1024px);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--desktop-screen (width &lt; 1440px);</a:t>
            </a:r>
            <a:endParaRPr sz="12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200">
                <a:solidFill>
                  <a:schemeClr val="dk2"/>
                </a:solidFill>
                <a:latin typeface="Courier New"/>
                <a:ea typeface="Courier New"/>
                <a:cs typeface="Courier New"/>
                <a:sym typeface="Courier New"/>
              </a:rPr>
              <a:t>@custom-media --widescreen (width &gt; 1441px);</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1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Try it Yourself ─ Container Query and Typography</a:t>
            </a:r>
            <a:endParaRPr sz="2700"/>
          </a:p>
          <a:p>
            <a:pPr marL="0" lvl="0" indent="0" algn="l" rtl="0">
              <a:spcBef>
                <a:spcPts val="0"/>
              </a:spcBef>
              <a:spcAft>
                <a:spcPts val="0"/>
              </a:spcAft>
              <a:buNone/>
            </a:pPr>
            <a:endParaRPr/>
          </a:p>
        </p:txBody>
      </p:sp>
      <p:sp>
        <p:nvSpPr>
          <p:cNvPr id="867" name="Google Shape;867;p1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Finer Adjustment ─ Container Query</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https://developer.mozilla.org/en-US/docs/Web/CSS/Guides/Containment/Container_queries</a:t>
            </a:r>
            <a:r>
              <a:rPr lang="en"/>
              <a:t> </a:t>
            </a:r>
            <a:endParaRPr/>
          </a:p>
          <a:p>
            <a:pPr marL="457200" lvl="0" indent="-342900" algn="l" rtl="0">
              <a:spcBef>
                <a:spcPts val="0"/>
              </a:spcBef>
              <a:spcAft>
                <a:spcPts val="0"/>
              </a:spcAft>
              <a:buSzPts val="1800"/>
              <a:buChar char="●"/>
            </a:pPr>
            <a:r>
              <a:rPr lang="en"/>
              <a:t>Responsive Typography</a:t>
            </a:r>
            <a:endParaRPr/>
          </a:p>
          <a:p>
            <a:pPr marL="914400" lvl="1" indent="-317500" algn="l" rtl="0">
              <a:spcBef>
                <a:spcPts val="0"/>
              </a:spcBef>
              <a:spcAft>
                <a:spcPts val="0"/>
              </a:spcAft>
              <a:buSzPts val="1400"/>
              <a:buChar char="○"/>
            </a:pPr>
            <a:r>
              <a:rPr lang="en" u="sng">
                <a:solidFill>
                  <a:schemeClr val="hlink"/>
                </a:solidFill>
                <a:hlinkClick r:id="rId4"/>
              </a:rPr>
              <a:t>https://www.w3schools.com/howto/howto_css_responsive_text.asp</a:t>
            </a:r>
            <a:r>
              <a:rPr lang="en"/>
              <a:t> </a:t>
            </a:r>
            <a:endParaRPr/>
          </a:p>
          <a:p>
            <a:pPr marL="914400" lvl="1" indent="-317500" algn="l" rtl="0">
              <a:spcBef>
                <a:spcPts val="0"/>
              </a:spcBef>
              <a:spcAft>
                <a:spcPts val="0"/>
              </a:spcAft>
              <a:buSzPts val="1400"/>
              <a:buChar char="○"/>
            </a:pPr>
            <a:r>
              <a:rPr lang="en" u="sng">
                <a:solidFill>
                  <a:schemeClr val="hlink"/>
                </a:solidFill>
                <a:hlinkClick r:id="rId5"/>
              </a:rPr>
              <a:t>https://blog.logrocket.com/elements-responsive-typography/</a:t>
            </a:r>
            <a:r>
              <a:rPr lang="en"/>
              <a:t> </a:t>
            </a:r>
            <a:endParaRPr/>
          </a:p>
        </p:txBody>
      </p:sp>
      <p:sp>
        <p:nvSpPr>
          <p:cNvPr id="868" name="Google Shape;868;p11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106</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CSS Variables and Functions</a:t>
            </a:r>
            <a:endParaRPr/>
          </a:p>
        </p:txBody>
      </p:sp>
      <p:sp>
        <p:nvSpPr>
          <p:cNvPr id="874" name="Google Shape;874;p11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107</a:t>
            </a:fld>
            <a:endParaRPr>
              <a:solidFill>
                <a:schemeClr val="lt2"/>
              </a:solidFill>
            </a:endParaRPr>
          </a:p>
        </p:txBody>
      </p:sp>
      <p:sp>
        <p:nvSpPr>
          <p:cNvPr id="875" name="Google Shape;875;p1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Using CSS custom properties (variables)</a:t>
            </a:r>
            <a:endParaRPr/>
          </a:p>
          <a:p>
            <a:pPr marL="914400" lvl="1" indent="-317500" algn="l" rtl="0">
              <a:spcBef>
                <a:spcPts val="0"/>
              </a:spcBef>
              <a:spcAft>
                <a:spcPts val="0"/>
              </a:spcAft>
              <a:buSzPts val="1400"/>
              <a:buChar char="○"/>
            </a:pPr>
            <a:r>
              <a:rPr lang="en" u="sng">
                <a:solidFill>
                  <a:schemeClr val="hlink"/>
                </a:solidFill>
                <a:hlinkClick r:id="rId3"/>
              </a:rPr>
              <a:t>https://developer.mozilla.org/en-US/docs/Web/CSS/Guides/Cascading_variables/Using_custom_properties</a:t>
            </a:r>
            <a:endParaRPr/>
          </a:p>
          <a:p>
            <a:pPr marL="457200" lvl="0" indent="-342900" algn="l" rtl="0">
              <a:spcBef>
                <a:spcPts val="0"/>
              </a:spcBef>
              <a:spcAft>
                <a:spcPts val="0"/>
              </a:spcAft>
              <a:buSzPts val="1800"/>
              <a:buChar char="●"/>
            </a:pPr>
            <a:r>
              <a:rPr lang="en"/>
              <a:t>CSS value functions</a:t>
            </a:r>
            <a:endParaRPr/>
          </a:p>
          <a:p>
            <a:pPr marL="914400" lvl="1" indent="-317500" algn="l" rtl="0">
              <a:spcBef>
                <a:spcPts val="0"/>
              </a:spcBef>
              <a:spcAft>
                <a:spcPts val="0"/>
              </a:spcAft>
              <a:buSzPts val="1400"/>
              <a:buChar char="○"/>
            </a:pPr>
            <a:r>
              <a:rPr lang="en" u="sng">
                <a:solidFill>
                  <a:schemeClr val="hlink"/>
                </a:solidFill>
                <a:hlinkClick r:id="rId4"/>
              </a:rPr>
              <a:t>https://developer.mozilla.org/en-US/docs/Web/CSS/Reference/Values/Functions</a:t>
            </a:r>
            <a:r>
              <a:rPr lang="en"/>
              <a:t> </a:t>
            </a:r>
            <a:endParaRPr/>
          </a:p>
          <a:p>
            <a:pPr marL="457200" lvl="0" indent="-342900" algn="l" rtl="0">
              <a:spcBef>
                <a:spcPts val="0"/>
              </a:spcBef>
              <a:spcAft>
                <a:spcPts val="0"/>
              </a:spcAft>
              <a:buSzPts val="1800"/>
              <a:buChar char="●"/>
            </a:pPr>
            <a:r>
              <a:rPr lang="en"/>
              <a:t>Functions in CSS</a:t>
            </a:r>
            <a:endParaRPr/>
          </a:p>
          <a:p>
            <a:pPr marL="914400" lvl="1" indent="-317500" algn="l" rtl="0">
              <a:spcBef>
                <a:spcPts val="0"/>
              </a:spcBef>
              <a:spcAft>
                <a:spcPts val="0"/>
              </a:spcAft>
              <a:buSzPts val="1400"/>
              <a:buChar char="○"/>
            </a:pPr>
            <a:r>
              <a:rPr lang="en" u="sng">
                <a:solidFill>
                  <a:schemeClr val="hlink"/>
                </a:solidFill>
                <a:hlinkClick r:id="rId5"/>
              </a:rPr>
              <a:t>https://css-tricks.com/functions-in-css/</a:t>
            </a:r>
            <a:r>
              <a:rPr lang="en"/>
              <a:t>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Free CSS template</a:t>
            </a:r>
            <a:endParaRPr/>
          </a:p>
        </p:txBody>
      </p:sp>
      <p:sp>
        <p:nvSpPr>
          <p:cNvPr id="909" name="Google Shape;909;p1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hlinkClick r:id="rId3"/>
              </a:rPr>
              <a:t>https://www.pinterest.com/tooplate/html-css-templates/</a:t>
            </a:r>
            <a:r>
              <a:rPr lang="zh-TW" altLang="en-US" dirty="0"/>
              <a:t> </a:t>
            </a:r>
            <a:endParaRPr dirty="0"/>
          </a:p>
        </p:txBody>
      </p:sp>
      <p:sp>
        <p:nvSpPr>
          <p:cNvPr id="910" name="Google Shape;910;p12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108</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2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Questions?</a:t>
            </a:r>
            <a:endParaRPr/>
          </a:p>
        </p:txBody>
      </p:sp>
      <p:sp>
        <p:nvSpPr>
          <p:cNvPr id="916" name="Google Shape;916;p12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109</a:t>
            </a:fld>
            <a:endParaRPr/>
          </a:p>
        </p:txBody>
      </p:sp>
      <p:pic>
        <p:nvPicPr>
          <p:cNvPr id="917" name="Google Shape;917;p124"/>
          <p:cNvPicPr preferRelativeResize="0"/>
          <p:nvPr/>
        </p:nvPicPr>
        <p:blipFill>
          <a:blip r:embed="rId3">
            <a:alphaModFix/>
          </a:blip>
          <a:stretch>
            <a:fillRect/>
          </a:stretch>
        </p:blipFill>
        <p:spPr>
          <a:xfrm>
            <a:off x="2752075" y="1678825"/>
            <a:ext cx="4156800" cy="2663225"/>
          </a:xfrm>
          <a:prstGeom prst="rect">
            <a:avLst/>
          </a:prstGeom>
          <a:noFill/>
          <a:ln>
            <a:noFill/>
          </a:ln>
        </p:spPr>
      </p:pic>
    </p:spTree>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1071</TotalTime>
  <Words>9488</Words>
  <Application>Microsoft Office PowerPoint</Application>
  <PresentationFormat>如螢幕大小 (16:9)</PresentationFormat>
  <Paragraphs>948</Paragraphs>
  <Slides>109</Slides>
  <Notes>108</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109</vt:i4>
      </vt:variant>
    </vt:vector>
  </HeadingPairs>
  <TitlesOfParts>
    <vt:vector size="117" baseType="lpstr">
      <vt:lpstr>Consolas</vt:lpstr>
      <vt:lpstr>Source Sans Pro</vt:lpstr>
      <vt:lpstr>Arial</vt:lpstr>
      <vt:lpstr>Raleway</vt:lpstr>
      <vt:lpstr>Roboto</vt:lpstr>
      <vt:lpstr>Courier New</vt:lpstr>
      <vt:lpstr>Wingdings</vt:lpstr>
      <vt:lpstr>Plum</vt:lpstr>
      <vt:lpstr>Cascade Style Sheet (CSS)</vt:lpstr>
      <vt:lpstr>Outlines</vt:lpstr>
      <vt:lpstr>Cascading Style Sheets (CSS)</vt:lpstr>
      <vt:lpstr>CSS Official Definition</vt:lpstr>
      <vt:lpstr>Approaches of Combining HTML with CSS</vt:lpstr>
      <vt:lpstr>Syntax of Applying CSS to HTML</vt:lpstr>
      <vt:lpstr>CSS Rulesets and Comment Syntax </vt:lpstr>
      <vt:lpstr>Selectors ─ Basic </vt:lpstr>
      <vt:lpstr>Basic Selectors ─ Type Selector </vt:lpstr>
      <vt:lpstr>Basic Selectors ─ Class Selector </vt:lpstr>
      <vt:lpstr>Basic Selectors ─ Id Selector </vt:lpstr>
      <vt:lpstr>Basic Selectors ─ Compound Selector </vt:lpstr>
      <vt:lpstr>Basic Selectors ─ Attribute Selector </vt:lpstr>
      <vt:lpstr>Selectors ─ Combinator </vt:lpstr>
      <vt:lpstr>Combinator Selectors ─ Descendent </vt:lpstr>
      <vt:lpstr>Combinator Selectors ─ Child </vt:lpstr>
      <vt:lpstr>Combinator Selectors ─ Subsequent Sibling </vt:lpstr>
      <vt:lpstr>Combinator Selectors ─ Next Sibling </vt:lpstr>
      <vt:lpstr>Try it Yourself</vt:lpstr>
      <vt:lpstr>Property ─ Text</vt:lpstr>
      <vt:lpstr>Textual Property ─ Color</vt:lpstr>
      <vt:lpstr>RGBA Colors</vt:lpstr>
      <vt:lpstr>HSLA and HSL Colors</vt:lpstr>
      <vt:lpstr>Textual Property ─ Direction</vt:lpstr>
      <vt:lpstr>Textual Property ─ Text-align</vt:lpstr>
      <vt:lpstr>Textual Property ─ Text-Decoration</vt:lpstr>
      <vt:lpstr>An Example of Text-Decoration </vt:lpstr>
      <vt:lpstr>Textual Property ─ Text-Transform</vt:lpstr>
      <vt:lpstr>An Example of Text-Transform </vt:lpstr>
      <vt:lpstr>Textual Property  ─ Text Spacing</vt:lpstr>
      <vt:lpstr>An Example of Letter-Spacing </vt:lpstr>
      <vt:lpstr>An Example of Word-Spacing </vt:lpstr>
      <vt:lpstr>An Example of Line-Height </vt:lpstr>
      <vt:lpstr>Sizing Unit</vt:lpstr>
      <vt:lpstr>Textual Property ─ Font</vt:lpstr>
      <vt:lpstr>Textual Property ─ system-font-family-name</vt:lpstr>
      <vt:lpstr>An Example of Normal Font  </vt:lpstr>
      <vt:lpstr>An Example of Italic and Weighted Font  </vt:lpstr>
      <vt:lpstr>An Example of Font Width </vt:lpstr>
      <vt:lpstr>An Example of System Font </vt:lpstr>
      <vt:lpstr>An Example of System Font Keywords </vt:lpstr>
      <vt:lpstr>An Example of Google Font </vt:lpstr>
      <vt:lpstr>An Example of Web Font </vt:lpstr>
      <vt:lpstr>Textual Property ─ Opacity</vt:lpstr>
      <vt:lpstr>Property ─ Background Appearance</vt:lpstr>
      <vt:lpstr>Background Properties ─ background-color</vt:lpstr>
      <vt:lpstr>Background Properties ─ background-image</vt:lpstr>
      <vt:lpstr>Background Properties ─ &lt;gradient&gt; data type</vt:lpstr>
      <vt:lpstr>Background Properties ─ background-position</vt:lpstr>
      <vt:lpstr>Background Properties ─ background-repeat</vt:lpstr>
      <vt:lpstr>Background Properties ─ background-attachment</vt:lpstr>
      <vt:lpstr>Try it Yourself ─ Masking Practices </vt:lpstr>
      <vt:lpstr>Box Model ─ Elements as Rectangles </vt:lpstr>
      <vt:lpstr>Box Model and Text Flow</vt:lpstr>
      <vt:lpstr>Box Model ─ Padding and Margin Properties</vt:lpstr>
      <vt:lpstr>Box Model ─ Border Properties</vt:lpstr>
      <vt:lpstr>Inspection by Developer Tool in Browser</vt:lpstr>
      <vt:lpstr>Box Model ─ Box-Sizing Properties</vt:lpstr>
      <vt:lpstr>CSS Conflicting</vt:lpstr>
      <vt:lpstr>Box Model ─ Float Property</vt:lpstr>
      <vt:lpstr>Try it Yourself ─ Box Model Practices </vt:lpstr>
      <vt:lpstr>Display and Position </vt:lpstr>
      <vt:lpstr>Display Property</vt:lpstr>
      <vt:lpstr>Display Property ─ Outside</vt:lpstr>
      <vt:lpstr>Display Property ─ Inside</vt:lpstr>
      <vt:lpstr>Display Property ─ List Item</vt:lpstr>
      <vt:lpstr>Display Property ─ Box</vt:lpstr>
      <vt:lpstr>Position Property </vt:lpstr>
      <vt:lpstr>Position Property ─ z-index</vt:lpstr>
      <vt:lpstr>Try it Yourself ─ Element Specific Effects </vt:lpstr>
      <vt:lpstr>Mastering the CSS Cascade &amp; Specificity</vt:lpstr>
      <vt:lpstr>The 5 Steps of the Cascade Algorithm </vt:lpstr>
      <vt:lpstr>Origin &amp; Importance Hierarchy </vt:lpstr>
      <vt:lpstr>How @layer Affects Precedence </vt:lpstr>
      <vt:lpstr>The Specificity Scoring System </vt:lpstr>
      <vt:lpstr>Resolving Equal Specificity </vt:lpstr>
      <vt:lpstr>Key Rules for Clean Architecture </vt:lpstr>
      <vt:lpstr>Advanced Selector ─  Pseudo-Class and -Element  </vt:lpstr>
      <vt:lpstr>Pseudo-classes</vt:lpstr>
      <vt:lpstr>Pseudo-elements</vt:lpstr>
      <vt:lpstr>Layout Design </vt:lpstr>
      <vt:lpstr>Flow Layout</vt:lpstr>
      <vt:lpstr>Multi-Column Layouts</vt:lpstr>
      <vt:lpstr>An Example of Multi-Column Layout</vt:lpstr>
      <vt:lpstr>An Example of Multi-Column Layout (Cont.)</vt:lpstr>
      <vt:lpstr>Flexbox Layout</vt:lpstr>
      <vt:lpstr>Flexbox Model</vt:lpstr>
      <vt:lpstr>Flexbox Wrapping</vt:lpstr>
      <vt:lpstr>Flexbox ─ justify-content Property</vt:lpstr>
      <vt:lpstr>Flexbox ─ align-content Property</vt:lpstr>
      <vt:lpstr>Flexbox ─ align-items Property</vt:lpstr>
      <vt:lpstr>Flexbox ─ gap, row-gap, column-gap Property</vt:lpstr>
      <vt:lpstr>Flexbox ─ Order Property</vt:lpstr>
      <vt:lpstr>Flexbox ─ Flex Property</vt:lpstr>
      <vt:lpstr>Grid Layout</vt:lpstr>
      <vt:lpstr>Grid Layout ─ Fractional unit</vt:lpstr>
      <vt:lpstr>Grid Layout ─ Function and Implicit Grid</vt:lpstr>
      <vt:lpstr>Grid Layout ─ Grid Line and Positioning Items</vt:lpstr>
      <vt:lpstr>Grid Layout ─ Line-positioning shorthands</vt:lpstr>
      <vt:lpstr>Grid Layout ─ Grid Cell and Gaps</vt:lpstr>
      <vt:lpstr>Try it Yourself ─ Nesting Grid and Animations </vt:lpstr>
      <vt:lpstr>Responsive Design ─ Media Query</vt:lpstr>
      <vt:lpstr>Using media queries</vt:lpstr>
      <vt:lpstr>Media Types and Media Features</vt:lpstr>
      <vt:lpstr>@custom-media CSS at-rule</vt:lpstr>
      <vt:lpstr>Try it Yourself ─ Container Query and Typography </vt:lpstr>
      <vt:lpstr>CSS Variables and Functions</vt:lpstr>
      <vt:lpstr>Free CSS template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Cascade Style Sheet (CSS)</dc:title>
  <cp:lastModifiedBy>LanCi-Wei</cp:lastModifiedBy>
  <cp:revision>18</cp:revision>
  <dcterms:modified xsi:type="dcterms:W3CDTF">2026-10-05T15:40:52Z</dcterms:modified>
</cp:coreProperties>
</file>