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1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382"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383"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 id="368" r:id="rId115"/>
    <p:sldId id="369" r:id="rId116"/>
    <p:sldId id="370" r:id="rId117"/>
    <p:sldId id="371" r:id="rId118"/>
    <p:sldId id="372" r:id="rId119"/>
    <p:sldId id="373" r:id="rId120"/>
    <p:sldId id="374" r:id="rId121"/>
    <p:sldId id="375" r:id="rId122"/>
    <p:sldId id="376" r:id="rId123"/>
    <p:sldId id="377" r:id="rId124"/>
    <p:sldId id="378" r:id="rId125"/>
    <p:sldId id="379" r:id="rId126"/>
    <p:sldId id="380" r:id="rId127"/>
    <p:sldId id="381" r:id="rId128"/>
  </p:sldIdLst>
  <p:sldSz cx="9144000" cy="5143500" type="screen16x9"/>
  <p:notesSz cx="6858000" cy="9144000"/>
  <p:embeddedFontLst>
    <p:embeddedFont>
      <p:font typeface="Calibri" panose="020F0502020204030204" pitchFamily="34" charset="0"/>
      <p:regular r:id="rId130"/>
      <p:bold r:id="rId131"/>
      <p:italic r:id="rId132"/>
      <p:boldItalic r:id="rId133"/>
    </p:embeddedFont>
    <p:embeddedFont>
      <p:font typeface="Consolas" panose="020B0609020204030204" pitchFamily="49" charset="0"/>
      <p:regular r:id="rId134"/>
      <p:bold r:id="rId135"/>
      <p:italic r:id="rId136"/>
      <p:boldItalic r:id="rId137"/>
    </p:embeddedFont>
    <p:embeddedFont>
      <p:font typeface="Raleway" pitchFamily="2" charset="0"/>
      <p:regular r:id="rId138"/>
      <p:bold r:id="rId139"/>
      <p:italic r:id="rId140"/>
      <p:boldItalic r:id="rId141"/>
    </p:embeddedFont>
    <p:embeddedFont>
      <p:font typeface="Source Sans Pro" panose="020B0503030403020204" pitchFamily="34" charset="0"/>
      <p:regular r:id="rId142"/>
      <p:bold r:id="rId143"/>
      <p:italic r:id="rId144"/>
      <p:boldItalic r:id="rId145"/>
    </p:embeddedFont>
    <p:embeddedFont>
      <p:font typeface="Verdana" panose="020B0604030504040204" pitchFamily="34" charset="0"/>
      <p:regular r:id="rId146"/>
      <p:bold r:id="rId147"/>
      <p:italic r:id="rId148"/>
      <p:boldItalic r:id="rId1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02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60DF2F2-2E2D-4924-9058-CAD130D829AF}">
  <a:tblStyle styleId="{160DF2F2-2E2D-4924-9058-CAD130D829A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850" y="72"/>
      </p:cViewPr>
      <p:guideLst>
        <p:guide orient="horz" pos="1620"/>
        <p:guide pos="2880"/>
      </p:guideLst>
    </p:cSldViewPr>
  </p:slideViewPr>
  <p:notesTextViewPr>
    <p:cViewPr>
      <p:scale>
        <a:sx n="1" d="1"/>
        <a:sy n="1" d="1"/>
      </p:scale>
      <p:origin x="0" y="0"/>
    </p:cViewPr>
  </p:notesTextViewPr>
  <p:sorterViewPr>
    <p:cViewPr>
      <p:scale>
        <a:sx n="110" d="100"/>
        <a:sy n="110" d="100"/>
      </p:scale>
      <p:origin x="0" y="-3566"/>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9.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20.fntdata"/><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font" Target="fonts/font5.fntdata"/><Relationship Id="rId139" Type="http://schemas.openxmlformats.org/officeDocument/2006/relationships/font" Target="fonts/font10.fntdata"/><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11.fntdata"/><Relationship Id="rId145"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1.fntdata"/><Relationship Id="rId135" Type="http://schemas.openxmlformats.org/officeDocument/2006/relationships/font" Target="fonts/font6.fntdata"/><Relationship Id="rId151"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font" Target="fonts/font12.fntdata"/><Relationship Id="rId146" Type="http://schemas.openxmlformats.org/officeDocument/2006/relationships/font" Target="fonts/font17.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2.fntdata"/><Relationship Id="rId136" Type="http://schemas.openxmlformats.org/officeDocument/2006/relationships/font" Target="fonts/font7.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font" Target="fonts/font13.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3.fntdata"/><Relationship Id="rId153"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font" Target="fonts/font14.fntdata"/><Relationship Id="rId148"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4.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font" Target="fonts/font15.fntdata"/><Relationship Id="rId90"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c6f9544c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c6f9544c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c6f9544c1_0_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c6f9544c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e560c41def_0_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e560c41de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f5694abf16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f5694abf16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f57aad6c03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f57aad6c03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f57aad6c03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f57aad6c03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f5a1b2903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f5a1b2903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e560c41def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e560c41de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f57aad6c03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f57aad6c03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e0e31360ee1066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e0e31360ee1066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e0e31360ee10666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e0e31360ee10666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f5b1a3e2d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f5b1a3e2d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e0e31360ee10666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e0e31360ee10666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e0e31360ee10666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e0e31360ee10666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e0e31360ee10666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e0e31360ee10666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f5a1b29032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f5a1b2903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f5b1a3e2d9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f5b1a3e2d9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f5b1a3e2d9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f5b1a3e2d9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e0e31360ee10666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e0e31360ee10666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e0e31360ee10666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e0e31360ee10666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e0e31360ee10666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e0e31360ee10666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e0e31360ee10666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e0e31360ee10666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e0e31360ee10666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e0e31360ee10666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f5a1b2903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f5a1b2903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f3bbdebfd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3f3bbdebfd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f3bbdebfd0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f3bbdebfd0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f3bbdebfd0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f3bbdebfd0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f5a1b29032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f5a1b29032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f5a66268a3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3f5a66268a3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f5a66268a3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3f5a66268a3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f5a1b29032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f5a1b29032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f3bbdebfd0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3f3bbdebfd0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f3bbdebfd0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3f3bbdebfd0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f3bbdebfd0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3f3bbdebfd0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f3bbdebfd0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3f3bbdebfd0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f3bbdebfd0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3f3bbdebfd0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3f3bbdebfd0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3f3bbdebfd0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f3bbdebfd0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3f3bbdebfd0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3f3bbdebfd0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3f3bbdebfd0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f3bbdebfd0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f3bbdebfd0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f3bbdebfd0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f3bbdebfd0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30246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f5a66268a3_0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3f5a66268a3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3f5a66268a3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3f5a66268a3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f5b1a3e2d9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f5b1a3e2d9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3f5b1a3e2d9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3f5b1a3e2d9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3f5b1a3e2d9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 name="Google Shape;419;g3f5b1a3e2d9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3f5b1a3e2d9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3f5b1a3e2d9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f5b1a3e2d9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3f5b1a3e2d9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3f5b1a3e2d9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3f5b1a3e2d9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3f5b1a3e2d9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3f5b1a3e2d9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3f5b1a3e2d9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3f5b1a3e2d9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3f5b1a3e2d9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1" name="Google Shape;461;g3f5b1a3e2d9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3f5b1a3e2d9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8" name="Google Shape;468;g3f5b1a3e2d9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3f5b1a3e2d9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3f5b1a3e2d9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3f5b1a3e2d9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 name="Google Shape;482;g3f5b1a3e2d9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3f5b1a3e2d9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3f5b1a3e2d9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3f5b1a3e2d9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6" name="Google Shape;496;g3f5b1a3e2d9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f5b1a3e2d9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3" name="Google Shape;503;g3f5b1a3e2d9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g3f5b1a3e2d9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0" name="Google Shape;510;g3f5b1a3e2d9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3f5b1a3e2d9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g3f5b1a3e2d9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3f5a66268a3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 name="Google Shape;524;g3f5a66268a3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f5a66268a3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f5a66268a3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3f5a66268a3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3f5a66268a3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3f5a66268a3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5" name="Google Shape;545;g3f5a66268a3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3f5a66268a3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3f5a66268a3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3f5a66268a3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9" name="Google Shape;559;g3f5a66268a3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g3f5a66268a3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7" name="Google Shape;567;g3f5a66268a3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3f5a66268a3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4" name="Google Shape;574;g3f5a66268a3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3f5a66268a3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1" name="Google Shape;581;g3f5a66268a3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g3f5a66268a3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8" name="Google Shape;588;g3f5a66268a3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3f5a66268a3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3f5a66268a3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3f5a66268a3_0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6" name="Google Shape;606;g3f5a66268a3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g3f5a66268a3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3" name="Google Shape;613;g3f5a66268a3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3f5a66268a3_0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1" name="Google Shape;621;g3f5a66268a3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g3f5b0315d05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8" name="Google Shape;628;g3f5b0315d05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3f5a66268a3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5" name="Google Shape;635;g3f5a66268a3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g3f5a66268a3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3" name="Google Shape;643;g3f5a66268a3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3f5b0315d05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3f5b0315d05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3f5b0315d05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8" name="Google Shape;658;g3f5b0315d05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g3f5b1a3e2d9_0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6" name="Google Shape;666;g3f5b1a3e2d9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g3f5b1a3e2d9_0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2" name="Google Shape;672;g3f5b1a3e2d9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g3f963f975e2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9" name="Google Shape;679;g3f963f975e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3f963f975e2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3f963f975e2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3f963f975e2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3f963f975e2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3f5b1a3e2d9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3f5b1a3e2d9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3f5b1a3e2d9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3f5b1a3e2d9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g3f963f975e2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5" name="Google Shape;715;g3f963f975e2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3f963f975e2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3" name="Google Shape;723;g3f963f975e2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g3f5b1a3e2d9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2" name="Google Shape;732;g3f5b1a3e2d9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g3f5b1a3e2d9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8" name="Google Shape;738;g3f5b1a3e2d9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3f5c5aa6076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3f5c5aa6076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3f5c5aa6076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7" name="Google Shape;757;g3f5c5aa6076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3f5c5aa6076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6" name="Google Shape;766;g3f5c5aa6076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g3f5c5aa6076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3" name="Google Shape;773;g3f5c5aa6076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g3f5b1a3e2d9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1" name="Google Shape;781;g3f5b1a3e2d9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3f5b1a3e2d9_0_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7" name="Google Shape;787;g3f5b1a3e2d9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3f5c5aa6076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5" name="Google Shape;795;g3f5c5aa6076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g3f5c5aa6076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2" name="Google Shape;802;g3f5c5aa6076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3f5c5aa6076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1" name="Google Shape;811;g3f5c5aa6076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g3f5d3a0d565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8" name="Google Shape;818;g3f5d3a0d565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3f5d3a0d565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6" name="Google Shape;826;g3f5d3a0d565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3f5d3a0d565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3" name="Google Shape;833;g3f5d3a0d565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g3f5d3a0d565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2" name="Google Shape;842;g3f5d3a0d565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g3f5d3a0d565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9" name="Google Shape;849;g3f5d3a0d565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g3f5d3a0d565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6" name="Google Shape;856;g3f5d3a0d565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3f963f975e2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3f963f975e2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g3f5d3a0d565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9" name="Google Shape;869;g3f5d3a0d565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3f963f975e2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3f963f975e2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g3f5d3a0d565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7" name="Google Shape;887;g3f5d3a0d565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3f5d3a0d565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6" name="Google Shape;896;g3f5d3a0d565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3f5d3a0d565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4" name="Google Shape;904;g3f5d3a0d565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3f5d3a0d565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5" name="Google Shape;915;g3f5d3a0d565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3f5d3a0d565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4" name="Google Shape;924;g3f5d3a0d565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3f5d3a0d565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4" name="Google Shape;934;g3f5d3a0d565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g3f963f975e2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2" name="Google Shape;942;g3f963f975e2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3f5d3a0d565_0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8" name="Google Shape;948;g3f5d3a0d565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3f5d3a0d565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6" name="Google Shape;956;g3f5d3a0d565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3f963f975e2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3" name="Google Shape;963;g3f963f975e2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3f5d604f210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1" name="Google Shape;971;g3f5d604f210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g3f5d604f210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8" name="Google Shape;978;g3f5d604f210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g3f5d604f210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5" name="Google Shape;985;g3f5d604f210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3f5d604f210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2" name="Google Shape;992;g3f5d604f210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
        <p:cNvGrpSpPr/>
        <p:nvPr/>
      </p:nvGrpSpPr>
      <p:grpSpPr>
        <a:xfrm>
          <a:off x="0" y="0"/>
          <a:ext cx="0" cy="0"/>
          <a:chOff x="0" y="0"/>
          <a:chExt cx="0" cy="0"/>
        </a:xfrm>
      </p:grpSpPr>
      <p:sp>
        <p:nvSpPr>
          <p:cNvPr id="997" name="Google Shape;997;g3f5d604f210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8" name="Google Shape;998;g3f5d604f210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3f5d604f21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5" name="Google Shape;1005;g3f5d604f210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3f5d604f210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2" name="Google Shape;1012;g3f5d604f210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3f5694abf1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9" name="Google Shape;1019;g3f5694abf1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85875" y="264475"/>
            <a:ext cx="8183700" cy="12816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1" name="Google Shape;11;p2"/>
          <p:cNvSpPr txBox="1">
            <a:spLocks noGrp="1"/>
          </p:cNvSpPr>
          <p:nvPr>
            <p:ph type="subTitle" idx="1"/>
          </p:nvPr>
        </p:nvSpPr>
        <p:spPr>
          <a:xfrm>
            <a:off x="485875" y="1595275"/>
            <a:ext cx="8183700" cy="10038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rgbClr val="434343"/>
              </a:buClr>
              <a:buSzPts val="2400"/>
              <a:buNone/>
              <a:defRPr sz="2400">
                <a:solidFill>
                  <a:srgbClr val="434343"/>
                </a:solidFill>
              </a:defRPr>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a:endParaRPr/>
          </a:p>
        </p:txBody>
      </p:sp>
      <p:sp>
        <p:nvSpPr>
          <p:cNvPr id="12" name="Google Shape;12;p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pic>
        <p:nvPicPr>
          <p:cNvPr id="13" name="Google Shape;13;p2" title="Gemini_Generated_Image_r9brlcr9brlcr9br.png"/>
          <p:cNvPicPr preferRelativeResize="0"/>
          <p:nvPr/>
        </p:nvPicPr>
        <p:blipFill>
          <a:blip r:embed="rId2">
            <a:alphaModFix/>
          </a:blip>
          <a:stretch>
            <a:fillRect/>
          </a:stretch>
        </p:blipFill>
        <p:spPr>
          <a:xfrm>
            <a:off x="190672" y="2684196"/>
            <a:ext cx="8680715" cy="2271762"/>
          </a:xfrm>
          <a:prstGeom prst="rect">
            <a:avLst/>
          </a:prstGeom>
          <a:solidFill>
            <a:srgbClr val="CFE2F3"/>
          </a:solid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7" name="Google Shape;17;p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0" name="Google Shape;20;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1" name="Google Shape;21;p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4" name="Google Shape;24;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5" name="Google Shape;25;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6" name="Google Shape;26;p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9" name="Google Shape;29;p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2" name="Google Shape;32;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3" name="Google Shape;33;p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rgbClr val="CFE2F3"/>
        </a:solidFill>
        <a:effectLst/>
      </p:bgPr>
    </p:bg>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Autofit/>
          </a:bodyPr>
          <a:lstStyle>
            <a:lvl1pPr lvl="0">
              <a:spcBef>
                <a:spcPts val="0"/>
              </a:spcBef>
              <a:spcAft>
                <a:spcPts val="0"/>
              </a:spcAft>
              <a:buClr>
                <a:srgbClr val="434343"/>
              </a:buClr>
              <a:buSzPts val="4800"/>
              <a:buNone/>
              <a:defRPr sz="4800">
                <a:solidFill>
                  <a:srgbClr val="434343"/>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36" name="Google Shape;36;p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39;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0" name="Google Shape;40;p9"/>
          <p:cNvSpPr txBox="1">
            <a:spLocks noGrp="1"/>
          </p:cNvSpPr>
          <p:nvPr>
            <p:ph type="title"/>
          </p:nvPr>
        </p:nvSpPr>
        <p:spPr>
          <a:xfrm>
            <a:off x="265500" y="1181700"/>
            <a:ext cx="4045200" cy="1533600"/>
          </a:xfrm>
          <a:prstGeom prst="rect">
            <a:avLst/>
          </a:prstGeom>
        </p:spPr>
        <p:txBody>
          <a:bodyPr spcFirstLastPara="1" wrap="square" lIns="91425" tIns="91425" rIns="91425" bIns="91425" anchor="b" anchorCtr="0">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1" name="Google Shape;41;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2" name="Google Shape;42;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rgbClr val="434343"/>
              </a:buClr>
              <a:buSzPts val="1800"/>
              <a:buChar char="●"/>
              <a:defRPr>
                <a:solidFill>
                  <a:srgbClr val="434343"/>
                </a:solidFill>
              </a:defRPr>
            </a:lvl1pPr>
            <a:lvl2pPr marL="914400" lvl="1" indent="-317500">
              <a:spcBef>
                <a:spcPts val="1600"/>
              </a:spcBef>
              <a:spcAft>
                <a:spcPts val="0"/>
              </a:spcAft>
              <a:buClr>
                <a:srgbClr val="434343"/>
              </a:buClr>
              <a:buSzPts val="1400"/>
              <a:buChar char="○"/>
              <a:defRPr>
                <a:solidFill>
                  <a:srgbClr val="434343"/>
                </a:solidFill>
              </a:defRPr>
            </a:lvl2pPr>
            <a:lvl3pPr marL="1371600" lvl="2" indent="-317500">
              <a:spcBef>
                <a:spcPts val="1600"/>
              </a:spcBef>
              <a:spcAft>
                <a:spcPts val="0"/>
              </a:spcAft>
              <a:buClr>
                <a:srgbClr val="434343"/>
              </a:buClr>
              <a:buSzPts val="1400"/>
              <a:buChar char="■"/>
              <a:defRPr>
                <a:solidFill>
                  <a:srgbClr val="434343"/>
                </a:solidFill>
              </a:defRPr>
            </a:lvl3pPr>
            <a:lvl4pPr marL="1828800" lvl="3" indent="-317500">
              <a:spcBef>
                <a:spcPts val="1600"/>
              </a:spcBef>
              <a:spcAft>
                <a:spcPts val="0"/>
              </a:spcAft>
              <a:buClr>
                <a:srgbClr val="434343"/>
              </a:buClr>
              <a:buSzPts val="1400"/>
              <a:buChar char="●"/>
              <a:defRPr>
                <a:solidFill>
                  <a:srgbClr val="434343"/>
                </a:solidFill>
              </a:defRPr>
            </a:lvl4pPr>
            <a:lvl5pPr marL="2286000" lvl="4" indent="-317500">
              <a:spcBef>
                <a:spcPts val="1600"/>
              </a:spcBef>
              <a:spcAft>
                <a:spcPts val="0"/>
              </a:spcAft>
              <a:buClr>
                <a:srgbClr val="434343"/>
              </a:buClr>
              <a:buSzPts val="1400"/>
              <a:buChar char="○"/>
              <a:defRPr>
                <a:solidFill>
                  <a:srgbClr val="434343"/>
                </a:solidFill>
              </a:defRPr>
            </a:lvl5pPr>
            <a:lvl6pPr marL="2743200" lvl="5" indent="-317500">
              <a:spcBef>
                <a:spcPts val="1600"/>
              </a:spcBef>
              <a:spcAft>
                <a:spcPts val="0"/>
              </a:spcAft>
              <a:buClr>
                <a:srgbClr val="434343"/>
              </a:buClr>
              <a:buSzPts val="1400"/>
              <a:buChar char="■"/>
              <a:defRPr>
                <a:solidFill>
                  <a:srgbClr val="434343"/>
                </a:solidFill>
              </a:defRPr>
            </a:lvl6pPr>
            <a:lvl7pPr marL="3200400" lvl="6" indent="-317500">
              <a:spcBef>
                <a:spcPts val="1600"/>
              </a:spcBef>
              <a:spcAft>
                <a:spcPts val="0"/>
              </a:spcAft>
              <a:buClr>
                <a:srgbClr val="434343"/>
              </a:buClr>
              <a:buSzPts val="1400"/>
              <a:buChar char="●"/>
              <a:defRPr>
                <a:solidFill>
                  <a:srgbClr val="434343"/>
                </a:solidFill>
              </a:defRPr>
            </a:lvl7pPr>
            <a:lvl8pPr marL="3657600" lvl="7" indent="-317500">
              <a:spcBef>
                <a:spcPts val="1600"/>
              </a:spcBef>
              <a:spcAft>
                <a:spcPts val="0"/>
              </a:spcAft>
              <a:buClr>
                <a:srgbClr val="434343"/>
              </a:buClr>
              <a:buSzPts val="1400"/>
              <a:buChar char="○"/>
              <a:defRPr>
                <a:solidFill>
                  <a:srgbClr val="434343"/>
                </a:solidFill>
              </a:defRPr>
            </a:lvl8pPr>
            <a:lvl9pPr marL="4114800" lvl="8" indent="-317500">
              <a:spcBef>
                <a:spcPts val="1600"/>
              </a:spcBef>
              <a:spcAft>
                <a:spcPts val="1600"/>
              </a:spcAft>
              <a:buClr>
                <a:srgbClr val="434343"/>
              </a:buClr>
              <a:buSzPts val="1400"/>
              <a:buChar char="■"/>
              <a:defRPr>
                <a:solidFill>
                  <a:srgbClr val="434343"/>
                </a:solidFill>
              </a:defRPr>
            </a:lvl9pPr>
          </a:lstStyle>
          <a:p>
            <a:endParaRPr/>
          </a:p>
        </p:txBody>
      </p:sp>
      <p:sp>
        <p:nvSpPr>
          <p:cNvPr id="43" name="Google Shape;43;p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4"/>
        <p:cNvGrpSpPr/>
        <p:nvPr/>
      </p:nvGrpSpPr>
      <p:grpSpPr>
        <a:xfrm>
          <a:off x="0" y="0"/>
          <a:ext cx="0" cy="0"/>
          <a:chOff x="0" y="0"/>
          <a:chExt cx="0" cy="0"/>
        </a:xfrm>
      </p:grpSpPr>
      <p:sp>
        <p:nvSpPr>
          <p:cNvPr id="45" name="Google Shape;45;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a:endParaRPr/>
          </a:p>
        </p:txBody>
      </p:sp>
      <p:sp>
        <p:nvSpPr>
          <p:cNvPr id="46" name="Google Shape;46;p1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11"/>
          <p:cNvSpPr txBox="1">
            <a:spLocks noGrp="1"/>
          </p:cNvSpPr>
          <p:nvPr>
            <p:ph type="title" hasCustomPrompt="1"/>
          </p:nvPr>
        </p:nvSpPr>
        <p:spPr>
          <a:xfrm>
            <a:off x="311700" y="743001"/>
            <a:ext cx="8520600" cy="20064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a:spLocks noGrp="1"/>
          </p:cNvSpPr>
          <p:nvPr>
            <p:ph type="body" idx="1"/>
          </p:nvPr>
        </p:nvSpPr>
        <p:spPr>
          <a:xfrm>
            <a:off x="311700" y="2845182"/>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rgbClr val="434343"/>
              </a:buClr>
              <a:buSzPts val="1800"/>
              <a:buChar char="●"/>
              <a:defRPr>
                <a:solidFill>
                  <a:srgbClr val="434343"/>
                </a:solidFill>
              </a:defRPr>
            </a:lvl1pPr>
            <a:lvl2pPr marL="914400" lvl="1" indent="-317500" algn="ctr">
              <a:spcBef>
                <a:spcPts val="1600"/>
              </a:spcBef>
              <a:spcAft>
                <a:spcPts val="0"/>
              </a:spcAft>
              <a:buClr>
                <a:srgbClr val="434343"/>
              </a:buClr>
              <a:buSzPts val="1400"/>
              <a:buChar char="○"/>
              <a:defRPr>
                <a:solidFill>
                  <a:srgbClr val="434343"/>
                </a:solidFill>
              </a:defRPr>
            </a:lvl2pPr>
            <a:lvl3pPr marL="1371600" lvl="2" indent="-317500" algn="ctr">
              <a:spcBef>
                <a:spcPts val="1600"/>
              </a:spcBef>
              <a:spcAft>
                <a:spcPts val="0"/>
              </a:spcAft>
              <a:buClr>
                <a:srgbClr val="434343"/>
              </a:buClr>
              <a:buSzPts val="1400"/>
              <a:buChar char="■"/>
              <a:defRPr>
                <a:solidFill>
                  <a:srgbClr val="434343"/>
                </a:solidFill>
              </a:defRPr>
            </a:lvl3pPr>
            <a:lvl4pPr marL="1828800" lvl="3" indent="-317500" algn="ctr">
              <a:spcBef>
                <a:spcPts val="1600"/>
              </a:spcBef>
              <a:spcAft>
                <a:spcPts val="0"/>
              </a:spcAft>
              <a:buClr>
                <a:srgbClr val="434343"/>
              </a:buClr>
              <a:buSzPts val="1400"/>
              <a:buChar char="●"/>
              <a:defRPr>
                <a:solidFill>
                  <a:srgbClr val="434343"/>
                </a:solidFill>
              </a:defRPr>
            </a:lvl4pPr>
            <a:lvl5pPr marL="2286000" lvl="4" indent="-317500" algn="ctr">
              <a:spcBef>
                <a:spcPts val="1600"/>
              </a:spcBef>
              <a:spcAft>
                <a:spcPts val="0"/>
              </a:spcAft>
              <a:buClr>
                <a:srgbClr val="434343"/>
              </a:buClr>
              <a:buSzPts val="1400"/>
              <a:buChar char="○"/>
              <a:defRPr>
                <a:solidFill>
                  <a:srgbClr val="434343"/>
                </a:solidFill>
              </a:defRPr>
            </a:lvl5pPr>
            <a:lvl6pPr marL="2743200" lvl="5" indent="-317500" algn="ctr">
              <a:spcBef>
                <a:spcPts val="1600"/>
              </a:spcBef>
              <a:spcAft>
                <a:spcPts val="0"/>
              </a:spcAft>
              <a:buClr>
                <a:schemeClr val="lt1"/>
              </a:buClr>
              <a:buSzPts val="1400"/>
              <a:buChar char="■"/>
              <a:defRPr>
                <a:solidFill>
                  <a:schemeClr val="lt1"/>
                </a:solidFill>
              </a:defRPr>
            </a:lvl6pPr>
            <a:lvl7pPr marL="3200400" lvl="6" indent="-317500" algn="ctr">
              <a:spcBef>
                <a:spcPts val="1600"/>
              </a:spcBef>
              <a:spcAft>
                <a:spcPts val="0"/>
              </a:spcAft>
              <a:buClr>
                <a:schemeClr val="lt1"/>
              </a:buClr>
              <a:buSzPts val="1400"/>
              <a:buChar char="●"/>
              <a:defRPr>
                <a:solidFill>
                  <a:schemeClr val="lt1"/>
                </a:solidFill>
              </a:defRPr>
            </a:lvl7pPr>
            <a:lvl8pPr marL="3657600" lvl="7" indent="-317500" algn="ctr">
              <a:spcBef>
                <a:spcPts val="1600"/>
              </a:spcBef>
              <a:spcAft>
                <a:spcPts val="0"/>
              </a:spcAft>
              <a:buClr>
                <a:schemeClr val="lt1"/>
              </a:buClr>
              <a:buSzPts val="1400"/>
              <a:buChar char="○"/>
              <a:defRPr>
                <a:solidFill>
                  <a:schemeClr val="lt1"/>
                </a:solidFill>
              </a:defRPr>
            </a:lvl8pPr>
            <a:lvl9pPr marL="4114800" lvl="8" indent="-317500" algn="ctr">
              <a:spcBef>
                <a:spcPts val="1600"/>
              </a:spcBef>
              <a:spcAft>
                <a:spcPts val="1600"/>
              </a:spcAft>
              <a:buClr>
                <a:schemeClr val="lt1"/>
              </a:buClr>
              <a:buSzPts val="1400"/>
              <a:buChar char="■"/>
              <a:defRPr>
                <a:solidFill>
                  <a:schemeClr val="lt1"/>
                </a:solidFill>
              </a:defRPr>
            </a:lvl9pPr>
          </a:lstStyle>
          <a:p>
            <a:endParaRPr/>
          </a:p>
        </p:txBody>
      </p:sp>
      <p:sp>
        <p:nvSpPr>
          <p:cNvPr id="51" name="Google Shape;51;p1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1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l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6234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rgbClr val="434343"/>
              </a:buClr>
              <a:buSzPts val="1800"/>
              <a:buFont typeface="Source Sans Pro"/>
              <a:buChar char="●"/>
              <a:defRPr sz="1800">
                <a:solidFill>
                  <a:srgbClr val="434343"/>
                </a:solidFill>
                <a:latin typeface="Source Sans Pro"/>
                <a:ea typeface="Source Sans Pro"/>
                <a:cs typeface="Source Sans Pro"/>
                <a:sym typeface="Source Sans Pro"/>
              </a:defRPr>
            </a:lvl1pPr>
            <a:lvl2pPr marL="914400" lvl="1" indent="-317500">
              <a:lnSpc>
                <a:spcPct val="115000"/>
              </a:lnSpc>
              <a:spcBef>
                <a:spcPts val="1600"/>
              </a:spcBef>
              <a:spcAft>
                <a:spcPts val="0"/>
              </a:spcAft>
              <a:buClr>
                <a:srgbClr val="434343"/>
              </a:buClr>
              <a:buSzPts val="1400"/>
              <a:buFont typeface="Source Sans Pro"/>
              <a:buChar char="○"/>
              <a:defRPr>
                <a:solidFill>
                  <a:srgbClr val="434343"/>
                </a:solidFill>
                <a:latin typeface="Source Sans Pro"/>
                <a:ea typeface="Source Sans Pro"/>
                <a:cs typeface="Source Sans Pro"/>
                <a:sym typeface="Source Sans Pro"/>
              </a:defRPr>
            </a:lvl2pPr>
            <a:lvl3pPr marL="1371600" lvl="2" indent="-317500">
              <a:lnSpc>
                <a:spcPct val="115000"/>
              </a:lnSpc>
              <a:spcBef>
                <a:spcPts val="1600"/>
              </a:spcBef>
              <a:spcAft>
                <a:spcPts val="0"/>
              </a:spcAft>
              <a:buClr>
                <a:srgbClr val="434343"/>
              </a:buClr>
              <a:buSzPts val="1400"/>
              <a:buFont typeface="Source Sans Pro"/>
              <a:buChar char="■"/>
              <a:defRPr>
                <a:solidFill>
                  <a:srgbClr val="434343"/>
                </a:solidFill>
                <a:latin typeface="Source Sans Pro"/>
                <a:ea typeface="Source Sans Pro"/>
                <a:cs typeface="Source Sans Pro"/>
                <a:sym typeface="Source Sans Pro"/>
              </a:defRPr>
            </a:lvl3pPr>
            <a:lvl4pPr marL="1828800" lvl="3" indent="-317500">
              <a:lnSpc>
                <a:spcPct val="115000"/>
              </a:lnSpc>
              <a:spcBef>
                <a:spcPts val="1600"/>
              </a:spcBef>
              <a:spcAft>
                <a:spcPts val="0"/>
              </a:spcAft>
              <a:buClr>
                <a:srgbClr val="434343"/>
              </a:buClr>
              <a:buSzPts val="1400"/>
              <a:buFont typeface="Source Sans Pro"/>
              <a:buChar char="●"/>
              <a:defRPr>
                <a:solidFill>
                  <a:srgbClr val="434343"/>
                </a:solidFill>
                <a:latin typeface="Source Sans Pro"/>
                <a:ea typeface="Source Sans Pro"/>
                <a:cs typeface="Source Sans Pro"/>
                <a:sym typeface="Source Sans Pro"/>
              </a:defRPr>
            </a:lvl4pPr>
            <a:lvl5pPr marL="2286000" lvl="4" indent="-317500">
              <a:lnSpc>
                <a:spcPct val="115000"/>
              </a:lnSpc>
              <a:spcBef>
                <a:spcPts val="1600"/>
              </a:spcBef>
              <a:spcAft>
                <a:spcPts val="0"/>
              </a:spcAft>
              <a:buClr>
                <a:srgbClr val="434343"/>
              </a:buClr>
              <a:buSzPts val="1400"/>
              <a:buFont typeface="Source Sans Pro"/>
              <a:buChar char="○"/>
              <a:defRPr>
                <a:solidFill>
                  <a:srgbClr val="434343"/>
                </a:solidFill>
                <a:latin typeface="Source Sans Pro"/>
                <a:ea typeface="Source Sans Pro"/>
                <a:cs typeface="Source Sans Pro"/>
                <a:sym typeface="Source Sans Pro"/>
              </a:defRPr>
            </a:lvl5pPr>
            <a:lvl6pPr marL="2743200" lvl="5" indent="-317500">
              <a:lnSpc>
                <a:spcPct val="115000"/>
              </a:lnSpc>
              <a:spcBef>
                <a:spcPts val="1600"/>
              </a:spcBef>
              <a:spcAft>
                <a:spcPts val="0"/>
              </a:spcAft>
              <a:buClr>
                <a:srgbClr val="434343"/>
              </a:buClr>
              <a:buSzPts val="1400"/>
              <a:buFont typeface="Source Sans Pro"/>
              <a:buChar char="■"/>
              <a:defRPr>
                <a:solidFill>
                  <a:srgbClr val="434343"/>
                </a:solidFill>
                <a:latin typeface="Source Sans Pro"/>
                <a:ea typeface="Source Sans Pro"/>
                <a:cs typeface="Source Sans Pro"/>
                <a:sym typeface="Source Sans Pro"/>
              </a:defRPr>
            </a:lvl6pPr>
            <a:lvl7pPr marL="3200400" lvl="6" indent="-317500">
              <a:lnSpc>
                <a:spcPct val="115000"/>
              </a:lnSpc>
              <a:spcBef>
                <a:spcPts val="1600"/>
              </a:spcBef>
              <a:spcAft>
                <a:spcPts val="0"/>
              </a:spcAft>
              <a:buClr>
                <a:srgbClr val="434343"/>
              </a:buClr>
              <a:buSzPts val="1400"/>
              <a:buFont typeface="Source Sans Pro"/>
              <a:buChar char="●"/>
              <a:defRPr>
                <a:solidFill>
                  <a:srgbClr val="434343"/>
                </a:solidFill>
                <a:latin typeface="Source Sans Pro"/>
                <a:ea typeface="Source Sans Pro"/>
                <a:cs typeface="Source Sans Pro"/>
                <a:sym typeface="Source Sans Pro"/>
              </a:defRPr>
            </a:lvl7pPr>
            <a:lvl8pPr marL="3657600" lvl="7" indent="-317500">
              <a:lnSpc>
                <a:spcPct val="115000"/>
              </a:lnSpc>
              <a:spcBef>
                <a:spcPts val="1600"/>
              </a:spcBef>
              <a:spcAft>
                <a:spcPts val="0"/>
              </a:spcAft>
              <a:buClr>
                <a:srgbClr val="434343"/>
              </a:buClr>
              <a:buSzPts val="1400"/>
              <a:buFont typeface="Source Sans Pro"/>
              <a:buChar char="○"/>
              <a:defRPr>
                <a:solidFill>
                  <a:srgbClr val="434343"/>
                </a:solidFill>
                <a:latin typeface="Source Sans Pro"/>
                <a:ea typeface="Source Sans Pro"/>
                <a:cs typeface="Source Sans Pro"/>
                <a:sym typeface="Source Sans Pro"/>
              </a:defRPr>
            </a:lvl8pPr>
            <a:lvl9pPr marL="4114800" lvl="8" indent="-317500">
              <a:lnSpc>
                <a:spcPct val="115000"/>
              </a:lnSpc>
              <a:spcBef>
                <a:spcPts val="1600"/>
              </a:spcBef>
              <a:spcAft>
                <a:spcPts val="1600"/>
              </a:spcAft>
              <a:buClr>
                <a:srgbClr val="434343"/>
              </a:buClr>
              <a:buSzPts val="1400"/>
              <a:buFont typeface="Source Sans Pro"/>
              <a:buChar char="■"/>
              <a:defRPr>
                <a:solidFill>
                  <a:srgbClr val="434343"/>
                </a:solidFill>
                <a:latin typeface="Source Sans Pro"/>
                <a:ea typeface="Source Sans Pro"/>
                <a:cs typeface="Source Sans Pro"/>
                <a:sym typeface="Source Sans Pro"/>
              </a:defRPr>
            </a:lvl9pPr>
          </a:lstStyle>
          <a:p>
            <a:endParaRPr/>
          </a:p>
        </p:txBody>
      </p:sp>
      <p:sp>
        <p:nvSpPr>
          <p:cNvPr id="8" name="Google Shape;8;p1"/>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hyperlink" Target="https://developer.mozilla.org/en-US/docs/Web/JavaScript/Guide/Working_with_objects#accessing_properties" TargetMode="External"/><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developer.mozilla.org/en-US/docs/Web/JavaScript/Reference/Global_Objects/NaN" TargetMode="External"/><Relationship Id="rId2" Type="http://schemas.openxmlformats.org/officeDocument/2006/relationships/notesSlide" Target="../notesSlides/notesSlide43.xml"/><Relationship Id="rId1" Type="http://schemas.openxmlformats.org/officeDocument/2006/relationships/slideLayout" Target="../slideLayouts/slideLayout3.xml"/><Relationship Id="rId5" Type="http://schemas.openxmlformats.org/officeDocument/2006/relationships/hyperlink" Target="https://developer.mozilla.org/en-US/docs/Web/JavaScript/Reference/Global_Objects/undefined" TargetMode="External"/><Relationship Id="rId4" Type="http://schemas.openxmlformats.org/officeDocument/2006/relationships/hyperlink" Target="https://developer.mozilla.org/en-US/docs/Web/JavaScript/Reference/Global_Objects/Infinity" TargetMode="External"/></Relationships>
</file>

<file path=ppt/slides/_rels/slide45.xml.rels><?xml version="1.0" encoding="UTF-8" standalone="yes"?>
<Relationships xmlns="http://schemas.openxmlformats.org/package/2006/relationships"><Relationship Id="rId3" Type="http://schemas.openxmlformats.org/officeDocument/2006/relationships/hyperlink" Target="https://developer.mozilla.org/en-US/docs/Web/JavaScript/Reference/Global_Objects/Math" TargetMode="External"/><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hyperlink" Target="https://developer.mozilla.org/en-US/docs/Web/JavaScript/Reference/Global_Objects/String" TargetMode="External"/><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hyperlink" Target="https://developer.mozilla.org/en-US/docs/Web/JavaScript/Reference/Global_Objects/Date" TargetMode="External"/><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hyperlink" Target="https://developer.mozilla.org/en-US/docs/Web/JavaScript/Reference/Global_Objects/Map#using_the_map_object" TargetMode="External"/><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8" Type="http://schemas.openxmlformats.org/officeDocument/2006/relationships/hyperlink" Target="https://developer.mozilla.org/en-US/docs/Web/JavaScript/Reference/Global_Objects/Map#objects_vs._maps" TargetMode="External"/><Relationship Id="rId3" Type="http://schemas.openxmlformats.org/officeDocument/2006/relationships/hyperlink" Target="https://developer.mozilla.org/en-US/docs/Web/JavaScript/Reference/Global_Objects/Object/create" TargetMode="External"/><Relationship Id="rId7" Type="http://schemas.openxmlformats.org/officeDocument/2006/relationships/hyperlink" Target="https://developer.mozilla.org/en-US/docs/Web/JavaScript/Reference/Global_Objects/Symbol" TargetMode="External"/><Relationship Id="rId2" Type="http://schemas.openxmlformats.org/officeDocument/2006/relationships/notesSlide" Target="../notesSlides/notesSlide87.xml"/><Relationship Id="rId1" Type="http://schemas.openxmlformats.org/officeDocument/2006/relationships/slideLayout" Target="../slideLayouts/slideLayout5.xml"/><Relationship Id="rId6" Type="http://schemas.openxmlformats.org/officeDocument/2006/relationships/hyperlink" Target="https://developer.mozilla.org/en-US/docs/Web/JavaScript/Reference/Global_Objects/String" TargetMode="External"/><Relationship Id="rId5" Type="http://schemas.openxmlformats.org/officeDocument/2006/relationships/hyperlink" Target="https://developer.mozilla.org/en-US/docs/Web/Security/Attacks/Prototype_pollution" TargetMode="External"/><Relationship Id="rId4" Type="http://schemas.openxmlformats.org/officeDocument/2006/relationships/hyperlink" Target="https://github.com/eslint-community/eslint-plugin-security/blob/main/docs/the-dangers-of-square-bracket-notation.md" TargetMode="External"/></Relationships>
</file>

<file path=ppt/slides/_rels/slide89.xml.rels><?xml version="1.0" encoding="UTF-8" standalone="yes"?>
<Relationships xmlns="http://schemas.openxmlformats.org/package/2006/relationships"><Relationship Id="rId3" Type="http://schemas.openxmlformats.org/officeDocument/2006/relationships/hyperlink" Target="https://developer.mozilla.org/en-US/docs/Web/JavaScript/Reference/Global_Objects/Map#instance_methods" TargetMode="External"/><Relationship Id="rId2" Type="http://schemas.openxmlformats.org/officeDocument/2006/relationships/notesSlide" Target="../notesSlides/notesSlide88.xml"/><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hyperlink" Target="https://developer.mozilla.org/en-US/docs/Web/JavaScript/Reference/Operators/Equality" TargetMode="External"/><Relationship Id="rId2" Type="http://schemas.openxmlformats.org/officeDocument/2006/relationships/notesSlide" Target="../notesSlides/notesSlide90.xml"/><Relationship Id="rId1" Type="http://schemas.openxmlformats.org/officeDocument/2006/relationships/slideLayout" Target="../slideLayouts/slideLayout3.xml"/><Relationship Id="rId4" Type="http://schemas.openxmlformats.org/officeDocument/2006/relationships/hyperlink" Target="https://developer.mozilla.org/en-US/docs/Web/JavaScript/Reference/Operators/Inequality" TargetMode="Externa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3" Type="http://schemas.openxmlformats.org/officeDocument/2006/relationships/hyperlink" Target="https://developer.mozilla.org/en-US/docs/Web/JavaScript/Reference/Operators/Strict_equality" TargetMode="External"/><Relationship Id="rId2" Type="http://schemas.openxmlformats.org/officeDocument/2006/relationships/notesSlide" Target="../notesSlides/notesSlide92.xml"/><Relationship Id="rId1" Type="http://schemas.openxmlformats.org/officeDocument/2006/relationships/slideLayout" Target="../slideLayouts/slideLayout3.xml"/><Relationship Id="rId4" Type="http://schemas.openxmlformats.org/officeDocument/2006/relationships/hyperlink" Target="https://developer.mozilla.org/en-US/docs/Web/JavaScript/Reference/Operators/Strict_inequality" TargetMode="Externa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8" Type="http://schemas.openxmlformats.org/officeDocument/2006/relationships/hyperlink" Target="https://developer.mozilla.org/en-US/docs/Web/JavaScript/Reference/Operators/Remainder_assignment" TargetMode="External"/><Relationship Id="rId3" Type="http://schemas.openxmlformats.org/officeDocument/2006/relationships/hyperlink" Target="https://developer.mozilla.org/en-US/docs/Web/JavaScript/Reference/Operators/Assignment" TargetMode="External"/><Relationship Id="rId7" Type="http://schemas.openxmlformats.org/officeDocument/2006/relationships/hyperlink" Target="https://developer.mozilla.org/en-US/docs/Web/JavaScript/Reference/Operators/Division_assignment" TargetMode="External"/><Relationship Id="rId2" Type="http://schemas.openxmlformats.org/officeDocument/2006/relationships/notesSlide" Target="../notesSlides/notesSlide96.xml"/><Relationship Id="rId1" Type="http://schemas.openxmlformats.org/officeDocument/2006/relationships/slideLayout" Target="../slideLayouts/slideLayout3.xml"/><Relationship Id="rId6" Type="http://schemas.openxmlformats.org/officeDocument/2006/relationships/hyperlink" Target="https://developer.mozilla.org/en-US/docs/Web/JavaScript/Reference/Operators/Multiplication_assignment" TargetMode="External"/><Relationship Id="rId5" Type="http://schemas.openxmlformats.org/officeDocument/2006/relationships/hyperlink" Target="https://developer.mozilla.org/en-US/docs/Web/JavaScript/Reference/Operators/Subtraction_assignment" TargetMode="External"/><Relationship Id="rId4" Type="http://schemas.openxmlformats.org/officeDocument/2006/relationships/hyperlink" Target="https://developer.mozilla.org/en-US/docs/Web/JavaScript/Reference/Operators/Addition_assignment" TargetMode="External"/><Relationship Id="rId9" Type="http://schemas.openxmlformats.org/officeDocument/2006/relationships/hyperlink" Target="https://developer.mozilla.org/en-US/docs/Web/JavaScript/Reference/Operators/Exponentiation_assignment" TargetMode="External"/></Relationships>
</file>

<file path=ppt/slides/_rels/slide98.xml.rels><?xml version="1.0" encoding="UTF-8" standalone="yes"?>
<Relationships xmlns="http://schemas.openxmlformats.org/package/2006/relationships"><Relationship Id="rId8" Type="http://schemas.openxmlformats.org/officeDocument/2006/relationships/hyperlink" Target="https://developer.mozilla.org/en-US/docs/Web/JavaScript/Reference/Operators/Bitwise_OR_assignment" TargetMode="External"/><Relationship Id="rId3" Type="http://schemas.openxmlformats.org/officeDocument/2006/relationships/hyperlink" Target="https://developer.mozilla.org/en-US/docs/Web/JavaScript/Reference/Operators/Left_shift_assignment" TargetMode="External"/><Relationship Id="rId7" Type="http://schemas.openxmlformats.org/officeDocument/2006/relationships/hyperlink" Target="https://developer.mozilla.org/en-US/docs/Web/JavaScript/Reference/Operators/Bitwise_XOR_assignment" TargetMode="External"/><Relationship Id="rId2" Type="http://schemas.openxmlformats.org/officeDocument/2006/relationships/notesSlide" Target="../notesSlides/notesSlide97.xml"/><Relationship Id="rId1" Type="http://schemas.openxmlformats.org/officeDocument/2006/relationships/slideLayout" Target="../slideLayouts/slideLayout5.xml"/><Relationship Id="rId6" Type="http://schemas.openxmlformats.org/officeDocument/2006/relationships/hyperlink" Target="https://developer.mozilla.org/en-US/docs/Web/JavaScript/Reference/Operators/Bitwise_AND_assignment" TargetMode="External"/><Relationship Id="rId11" Type="http://schemas.openxmlformats.org/officeDocument/2006/relationships/hyperlink" Target="https://developer.mozilla.org/en-US/docs/Web/JavaScript/Reference/Operators/Nullish_coalescing_assignment" TargetMode="External"/><Relationship Id="rId5" Type="http://schemas.openxmlformats.org/officeDocument/2006/relationships/hyperlink" Target="https://developer.mozilla.org/en-US/docs/Web/JavaScript/Reference/Operators/Unsigned_right_shift_assignment" TargetMode="External"/><Relationship Id="rId10" Type="http://schemas.openxmlformats.org/officeDocument/2006/relationships/hyperlink" Target="https://developer.mozilla.org/en-US/docs/Web/JavaScript/Reference/Operators/Logical_OR_assignment" TargetMode="External"/><Relationship Id="rId4" Type="http://schemas.openxmlformats.org/officeDocument/2006/relationships/hyperlink" Target="https://developer.mozilla.org/en-US/docs/Web/JavaScript/Reference/Operators/Right_shift_assignment" TargetMode="External"/><Relationship Id="rId9" Type="http://schemas.openxmlformats.org/officeDocument/2006/relationships/hyperlink" Target="https://developer.mozilla.org/en-US/docs/Web/JavaScript/Reference/Operators/Logical_AND_assignment" TargetMode="External"/></Relationships>
</file>

<file path=ppt/slides/_rels/slide9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3" Type="http://schemas.openxmlformats.org/officeDocument/2006/relationships/hyperlink" Target="https://github.com/airbnb/javascript/blob/master/README.md#variables--no-chain-assignment" TargetMode="External"/><Relationship Id="rId2" Type="http://schemas.openxmlformats.org/officeDocument/2006/relationships/notesSlide" Target="../notesSlides/notesSlide99.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8" Type="http://schemas.openxmlformats.org/officeDocument/2006/relationships/hyperlink" Target="https://developer.mozilla.org/en-US/docs/Web/JavaScript/Reference/Operators/Greater_than_or_equal" TargetMode="External"/><Relationship Id="rId3" Type="http://schemas.openxmlformats.org/officeDocument/2006/relationships/hyperlink" Target="https://developer.mozilla.org/en-US/docs/Web/JavaScript/Reference/Operators/Equality" TargetMode="External"/><Relationship Id="rId7" Type="http://schemas.openxmlformats.org/officeDocument/2006/relationships/hyperlink" Target="https://developer.mozilla.org/en-US/docs/Web/JavaScript/Reference/Operators/Greater_than" TargetMode="External"/><Relationship Id="rId2" Type="http://schemas.openxmlformats.org/officeDocument/2006/relationships/notesSlide" Target="../notesSlides/notesSlide101.xml"/><Relationship Id="rId1" Type="http://schemas.openxmlformats.org/officeDocument/2006/relationships/slideLayout" Target="../slideLayouts/slideLayout5.xml"/><Relationship Id="rId6" Type="http://schemas.openxmlformats.org/officeDocument/2006/relationships/hyperlink" Target="https://developer.mozilla.org/en-US/docs/Web/JavaScript/Reference/Operators/Strict_inequality" TargetMode="External"/><Relationship Id="rId5" Type="http://schemas.openxmlformats.org/officeDocument/2006/relationships/hyperlink" Target="https://developer.mozilla.org/en-US/docs/Web/JavaScript/Reference/Operators/Strict_equality" TargetMode="External"/><Relationship Id="rId10" Type="http://schemas.openxmlformats.org/officeDocument/2006/relationships/hyperlink" Target="https://developer.mozilla.org/en-US/docs/Web/JavaScript/Reference/Operators/Less_than_or_equal" TargetMode="External"/><Relationship Id="rId4" Type="http://schemas.openxmlformats.org/officeDocument/2006/relationships/hyperlink" Target="https://developer.mozilla.org/en-US/docs/Web/JavaScript/Reference/Operators/Inequality" TargetMode="External"/><Relationship Id="rId9" Type="http://schemas.openxmlformats.org/officeDocument/2006/relationships/hyperlink" Target="https://developer.mozilla.org/en-US/docs/Web/JavaScript/Reference/Operators/Less_than" TargetMode="External"/></Relationships>
</file>

<file path=ppt/slides/_rels/slide103.xml.rels><?xml version="1.0" encoding="UTF-8" standalone="yes"?>
<Relationships xmlns="http://schemas.openxmlformats.org/package/2006/relationships"><Relationship Id="rId8" Type="http://schemas.openxmlformats.org/officeDocument/2006/relationships/hyperlink" Target="https://developer.mozilla.org/en-US/docs/Web/JavaScript/Reference/Operators/Right_shift" TargetMode="External"/><Relationship Id="rId3" Type="http://schemas.openxmlformats.org/officeDocument/2006/relationships/hyperlink" Target="https://developer.mozilla.org/en-US/docs/Web/JavaScript/Reference/Operators/Bitwise_AND" TargetMode="External"/><Relationship Id="rId7" Type="http://schemas.openxmlformats.org/officeDocument/2006/relationships/hyperlink" Target="https://developer.mozilla.org/en-US/docs/Web/JavaScript/Reference/Operators/Left_shift" TargetMode="External"/><Relationship Id="rId2" Type="http://schemas.openxmlformats.org/officeDocument/2006/relationships/notesSlide" Target="../notesSlides/notesSlide102.xml"/><Relationship Id="rId1" Type="http://schemas.openxmlformats.org/officeDocument/2006/relationships/slideLayout" Target="../slideLayouts/slideLayout5.xml"/><Relationship Id="rId6" Type="http://schemas.openxmlformats.org/officeDocument/2006/relationships/hyperlink" Target="https://developer.mozilla.org/en-US/docs/Web/JavaScript/Reference/Operators/Bitwise_NOT" TargetMode="External"/><Relationship Id="rId5" Type="http://schemas.openxmlformats.org/officeDocument/2006/relationships/hyperlink" Target="https://developer.mozilla.org/en-US/docs/Web/JavaScript/Reference/Operators/Bitwise_XOR" TargetMode="External"/><Relationship Id="rId4" Type="http://schemas.openxmlformats.org/officeDocument/2006/relationships/hyperlink" Target="https://developer.mozilla.org/en-US/docs/Web/JavaScript/Reference/Operators/Bitwise_OR" TargetMode="External"/><Relationship Id="rId9" Type="http://schemas.openxmlformats.org/officeDocument/2006/relationships/hyperlink" Target="https://developer.mozilla.org/en-US/docs/Web/JavaScript/Reference/Operators/Unsigned_right_shift" TargetMode="External"/></Relationships>
</file>

<file path=ppt/slides/_rels/slide104.xml.rels><?xml version="1.0" encoding="UTF-8" standalone="yes"?>
<Relationships xmlns="http://schemas.openxmlformats.org/package/2006/relationships"><Relationship Id="rId3" Type="http://schemas.openxmlformats.org/officeDocument/2006/relationships/hyperlink" Target="https://developer.mozilla.org/en-US/docs/Web/JavaScript/Reference/Operators/Left_shift" TargetMode="External"/><Relationship Id="rId2" Type="http://schemas.openxmlformats.org/officeDocument/2006/relationships/notesSlide" Target="../notesSlides/notesSlide103.xml"/><Relationship Id="rId1" Type="http://schemas.openxmlformats.org/officeDocument/2006/relationships/slideLayout" Target="../slideLayouts/slideLayout5.xml"/><Relationship Id="rId5" Type="http://schemas.openxmlformats.org/officeDocument/2006/relationships/hyperlink" Target="https://developer.mozilla.org/en-US/docs/Web/JavaScript/Reference/Operators/Unsigned_right_shift" TargetMode="External"/><Relationship Id="rId4" Type="http://schemas.openxmlformats.org/officeDocument/2006/relationships/hyperlink" Target="https://developer.mozilla.org/en-US/docs/Web/JavaScript/Reference/Operators/Right_shift" TargetMode="External"/></Relationships>
</file>

<file path=ppt/slides/_rels/slide105.xml.rels><?xml version="1.0" encoding="UTF-8" standalone="yes"?>
<Relationships xmlns="http://schemas.openxmlformats.org/package/2006/relationships"><Relationship Id="rId3" Type="http://schemas.openxmlformats.org/officeDocument/2006/relationships/hyperlink" Target="https://developer.mozilla.org/en-US/docs/Web/JavaScript/Reference/Operators/Logical_AND" TargetMode="External"/><Relationship Id="rId2" Type="http://schemas.openxmlformats.org/officeDocument/2006/relationships/notesSlide" Target="../notesSlides/notesSlide104.xml"/><Relationship Id="rId1" Type="http://schemas.openxmlformats.org/officeDocument/2006/relationships/slideLayout" Target="../slideLayouts/slideLayout5.xml"/><Relationship Id="rId6" Type="http://schemas.openxmlformats.org/officeDocument/2006/relationships/hyperlink" Target="https://developer.mozilla.org/en-US/docs/Web/JavaScript/Reference/Operators/Logical_NOT" TargetMode="External"/><Relationship Id="rId5" Type="http://schemas.openxmlformats.org/officeDocument/2006/relationships/hyperlink" Target="https://developer.mozilla.org/en-US/docs/Web/JavaScript/Reference/Operators/Nullish_coalescing" TargetMode="External"/><Relationship Id="rId4" Type="http://schemas.openxmlformats.org/officeDocument/2006/relationships/hyperlink" Target="https://developer.mozilla.org/en-US/docs/Web/JavaScript/Reference/Operators/Logical_OR" TargetMode="Externa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8.xml"/><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9.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hyperlink" Target="https://developer.mozilla.org/en-US/docs/Web/JavaScript/Reference/Global_Objects/Error" TargetMode="External"/><Relationship Id="rId2" Type="http://schemas.openxmlformats.org/officeDocument/2006/relationships/notesSlide" Target="../notesSlides/notesSlide123.xml"/><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3" Type="http://schemas.openxmlformats.org/officeDocument/2006/relationships/hyperlink" Target="https://developer.mozilla.org/en-US/docs/Web/JavaScript/Reference/Statements/try...catch" TargetMode="External"/><Relationship Id="rId2" Type="http://schemas.openxmlformats.org/officeDocument/2006/relationships/notesSlide" Target="../notesSlides/notesSlide125.xml"/><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3"/>
          <p:cNvSpPr txBox="1">
            <a:spLocks noGrp="1"/>
          </p:cNvSpPr>
          <p:nvPr>
            <p:ph type="ctrTitle"/>
          </p:nvPr>
        </p:nvSpPr>
        <p:spPr>
          <a:xfrm>
            <a:off x="485875" y="264475"/>
            <a:ext cx="8183700" cy="128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Javascript - 2026 Fall</a:t>
            </a:r>
            <a:endParaRPr/>
          </a:p>
        </p:txBody>
      </p:sp>
      <p:sp>
        <p:nvSpPr>
          <p:cNvPr id="59" name="Google Shape;59;p13"/>
          <p:cNvSpPr txBox="1">
            <a:spLocks noGrp="1"/>
          </p:cNvSpPr>
          <p:nvPr>
            <p:ph type="subTitle" idx="1"/>
          </p:nvPr>
        </p:nvSpPr>
        <p:spPr>
          <a:xfrm>
            <a:off x="485875" y="1595275"/>
            <a:ext cx="8183700" cy="1003800"/>
          </a:xfrm>
          <a:prstGeom prst="rect">
            <a:avLst/>
          </a:prstGeom>
        </p:spPr>
        <p:txBody>
          <a:bodyPr spcFirstLastPara="1" wrap="square" lIns="91425" tIns="91425" rIns="91425" bIns="91425" anchor="t" anchorCtr="0">
            <a:normAutofit lnSpcReduction="10000"/>
          </a:bodyPr>
          <a:lstStyle/>
          <a:p>
            <a:pPr marL="0" lvl="0" indent="0" algn="l" rtl="0">
              <a:lnSpc>
                <a:spcPct val="115000"/>
              </a:lnSpc>
              <a:spcBef>
                <a:spcPts val="0"/>
              </a:spcBef>
              <a:spcAft>
                <a:spcPts val="0"/>
              </a:spcAft>
              <a:buNone/>
            </a:pPr>
            <a:r>
              <a:rPr lang="en"/>
              <a:t>Ci-Wei Lan 藍啟維</a:t>
            </a:r>
            <a:endParaRPr/>
          </a:p>
          <a:p>
            <a:pPr marL="0" lvl="0" indent="0" algn="l" rtl="0">
              <a:lnSpc>
                <a:spcPct val="150000"/>
              </a:lnSpc>
              <a:spcBef>
                <a:spcPts val="0"/>
              </a:spcBef>
              <a:spcAft>
                <a:spcPts val="0"/>
              </a:spcAft>
              <a:buNone/>
            </a:pPr>
            <a:r>
              <a:rPr lang="en" sz="2000"/>
              <a:t>Dept. of CSE, NTOU</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Course Outline</a:t>
            </a:r>
            <a:endParaRPr/>
          </a:p>
        </p:txBody>
      </p:sp>
      <p:sp>
        <p:nvSpPr>
          <p:cNvPr id="65" name="Google Shape;65;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Objects &amp; Output</a:t>
            </a:r>
            <a:endParaRPr/>
          </a:p>
          <a:p>
            <a:pPr marL="914400" lvl="1" indent="-317500" algn="l" rtl="0">
              <a:spcBef>
                <a:spcPts val="0"/>
              </a:spcBef>
              <a:spcAft>
                <a:spcPts val="0"/>
              </a:spcAft>
              <a:buSzPts val="1400"/>
              <a:buChar char="○"/>
            </a:pPr>
            <a:r>
              <a:rPr lang="en"/>
              <a:t>document, window and console objects</a:t>
            </a:r>
            <a:endParaRPr/>
          </a:p>
          <a:p>
            <a:pPr marL="457200" lvl="0" indent="-342900" algn="l" rtl="0">
              <a:spcBef>
                <a:spcPts val="0"/>
              </a:spcBef>
              <a:spcAft>
                <a:spcPts val="0"/>
              </a:spcAft>
              <a:buSzPts val="1800"/>
              <a:buChar char="●"/>
            </a:pPr>
            <a:r>
              <a:rPr lang="en"/>
              <a:t> Basic Interaction</a:t>
            </a:r>
            <a:endParaRPr/>
          </a:p>
          <a:p>
            <a:pPr marL="457200" lvl="0" indent="-342900" algn="l" rtl="0">
              <a:spcBef>
                <a:spcPts val="0"/>
              </a:spcBef>
              <a:spcAft>
                <a:spcPts val="0"/>
              </a:spcAft>
              <a:buSzPts val="1800"/>
              <a:buChar char="●"/>
            </a:pPr>
            <a:r>
              <a:rPr lang="en"/>
              <a:t> Variables &amp; Data Types</a:t>
            </a:r>
            <a:endParaRPr/>
          </a:p>
          <a:p>
            <a:pPr marL="914400" lvl="1" indent="-317500" algn="l" rtl="0">
              <a:spcBef>
                <a:spcPts val="0"/>
              </a:spcBef>
              <a:spcAft>
                <a:spcPts val="0"/>
              </a:spcAft>
              <a:buSzPts val="1400"/>
              <a:buChar char="○"/>
            </a:pPr>
            <a:r>
              <a:rPr lang="en"/>
              <a:t>let, const (ES6)</a:t>
            </a:r>
            <a:endParaRPr/>
          </a:p>
          <a:p>
            <a:pPr marL="914400" lvl="1" indent="-317500" algn="l" rtl="0">
              <a:spcBef>
                <a:spcPts val="0"/>
              </a:spcBef>
              <a:spcAft>
                <a:spcPts val="0"/>
              </a:spcAft>
              <a:buSzPts val="1400"/>
              <a:buChar char="○"/>
            </a:pPr>
            <a:r>
              <a:rPr lang="en"/>
              <a:t>Primitives: string, number, boolean, undefined, null, bigint, symbol.</a:t>
            </a:r>
            <a:endParaRPr/>
          </a:p>
          <a:p>
            <a:pPr marL="457200" lvl="0" indent="-342900" algn="l" rtl="0">
              <a:spcBef>
                <a:spcPts val="0"/>
              </a:spcBef>
              <a:spcAft>
                <a:spcPts val="0"/>
              </a:spcAft>
              <a:buSzPts val="1800"/>
              <a:buChar char="●"/>
            </a:pPr>
            <a:r>
              <a:rPr lang="en"/>
              <a:t> Operators &amp; Control</a:t>
            </a:r>
            <a:endParaRPr/>
          </a:p>
        </p:txBody>
      </p:sp>
      <p:sp>
        <p:nvSpPr>
          <p:cNvPr id="66" name="Google Shape;66;p1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JavaScript Overview</a:t>
            </a:r>
            <a:endParaRPr/>
          </a:p>
        </p:txBody>
      </p:sp>
      <p:sp>
        <p:nvSpPr>
          <p:cNvPr id="72" name="Google Shape;72;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Javascript is a scripting language to enhance the functionality and appearance of web pages, i.e. make it alive for interaction with users.</a:t>
            </a:r>
            <a:endParaRPr/>
          </a:p>
          <a:p>
            <a:pPr marL="457200" lvl="0" indent="-342900" algn="l" rtl="0">
              <a:spcBef>
                <a:spcPts val="0"/>
              </a:spcBef>
              <a:spcAft>
                <a:spcPts val="0"/>
              </a:spcAft>
              <a:buSzPts val="1800"/>
              <a:buChar char="●"/>
            </a:pPr>
            <a:r>
              <a:rPr lang="en"/>
              <a:t>JavaScript can execute not only in the browser, but also on the server, or actually on any device that has a special program called the JavaScript engine.</a:t>
            </a:r>
            <a:endParaRPr/>
          </a:p>
          <a:p>
            <a:pPr marL="914400" lvl="1" indent="-317500" algn="l" rtl="0">
              <a:spcBef>
                <a:spcPts val="0"/>
              </a:spcBef>
              <a:spcAft>
                <a:spcPts val="0"/>
              </a:spcAft>
              <a:buSzPts val="1400"/>
              <a:buChar char="○"/>
            </a:pPr>
            <a:r>
              <a:rPr lang="en"/>
              <a:t>V8 by Google: Google Chrome, Chromium browsers (Microsoft Edge, Brave, Opera), Node.js, Deno</a:t>
            </a:r>
            <a:endParaRPr/>
          </a:p>
          <a:p>
            <a:pPr marL="914400" lvl="1" indent="-317500" algn="l" rtl="0">
              <a:spcBef>
                <a:spcPts val="0"/>
              </a:spcBef>
              <a:spcAft>
                <a:spcPts val="0"/>
              </a:spcAft>
              <a:buSzPts val="1400"/>
              <a:buChar char="○"/>
            </a:pPr>
            <a:r>
              <a:rPr lang="en"/>
              <a:t>JavaScriptCore (Nitro / SquirrelFish) by Apple: Apple Safari (iOS, iPadOS, macOS), WebKit browsers, Bun runtime</a:t>
            </a:r>
            <a:endParaRPr/>
          </a:p>
          <a:p>
            <a:pPr marL="914400" lvl="1" indent="-317500" algn="l" rtl="0">
              <a:spcBef>
                <a:spcPts val="0"/>
              </a:spcBef>
              <a:spcAft>
                <a:spcPts val="0"/>
              </a:spcAft>
              <a:buSzPts val="1400"/>
              <a:buChar char="○"/>
            </a:pPr>
            <a:r>
              <a:rPr lang="en"/>
              <a:t>SpiderMonkey by Mozilla: Mozilla Firefox, Gecko-based projects</a:t>
            </a:r>
            <a:endParaRPr/>
          </a:p>
          <a:p>
            <a:pPr marL="914400" lvl="1" indent="-317500" algn="l" rtl="0">
              <a:spcBef>
                <a:spcPts val="0"/>
              </a:spcBef>
              <a:spcAft>
                <a:spcPts val="0"/>
              </a:spcAft>
              <a:buSzPts val="1400"/>
              <a:buChar char="○"/>
            </a:pPr>
            <a:r>
              <a:rPr lang="en"/>
              <a:t>Hermes by Meta: React Native apps (iOS &amp; Android)</a:t>
            </a:r>
            <a:endParaRPr/>
          </a:p>
        </p:txBody>
      </p:sp>
      <p:sp>
        <p:nvSpPr>
          <p:cNvPr id="73" name="Google Shape;73;p1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Short History of Javascript</a:t>
            </a:r>
            <a:endParaRPr/>
          </a:p>
        </p:txBody>
      </p:sp>
      <p:sp>
        <p:nvSpPr>
          <p:cNvPr id="79" name="Google Shape;79;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10000"/>
          </a:bodyPr>
          <a:lstStyle/>
          <a:p>
            <a:pPr marL="457200" lvl="0" indent="-342900" algn="l" rtl="0">
              <a:spcBef>
                <a:spcPts val="0"/>
              </a:spcBef>
              <a:spcAft>
                <a:spcPts val="0"/>
              </a:spcAft>
              <a:buSzPts val="1800"/>
              <a:buChar char="●"/>
            </a:pPr>
            <a:r>
              <a:rPr lang="en" dirty="0"/>
              <a:t>1995: Initially created by Brendan Eich from Netscape and released.</a:t>
            </a:r>
            <a:endParaRPr dirty="0"/>
          </a:p>
          <a:p>
            <a:pPr marL="914400" lvl="1" indent="-317500" algn="l" rtl="0">
              <a:spcBef>
                <a:spcPts val="0"/>
              </a:spcBef>
              <a:spcAft>
                <a:spcPts val="0"/>
              </a:spcAft>
              <a:buSzPts val="1400"/>
              <a:buChar char="○"/>
            </a:pPr>
            <a:r>
              <a:rPr lang="en" dirty="0"/>
              <a:t>Named Mocha by the creator, which was later renamed to LiveScript. </a:t>
            </a:r>
            <a:endParaRPr dirty="0"/>
          </a:p>
          <a:p>
            <a:pPr marL="457200" lvl="0" indent="-342900" algn="l" rtl="0">
              <a:spcBef>
                <a:spcPts val="0"/>
              </a:spcBef>
              <a:spcAft>
                <a:spcPts val="0"/>
              </a:spcAft>
              <a:buSzPts val="1800"/>
              <a:buChar char="●"/>
            </a:pPr>
            <a:r>
              <a:rPr lang="en" dirty="0"/>
              <a:t>1996: Renamed as JavaScript with hopes of capitalizing on the Java community.</a:t>
            </a:r>
            <a:endParaRPr dirty="0"/>
          </a:p>
          <a:p>
            <a:pPr marL="457200" lvl="0" indent="-342900" algn="l" rtl="0">
              <a:spcBef>
                <a:spcPts val="0"/>
              </a:spcBef>
              <a:spcAft>
                <a:spcPts val="0"/>
              </a:spcAft>
              <a:buSzPts val="1800"/>
              <a:buChar char="●"/>
            </a:pPr>
            <a:r>
              <a:rPr lang="en" dirty="0"/>
              <a:t>1996: Netscape decided to submit it to ECMA International with the hopes of getting it standardized.</a:t>
            </a:r>
            <a:endParaRPr dirty="0"/>
          </a:p>
          <a:p>
            <a:pPr marL="457200" lvl="0" indent="-342900" algn="l" rtl="0">
              <a:spcBef>
                <a:spcPts val="0"/>
              </a:spcBef>
              <a:spcAft>
                <a:spcPts val="0"/>
              </a:spcAft>
              <a:buSzPts val="1800"/>
              <a:buChar char="●"/>
            </a:pPr>
            <a:r>
              <a:rPr lang="en" dirty="0"/>
              <a:t>1997/1998/1999: ECMAScript 1/2/3 (ES1/2/3)</a:t>
            </a:r>
            <a:endParaRPr dirty="0"/>
          </a:p>
          <a:p>
            <a:pPr marL="457200" lvl="0" indent="-342900" algn="l" rtl="0">
              <a:spcBef>
                <a:spcPts val="0"/>
              </a:spcBef>
              <a:spcAft>
                <a:spcPts val="0"/>
              </a:spcAft>
              <a:buSzPts val="1800"/>
              <a:buChar char="●"/>
            </a:pPr>
            <a:r>
              <a:rPr lang="en" dirty="0"/>
              <a:t>In-between: ES4 drafts (no agreements among major parties)</a:t>
            </a:r>
            <a:endParaRPr dirty="0"/>
          </a:p>
          <a:p>
            <a:pPr marL="457200" lvl="0" indent="-342900" algn="l" rtl="0">
              <a:spcBef>
                <a:spcPts val="0"/>
              </a:spcBef>
              <a:spcAft>
                <a:spcPts val="0"/>
              </a:spcAft>
              <a:buSzPts val="1800"/>
              <a:buChar char="●"/>
            </a:pPr>
            <a:r>
              <a:rPr lang="en" dirty="0"/>
              <a:t>2009: ES5, mainly focusing on fixing the compatibility and security issues etc.</a:t>
            </a:r>
            <a:endParaRPr dirty="0"/>
          </a:p>
          <a:p>
            <a:pPr marL="457200" lvl="0" indent="-342900" algn="l" rtl="0">
              <a:spcBef>
                <a:spcPts val="0"/>
              </a:spcBef>
              <a:spcAft>
                <a:spcPts val="0"/>
              </a:spcAft>
              <a:buSzPts val="1800"/>
              <a:buChar char="●"/>
            </a:pPr>
            <a:r>
              <a:rPr lang="en" dirty="0"/>
              <a:t>2015: ES6 (ES2015), allow writing complex applications, e.g. Classes, Modules, Destructuring, let and const etc.</a:t>
            </a:r>
            <a:endParaRPr dirty="0"/>
          </a:p>
          <a:p>
            <a:pPr marL="457200" lvl="0" indent="-342900" algn="l" rtl="0">
              <a:spcBef>
                <a:spcPts val="0"/>
              </a:spcBef>
              <a:spcAft>
                <a:spcPts val="0"/>
              </a:spcAft>
              <a:buSzPts val="1800"/>
              <a:buChar char="●"/>
            </a:pPr>
            <a:r>
              <a:rPr lang="en" dirty="0"/>
              <a:t>2016: ES7 (ES2016), Exponentiation operator ** etc.</a:t>
            </a:r>
            <a:endParaRPr dirty="0"/>
          </a:p>
          <a:p>
            <a:pPr marL="457200" lvl="0" indent="-342900" algn="l" rtl="0">
              <a:spcBef>
                <a:spcPts val="0"/>
              </a:spcBef>
              <a:spcAft>
                <a:spcPts val="0"/>
              </a:spcAft>
              <a:buSzPts val="1800"/>
              <a:buChar char="●"/>
            </a:pPr>
            <a:r>
              <a:rPr lang="en" dirty="0"/>
              <a:t>Yearly release model from 2016 on.</a:t>
            </a:r>
            <a:endParaRPr dirty="0"/>
          </a:p>
        </p:txBody>
      </p:sp>
      <p:sp>
        <p:nvSpPr>
          <p:cNvPr id="80" name="Google Shape;80;p1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Add JavaScripts to HTML</a:t>
            </a:r>
            <a:endParaRPr/>
          </a:p>
        </p:txBody>
      </p:sp>
      <p:sp>
        <p:nvSpPr>
          <p:cNvPr id="86" name="Google Shape;86;p17"/>
          <p:cNvSpPr txBox="1">
            <a:spLocks noGrp="1"/>
          </p:cNvSpPr>
          <p:nvPr>
            <p:ph type="body" idx="1"/>
          </p:nvPr>
        </p:nvSpPr>
        <p:spPr>
          <a:xfrm>
            <a:off x="311700" y="1152475"/>
            <a:ext cx="8520600" cy="2724279"/>
          </a:xfrm>
          <a:prstGeom prst="rect">
            <a:avLst/>
          </a:prstGeom>
        </p:spPr>
        <p:txBody>
          <a:bodyPr spcFirstLastPara="1" wrap="square" lIns="91425" tIns="91425" rIns="91425" bIns="91425" anchor="t" anchorCtr="0">
            <a:normAutofit fontScale="92500" lnSpcReduction="20000"/>
          </a:bodyPr>
          <a:lstStyle/>
          <a:p>
            <a:pPr marL="457200" lvl="0" indent="-342900" algn="l" rtl="0">
              <a:spcBef>
                <a:spcPts val="0"/>
              </a:spcBef>
              <a:spcAft>
                <a:spcPts val="0"/>
              </a:spcAft>
              <a:buSzPts val="1800"/>
              <a:buChar char="●"/>
            </a:pPr>
            <a:r>
              <a:rPr lang="en" dirty="0"/>
              <a:t>&lt;script&gt; tags in the &lt;head&gt; section</a:t>
            </a:r>
            <a:endParaRPr dirty="0"/>
          </a:p>
          <a:p>
            <a:pPr marL="914400" lvl="1" indent="-317500" algn="l" rtl="0">
              <a:spcBef>
                <a:spcPts val="0"/>
              </a:spcBef>
              <a:spcAft>
                <a:spcPts val="0"/>
              </a:spcAft>
              <a:buSzPts val="1400"/>
              <a:buChar char="○"/>
            </a:pPr>
            <a:r>
              <a:rPr lang="en" dirty="0"/>
              <a:t>Browsers parse and execute scripts before contents in the &lt;body&gt; are parsed.</a:t>
            </a:r>
            <a:endParaRPr dirty="0"/>
          </a:p>
          <a:p>
            <a:pPr marL="914400" lvl="1" indent="-317500" algn="l" rtl="0">
              <a:spcBef>
                <a:spcPts val="0"/>
              </a:spcBef>
              <a:spcAft>
                <a:spcPts val="0"/>
              </a:spcAft>
              <a:buSzPts val="1400"/>
              <a:buChar char="○"/>
            </a:pPr>
            <a:r>
              <a:rPr lang="en" dirty="0"/>
              <a:t>Render-Blocking, no cache</a:t>
            </a:r>
            <a:endParaRPr dirty="0"/>
          </a:p>
          <a:p>
            <a:pPr marL="457200" lvl="0" indent="-342900" algn="l" rtl="0">
              <a:spcBef>
                <a:spcPts val="0"/>
              </a:spcBef>
              <a:spcAft>
                <a:spcPts val="0"/>
              </a:spcAft>
              <a:buSzPts val="1800"/>
              <a:buChar char="●"/>
            </a:pPr>
            <a:r>
              <a:rPr lang="en" dirty="0"/>
              <a:t>&lt;script&gt; tags in the &lt;body&gt; section</a:t>
            </a:r>
            <a:endParaRPr dirty="0"/>
          </a:p>
          <a:p>
            <a:pPr marL="914400" lvl="1" indent="-317500" algn="l" rtl="0">
              <a:spcBef>
                <a:spcPts val="0"/>
              </a:spcBef>
              <a:spcAft>
                <a:spcPts val="0"/>
              </a:spcAft>
              <a:buSzPts val="1400"/>
              <a:buChar char="○"/>
            </a:pPr>
            <a:r>
              <a:rPr lang="en" dirty="0"/>
              <a:t>Generally place scripts just before &lt;/body&gt; (contents are parsed) and thus better UX potentially.</a:t>
            </a:r>
            <a:endParaRPr dirty="0"/>
          </a:p>
          <a:p>
            <a:pPr marL="914400" lvl="1" indent="-317500" algn="l" rtl="0">
              <a:spcBef>
                <a:spcPts val="0"/>
              </a:spcBef>
              <a:spcAft>
                <a:spcPts val="0"/>
              </a:spcAft>
              <a:buSzPts val="1400"/>
              <a:buChar char="○"/>
            </a:pPr>
            <a:r>
              <a:rPr lang="en" dirty="0"/>
              <a:t>Partially render-blocking, no cache</a:t>
            </a:r>
            <a:endParaRPr dirty="0"/>
          </a:p>
          <a:p>
            <a:pPr marL="457200" lvl="0" indent="-342900" algn="l" rtl="0">
              <a:spcBef>
                <a:spcPts val="0"/>
              </a:spcBef>
              <a:spcAft>
                <a:spcPts val="0"/>
              </a:spcAft>
              <a:buSzPts val="1800"/>
              <a:buChar char="●"/>
            </a:pPr>
            <a:r>
              <a:rPr lang="en" dirty="0"/>
              <a:t>Standalone JS files and are linked by &lt;script&gt; tag with a src attribute.</a:t>
            </a:r>
            <a:endParaRPr dirty="0"/>
          </a:p>
          <a:p>
            <a:pPr marL="914400" lvl="1" indent="-317500" algn="l" rtl="0">
              <a:spcBef>
                <a:spcPts val="0"/>
              </a:spcBef>
              <a:spcAft>
                <a:spcPts val="0"/>
              </a:spcAft>
              <a:buSzPts val="1400"/>
              <a:buChar char="○"/>
            </a:pPr>
            <a:r>
              <a:rPr lang="en" dirty="0"/>
              <a:t>Caching and Asynchronous Loading</a:t>
            </a:r>
            <a:endParaRPr dirty="0"/>
          </a:p>
          <a:p>
            <a:pPr marL="457200" lvl="0" indent="-342900" algn="l" rtl="0">
              <a:spcBef>
                <a:spcPts val="0"/>
              </a:spcBef>
              <a:spcAft>
                <a:spcPts val="0"/>
              </a:spcAft>
              <a:buSzPts val="1800"/>
              <a:buChar char="●"/>
            </a:pPr>
            <a:r>
              <a:rPr lang="en" dirty="0"/>
              <a:t>defer and async attributes in &lt;script&gt;</a:t>
            </a:r>
            <a:endParaRPr dirty="0"/>
          </a:p>
          <a:p>
            <a:pPr marL="914400" lvl="1" indent="-317500" algn="l" rtl="0">
              <a:spcBef>
                <a:spcPts val="0"/>
              </a:spcBef>
              <a:spcAft>
                <a:spcPts val="0"/>
              </a:spcAft>
              <a:buSzPts val="1400"/>
              <a:buChar char="○"/>
            </a:pPr>
            <a:r>
              <a:rPr lang="en" dirty="0"/>
              <a:t>defer: scripts executed in the order they appear on the page AFTER entire document is parsed completely.</a:t>
            </a:r>
            <a:endParaRPr dirty="0"/>
          </a:p>
          <a:p>
            <a:pPr marL="914400" lvl="1" indent="-317500" algn="l" rtl="0">
              <a:spcBef>
                <a:spcPts val="0"/>
              </a:spcBef>
              <a:spcAft>
                <a:spcPts val="0"/>
              </a:spcAft>
              <a:buSzPts val="1400"/>
              <a:buChar char="○"/>
            </a:pPr>
            <a:r>
              <a:rPr lang="en" dirty="0"/>
              <a:t>async: scripts executed in the order they appear on the page AS SOON AS fetched completely.</a:t>
            </a:r>
            <a:endParaRPr dirty="0"/>
          </a:p>
        </p:txBody>
      </p:sp>
      <p:sp>
        <p:nvSpPr>
          <p:cNvPr id="87" name="Google Shape;87;p17"/>
          <p:cNvSpPr txBox="1"/>
          <p:nvPr/>
        </p:nvSpPr>
        <p:spPr>
          <a:xfrm>
            <a:off x="821784" y="3723775"/>
            <a:ext cx="6379200" cy="9747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dirty="0">
                <a:solidFill>
                  <a:srgbClr val="808080"/>
                </a:solidFill>
                <a:highlight>
                  <a:srgbClr val="121314"/>
                </a:highlight>
                <a:latin typeface="Courier New"/>
                <a:ea typeface="Courier New"/>
                <a:cs typeface="Courier New"/>
                <a:sym typeface="Courier New"/>
              </a:rPr>
              <a:t>&lt;</a:t>
            </a:r>
            <a:r>
              <a:rPr lang="en" dirty="0">
                <a:solidFill>
                  <a:srgbClr val="7EE787"/>
                </a:solidFill>
                <a:highlight>
                  <a:srgbClr val="121314"/>
                </a:highlight>
                <a:latin typeface="Courier New"/>
                <a:ea typeface="Courier New"/>
                <a:cs typeface="Courier New"/>
                <a:sym typeface="Courier New"/>
              </a:rPr>
              <a:t>script</a:t>
            </a:r>
            <a:r>
              <a:rPr lang="en" dirty="0">
                <a:solidFill>
                  <a:srgbClr val="C9D1D9"/>
                </a:solidFill>
                <a:highlight>
                  <a:srgbClr val="121314"/>
                </a:highlight>
                <a:latin typeface="Courier New"/>
                <a:ea typeface="Courier New"/>
                <a:cs typeface="Courier New"/>
                <a:sym typeface="Courier New"/>
              </a:rPr>
              <a:t> </a:t>
            </a:r>
            <a:r>
              <a:rPr lang="en" dirty="0">
                <a:solidFill>
                  <a:srgbClr val="9CDCFE"/>
                </a:solidFill>
                <a:highlight>
                  <a:srgbClr val="121314"/>
                </a:highlight>
                <a:latin typeface="Courier New"/>
                <a:ea typeface="Courier New"/>
                <a:cs typeface="Courier New"/>
                <a:sym typeface="Courier New"/>
              </a:rPr>
              <a:t>async</a:t>
            </a:r>
            <a:r>
              <a:rPr lang="en" dirty="0">
                <a:solidFill>
                  <a:srgbClr val="C9D1D9"/>
                </a:solidFill>
                <a:highlight>
                  <a:srgbClr val="121314"/>
                </a:highlight>
                <a:latin typeface="Courier New"/>
                <a:ea typeface="Courier New"/>
                <a:cs typeface="Courier New"/>
                <a:sym typeface="Courier New"/>
              </a:rPr>
              <a:t> </a:t>
            </a:r>
            <a:r>
              <a:rPr lang="en" dirty="0">
                <a:solidFill>
                  <a:srgbClr val="9CDCFE"/>
                </a:solidFill>
                <a:highlight>
                  <a:srgbClr val="121314"/>
                </a:highlight>
                <a:latin typeface="Courier New"/>
                <a:ea typeface="Courier New"/>
                <a:cs typeface="Courier New"/>
                <a:sym typeface="Courier New"/>
              </a:rPr>
              <a:t>src</a:t>
            </a:r>
            <a:r>
              <a:rPr lang="en" dirty="0">
                <a:solidFill>
                  <a:srgbClr val="D4D4D4"/>
                </a:solidFill>
                <a:highlight>
                  <a:srgbClr val="121314"/>
                </a:highlight>
                <a:latin typeface="Courier New"/>
                <a:ea typeface="Courier New"/>
                <a:cs typeface="Courier New"/>
                <a:sym typeface="Courier New"/>
              </a:rPr>
              <a:t>=</a:t>
            </a:r>
            <a:r>
              <a:rPr lang="en" dirty="0">
                <a:solidFill>
                  <a:srgbClr val="A5D6FF"/>
                </a:solidFill>
                <a:highlight>
                  <a:srgbClr val="121314"/>
                </a:highlight>
                <a:latin typeface="Courier New"/>
                <a:ea typeface="Courier New"/>
                <a:cs typeface="Courier New"/>
                <a:sym typeface="Courier New"/>
              </a:rPr>
              <a:t>"js/vendor/jquery.js"</a:t>
            </a:r>
            <a:r>
              <a:rPr lang="en" dirty="0">
                <a:solidFill>
                  <a:srgbClr val="808080"/>
                </a:solidFill>
                <a:highlight>
                  <a:srgbClr val="121314"/>
                </a:highlight>
                <a:latin typeface="Courier New"/>
                <a:ea typeface="Courier New"/>
                <a:cs typeface="Courier New"/>
                <a:sym typeface="Courier New"/>
              </a:rPr>
              <a:t>&gt;&lt;/</a:t>
            </a:r>
            <a:r>
              <a:rPr lang="en" dirty="0">
                <a:solidFill>
                  <a:srgbClr val="7EE787"/>
                </a:solidFill>
                <a:highlight>
                  <a:srgbClr val="121314"/>
                </a:highlight>
                <a:latin typeface="Courier New"/>
                <a:ea typeface="Courier New"/>
                <a:cs typeface="Courier New"/>
                <a:sym typeface="Courier New"/>
              </a:rPr>
              <a:t>script</a:t>
            </a:r>
            <a:r>
              <a:rPr lang="en" dirty="0">
                <a:solidFill>
                  <a:srgbClr val="808080"/>
                </a:solidFill>
                <a:highlight>
                  <a:srgbClr val="121314"/>
                </a:highlight>
                <a:latin typeface="Courier New"/>
                <a:ea typeface="Courier New"/>
                <a:cs typeface="Courier New"/>
                <a:sym typeface="Courier New"/>
              </a:rPr>
              <a:t>&gt;</a:t>
            </a:r>
            <a:endParaRPr dirty="0">
              <a:solidFill>
                <a:srgbClr val="808080"/>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dirty="0">
                <a:solidFill>
                  <a:srgbClr val="808080"/>
                </a:solidFill>
                <a:highlight>
                  <a:srgbClr val="121314"/>
                </a:highlight>
                <a:latin typeface="Courier New"/>
                <a:ea typeface="Courier New"/>
                <a:cs typeface="Courier New"/>
                <a:sym typeface="Courier New"/>
              </a:rPr>
              <a:t>&lt;</a:t>
            </a:r>
            <a:r>
              <a:rPr lang="en" dirty="0">
                <a:solidFill>
                  <a:srgbClr val="7EE787"/>
                </a:solidFill>
                <a:highlight>
                  <a:srgbClr val="121314"/>
                </a:highlight>
                <a:latin typeface="Courier New"/>
                <a:ea typeface="Courier New"/>
                <a:cs typeface="Courier New"/>
                <a:sym typeface="Courier New"/>
              </a:rPr>
              <a:t>script</a:t>
            </a:r>
            <a:r>
              <a:rPr lang="en" dirty="0">
                <a:solidFill>
                  <a:srgbClr val="C9D1D9"/>
                </a:solidFill>
                <a:highlight>
                  <a:srgbClr val="121314"/>
                </a:highlight>
                <a:latin typeface="Courier New"/>
                <a:ea typeface="Courier New"/>
                <a:cs typeface="Courier New"/>
                <a:sym typeface="Courier New"/>
              </a:rPr>
              <a:t> </a:t>
            </a:r>
            <a:r>
              <a:rPr lang="en" dirty="0">
                <a:solidFill>
                  <a:srgbClr val="9CDCFE"/>
                </a:solidFill>
                <a:highlight>
                  <a:srgbClr val="121314"/>
                </a:highlight>
                <a:latin typeface="Courier New"/>
                <a:ea typeface="Courier New"/>
                <a:cs typeface="Courier New"/>
                <a:sym typeface="Courier New"/>
              </a:rPr>
              <a:t>async</a:t>
            </a:r>
            <a:r>
              <a:rPr lang="en" dirty="0">
                <a:solidFill>
                  <a:srgbClr val="C9D1D9"/>
                </a:solidFill>
                <a:highlight>
                  <a:srgbClr val="121314"/>
                </a:highlight>
                <a:latin typeface="Courier New"/>
                <a:ea typeface="Courier New"/>
                <a:cs typeface="Courier New"/>
                <a:sym typeface="Courier New"/>
              </a:rPr>
              <a:t> </a:t>
            </a:r>
            <a:r>
              <a:rPr lang="en" dirty="0">
                <a:solidFill>
                  <a:srgbClr val="9CDCFE"/>
                </a:solidFill>
                <a:highlight>
                  <a:srgbClr val="121314"/>
                </a:highlight>
                <a:latin typeface="Courier New"/>
                <a:ea typeface="Courier New"/>
                <a:cs typeface="Courier New"/>
                <a:sym typeface="Courier New"/>
              </a:rPr>
              <a:t>src</a:t>
            </a:r>
            <a:r>
              <a:rPr lang="en" dirty="0">
                <a:solidFill>
                  <a:srgbClr val="D4D4D4"/>
                </a:solidFill>
                <a:highlight>
                  <a:srgbClr val="121314"/>
                </a:highlight>
                <a:latin typeface="Courier New"/>
                <a:ea typeface="Courier New"/>
                <a:cs typeface="Courier New"/>
                <a:sym typeface="Courier New"/>
              </a:rPr>
              <a:t>=</a:t>
            </a:r>
            <a:r>
              <a:rPr lang="en" dirty="0">
                <a:solidFill>
                  <a:srgbClr val="A5D6FF"/>
                </a:solidFill>
                <a:highlight>
                  <a:srgbClr val="121314"/>
                </a:highlight>
                <a:latin typeface="Courier New"/>
                <a:ea typeface="Courier New"/>
                <a:cs typeface="Courier New"/>
                <a:sym typeface="Courier New"/>
              </a:rPr>
              <a:t>"js/script2.js"</a:t>
            </a:r>
            <a:r>
              <a:rPr lang="en" dirty="0">
                <a:solidFill>
                  <a:srgbClr val="808080"/>
                </a:solidFill>
                <a:highlight>
                  <a:srgbClr val="121314"/>
                </a:highlight>
                <a:latin typeface="Courier New"/>
                <a:ea typeface="Courier New"/>
                <a:cs typeface="Courier New"/>
                <a:sym typeface="Courier New"/>
              </a:rPr>
              <a:t>&gt;&lt;/</a:t>
            </a:r>
            <a:r>
              <a:rPr lang="en" dirty="0">
                <a:solidFill>
                  <a:srgbClr val="7EE787"/>
                </a:solidFill>
                <a:highlight>
                  <a:srgbClr val="121314"/>
                </a:highlight>
                <a:latin typeface="Courier New"/>
                <a:ea typeface="Courier New"/>
                <a:cs typeface="Courier New"/>
                <a:sym typeface="Courier New"/>
              </a:rPr>
              <a:t>script</a:t>
            </a:r>
            <a:r>
              <a:rPr lang="en" dirty="0">
                <a:solidFill>
                  <a:srgbClr val="808080"/>
                </a:solidFill>
                <a:highlight>
                  <a:srgbClr val="121314"/>
                </a:highlight>
                <a:latin typeface="Courier New"/>
                <a:ea typeface="Courier New"/>
                <a:cs typeface="Courier New"/>
                <a:sym typeface="Courier New"/>
              </a:rPr>
              <a:t>&gt;</a:t>
            </a:r>
            <a:endParaRPr dirty="0">
              <a:solidFill>
                <a:srgbClr val="808080"/>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dirty="0">
                <a:solidFill>
                  <a:srgbClr val="808080"/>
                </a:solidFill>
                <a:highlight>
                  <a:srgbClr val="121314"/>
                </a:highlight>
                <a:latin typeface="Courier New"/>
                <a:ea typeface="Courier New"/>
                <a:cs typeface="Courier New"/>
                <a:sym typeface="Courier New"/>
              </a:rPr>
              <a:t>&lt;</a:t>
            </a:r>
            <a:r>
              <a:rPr lang="en" dirty="0">
                <a:solidFill>
                  <a:srgbClr val="7EE787"/>
                </a:solidFill>
                <a:highlight>
                  <a:srgbClr val="121314"/>
                </a:highlight>
                <a:latin typeface="Courier New"/>
                <a:ea typeface="Courier New"/>
                <a:cs typeface="Courier New"/>
                <a:sym typeface="Courier New"/>
              </a:rPr>
              <a:t>script</a:t>
            </a:r>
            <a:r>
              <a:rPr lang="en" dirty="0">
                <a:solidFill>
                  <a:srgbClr val="C9D1D9"/>
                </a:solidFill>
                <a:highlight>
                  <a:srgbClr val="121314"/>
                </a:highlight>
                <a:latin typeface="Courier New"/>
                <a:ea typeface="Courier New"/>
                <a:cs typeface="Courier New"/>
                <a:sym typeface="Courier New"/>
              </a:rPr>
              <a:t> </a:t>
            </a:r>
            <a:r>
              <a:rPr lang="en" dirty="0">
                <a:solidFill>
                  <a:srgbClr val="9CDCFE"/>
                </a:solidFill>
                <a:highlight>
                  <a:srgbClr val="121314"/>
                </a:highlight>
                <a:latin typeface="Courier New"/>
                <a:ea typeface="Courier New"/>
                <a:cs typeface="Courier New"/>
                <a:sym typeface="Courier New"/>
              </a:rPr>
              <a:t>async</a:t>
            </a:r>
            <a:r>
              <a:rPr lang="en" dirty="0">
                <a:solidFill>
                  <a:srgbClr val="C9D1D9"/>
                </a:solidFill>
                <a:highlight>
                  <a:srgbClr val="121314"/>
                </a:highlight>
                <a:latin typeface="Courier New"/>
                <a:ea typeface="Courier New"/>
                <a:cs typeface="Courier New"/>
                <a:sym typeface="Courier New"/>
              </a:rPr>
              <a:t> </a:t>
            </a:r>
            <a:r>
              <a:rPr lang="en" dirty="0">
                <a:solidFill>
                  <a:srgbClr val="9CDCFE"/>
                </a:solidFill>
                <a:highlight>
                  <a:srgbClr val="121314"/>
                </a:highlight>
                <a:latin typeface="Courier New"/>
                <a:ea typeface="Courier New"/>
                <a:cs typeface="Courier New"/>
                <a:sym typeface="Courier New"/>
              </a:rPr>
              <a:t>src</a:t>
            </a:r>
            <a:r>
              <a:rPr lang="en" dirty="0">
                <a:solidFill>
                  <a:srgbClr val="D4D4D4"/>
                </a:solidFill>
                <a:highlight>
                  <a:srgbClr val="121314"/>
                </a:highlight>
                <a:latin typeface="Courier New"/>
                <a:ea typeface="Courier New"/>
                <a:cs typeface="Courier New"/>
                <a:sym typeface="Courier New"/>
              </a:rPr>
              <a:t>=</a:t>
            </a:r>
            <a:r>
              <a:rPr lang="en" dirty="0">
                <a:solidFill>
                  <a:srgbClr val="A5D6FF"/>
                </a:solidFill>
                <a:highlight>
                  <a:srgbClr val="121314"/>
                </a:highlight>
                <a:latin typeface="Courier New"/>
                <a:ea typeface="Courier New"/>
                <a:cs typeface="Courier New"/>
                <a:sym typeface="Courier New"/>
              </a:rPr>
              <a:t>"js/script3.js"</a:t>
            </a:r>
            <a:r>
              <a:rPr lang="en" dirty="0">
                <a:solidFill>
                  <a:srgbClr val="808080"/>
                </a:solidFill>
                <a:highlight>
                  <a:srgbClr val="121314"/>
                </a:highlight>
                <a:latin typeface="Courier New"/>
                <a:ea typeface="Courier New"/>
                <a:cs typeface="Courier New"/>
                <a:sym typeface="Courier New"/>
              </a:rPr>
              <a:t>&gt;&lt;/</a:t>
            </a:r>
            <a:r>
              <a:rPr lang="en" dirty="0">
                <a:solidFill>
                  <a:srgbClr val="7EE787"/>
                </a:solidFill>
                <a:highlight>
                  <a:srgbClr val="121314"/>
                </a:highlight>
                <a:latin typeface="Courier New"/>
                <a:ea typeface="Courier New"/>
                <a:cs typeface="Courier New"/>
                <a:sym typeface="Courier New"/>
              </a:rPr>
              <a:t>script</a:t>
            </a:r>
            <a:r>
              <a:rPr lang="en" dirty="0">
                <a:solidFill>
                  <a:srgbClr val="808080"/>
                </a:solidFill>
                <a:highlight>
                  <a:srgbClr val="121314"/>
                </a:highlight>
                <a:latin typeface="Courier New"/>
                <a:ea typeface="Courier New"/>
                <a:cs typeface="Courier New"/>
                <a:sym typeface="Courier New"/>
              </a:rPr>
              <a:t>&gt;</a:t>
            </a:r>
            <a:endParaRPr dirty="0">
              <a:solidFill>
                <a:srgbClr val="808080"/>
              </a:solidFill>
              <a:highlight>
                <a:srgbClr val="121314"/>
              </a:highlight>
              <a:latin typeface="Courier New"/>
              <a:ea typeface="Courier New"/>
              <a:cs typeface="Courier New"/>
              <a:sym typeface="Courier New"/>
            </a:endParaRPr>
          </a:p>
        </p:txBody>
      </p:sp>
      <p:sp>
        <p:nvSpPr>
          <p:cNvPr id="88" name="Google Shape;88;p1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Javascript</a:t>
            </a:r>
            <a:endParaRPr/>
          </a:p>
        </p:txBody>
      </p:sp>
      <p:sp>
        <p:nvSpPr>
          <p:cNvPr id="94" name="Google Shape;94;p18"/>
          <p:cNvSpPr txBox="1"/>
          <p:nvPr/>
        </p:nvSpPr>
        <p:spPr>
          <a:xfrm>
            <a:off x="254100" y="1200450"/>
            <a:ext cx="2917800" cy="3694200"/>
          </a:xfrm>
          <a:prstGeom prst="rect">
            <a:avLst/>
          </a:prstGeom>
          <a:solidFill>
            <a:schemeClr val="dk2"/>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50" dirty="0">
                <a:solidFill>
                  <a:srgbClr val="F7F8FB"/>
                </a:solidFill>
                <a:highlight>
                  <a:srgbClr val="11192E"/>
                </a:highlight>
                <a:latin typeface="Courier New"/>
                <a:ea typeface="Courier New"/>
                <a:cs typeface="Courier New"/>
                <a:sym typeface="Courier New"/>
              </a:rPr>
              <a:t>&lt;!DOCTYPE html&gt;</a:t>
            </a:r>
            <a:endParaRPr sz="950" dirty="0">
              <a:solidFill>
                <a:srgbClr val="F7F8FB"/>
              </a:solidFill>
              <a:highlight>
                <a:srgbClr val="11192E"/>
              </a:highlight>
              <a:latin typeface="Courier New"/>
              <a:ea typeface="Courier New"/>
              <a:cs typeface="Courier New"/>
              <a:sym typeface="Courier New"/>
            </a:endParaRPr>
          </a:p>
          <a:p>
            <a:pPr marL="0" lvl="0" indent="0" algn="l" rtl="0">
              <a:spcBef>
                <a:spcPts val="0"/>
              </a:spcBef>
              <a:spcAft>
                <a:spcPts val="0"/>
              </a:spcAft>
              <a:buNone/>
            </a:pPr>
            <a:r>
              <a:rPr lang="en" sz="950" dirty="0">
                <a:solidFill>
                  <a:srgbClr val="F7F8FB"/>
                </a:solidFill>
                <a:highlight>
                  <a:srgbClr val="11192E"/>
                </a:highlight>
                <a:latin typeface="Courier New"/>
                <a:ea typeface="Courier New"/>
                <a:cs typeface="Courier New"/>
                <a:sym typeface="Courier New"/>
              </a:rPr>
              <a:t>&lt;</a:t>
            </a:r>
            <a:r>
              <a:rPr lang="en" sz="950" dirty="0">
                <a:solidFill>
                  <a:srgbClr val="9FDDFF"/>
                </a:solidFill>
                <a:highlight>
                  <a:srgbClr val="11192E"/>
                </a:highlight>
                <a:latin typeface="Courier New"/>
                <a:ea typeface="Courier New"/>
                <a:cs typeface="Courier New"/>
                <a:sym typeface="Courier New"/>
              </a:rPr>
              <a:t>html </a:t>
            </a:r>
            <a:r>
              <a:rPr lang="en" sz="950" dirty="0">
                <a:solidFill>
                  <a:srgbClr val="B1E490"/>
                </a:solidFill>
                <a:highlight>
                  <a:srgbClr val="11192E"/>
                </a:highlight>
                <a:latin typeface="Courier New"/>
                <a:ea typeface="Courier New"/>
                <a:cs typeface="Courier New"/>
                <a:sym typeface="Courier New"/>
              </a:rPr>
              <a:t>lang</a:t>
            </a:r>
            <a:r>
              <a:rPr lang="en" sz="950" dirty="0">
                <a:solidFill>
                  <a:srgbClr val="F7F8FB"/>
                </a:solidFill>
                <a:highlight>
                  <a:srgbClr val="11192E"/>
                </a:highlight>
                <a:latin typeface="Courier New"/>
                <a:ea typeface="Courier New"/>
                <a:cs typeface="Courier New"/>
                <a:sym typeface="Courier New"/>
              </a:rPr>
              <a:t>="</a:t>
            </a:r>
            <a:r>
              <a:rPr lang="en" sz="950" dirty="0">
                <a:solidFill>
                  <a:srgbClr val="FFAF8C"/>
                </a:solidFill>
                <a:highlight>
                  <a:srgbClr val="11192E"/>
                </a:highlight>
                <a:latin typeface="Courier New"/>
                <a:ea typeface="Courier New"/>
                <a:cs typeface="Courier New"/>
                <a:sym typeface="Courier New"/>
              </a:rPr>
              <a:t>en-US</a:t>
            </a:r>
            <a:r>
              <a:rPr lang="en" sz="950" dirty="0">
                <a:solidFill>
                  <a:srgbClr val="F7F8FB"/>
                </a:solidFill>
                <a:highlight>
                  <a:srgbClr val="11192E"/>
                </a:highlight>
                <a:latin typeface="Courier New"/>
                <a:ea typeface="Courier New"/>
                <a:cs typeface="Courier New"/>
                <a:sym typeface="Courier New"/>
              </a:rPr>
              <a:t>"&gt;</a:t>
            </a:r>
            <a:endParaRPr sz="950" dirty="0">
              <a:solidFill>
                <a:srgbClr val="F7F8FB"/>
              </a:solidFill>
              <a:highlight>
                <a:srgbClr val="11192E"/>
              </a:highlight>
              <a:latin typeface="Courier New"/>
              <a:ea typeface="Courier New"/>
              <a:cs typeface="Courier New"/>
              <a:sym typeface="Courier New"/>
            </a:endParaRPr>
          </a:p>
          <a:p>
            <a:pPr marL="0" lvl="0" indent="0" algn="l" rtl="0">
              <a:spcBef>
                <a:spcPts val="0"/>
              </a:spcBef>
              <a:spcAft>
                <a:spcPts val="0"/>
              </a:spcAft>
              <a:buNone/>
            </a:pPr>
            <a:endParaRPr sz="950" dirty="0">
              <a:solidFill>
                <a:srgbClr val="F7F8FB"/>
              </a:solidFill>
              <a:highlight>
                <a:srgbClr val="11192E"/>
              </a:highlight>
              <a:latin typeface="Courier New"/>
              <a:ea typeface="Courier New"/>
              <a:cs typeface="Courier New"/>
              <a:sym typeface="Courier New"/>
            </a:endParaRPr>
          </a:p>
          <a:p>
            <a:pPr marL="0" lvl="0" indent="0" algn="l" rtl="0">
              <a:spcBef>
                <a:spcPts val="0"/>
              </a:spcBef>
              <a:spcAft>
                <a:spcPts val="0"/>
              </a:spcAft>
              <a:buNone/>
            </a:pPr>
            <a:r>
              <a:rPr lang="en" sz="950" dirty="0">
                <a:solidFill>
                  <a:srgbClr val="F7F8FB"/>
                </a:solidFill>
                <a:highlight>
                  <a:srgbClr val="11192E"/>
                </a:highlight>
                <a:latin typeface="Courier New"/>
                <a:ea typeface="Courier New"/>
                <a:cs typeface="Courier New"/>
                <a:sym typeface="Courier New"/>
              </a:rPr>
              <a:t>&lt;</a:t>
            </a:r>
            <a:r>
              <a:rPr lang="en" sz="950" dirty="0">
                <a:solidFill>
                  <a:srgbClr val="9FDDFF"/>
                </a:solidFill>
                <a:highlight>
                  <a:srgbClr val="11192E"/>
                </a:highlight>
                <a:latin typeface="Courier New"/>
                <a:ea typeface="Courier New"/>
                <a:cs typeface="Courier New"/>
                <a:sym typeface="Courier New"/>
              </a:rPr>
              <a:t>head</a:t>
            </a:r>
            <a:r>
              <a:rPr lang="en" sz="950" dirty="0">
                <a:solidFill>
                  <a:srgbClr val="F7F8FB"/>
                </a:solidFill>
                <a:highlight>
                  <a:srgbClr val="11192E"/>
                </a:highlight>
                <a:latin typeface="Courier New"/>
                <a:ea typeface="Courier New"/>
                <a:cs typeface="Courier New"/>
                <a:sym typeface="Courier New"/>
              </a:rPr>
              <a:t>&gt;</a:t>
            </a:r>
            <a:endParaRPr sz="950" dirty="0">
              <a:solidFill>
                <a:srgbClr val="F7F8FB"/>
              </a:solidFill>
              <a:highlight>
                <a:srgbClr val="11192E"/>
              </a:highlight>
              <a:latin typeface="Courier New"/>
              <a:ea typeface="Courier New"/>
              <a:cs typeface="Courier New"/>
              <a:sym typeface="Courier New"/>
            </a:endParaRPr>
          </a:p>
          <a:p>
            <a:pPr marL="0" lvl="0" indent="0" algn="l" rtl="0">
              <a:spcBef>
                <a:spcPts val="0"/>
              </a:spcBef>
              <a:spcAft>
                <a:spcPts val="0"/>
              </a:spcAft>
              <a:buNone/>
            </a:pPr>
            <a:r>
              <a:rPr lang="en" sz="950" dirty="0">
                <a:solidFill>
                  <a:srgbClr val="F7F8FB"/>
                </a:solidFill>
                <a:highlight>
                  <a:srgbClr val="11192E"/>
                </a:highlight>
                <a:latin typeface="Courier New"/>
                <a:ea typeface="Courier New"/>
                <a:cs typeface="Courier New"/>
                <a:sym typeface="Courier New"/>
              </a:rPr>
              <a:t>    &lt;</a:t>
            </a:r>
            <a:r>
              <a:rPr lang="en" sz="950" dirty="0">
                <a:solidFill>
                  <a:srgbClr val="9FDDFF"/>
                </a:solidFill>
                <a:highlight>
                  <a:srgbClr val="11192E"/>
                </a:highlight>
                <a:latin typeface="Courier New"/>
                <a:ea typeface="Courier New"/>
                <a:cs typeface="Courier New"/>
                <a:sym typeface="Courier New"/>
              </a:rPr>
              <a:t>meta </a:t>
            </a:r>
            <a:r>
              <a:rPr lang="en" sz="950" dirty="0">
                <a:solidFill>
                  <a:srgbClr val="B1E490"/>
                </a:solidFill>
                <a:highlight>
                  <a:srgbClr val="11192E"/>
                </a:highlight>
                <a:latin typeface="Courier New"/>
                <a:ea typeface="Courier New"/>
                <a:cs typeface="Courier New"/>
                <a:sym typeface="Courier New"/>
              </a:rPr>
              <a:t>charset</a:t>
            </a:r>
            <a:r>
              <a:rPr lang="en" sz="950" dirty="0">
                <a:solidFill>
                  <a:srgbClr val="F7F8FB"/>
                </a:solidFill>
                <a:highlight>
                  <a:srgbClr val="11192E"/>
                </a:highlight>
                <a:latin typeface="Courier New"/>
                <a:ea typeface="Courier New"/>
                <a:cs typeface="Courier New"/>
                <a:sym typeface="Courier New"/>
              </a:rPr>
              <a:t>="</a:t>
            </a:r>
            <a:r>
              <a:rPr lang="en" sz="950" dirty="0">
                <a:solidFill>
                  <a:srgbClr val="FFAF8C"/>
                </a:solidFill>
                <a:highlight>
                  <a:srgbClr val="11192E"/>
                </a:highlight>
                <a:latin typeface="Courier New"/>
                <a:ea typeface="Courier New"/>
                <a:cs typeface="Courier New"/>
                <a:sym typeface="Courier New"/>
              </a:rPr>
              <a:t>UTF-8</a:t>
            </a:r>
            <a:r>
              <a:rPr lang="en" sz="950" dirty="0">
                <a:solidFill>
                  <a:srgbClr val="F7F8FB"/>
                </a:solidFill>
                <a:highlight>
                  <a:srgbClr val="11192E"/>
                </a:highlight>
                <a:latin typeface="Courier New"/>
                <a:ea typeface="Courier New"/>
                <a:cs typeface="Courier New"/>
                <a:sym typeface="Courier New"/>
              </a:rPr>
              <a:t>"&gt;</a:t>
            </a:r>
            <a:endParaRPr sz="950" dirty="0">
              <a:solidFill>
                <a:srgbClr val="F7F8FB"/>
              </a:solidFill>
              <a:highlight>
                <a:srgbClr val="11192E"/>
              </a:highlight>
              <a:latin typeface="Courier New"/>
              <a:ea typeface="Courier New"/>
              <a:cs typeface="Courier New"/>
              <a:sym typeface="Courier New"/>
            </a:endParaRPr>
          </a:p>
          <a:p>
            <a:pPr marL="0" lvl="0" indent="0" algn="l" rtl="0">
              <a:spcBef>
                <a:spcPts val="0"/>
              </a:spcBef>
              <a:spcAft>
                <a:spcPts val="0"/>
              </a:spcAft>
              <a:buNone/>
            </a:pPr>
            <a:r>
              <a:rPr lang="en" sz="950" dirty="0">
                <a:solidFill>
                  <a:srgbClr val="F7F8FB"/>
                </a:solidFill>
                <a:highlight>
                  <a:srgbClr val="11192E"/>
                </a:highlight>
                <a:latin typeface="Courier New"/>
                <a:ea typeface="Courier New"/>
                <a:cs typeface="Courier New"/>
                <a:sym typeface="Courier New"/>
              </a:rPr>
              <a:t>    &lt;</a:t>
            </a:r>
            <a:r>
              <a:rPr lang="en" sz="950" dirty="0">
                <a:solidFill>
                  <a:srgbClr val="9FDDFF"/>
                </a:solidFill>
                <a:highlight>
                  <a:srgbClr val="11192E"/>
                </a:highlight>
                <a:latin typeface="Courier New"/>
                <a:ea typeface="Courier New"/>
                <a:cs typeface="Courier New"/>
                <a:sym typeface="Courier New"/>
              </a:rPr>
              <a:t>meta </a:t>
            </a:r>
            <a:r>
              <a:rPr lang="en" sz="950" dirty="0">
                <a:solidFill>
                  <a:srgbClr val="B1E490"/>
                </a:solidFill>
                <a:highlight>
                  <a:srgbClr val="11192E"/>
                </a:highlight>
                <a:latin typeface="Courier New"/>
                <a:ea typeface="Courier New"/>
                <a:cs typeface="Courier New"/>
                <a:sym typeface="Courier New"/>
              </a:rPr>
              <a:t>name</a:t>
            </a:r>
            <a:r>
              <a:rPr lang="en" sz="950" dirty="0">
                <a:solidFill>
                  <a:srgbClr val="F7F8FB"/>
                </a:solidFill>
                <a:highlight>
                  <a:srgbClr val="11192E"/>
                </a:highlight>
                <a:latin typeface="Courier New"/>
                <a:ea typeface="Courier New"/>
                <a:cs typeface="Courier New"/>
                <a:sym typeface="Courier New"/>
              </a:rPr>
              <a:t>="</a:t>
            </a:r>
            <a:r>
              <a:rPr lang="en" sz="950" dirty="0">
                <a:solidFill>
                  <a:srgbClr val="FFAF8C"/>
                </a:solidFill>
                <a:highlight>
                  <a:srgbClr val="11192E"/>
                </a:highlight>
                <a:latin typeface="Courier New"/>
                <a:ea typeface="Courier New"/>
                <a:cs typeface="Courier New"/>
                <a:sym typeface="Courier New"/>
              </a:rPr>
              <a:t>viewport</a:t>
            </a:r>
            <a:r>
              <a:rPr lang="en" sz="950" dirty="0">
                <a:solidFill>
                  <a:srgbClr val="F7F8FB"/>
                </a:solidFill>
                <a:highlight>
                  <a:srgbClr val="11192E"/>
                </a:highlight>
                <a:latin typeface="Courier New"/>
                <a:ea typeface="Courier New"/>
                <a:cs typeface="Courier New"/>
                <a:sym typeface="Courier New"/>
              </a:rPr>
              <a:t>"</a:t>
            </a:r>
            <a:r>
              <a:rPr lang="en" sz="950" dirty="0">
                <a:solidFill>
                  <a:srgbClr val="9FDDFF"/>
                </a:solidFill>
                <a:highlight>
                  <a:srgbClr val="11192E"/>
                </a:highlight>
                <a:latin typeface="Courier New"/>
                <a:ea typeface="Courier New"/>
                <a:cs typeface="Courier New"/>
                <a:sym typeface="Courier New"/>
              </a:rPr>
              <a:t> </a:t>
            </a:r>
            <a:r>
              <a:rPr lang="en" sz="950" dirty="0">
                <a:solidFill>
                  <a:srgbClr val="B1E490"/>
                </a:solidFill>
                <a:highlight>
                  <a:srgbClr val="11192E"/>
                </a:highlight>
                <a:latin typeface="Courier New"/>
                <a:ea typeface="Courier New"/>
                <a:cs typeface="Courier New"/>
                <a:sym typeface="Courier New"/>
              </a:rPr>
              <a:t>content</a:t>
            </a:r>
            <a:r>
              <a:rPr lang="en" sz="950" dirty="0">
                <a:solidFill>
                  <a:srgbClr val="F7F8FB"/>
                </a:solidFill>
                <a:highlight>
                  <a:srgbClr val="11192E"/>
                </a:highlight>
                <a:latin typeface="Courier New"/>
                <a:ea typeface="Courier New"/>
                <a:cs typeface="Courier New"/>
                <a:sym typeface="Courier New"/>
              </a:rPr>
              <a:t>="</a:t>
            </a:r>
            <a:r>
              <a:rPr lang="en" sz="950" dirty="0">
                <a:solidFill>
                  <a:srgbClr val="FFAF8C"/>
                </a:solidFill>
                <a:highlight>
                  <a:srgbClr val="11192E"/>
                </a:highlight>
                <a:latin typeface="Courier New"/>
                <a:ea typeface="Courier New"/>
                <a:cs typeface="Courier New"/>
                <a:sym typeface="Courier New"/>
              </a:rPr>
              <a:t>width=device-width, initial-scale=1</a:t>
            </a:r>
            <a:r>
              <a:rPr lang="en" sz="950" dirty="0">
                <a:solidFill>
                  <a:srgbClr val="F7F8FB"/>
                </a:solidFill>
                <a:highlight>
                  <a:srgbClr val="11192E"/>
                </a:highlight>
                <a:latin typeface="Courier New"/>
                <a:ea typeface="Courier New"/>
                <a:cs typeface="Courier New"/>
                <a:sym typeface="Courier New"/>
              </a:rPr>
              <a:t>"&gt;</a:t>
            </a:r>
            <a:endParaRPr sz="950" dirty="0">
              <a:solidFill>
                <a:srgbClr val="F7F8FB"/>
              </a:solidFill>
              <a:highlight>
                <a:srgbClr val="11192E"/>
              </a:highlight>
              <a:latin typeface="Courier New"/>
              <a:ea typeface="Courier New"/>
              <a:cs typeface="Courier New"/>
              <a:sym typeface="Courier New"/>
            </a:endParaRPr>
          </a:p>
          <a:p>
            <a:pPr marL="0" lvl="0" indent="0" algn="l" rtl="0">
              <a:spcBef>
                <a:spcPts val="0"/>
              </a:spcBef>
              <a:spcAft>
                <a:spcPts val="0"/>
              </a:spcAft>
              <a:buNone/>
            </a:pPr>
            <a:r>
              <a:rPr lang="en" sz="950" dirty="0">
                <a:solidFill>
                  <a:srgbClr val="F7F8FB"/>
                </a:solidFill>
                <a:highlight>
                  <a:srgbClr val="11192E"/>
                </a:highlight>
                <a:latin typeface="Courier New"/>
                <a:ea typeface="Courier New"/>
                <a:cs typeface="Courier New"/>
                <a:sym typeface="Courier New"/>
              </a:rPr>
              <a:t>    &lt;</a:t>
            </a:r>
            <a:r>
              <a:rPr lang="en" sz="950" dirty="0">
                <a:solidFill>
                  <a:srgbClr val="9FDDFF"/>
                </a:solidFill>
                <a:highlight>
                  <a:srgbClr val="11192E"/>
                </a:highlight>
                <a:latin typeface="Courier New"/>
                <a:ea typeface="Courier New"/>
                <a:cs typeface="Courier New"/>
                <a:sym typeface="Courier New"/>
              </a:rPr>
              <a:t>title</a:t>
            </a:r>
            <a:r>
              <a:rPr lang="en" sz="950" dirty="0">
                <a:solidFill>
                  <a:srgbClr val="F7F8FB"/>
                </a:solidFill>
                <a:highlight>
                  <a:srgbClr val="11192E"/>
                </a:highlight>
                <a:latin typeface="Courier New"/>
                <a:ea typeface="Courier New"/>
                <a:cs typeface="Courier New"/>
                <a:sym typeface="Courier New"/>
              </a:rPr>
              <a:t>&gt;Dark Mode&lt;/</a:t>
            </a:r>
            <a:r>
              <a:rPr lang="en" sz="950" dirty="0">
                <a:solidFill>
                  <a:srgbClr val="9FDDFF"/>
                </a:solidFill>
                <a:highlight>
                  <a:srgbClr val="11192E"/>
                </a:highlight>
                <a:latin typeface="Courier New"/>
                <a:ea typeface="Courier New"/>
                <a:cs typeface="Courier New"/>
                <a:sym typeface="Courier New"/>
              </a:rPr>
              <a:t>title</a:t>
            </a:r>
            <a:r>
              <a:rPr lang="en" sz="950" dirty="0">
                <a:solidFill>
                  <a:srgbClr val="F7F8FB"/>
                </a:solidFill>
                <a:highlight>
                  <a:srgbClr val="11192E"/>
                </a:highlight>
                <a:latin typeface="Courier New"/>
                <a:ea typeface="Courier New"/>
                <a:cs typeface="Courier New"/>
                <a:sym typeface="Courier New"/>
              </a:rPr>
              <a:t>&gt;</a:t>
            </a:r>
            <a:endParaRPr sz="950" dirty="0">
              <a:solidFill>
                <a:srgbClr val="F7F8FB"/>
              </a:solidFill>
              <a:highlight>
                <a:srgbClr val="11192E"/>
              </a:highlight>
              <a:latin typeface="Courier New"/>
              <a:ea typeface="Courier New"/>
              <a:cs typeface="Courier New"/>
              <a:sym typeface="Courier New"/>
            </a:endParaRPr>
          </a:p>
          <a:p>
            <a:pPr marL="0" lvl="0" indent="0" algn="l" rtl="0">
              <a:spcBef>
                <a:spcPts val="0"/>
              </a:spcBef>
              <a:spcAft>
                <a:spcPts val="0"/>
              </a:spcAft>
              <a:buNone/>
            </a:pPr>
            <a:r>
              <a:rPr lang="en" sz="950" dirty="0">
                <a:solidFill>
                  <a:srgbClr val="F7F8FB"/>
                </a:solidFill>
                <a:highlight>
                  <a:srgbClr val="11192E"/>
                </a:highlight>
                <a:latin typeface="Courier New"/>
                <a:ea typeface="Courier New"/>
                <a:cs typeface="Courier New"/>
                <a:sym typeface="Courier New"/>
              </a:rPr>
              <a:t>    &lt;</a:t>
            </a:r>
            <a:r>
              <a:rPr lang="en" sz="950" dirty="0">
                <a:solidFill>
                  <a:srgbClr val="9FDDFF"/>
                </a:solidFill>
                <a:highlight>
                  <a:srgbClr val="11192E"/>
                </a:highlight>
                <a:latin typeface="Courier New"/>
                <a:ea typeface="Courier New"/>
                <a:cs typeface="Courier New"/>
                <a:sym typeface="Courier New"/>
              </a:rPr>
              <a:t>link </a:t>
            </a:r>
            <a:r>
              <a:rPr lang="en" sz="950" dirty="0">
                <a:solidFill>
                  <a:srgbClr val="B1E490"/>
                </a:solidFill>
                <a:highlight>
                  <a:srgbClr val="11192E"/>
                </a:highlight>
                <a:latin typeface="Courier New"/>
                <a:ea typeface="Courier New"/>
                <a:cs typeface="Courier New"/>
                <a:sym typeface="Courier New"/>
              </a:rPr>
              <a:t>rel</a:t>
            </a:r>
            <a:r>
              <a:rPr lang="en" sz="950" dirty="0">
                <a:solidFill>
                  <a:srgbClr val="F7F8FB"/>
                </a:solidFill>
                <a:highlight>
                  <a:srgbClr val="11192E"/>
                </a:highlight>
                <a:latin typeface="Courier New"/>
                <a:ea typeface="Courier New"/>
                <a:cs typeface="Courier New"/>
                <a:sym typeface="Courier New"/>
              </a:rPr>
              <a:t>="</a:t>
            </a:r>
            <a:r>
              <a:rPr lang="en" sz="950" dirty="0">
                <a:solidFill>
                  <a:srgbClr val="FFAF8C"/>
                </a:solidFill>
                <a:highlight>
                  <a:srgbClr val="11192E"/>
                </a:highlight>
                <a:latin typeface="Courier New"/>
                <a:ea typeface="Courier New"/>
                <a:cs typeface="Courier New"/>
                <a:sym typeface="Courier New"/>
              </a:rPr>
              <a:t>stylesheet</a:t>
            </a:r>
            <a:r>
              <a:rPr lang="en" sz="950" dirty="0">
                <a:solidFill>
                  <a:srgbClr val="F7F8FB"/>
                </a:solidFill>
                <a:highlight>
                  <a:srgbClr val="11192E"/>
                </a:highlight>
                <a:latin typeface="Courier New"/>
                <a:ea typeface="Courier New"/>
                <a:cs typeface="Courier New"/>
                <a:sym typeface="Courier New"/>
              </a:rPr>
              <a:t>"</a:t>
            </a:r>
            <a:r>
              <a:rPr lang="en" sz="950" dirty="0">
                <a:solidFill>
                  <a:srgbClr val="9FDDFF"/>
                </a:solidFill>
                <a:highlight>
                  <a:srgbClr val="11192E"/>
                </a:highlight>
                <a:latin typeface="Courier New"/>
                <a:ea typeface="Courier New"/>
                <a:cs typeface="Courier New"/>
                <a:sym typeface="Courier New"/>
              </a:rPr>
              <a:t> </a:t>
            </a:r>
            <a:r>
              <a:rPr lang="en" sz="950" dirty="0">
                <a:solidFill>
                  <a:srgbClr val="B1E490"/>
                </a:solidFill>
                <a:highlight>
                  <a:srgbClr val="11192E"/>
                </a:highlight>
                <a:latin typeface="Courier New"/>
                <a:ea typeface="Courier New"/>
                <a:cs typeface="Courier New"/>
                <a:sym typeface="Courier New"/>
              </a:rPr>
              <a:t>href</a:t>
            </a:r>
            <a:r>
              <a:rPr lang="en" sz="950" dirty="0">
                <a:solidFill>
                  <a:srgbClr val="F7F8FB"/>
                </a:solidFill>
                <a:highlight>
                  <a:srgbClr val="11192E"/>
                </a:highlight>
                <a:latin typeface="Courier New"/>
                <a:ea typeface="Courier New"/>
                <a:cs typeface="Courier New"/>
                <a:sym typeface="Courier New"/>
              </a:rPr>
              <a:t>="</a:t>
            </a:r>
            <a:r>
              <a:rPr lang="en" sz="950" dirty="0">
                <a:solidFill>
                  <a:srgbClr val="FFAF8C"/>
                </a:solidFill>
                <a:highlight>
                  <a:srgbClr val="11192E"/>
                </a:highlight>
                <a:latin typeface="Courier New"/>
                <a:ea typeface="Courier New"/>
                <a:cs typeface="Courier New"/>
                <a:sym typeface="Courier New"/>
              </a:rPr>
              <a:t>css/style.css</a:t>
            </a:r>
            <a:r>
              <a:rPr lang="en" sz="950" dirty="0">
                <a:solidFill>
                  <a:srgbClr val="F7F8FB"/>
                </a:solidFill>
                <a:highlight>
                  <a:srgbClr val="11192E"/>
                </a:highlight>
                <a:latin typeface="Courier New"/>
                <a:ea typeface="Courier New"/>
                <a:cs typeface="Courier New"/>
                <a:sym typeface="Courier New"/>
              </a:rPr>
              <a:t>"&gt;</a:t>
            </a:r>
            <a:endParaRPr sz="950" dirty="0">
              <a:solidFill>
                <a:srgbClr val="F7F8FB"/>
              </a:solidFill>
              <a:highlight>
                <a:srgbClr val="11192E"/>
              </a:highlight>
              <a:latin typeface="Courier New"/>
              <a:ea typeface="Courier New"/>
              <a:cs typeface="Courier New"/>
              <a:sym typeface="Courier New"/>
            </a:endParaRPr>
          </a:p>
          <a:p>
            <a:pPr marL="0" lvl="0" indent="0" algn="l" rtl="0">
              <a:spcBef>
                <a:spcPts val="0"/>
              </a:spcBef>
              <a:spcAft>
                <a:spcPts val="0"/>
              </a:spcAft>
              <a:buNone/>
            </a:pPr>
            <a:r>
              <a:rPr lang="en" sz="950" dirty="0">
                <a:solidFill>
                  <a:srgbClr val="F7F8FB"/>
                </a:solidFill>
                <a:highlight>
                  <a:srgbClr val="11192E"/>
                </a:highlight>
                <a:latin typeface="Courier New"/>
                <a:ea typeface="Courier New"/>
                <a:cs typeface="Courier New"/>
                <a:sym typeface="Courier New"/>
              </a:rPr>
              <a:t>&lt;/</a:t>
            </a:r>
            <a:r>
              <a:rPr lang="en" sz="950" dirty="0">
                <a:solidFill>
                  <a:srgbClr val="9FDDFF"/>
                </a:solidFill>
                <a:highlight>
                  <a:srgbClr val="11192E"/>
                </a:highlight>
                <a:latin typeface="Courier New"/>
                <a:ea typeface="Courier New"/>
                <a:cs typeface="Courier New"/>
                <a:sym typeface="Courier New"/>
              </a:rPr>
              <a:t>head</a:t>
            </a:r>
            <a:r>
              <a:rPr lang="en" sz="950" dirty="0">
                <a:solidFill>
                  <a:srgbClr val="F7F8FB"/>
                </a:solidFill>
                <a:highlight>
                  <a:srgbClr val="11192E"/>
                </a:highlight>
                <a:latin typeface="Courier New"/>
                <a:ea typeface="Courier New"/>
                <a:cs typeface="Courier New"/>
                <a:sym typeface="Courier New"/>
              </a:rPr>
              <a:t>&gt;</a:t>
            </a:r>
            <a:endParaRPr sz="950" dirty="0">
              <a:solidFill>
                <a:srgbClr val="F7F8FB"/>
              </a:solidFill>
              <a:highlight>
                <a:srgbClr val="11192E"/>
              </a:highlight>
              <a:latin typeface="Courier New"/>
              <a:ea typeface="Courier New"/>
              <a:cs typeface="Courier New"/>
              <a:sym typeface="Courier New"/>
            </a:endParaRPr>
          </a:p>
          <a:p>
            <a:pPr marL="0" lvl="0" indent="0" algn="l" rtl="0">
              <a:spcBef>
                <a:spcPts val="0"/>
              </a:spcBef>
              <a:spcAft>
                <a:spcPts val="0"/>
              </a:spcAft>
              <a:buNone/>
            </a:pPr>
            <a:endParaRPr sz="950" dirty="0">
              <a:solidFill>
                <a:srgbClr val="F7F8FB"/>
              </a:solidFill>
              <a:highlight>
                <a:srgbClr val="11192E"/>
              </a:highlight>
              <a:latin typeface="Courier New"/>
              <a:ea typeface="Courier New"/>
              <a:cs typeface="Courier New"/>
              <a:sym typeface="Courier New"/>
            </a:endParaRPr>
          </a:p>
          <a:p>
            <a:pPr marL="0" lvl="0" indent="0" algn="l" rtl="0">
              <a:spcBef>
                <a:spcPts val="0"/>
              </a:spcBef>
              <a:spcAft>
                <a:spcPts val="0"/>
              </a:spcAft>
              <a:buNone/>
            </a:pPr>
            <a:r>
              <a:rPr lang="en" sz="950" dirty="0">
                <a:solidFill>
                  <a:srgbClr val="F7F8FB"/>
                </a:solidFill>
                <a:highlight>
                  <a:srgbClr val="11192E"/>
                </a:highlight>
                <a:latin typeface="Courier New"/>
                <a:ea typeface="Courier New"/>
                <a:cs typeface="Courier New"/>
                <a:sym typeface="Courier New"/>
              </a:rPr>
              <a:t>&lt;</a:t>
            </a:r>
            <a:r>
              <a:rPr lang="en" sz="950" dirty="0">
                <a:solidFill>
                  <a:srgbClr val="9FDDFF"/>
                </a:solidFill>
                <a:highlight>
                  <a:srgbClr val="11192E"/>
                </a:highlight>
                <a:latin typeface="Courier New"/>
                <a:ea typeface="Courier New"/>
                <a:cs typeface="Courier New"/>
                <a:sym typeface="Courier New"/>
              </a:rPr>
              <a:t>body</a:t>
            </a:r>
            <a:r>
              <a:rPr lang="en" sz="950" dirty="0">
                <a:solidFill>
                  <a:srgbClr val="F7F8FB"/>
                </a:solidFill>
                <a:highlight>
                  <a:srgbClr val="11192E"/>
                </a:highlight>
                <a:latin typeface="Courier New"/>
                <a:ea typeface="Courier New"/>
                <a:cs typeface="Courier New"/>
                <a:sym typeface="Courier New"/>
              </a:rPr>
              <a:t>&gt;</a:t>
            </a:r>
            <a:endParaRPr sz="950" dirty="0">
              <a:solidFill>
                <a:srgbClr val="F7F8FB"/>
              </a:solidFill>
              <a:highlight>
                <a:srgbClr val="11192E"/>
              </a:highlight>
              <a:latin typeface="Courier New"/>
              <a:ea typeface="Courier New"/>
              <a:cs typeface="Courier New"/>
              <a:sym typeface="Courier New"/>
            </a:endParaRPr>
          </a:p>
          <a:p>
            <a:pPr marL="0" lvl="0" indent="0" algn="l" rtl="0">
              <a:spcBef>
                <a:spcPts val="0"/>
              </a:spcBef>
              <a:spcAft>
                <a:spcPts val="0"/>
              </a:spcAft>
              <a:buNone/>
            </a:pPr>
            <a:r>
              <a:rPr lang="en" sz="950" dirty="0">
                <a:solidFill>
                  <a:srgbClr val="F7F8FB"/>
                </a:solidFill>
                <a:highlight>
                  <a:srgbClr val="11192E"/>
                </a:highlight>
                <a:latin typeface="Courier New"/>
                <a:ea typeface="Courier New"/>
                <a:cs typeface="Courier New"/>
                <a:sym typeface="Courier New"/>
              </a:rPr>
              <a:t>    &lt;</a:t>
            </a:r>
            <a:r>
              <a:rPr lang="en" sz="950" dirty="0">
                <a:solidFill>
                  <a:srgbClr val="9FDDFF"/>
                </a:solidFill>
                <a:highlight>
                  <a:srgbClr val="11192E"/>
                </a:highlight>
                <a:latin typeface="Courier New"/>
                <a:ea typeface="Courier New"/>
                <a:cs typeface="Courier New"/>
                <a:sym typeface="Courier New"/>
              </a:rPr>
              <a:t>button </a:t>
            </a:r>
            <a:r>
              <a:rPr lang="en" sz="950" dirty="0">
                <a:solidFill>
                  <a:srgbClr val="B1E490"/>
                </a:solidFill>
                <a:highlight>
                  <a:srgbClr val="11192E"/>
                </a:highlight>
                <a:latin typeface="Courier New"/>
                <a:ea typeface="Courier New"/>
                <a:cs typeface="Courier New"/>
                <a:sym typeface="Courier New"/>
              </a:rPr>
              <a:t>id</a:t>
            </a:r>
            <a:r>
              <a:rPr lang="en" sz="950" dirty="0">
                <a:solidFill>
                  <a:srgbClr val="F7F8FB"/>
                </a:solidFill>
                <a:highlight>
                  <a:srgbClr val="11192E"/>
                </a:highlight>
                <a:latin typeface="Courier New"/>
                <a:ea typeface="Courier New"/>
                <a:cs typeface="Courier New"/>
                <a:sym typeface="Courier New"/>
              </a:rPr>
              <a:t>="</a:t>
            </a:r>
            <a:r>
              <a:rPr lang="en" sz="950" dirty="0">
                <a:solidFill>
                  <a:srgbClr val="FFAF8C"/>
                </a:solidFill>
                <a:highlight>
                  <a:srgbClr val="11192E"/>
                </a:highlight>
                <a:latin typeface="Courier New"/>
                <a:ea typeface="Courier New"/>
                <a:cs typeface="Courier New"/>
                <a:sym typeface="Courier New"/>
              </a:rPr>
              <a:t>theme-toggle</a:t>
            </a:r>
            <a:r>
              <a:rPr lang="en" sz="950" dirty="0">
                <a:solidFill>
                  <a:srgbClr val="F7F8FB"/>
                </a:solidFill>
                <a:highlight>
                  <a:srgbClr val="11192E"/>
                </a:highlight>
                <a:latin typeface="Courier New"/>
                <a:ea typeface="Courier New"/>
                <a:cs typeface="Courier New"/>
                <a:sym typeface="Courier New"/>
              </a:rPr>
              <a:t>"&gt;Toggle Dark Mode&lt;/</a:t>
            </a:r>
            <a:r>
              <a:rPr lang="en" sz="950" dirty="0">
                <a:solidFill>
                  <a:srgbClr val="9FDDFF"/>
                </a:solidFill>
                <a:highlight>
                  <a:srgbClr val="11192E"/>
                </a:highlight>
                <a:latin typeface="Courier New"/>
                <a:ea typeface="Courier New"/>
                <a:cs typeface="Courier New"/>
                <a:sym typeface="Courier New"/>
              </a:rPr>
              <a:t>button</a:t>
            </a:r>
            <a:r>
              <a:rPr lang="en" sz="950" dirty="0">
                <a:solidFill>
                  <a:srgbClr val="F7F8FB"/>
                </a:solidFill>
                <a:highlight>
                  <a:srgbClr val="11192E"/>
                </a:highlight>
                <a:latin typeface="Courier New"/>
                <a:ea typeface="Courier New"/>
                <a:cs typeface="Courier New"/>
                <a:sym typeface="Courier New"/>
              </a:rPr>
              <a:t>&gt;</a:t>
            </a:r>
            <a:endParaRPr sz="950" dirty="0">
              <a:solidFill>
                <a:srgbClr val="F7F8FB"/>
              </a:solidFill>
              <a:highlight>
                <a:srgbClr val="11192E"/>
              </a:highlight>
              <a:latin typeface="Courier New"/>
              <a:ea typeface="Courier New"/>
              <a:cs typeface="Courier New"/>
              <a:sym typeface="Courier New"/>
            </a:endParaRPr>
          </a:p>
          <a:p>
            <a:pPr marL="0" lvl="0" indent="0" algn="l" rtl="0">
              <a:spcBef>
                <a:spcPts val="0"/>
              </a:spcBef>
              <a:spcAft>
                <a:spcPts val="0"/>
              </a:spcAft>
              <a:buNone/>
            </a:pPr>
            <a:r>
              <a:rPr lang="en" sz="950" dirty="0">
                <a:solidFill>
                  <a:srgbClr val="F7F8FB"/>
                </a:solidFill>
                <a:highlight>
                  <a:srgbClr val="11192E"/>
                </a:highlight>
                <a:latin typeface="Courier New"/>
                <a:ea typeface="Courier New"/>
                <a:cs typeface="Courier New"/>
                <a:sym typeface="Courier New"/>
              </a:rPr>
              <a:t>    &lt;</a:t>
            </a:r>
            <a:r>
              <a:rPr lang="en" sz="950" dirty="0">
                <a:solidFill>
                  <a:srgbClr val="9FDDFF"/>
                </a:solidFill>
                <a:highlight>
                  <a:srgbClr val="11192E"/>
                </a:highlight>
                <a:latin typeface="Courier New"/>
                <a:ea typeface="Courier New"/>
                <a:cs typeface="Courier New"/>
                <a:sym typeface="Courier New"/>
              </a:rPr>
              <a:t>h1 </a:t>
            </a:r>
            <a:r>
              <a:rPr lang="en" sz="950" dirty="0">
                <a:solidFill>
                  <a:srgbClr val="B1E490"/>
                </a:solidFill>
                <a:highlight>
                  <a:srgbClr val="11192E"/>
                </a:highlight>
                <a:latin typeface="Courier New"/>
                <a:ea typeface="Courier New"/>
                <a:cs typeface="Courier New"/>
                <a:sym typeface="Courier New"/>
              </a:rPr>
              <a:t>id</a:t>
            </a:r>
            <a:r>
              <a:rPr lang="en" sz="950" dirty="0">
                <a:solidFill>
                  <a:srgbClr val="F7F8FB"/>
                </a:solidFill>
                <a:highlight>
                  <a:srgbClr val="11192E"/>
                </a:highlight>
                <a:latin typeface="Courier New"/>
                <a:ea typeface="Courier New"/>
                <a:cs typeface="Courier New"/>
                <a:sym typeface="Courier New"/>
              </a:rPr>
              <a:t>="</a:t>
            </a:r>
            <a:r>
              <a:rPr lang="en" sz="950" dirty="0">
                <a:solidFill>
                  <a:srgbClr val="FFAF8C"/>
                </a:solidFill>
                <a:highlight>
                  <a:srgbClr val="11192E"/>
                </a:highlight>
                <a:latin typeface="Courier New"/>
                <a:ea typeface="Courier New"/>
                <a:cs typeface="Courier New"/>
                <a:sym typeface="Courier New"/>
              </a:rPr>
              <a:t>title</a:t>
            </a:r>
            <a:r>
              <a:rPr lang="en" sz="950" dirty="0">
                <a:solidFill>
                  <a:srgbClr val="F7F8FB"/>
                </a:solidFill>
                <a:highlight>
                  <a:srgbClr val="11192E"/>
                </a:highlight>
                <a:latin typeface="Courier New"/>
                <a:ea typeface="Courier New"/>
                <a:cs typeface="Courier New"/>
                <a:sym typeface="Courier New"/>
              </a:rPr>
              <a:t>"&gt;DigitalOcean&lt;/</a:t>
            </a:r>
            <a:r>
              <a:rPr lang="en" sz="950" dirty="0">
                <a:solidFill>
                  <a:srgbClr val="9FDDFF"/>
                </a:solidFill>
                <a:highlight>
                  <a:srgbClr val="11192E"/>
                </a:highlight>
                <a:latin typeface="Courier New"/>
                <a:ea typeface="Courier New"/>
                <a:cs typeface="Courier New"/>
                <a:sym typeface="Courier New"/>
              </a:rPr>
              <a:t>h1</a:t>
            </a:r>
            <a:r>
              <a:rPr lang="en" sz="950" dirty="0">
                <a:solidFill>
                  <a:srgbClr val="F7F8FB"/>
                </a:solidFill>
                <a:highlight>
                  <a:srgbClr val="11192E"/>
                </a:highlight>
                <a:latin typeface="Courier New"/>
                <a:ea typeface="Courier New"/>
                <a:cs typeface="Courier New"/>
                <a:sym typeface="Courier New"/>
              </a:rPr>
              <a:t>&gt;</a:t>
            </a:r>
            <a:endParaRPr sz="950" dirty="0">
              <a:solidFill>
                <a:srgbClr val="F7F8FB"/>
              </a:solidFill>
              <a:highlight>
                <a:srgbClr val="11192E"/>
              </a:highlight>
              <a:latin typeface="Courier New"/>
              <a:ea typeface="Courier New"/>
              <a:cs typeface="Courier New"/>
              <a:sym typeface="Courier New"/>
            </a:endParaRPr>
          </a:p>
          <a:p>
            <a:pPr marL="0" lvl="0" indent="0" algn="l" rtl="0">
              <a:spcBef>
                <a:spcPts val="0"/>
              </a:spcBef>
              <a:spcAft>
                <a:spcPts val="0"/>
              </a:spcAft>
              <a:buNone/>
            </a:pPr>
            <a:r>
              <a:rPr lang="en" sz="950" dirty="0">
                <a:solidFill>
                  <a:srgbClr val="F7F8FB"/>
                </a:solidFill>
                <a:highlight>
                  <a:srgbClr val="11192E"/>
                </a:highlight>
                <a:latin typeface="Courier New"/>
                <a:ea typeface="Courier New"/>
                <a:cs typeface="Courier New"/>
                <a:sym typeface="Courier New"/>
              </a:rPr>
              <a:t>    &lt;</a:t>
            </a:r>
            <a:r>
              <a:rPr lang="en" sz="950" dirty="0">
                <a:solidFill>
                  <a:srgbClr val="9FDDFF"/>
                </a:solidFill>
                <a:highlight>
                  <a:srgbClr val="11192E"/>
                </a:highlight>
                <a:latin typeface="Courier New"/>
                <a:ea typeface="Courier New"/>
                <a:cs typeface="Courier New"/>
                <a:sym typeface="Courier New"/>
              </a:rPr>
              <a:t>p</a:t>
            </a:r>
            <a:r>
              <a:rPr lang="en" sz="950" dirty="0">
                <a:solidFill>
                  <a:srgbClr val="F7F8FB"/>
                </a:solidFill>
                <a:highlight>
                  <a:srgbClr val="11192E"/>
                </a:highlight>
                <a:latin typeface="Courier New"/>
                <a:ea typeface="Courier New"/>
                <a:cs typeface="Courier New"/>
                <a:sym typeface="Courier New"/>
              </a:rPr>
              <a:t>&gt;This is some example text on the page.&lt;/</a:t>
            </a:r>
            <a:r>
              <a:rPr lang="en" sz="950" dirty="0">
                <a:solidFill>
                  <a:srgbClr val="9FDDFF"/>
                </a:solidFill>
                <a:highlight>
                  <a:srgbClr val="11192E"/>
                </a:highlight>
                <a:latin typeface="Courier New"/>
                <a:ea typeface="Courier New"/>
                <a:cs typeface="Courier New"/>
                <a:sym typeface="Courier New"/>
              </a:rPr>
              <a:t>p</a:t>
            </a:r>
            <a:r>
              <a:rPr lang="en" sz="950" dirty="0">
                <a:solidFill>
                  <a:srgbClr val="F7F8FB"/>
                </a:solidFill>
                <a:highlight>
                  <a:srgbClr val="11192E"/>
                </a:highlight>
                <a:latin typeface="Courier New"/>
                <a:ea typeface="Courier New"/>
                <a:cs typeface="Courier New"/>
                <a:sym typeface="Courier New"/>
              </a:rPr>
              <a:t>&gt;</a:t>
            </a:r>
            <a:endParaRPr sz="950" dirty="0">
              <a:solidFill>
                <a:srgbClr val="F7F8FB"/>
              </a:solidFill>
              <a:highlight>
                <a:srgbClr val="11192E"/>
              </a:highlight>
              <a:latin typeface="Courier New"/>
              <a:ea typeface="Courier New"/>
              <a:cs typeface="Courier New"/>
              <a:sym typeface="Courier New"/>
            </a:endParaRPr>
          </a:p>
          <a:p>
            <a:pPr marL="0" lvl="0" indent="0" algn="l" rtl="0">
              <a:spcBef>
                <a:spcPts val="0"/>
              </a:spcBef>
              <a:spcAft>
                <a:spcPts val="0"/>
              </a:spcAft>
              <a:buNone/>
            </a:pPr>
            <a:r>
              <a:rPr lang="en" sz="950" dirty="0">
                <a:solidFill>
                  <a:srgbClr val="F7F8FB"/>
                </a:solidFill>
                <a:highlight>
                  <a:srgbClr val="11192E"/>
                </a:highlight>
                <a:latin typeface="Courier New"/>
                <a:ea typeface="Courier New"/>
                <a:cs typeface="Courier New"/>
                <a:sym typeface="Courier New"/>
              </a:rPr>
              <a:t>    &lt;</a:t>
            </a:r>
            <a:r>
              <a:rPr lang="en" sz="950" dirty="0">
                <a:solidFill>
                  <a:srgbClr val="9FDDFF"/>
                </a:solidFill>
                <a:highlight>
                  <a:srgbClr val="11192E"/>
                </a:highlight>
                <a:latin typeface="Courier New"/>
                <a:ea typeface="Courier New"/>
                <a:cs typeface="Courier New"/>
                <a:sym typeface="Courier New"/>
              </a:rPr>
              <a:t>script </a:t>
            </a:r>
            <a:r>
              <a:rPr lang="en" sz="950" dirty="0">
                <a:solidFill>
                  <a:srgbClr val="B1E490"/>
                </a:solidFill>
                <a:highlight>
                  <a:srgbClr val="11192E"/>
                </a:highlight>
                <a:latin typeface="Courier New"/>
                <a:ea typeface="Courier New"/>
                <a:cs typeface="Courier New"/>
                <a:sym typeface="Courier New"/>
              </a:rPr>
              <a:t>src</a:t>
            </a:r>
            <a:r>
              <a:rPr lang="en" sz="950" dirty="0">
                <a:solidFill>
                  <a:srgbClr val="F7F8FB"/>
                </a:solidFill>
                <a:highlight>
                  <a:srgbClr val="11192E"/>
                </a:highlight>
                <a:latin typeface="Courier New"/>
                <a:ea typeface="Courier New"/>
                <a:cs typeface="Courier New"/>
                <a:sym typeface="Courier New"/>
              </a:rPr>
              <a:t>="</a:t>
            </a:r>
            <a:r>
              <a:rPr lang="en" sz="950" dirty="0">
                <a:solidFill>
                  <a:srgbClr val="FFAF8C"/>
                </a:solidFill>
                <a:highlight>
                  <a:srgbClr val="11192E"/>
                </a:highlight>
                <a:latin typeface="Courier New"/>
                <a:ea typeface="Courier New"/>
                <a:cs typeface="Courier New"/>
                <a:sym typeface="Courier New"/>
              </a:rPr>
              <a:t>js/script.js</a:t>
            </a:r>
            <a:r>
              <a:rPr lang="en" sz="950" dirty="0">
                <a:solidFill>
                  <a:srgbClr val="F7F8FB"/>
                </a:solidFill>
                <a:highlight>
                  <a:srgbClr val="11192E"/>
                </a:highlight>
                <a:latin typeface="Courier New"/>
                <a:ea typeface="Courier New"/>
                <a:cs typeface="Courier New"/>
                <a:sym typeface="Courier New"/>
              </a:rPr>
              <a:t>"&gt;&lt;/</a:t>
            </a:r>
            <a:r>
              <a:rPr lang="en" sz="950" dirty="0">
                <a:solidFill>
                  <a:srgbClr val="9FDDFF"/>
                </a:solidFill>
                <a:highlight>
                  <a:srgbClr val="11192E"/>
                </a:highlight>
                <a:latin typeface="Courier New"/>
                <a:ea typeface="Courier New"/>
                <a:cs typeface="Courier New"/>
                <a:sym typeface="Courier New"/>
              </a:rPr>
              <a:t>script</a:t>
            </a:r>
            <a:r>
              <a:rPr lang="en" sz="950" dirty="0">
                <a:solidFill>
                  <a:srgbClr val="F7F8FB"/>
                </a:solidFill>
                <a:highlight>
                  <a:srgbClr val="11192E"/>
                </a:highlight>
                <a:latin typeface="Courier New"/>
                <a:ea typeface="Courier New"/>
                <a:cs typeface="Courier New"/>
                <a:sym typeface="Courier New"/>
              </a:rPr>
              <a:t>&gt;</a:t>
            </a:r>
            <a:endParaRPr sz="950" dirty="0">
              <a:solidFill>
                <a:srgbClr val="F7F8FB"/>
              </a:solidFill>
              <a:highlight>
                <a:srgbClr val="11192E"/>
              </a:highlight>
              <a:latin typeface="Courier New"/>
              <a:ea typeface="Courier New"/>
              <a:cs typeface="Courier New"/>
              <a:sym typeface="Courier New"/>
            </a:endParaRPr>
          </a:p>
          <a:p>
            <a:pPr marL="0" lvl="0" indent="0" algn="l" rtl="0">
              <a:spcBef>
                <a:spcPts val="0"/>
              </a:spcBef>
              <a:spcAft>
                <a:spcPts val="0"/>
              </a:spcAft>
              <a:buNone/>
            </a:pPr>
            <a:r>
              <a:rPr lang="en" sz="950" dirty="0">
                <a:solidFill>
                  <a:srgbClr val="F7F8FB"/>
                </a:solidFill>
                <a:highlight>
                  <a:srgbClr val="11192E"/>
                </a:highlight>
                <a:latin typeface="Courier New"/>
                <a:ea typeface="Courier New"/>
                <a:cs typeface="Courier New"/>
                <a:sym typeface="Courier New"/>
              </a:rPr>
              <a:t>&lt;/</a:t>
            </a:r>
            <a:r>
              <a:rPr lang="en" sz="950" dirty="0">
                <a:solidFill>
                  <a:srgbClr val="9FDDFF"/>
                </a:solidFill>
                <a:highlight>
                  <a:srgbClr val="11192E"/>
                </a:highlight>
                <a:latin typeface="Courier New"/>
                <a:ea typeface="Courier New"/>
                <a:cs typeface="Courier New"/>
                <a:sym typeface="Courier New"/>
              </a:rPr>
              <a:t>body</a:t>
            </a:r>
            <a:r>
              <a:rPr lang="en" sz="950" dirty="0">
                <a:solidFill>
                  <a:srgbClr val="F7F8FB"/>
                </a:solidFill>
                <a:highlight>
                  <a:srgbClr val="11192E"/>
                </a:highlight>
                <a:latin typeface="Courier New"/>
                <a:ea typeface="Courier New"/>
                <a:cs typeface="Courier New"/>
                <a:sym typeface="Courier New"/>
              </a:rPr>
              <a:t>&gt;</a:t>
            </a:r>
            <a:endParaRPr sz="950" dirty="0">
              <a:solidFill>
                <a:srgbClr val="F7F8FB"/>
              </a:solidFill>
              <a:highlight>
                <a:srgbClr val="11192E"/>
              </a:highlight>
              <a:latin typeface="Courier New"/>
              <a:ea typeface="Courier New"/>
              <a:cs typeface="Courier New"/>
              <a:sym typeface="Courier New"/>
            </a:endParaRPr>
          </a:p>
          <a:p>
            <a:pPr marL="0" lvl="0" indent="0" algn="l" rtl="0">
              <a:spcBef>
                <a:spcPts val="0"/>
              </a:spcBef>
              <a:spcAft>
                <a:spcPts val="0"/>
              </a:spcAft>
              <a:buNone/>
            </a:pPr>
            <a:endParaRPr sz="950" dirty="0">
              <a:solidFill>
                <a:srgbClr val="F7F8FB"/>
              </a:solidFill>
              <a:highlight>
                <a:srgbClr val="11192E"/>
              </a:highlight>
              <a:latin typeface="Courier New"/>
              <a:ea typeface="Courier New"/>
              <a:cs typeface="Courier New"/>
              <a:sym typeface="Courier New"/>
            </a:endParaRPr>
          </a:p>
          <a:p>
            <a:pPr marL="0" lvl="0" indent="0" algn="l" rtl="0">
              <a:lnSpc>
                <a:spcPct val="115000"/>
              </a:lnSpc>
              <a:spcBef>
                <a:spcPts val="0"/>
              </a:spcBef>
              <a:spcAft>
                <a:spcPts val="0"/>
              </a:spcAft>
              <a:buNone/>
            </a:pPr>
            <a:r>
              <a:rPr lang="en" sz="950" dirty="0">
                <a:solidFill>
                  <a:srgbClr val="F7F8FB"/>
                </a:solidFill>
                <a:highlight>
                  <a:srgbClr val="11192E"/>
                </a:highlight>
                <a:latin typeface="Courier New"/>
                <a:ea typeface="Courier New"/>
                <a:cs typeface="Courier New"/>
                <a:sym typeface="Courier New"/>
              </a:rPr>
              <a:t>&lt;/</a:t>
            </a:r>
            <a:r>
              <a:rPr lang="en" sz="950" dirty="0">
                <a:solidFill>
                  <a:srgbClr val="9FDDFF"/>
                </a:solidFill>
                <a:highlight>
                  <a:srgbClr val="11192E"/>
                </a:highlight>
                <a:latin typeface="Courier New"/>
                <a:ea typeface="Courier New"/>
                <a:cs typeface="Courier New"/>
                <a:sym typeface="Courier New"/>
              </a:rPr>
              <a:t>html</a:t>
            </a:r>
            <a:r>
              <a:rPr lang="en" sz="950" dirty="0">
                <a:solidFill>
                  <a:srgbClr val="F7F8FB"/>
                </a:solidFill>
                <a:highlight>
                  <a:srgbClr val="11192E"/>
                </a:highlight>
                <a:latin typeface="Courier New"/>
                <a:ea typeface="Courier New"/>
                <a:cs typeface="Courier New"/>
                <a:sym typeface="Courier New"/>
              </a:rPr>
              <a:t>&gt;</a:t>
            </a:r>
            <a:endParaRPr sz="950" dirty="0">
              <a:solidFill>
                <a:srgbClr val="F7F8FB"/>
              </a:solidFill>
              <a:highlight>
                <a:srgbClr val="11192E"/>
              </a:highlight>
              <a:latin typeface="Courier New"/>
              <a:ea typeface="Courier New"/>
              <a:cs typeface="Courier New"/>
              <a:sym typeface="Courier New"/>
            </a:endParaRPr>
          </a:p>
        </p:txBody>
      </p:sp>
      <p:sp>
        <p:nvSpPr>
          <p:cNvPr id="95" name="Google Shape;95;p18"/>
          <p:cNvSpPr txBox="1"/>
          <p:nvPr/>
        </p:nvSpPr>
        <p:spPr>
          <a:xfrm>
            <a:off x="3417350" y="1200450"/>
            <a:ext cx="3000000" cy="1062000"/>
          </a:xfrm>
          <a:prstGeom prst="rect">
            <a:avLst/>
          </a:prstGeom>
          <a:solidFill>
            <a:schemeClr val="dk2"/>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50" dirty="0">
                <a:solidFill>
                  <a:srgbClr val="F7F8FB"/>
                </a:solidFill>
                <a:highlight>
                  <a:srgbClr val="11192E"/>
                </a:highlight>
                <a:latin typeface="Courier New"/>
                <a:ea typeface="Courier New"/>
                <a:cs typeface="Courier New"/>
                <a:sym typeface="Courier New"/>
              </a:rPr>
              <a:t>/* This class will be added or removed by JavaScript */</a:t>
            </a:r>
            <a:endParaRPr sz="950" dirty="0">
              <a:solidFill>
                <a:srgbClr val="F7F8FB"/>
              </a:solidFill>
              <a:highlight>
                <a:srgbClr val="11192E"/>
              </a:highlight>
              <a:latin typeface="Courier New"/>
              <a:ea typeface="Courier New"/>
              <a:cs typeface="Courier New"/>
              <a:sym typeface="Courier New"/>
            </a:endParaRPr>
          </a:p>
          <a:p>
            <a:pPr marL="0" lvl="0" indent="0" algn="l" rtl="0">
              <a:spcBef>
                <a:spcPts val="0"/>
              </a:spcBef>
              <a:spcAft>
                <a:spcPts val="0"/>
              </a:spcAft>
              <a:buNone/>
            </a:pPr>
            <a:r>
              <a:rPr lang="en" sz="950" dirty="0">
                <a:solidFill>
                  <a:srgbClr val="9FDDFF"/>
                </a:solidFill>
                <a:highlight>
                  <a:srgbClr val="11192E"/>
                </a:highlight>
                <a:latin typeface="Courier New"/>
                <a:ea typeface="Courier New"/>
                <a:cs typeface="Courier New"/>
                <a:sym typeface="Courier New"/>
              </a:rPr>
              <a:t>.dark-mode</a:t>
            </a:r>
            <a:r>
              <a:rPr lang="en" sz="950" dirty="0">
                <a:solidFill>
                  <a:srgbClr val="F7F8FB"/>
                </a:solidFill>
                <a:highlight>
                  <a:srgbClr val="11192E"/>
                </a:highlight>
                <a:latin typeface="Courier New"/>
                <a:ea typeface="Courier New"/>
                <a:cs typeface="Courier New"/>
                <a:sym typeface="Courier New"/>
              </a:rPr>
              <a:t> {</a:t>
            </a:r>
            <a:endParaRPr sz="950" dirty="0">
              <a:solidFill>
                <a:srgbClr val="F7F8FB"/>
              </a:solidFill>
              <a:highlight>
                <a:srgbClr val="11192E"/>
              </a:highlight>
              <a:latin typeface="Courier New"/>
              <a:ea typeface="Courier New"/>
              <a:cs typeface="Courier New"/>
              <a:sym typeface="Courier New"/>
            </a:endParaRPr>
          </a:p>
          <a:p>
            <a:pPr marL="0" lvl="0" indent="0" algn="l" rtl="0">
              <a:spcBef>
                <a:spcPts val="0"/>
              </a:spcBef>
              <a:spcAft>
                <a:spcPts val="0"/>
              </a:spcAft>
              <a:buNone/>
            </a:pPr>
            <a:r>
              <a:rPr lang="en" sz="950" dirty="0">
                <a:solidFill>
                  <a:srgbClr val="F7F8FB"/>
                </a:solidFill>
                <a:highlight>
                  <a:srgbClr val="11192E"/>
                </a:highlight>
                <a:latin typeface="Courier New"/>
                <a:ea typeface="Courier New"/>
                <a:cs typeface="Courier New"/>
                <a:sym typeface="Courier New"/>
              </a:rPr>
              <a:t>    </a:t>
            </a:r>
            <a:r>
              <a:rPr lang="en" sz="950" dirty="0">
                <a:solidFill>
                  <a:srgbClr val="9FDDFF"/>
                </a:solidFill>
                <a:highlight>
                  <a:srgbClr val="11192E"/>
                </a:highlight>
                <a:latin typeface="Courier New"/>
                <a:ea typeface="Courier New"/>
                <a:cs typeface="Courier New"/>
                <a:sym typeface="Courier New"/>
              </a:rPr>
              <a:t>background-color</a:t>
            </a:r>
            <a:r>
              <a:rPr lang="en" sz="950" dirty="0">
                <a:solidFill>
                  <a:srgbClr val="F7F8FB"/>
                </a:solidFill>
                <a:highlight>
                  <a:srgbClr val="11192E"/>
                </a:highlight>
                <a:latin typeface="Courier New"/>
                <a:ea typeface="Courier New"/>
                <a:cs typeface="Courier New"/>
                <a:sym typeface="Courier New"/>
              </a:rPr>
              <a:t>: #222;</a:t>
            </a:r>
            <a:endParaRPr sz="950" dirty="0">
              <a:solidFill>
                <a:srgbClr val="F7F8FB"/>
              </a:solidFill>
              <a:highlight>
                <a:srgbClr val="11192E"/>
              </a:highlight>
              <a:latin typeface="Courier New"/>
              <a:ea typeface="Courier New"/>
              <a:cs typeface="Courier New"/>
              <a:sym typeface="Courier New"/>
            </a:endParaRPr>
          </a:p>
          <a:p>
            <a:pPr marL="0" lvl="0" indent="0" algn="l" rtl="0">
              <a:spcBef>
                <a:spcPts val="0"/>
              </a:spcBef>
              <a:spcAft>
                <a:spcPts val="0"/>
              </a:spcAft>
              <a:buNone/>
            </a:pPr>
            <a:r>
              <a:rPr lang="en" sz="950" dirty="0">
                <a:solidFill>
                  <a:srgbClr val="F7F8FB"/>
                </a:solidFill>
                <a:highlight>
                  <a:srgbClr val="11192E"/>
                </a:highlight>
                <a:latin typeface="Courier New"/>
                <a:ea typeface="Courier New"/>
                <a:cs typeface="Courier New"/>
                <a:sym typeface="Courier New"/>
              </a:rPr>
              <a:t>    </a:t>
            </a:r>
            <a:r>
              <a:rPr lang="en" sz="950" dirty="0">
                <a:solidFill>
                  <a:srgbClr val="9FDDFF"/>
                </a:solidFill>
                <a:highlight>
                  <a:srgbClr val="11192E"/>
                </a:highlight>
                <a:latin typeface="Courier New"/>
                <a:ea typeface="Courier New"/>
                <a:cs typeface="Courier New"/>
                <a:sym typeface="Courier New"/>
              </a:rPr>
              <a:t>color</a:t>
            </a:r>
            <a:r>
              <a:rPr lang="en" sz="950" dirty="0">
                <a:solidFill>
                  <a:srgbClr val="F7F8FB"/>
                </a:solidFill>
                <a:highlight>
                  <a:srgbClr val="11192E"/>
                </a:highlight>
                <a:latin typeface="Courier New"/>
                <a:ea typeface="Courier New"/>
                <a:cs typeface="Courier New"/>
                <a:sym typeface="Courier New"/>
              </a:rPr>
              <a:t>: #eee;</a:t>
            </a:r>
            <a:endParaRPr sz="950" dirty="0">
              <a:solidFill>
                <a:srgbClr val="F7F8FB"/>
              </a:solidFill>
              <a:highlight>
                <a:srgbClr val="11192E"/>
              </a:highlight>
              <a:latin typeface="Courier New"/>
              <a:ea typeface="Courier New"/>
              <a:cs typeface="Courier New"/>
              <a:sym typeface="Courier New"/>
            </a:endParaRPr>
          </a:p>
          <a:p>
            <a:pPr marL="0" lvl="0" indent="0" algn="l" rtl="0">
              <a:lnSpc>
                <a:spcPct val="115000"/>
              </a:lnSpc>
              <a:spcBef>
                <a:spcPts val="0"/>
              </a:spcBef>
              <a:spcAft>
                <a:spcPts val="0"/>
              </a:spcAft>
              <a:buNone/>
            </a:pPr>
            <a:r>
              <a:rPr lang="en" sz="950" dirty="0">
                <a:solidFill>
                  <a:srgbClr val="F7F8FB"/>
                </a:solidFill>
                <a:highlight>
                  <a:srgbClr val="11192E"/>
                </a:highlight>
                <a:latin typeface="Courier New"/>
                <a:ea typeface="Courier New"/>
                <a:cs typeface="Courier New"/>
                <a:sym typeface="Courier New"/>
              </a:rPr>
              <a:t>}</a:t>
            </a:r>
            <a:endParaRPr sz="950" dirty="0">
              <a:solidFill>
                <a:srgbClr val="F7F8FB"/>
              </a:solidFill>
              <a:highlight>
                <a:srgbClr val="11192E"/>
              </a:highlight>
              <a:latin typeface="Courier New"/>
              <a:ea typeface="Courier New"/>
              <a:cs typeface="Courier New"/>
              <a:sym typeface="Courier New"/>
            </a:endParaRPr>
          </a:p>
        </p:txBody>
      </p:sp>
      <p:sp>
        <p:nvSpPr>
          <p:cNvPr id="96" name="Google Shape;96;p18"/>
          <p:cNvSpPr txBox="1"/>
          <p:nvPr/>
        </p:nvSpPr>
        <p:spPr>
          <a:xfrm>
            <a:off x="3417350" y="2394475"/>
            <a:ext cx="3000000" cy="1647000"/>
          </a:xfrm>
          <a:prstGeom prst="rect">
            <a:avLst/>
          </a:prstGeom>
          <a:solidFill>
            <a:schemeClr val="dk2"/>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50" dirty="0">
                <a:solidFill>
                  <a:srgbClr val="9FDDFF"/>
                </a:solidFill>
                <a:highlight>
                  <a:srgbClr val="11192E"/>
                </a:highlight>
                <a:latin typeface="Courier New"/>
                <a:ea typeface="Courier New"/>
                <a:cs typeface="Courier New"/>
                <a:sym typeface="Courier New"/>
              </a:rPr>
              <a:t>const</a:t>
            </a:r>
            <a:r>
              <a:rPr lang="en" sz="950" dirty="0">
                <a:solidFill>
                  <a:srgbClr val="F7F8FB"/>
                </a:solidFill>
                <a:highlight>
                  <a:srgbClr val="11192E"/>
                </a:highlight>
                <a:latin typeface="Courier New"/>
                <a:ea typeface="Courier New"/>
                <a:cs typeface="Courier New"/>
                <a:sym typeface="Courier New"/>
              </a:rPr>
              <a:t> toggleButton = document.</a:t>
            </a:r>
            <a:r>
              <a:rPr lang="en" sz="950" dirty="0">
                <a:solidFill>
                  <a:srgbClr val="FFAF8C"/>
                </a:solidFill>
                <a:highlight>
                  <a:srgbClr val="11192E"/>
                </a:highlight>
                <a:latin typeface="Courier New"/>
                <a:ea typeface="Courier New"/>
                <a:cs typeface="Courier New"/>
                <a:sym typeface="Courier New"/>
              </a:rPr>
              <a:t>getElementById</a:t>
            </a:r>
            <a:r>
              <a:rPr lang="en" sz="950" dirty="0">
                <a:solidFill>
                  <a:srgbClr val="F7F8FB"/>
                </a:solidFill>
                <a:highlight>
                  <a:srgbClr val="11192E"/>
                </a:highlight>
                <a:latin typeface="Courier New"/>
                <a:ea typeface="Courier New"/>
                <a:cs typeface="Courier New"/>
                <a:sym typeface="Courier New"/>
              </a:rPr>
              <a:t>(</a:t>
            </a:r>
            <a:r>
              <a:rPr lang="en" sz="950" dirty="0">
                <a:solidFill>
                  <a:srgbClr val="B1E490"/>
                </a:solidFill>
                <a:highlight>
                  <a:srgbClr val="11192E"/>
                </a:highlight>
                <a:latin typeface="Courier New"/>
                <a:ea typeface="Courier New"/>
                <a:cs typeface="Courier New"/>
                <a:sym typeface="Courier New"/>
              </a:rPr>
              <a:t>'theme-toggle'</a:t>
            </a:r>
            <a:r>
              <a:rPr lang="en" sz="950" dirty="0">
                <a:solidFill>
                  <a:srgbClr val="F7F8FB"/>
                </a:solidFill>
                <a:highlight>
                  <a:srgbClr val="11192E"/>
                </a:highlight>
                <a:latin typeface="Courier New"/>
                <a:ea typeface="Courier New"/>
                <a:cs typeface="Courier New"/>
                <a:sym typeface="Courier New"/>
              </a:rPr>
              <a:t>);</a:t>
            </a:r>
            <a:endParaRPr sz="950" dirty="0">
              <a:solidFill>
                <a:srgbClr val="F7F8FB"/>
              </a:solidFill>
              <a:highlight>
                <a:srgbClr val="11192E"/>
              </a:highlight>
              <a:latin typeface="Courier New"/>
              <a:ea typeface="Courier New"/>
              <a:cs typeface="Courier New"/>
              <a:sym typeface="Courier New"/>
            </a:endParaRPr>
          </a:p>
          <a:p>
            <a:pPr marL="0" lvl="0" indent="0" algn="l" rtl="0">
              <a:spcBef>
                <a:spcPts val="0"/>
              </a:spcBef>
              <a:spcAft>
                <a:spcPts val="0"/>
              </a:spcAft>
              <a:buNone/>
            </a:pPr>
            <a:endParaRPr sz="950" dirty="0">
              <a:solidFill>
                <a:srgbClr val="F7F8FB"/>
              </a:solidFill>
              <a:highlight>
                <a:srgbClr val="11192E"/>
              </a:highlight>
              <a:latin typeface="Courier New"/>
              <a:ea typeface="Courier New"/>
              <a:cs typeface="Courier New"/>
              <a:sym typeface="Courier New"/>
            </a:endParaRPr>
          </a:p>
          <a:p>
            <a:pPr marL="0" lvl="0" indent="0" algn="l" rtl="0">
              <a:spcBef>
                <a:spcPts val="0"/>
              </a:spcBef>
              <a:spcAft>
                <a:spcPts val="0"/>
              </a:spcAft>
              <a:buNone/>
            </a:pPr>
            <a:r>
              <a:rPr lang="en" sz="950" dirty="0">
                <a:solidFill>
                  <a:srgbClr val="F7F8FB"/>
                </a:solidFill>
                <a:highlight>
                  <a:srgbClr val="11192E"/>
                </a:highlight>
                <a:latin typeface="Courier New"/>
                <a:ea typeface="Courier New"/>
                <a:cs typeface="Courier New"/>
                <a:sym typeface="Courier New"/>
              </a:rPr>
              <a:t>toggleButton.</a:t>
            </a:r>
            <a:r>
              <a:rPr lang="en" sz="950" dirty="0">
                <a:solidFill>
                  <a:srgbClr val="FFAF8C"/>
                </a:solidFill>
                <a:highlight>
                  <a:srgbClr val="11192E"/>
                </a:highlight>
                <a:latin typeface="Courier New"/>
                <a:ea typeface="Courier New"/>
                <a:cs typeface="Courier New"/>
                <a:sym typeface="Courier New"/>
              </a:rPr>
              <a:t>addEventListener</a:t>
            </a:r>
            <a:r>
              <a:rPr lang="en" sz="950" dirty="0">
                <a:solidFill>
                  <a:srgbClr val="F7F8FB"/>
                </a:solidFill>
                <a:highlight>
                  <a:srgbClr val="11192E"/>
                </a:highlight>
                <a:latin typeface="Courier New"/>
                <a:ea typeface="Courier New"/>
                <a:cs typeface="Courier New"/>
                <a:sym typeface="Courier New"/>
              </a:rPr>
              <a:t>(</a:t>
            </a:r>
            <a:r>
              <a:rPr lang="en" sz="950" dirty="0">
                <a:solidFill>
                  <a:srgbClr val="B1E490"/>
                </a:solidFill>
                <a:highlight>
                  <a:srgbClr val="11192E"/>
                </a:highlight>
                <a:latin typeface="Courier New"/>
                <a:ea typeface="Courier New"/>
                <a:cs typeface="Courier New"/>
                <a:sym typeface="Courier New"/>
              </a:rPr>
              <a:t>'click'</a:t>
            </a:r>
            <a:r>
              <a:rPr lang="en" sz="950" dirty="0">
                <a:solidFill>
                  <a:srgbClr val="F7F8FB"/>
                </a:solidFill>
                <a:highlight>
                  <a:srgbClr val="11192E"/>
                </a:highlight>
                <a:latin typeface="Courier New"/>
                <a:ea typeface="Courier New"/>
                <a:cs typeface="Courier New"/>
                <a:sym typeface="Courier New"/>
              </a:rPr>
              <a:t>, </a:t>
            </a:r>
            <a:r>
              <a:rPr lang="en" sz="950" dirty="0">
                <a:solidFill>
                  <a:srgbClr val="9FDDFF"/>
                </a:solidFill>
                <a:highlight>
                  <a:srgbClr val="11192E"/>
                </a:highlight>
                <a:latin typeface="Courier New"/>
                <a:ea typeface="Courier New"/>
                <a:cs typeface="Courier New"/>
                <a:sym typeface="Courier New"/>
              </a:rPr>
              <a:t>function</a:t>
            </a:r>
            <a:r>
              <a:rPr lang="en" sz="950" dirty="0">
                <a:solidFill>
                  <a:srgbClr val="F7F8FB"/>
                </a:solidFill>
                <a:highlight>
                  <a:srgbClr val="11192E"/>
                </a:highlight>
                <a:latin typeface="Courier New"/>
                <a:ea typeface="Courier New"/>
                <a:cs typeface="Courier New"/>
                <a:sym typeface="Courier New"/>
              </a:rPr>
              <a:t>() {</a:t>
            </a:r>
            <a:endParaRPr sz="950" dirty="0">
              <a:solidFill>
                <a:srgbClr val="F7F8FB"/>
              </a:solidFill>
              <a:highlight>
                <a:srgbClr val="11192E"/>
              </a:highlight>
              <a:latin typeface="Courier New"/>
              <a:ea typeface="Courier New"/>
              <a:cs typeface="Courier New"/>
              <a:sym typeface="Courier New"/>
            </a:endParaRPr>
          </a:p>
          <a:p>
            <a:pPr marL="0" lvl="0" indent="0" algn="l" rtl="0">
              <a:spcBef>
                <a:spcPts val="0"/>
              </a:spcBef>
              <a:spcAft>
                <a:spcPts val="0"/>
              </a:spcAft>
              <a:buNone/>
            </a:pPr>
            <a:r>
              <a:rPr lang="en" sz="950" dirty="0">
                <a:solidFill>
                  <a:srgbClr val="F7F8FB"/>
                </a:solidFill>
                <a:highlight>
                  <a:srgbClr val="11192E"/>
                </a:highlight>
                <a:latin typeface="Courier New"/>
                <a:ea typeface="Courier New"/>
                <a:cs typeface="Courier New"/>
                <a:sym typeface="Courier New"/>
              </a:rPr>
              <a:t>    document.body.classList.</a:t>
            </a:r>
            <a:r>
              <a:rPr lang="en" sz="950" dirty="0">
                <a:solidFill>
                  <a:srgbClr val="FFAF8C"/>
                </a:solidFill>
                <a:highlight>
                  <a:srgbClr val="11192E"/>
                </a:highlight>
                <a:latin typeface="Courier New"/>
                <a:ea typeface="Courier New"/>
                <a:cs typeface="Courier New"/>
                <a:sym typeface="Courier New"/>
              </a:rPr>
              <a:t>toggle</a:t>
            </a:r>
            <a:r>
              <a:rPr lang="en" sz="950" dirty="0">
                <a:solidFill>
                  <a:srgbClr val="F7F8FB"/>
                </a:solidFill>
                <a:highlight>
                  <a:srgbClr val="11192E"/>
                </a:highlight>
                <a:latin typeface="Courier New"/>
                <a:ea typeface="Courier New"/>
                <a:cs typeface="Courier New"/>
                <a:sym typeface="Courier New"/>
              </a:rPr>
              <a:t>(</a:t>
            </a:r>
            <a:r>
              <a:rPr lang="en" sz="950" dirty="0">
                <a:solidFill>
                  <a:srgbClr val="B1E490"/>
                </a:solidFill>
                <a:highlight>
                  <a:srgbClr val="11192E"/>
                </a:highlight>
                <a:latin typeface="Courier New"/>
                <a:ea typeface="Courier New"/>
                <a:cs typeface="Courier New"/>
                <a:sym typeface="Courier New"/>
              </a:rPr>
              <a:t>'dark-mode'</a:t>
            </a:r>
            <a:r>
              <a:rPr lang="en" sz="950" dirty="0">
                <a:solidFill>
                  <a:srgbClr val="F7F8FB"/>
                </a:solidFill>
                <a:highlight>
                  <a:srgbClr val="11192E"/>
                </a:highlight>
                <a:latin typeface="Courier New"/>
                <a:ea typeface="Courier New"/>
                <a:cs typeface="Courier New"/>
                <a:sym typeface="Courier New"/>
              </a:rPr>
              <a:t>);</a:t>
            </a:r>
            <a:endParaRPr sz="950" dirty="0">
              <a:solidFill>
                <a:srgbClr val="F7F8FB"/>
              </a:solidFill>
              <a:highlight>
                <a:srgbClr val="11192E"/>
              </a:highlight>
              <a:latin typeface="Courier New"/>
              <a:ea typeface="Courier New"/>
              <a:cs typeface="Courier New"/>
              <a:sym typeface="Courier New"/>
            </a:endParaRPr>
          </a:p>
          <a:p>
            <a:pPr marL="0" lvl="0" indent="0" algn="l" rtl="0">
              <a:lnSpc>
                <a:spcPct val="115000"/>
              </a:lnSpc>
              <a:spcBef>
                <a:spcPts val="0"/>
              </a:spcBef>
              <a:spcAft>
                <a:spcPts val="0"/>
              </a:spcAft>
              <a:buNone/>
            </a:pPr>
            <a:r>
              <a:rPr lang="en" sz="950" dirty="0">
                <a:solidFill>
                  <a:srgbClr val="F7F8FB"/>
                </a:solidFill>
                <a:highlight>
                  <a:srgbClr val="11192E"/>
                </a:highlight>
                <a:latin typeface="Courier New"/>
                <a:ea typeface="Courier New"/>
                <a:cs typeface="Courier New"/>
                <a:sym typeface="Courier New"/>
              </a:rPr>
              <a:t>});</a:t>
            </a:r>
            <a:endParaRPr sz="950" dirty="0">
              <a:solidFill>
                <a:srgbClr val="F7F8FB"/>
              </a:solidFill>
              <a:highlight>
                <a:srgbClr val="11192E"/>
              </a:highlight>
              <a:latin typeface="Courier New"/>
              <a:ea typeface="Courier New"/>
              <a:cs typeface="Courier New"/>
              <a:sym typeface="Courier New"/>
            </a:endParaRPr>
          </a:p>
        </p:txBody>
      </p:sp>
      <p:pic>
        <p:nvPicPr>
          <p:cNvPr id="97" name="Google Shape;97;p18"/>
          <p:cNvPicPr preferRelativeResize="0"/>
          <p:nvPr/>
        </p:nvPicPr>
        <p:blipFill>
          <a:blip r:embed="rId3">
            <a:alphaModFix/>
          </a:blip>
          <a:stretch>
            <a:fillRect/>
          </a:stretch>
        </p:blipFill>
        <p:spPr>
          <a:xfrm>
            <a:off x="6569750" y="1220825"/>
            <a:ext cx="2421850" cy="1192438"/>
          </a:xfrm>
          <a:prstGeom prst="rect">
            <a:avLst/>
          </a:prstGeom>
          <a:noFill/>
          <a:ln>
            <a:noFill/>
          </a:ln>
        </p:spPr>
      </p:pic>
      <p:sp>
        <p:nvSpPr>
          <p:cNvPr id="98" name="Google Shape;98;p1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Variables</a:t>
            </a:r>
            <a:endParaRPr/>
          </a:p>
        </p:txBody>
      </p:sp>
      <p:sp>
        <p:nvSpPr>
          <p:cNvPr id="104" name="Google Shape;104;p1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7</a:t>
            </a:fld>
            <a:endParaRPr>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Variables and Declaration</a:t>
            </a:r>
            <a:endParaRPr/>
          </a:p>
        </p:txBody>
      </p:sp>
      <p:sp>
        <p:nvSpPr>
          <p:cNvPr id="110" name="Google Shape;110;p20"/>
          <p:cNvSpPr txBox="1">
            <a:spLocks noGrp="1"/>
          </p:cNvSpPr>
          <p:nvPr>
            <p:ph type="body" idx="1"/>
          </p:nvPr>
        </p:nvSpPr>
        <p:spPr>
          <a:xfrm>
            <a:off x="311700" y="1152475"/>
            <a:ext cx="8520600" cy="2512682"/>
          </a:xfrm>
          <a:prstGeom prst="rect">
            <a:avLst/>
          </a:prstGeom>
        </p:spPr>
        <p:txBody>
          <a:bodyPr spcFirstLastPara="1" wrap="square" lIns="91425" tIns="91425" rIns="91425" bIns="91425" anchor="t" anchorCtr="0">
            <a:normAutofit fontScale="92500" lnSpcReduction="10000"/>
          </a:bodyPr>
          <a:lstStyle/>
          <a:p>
            <a:pPr marL="457200" lvl="0" indent="-342900" algn="l" rtl="0">
              <a:spcBef>
                <a:spcPts val="0"/>
              </a:spcBef>
              <a:spcAft>
                <a:spcPts val="0"/>
              </a:spcAft>
              <a:buSzPts val="1800"/>
              <a:buChar char="●"/>
            </a:pPr>
            <a:r>
              <a:rPr lang="en" dirty="0"/>
              <a:t>A variable is a named storage for data.</a:t>
            </a:r>
            <a:endParaRPr dirty="0"/>
          </a:p>
          <a:p>
            <a:pPr marL="457200" lvl="0" indent="-342900" algn="l" rtl="0">
              <a:spcBef>
                <a:spcPts val="0"/>
              </a:spcBef>
              <a:spcAft>
                <a:spcPts val="0"/>
              </a:spcAft>
              <a:buSzPts val="1800"/>
              <a:buChar char="●"/>
            </a:pPr>
            <a:r>
              <a:rPr lang="en" dirty="0"/>
              <a:t>Declaration Keywords</a:t>
            </a:r>
            <a:endParaRPr dirty="0"/>
          </a:p>
          <a:p>
            <a:pPr marL="914400" lvl="1" indent="-317500" algn="l" rtl="0">
              <a:spcBef>
                <a:spcPts val="0"/>
              </a:spcBef>
              <a:spcAft>
                <a:spcPts val="0"/>
              </a:spcAft>
              <a:buSzPts val="1400"/>
              <a:buChar char="○"/>
            </a:pPr>
            <a:r>
              <a:rPr lang="en" dirty="0"/>
              <a:t>let: Modern declaration, allows reassignment</a:t>
            </a:r>
            <a:endParaRPr dirty="0"/>
          </a:p>
          <a:p>
            <a:pPr marL="914400" lvl="1" indent="-317500" algn="l" rtl="0">
              <a:spcBef>
                <a:spcPts val="0"/>
              </a:spcBef>
              <a:spcAft>
                <a:spcPts val="0"/>
              </a:spcAft>
              <a:buSzPts val="1400"/>
              <a:buChar char="○"/>
            </a:pPr>
            <a:r>
              <a:rPr lang="en" dirty="0"/>
              <a:t>const: Constant value, cannot be reassigned</a:t>
            </a:r>
            <a:endParaRPr dirty="0"/>
          </a:p>
          <a:p>
            <a:pPr marL="914400" lvl="1" indent="-317500" algn="l" rtl="0">
              <a:spcBef>
                <a:spcPts val="0"/>
              </a:spcBef>
              <a:spcAft>
                <a:spcPts val="0"/>
              </a:spcAft>
              <a:buSzPts val="1400"/>
              <a:buChar char="○"/>
            </a:pPr>
            <a:r>
              <a:rPr lang="en" dirty="0"/>
              <a:t>var: Legacy declaration, Function-scoped, avoid in modern code</a:t>
            </a:r>
            <a:endParaRPr dirty="0"/>
          </a:p>
          <a:p>
            <a:pPr marL="457200" lvl="0" indent="-342900" algn="l" rtl="0">
              <a:spcBef>
                <a:spcPts val="0"/>
              </a:spcBef>
              <a:spcAft>
                <a:spcPts val="0"/>
              </a:spcAft>
              <a:buSzPts val="1800"/>
              <a:buChar char="●"/>
            </a:pPr>
            <a:r>
              <a:rPr lang="en" dirty="0"/>
              <a:t>Declarations end with a semicolon (;) and can be split over several lines, with each variable in the declaration separated by a comma (forming a comma-separated list of variable names)</a:t>
            </a:r>
            <a:endParaRPr dirty="0"/>
          </a:p>
          <a:p>
            <a:pPr marL="914400" lvl="1" indent="-317500" algn="l" rtl="0">
              <a:spcBef>
                <a:spcPts val="0"/>
              </a:spcBef>
              <a:spcAft>
                <a:spcPts val="0"/>
              </a:spcAft>
              <a:buSzPts val="1400"/>
              <a:buChar char="○"/>
            </a:pPr>
            <a:r>
              <a:rPr lang="en" dirty="0"/>
              <a:t>Several variables may be declared in one declaration or in multiple declarations.</a:t>
            </a:r>
            <a:endParaRPr dirty="0"/>
          </a:p>
        </p:txBody>
      </p:sp>
      <p:sp>
        <p:nvSpPr>
          <p:cNvPr id="111" name="Google Shape;111;p20"/>
          <p:cNvSpPr txBox="1"/>
          <p:nvPr/>
        </p:nvSpPr>
        <p:spPr>
          <a:xfrm>
            <a:off x="612378" y="3643403"/>
            <a:ext cx="4133434" cy="921376"/>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dirty="0">
                <a:solidFill>
                  <a:srgbClr val="FF7B72"/>
                </a:solidFill>
                <a:highlight>
                  <a:srgbClr val="121314"/>
                </a:highlight>
                <a:latin typeface="Courier New"/>
                <a:ea typeface="Courier New"/>
                <a:cs typeface="Courier New"/>
                <a:sym typeface="Courier New"/>
              </a:rPr>
              <a:t>let</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C9D1D9"/>
                </a:solidFill>
                <a:highlight>
                  <a:srgbClr val="121314"/>
                </a:highlight>
                <a:latin typeface="Courier New"/>
                <a:ea typeface="Courier New"/>
                <a:cs typeface="Courier New"/>
                <a:sym typeface="Courier New"/>
              </a:rPr>
              <a:t>message</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D4D4D4"/>
                </a:solidFill>
                <a:highlight>
                  <a:srgbClr val="121314"/>
                </a:highlight>
                <a:latin typeface="Courier New"/>
                <a:ea typeface="Courier New"/>
                <a:cs typeface="Courier New"/>
                <a:sym typeface="Courier New"/>
              </a:rPr>
              <a:t>=</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A5D6FF"/>
                </a:solidFill>
                <a:highlight>
                  <a:srgbClr val="121314"/>
                </a:highlight>
                <a:latin typeface="Courier New"/>
                <a:ea typeface="Courier New"/>
                <a:cs typeface="Courier New"/>
                <a:sym typeface="Courier New"/>
              </a:rPr>
              <a:t>"Hello"</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8B949E"/>
                </a:solidFill>
                <a:highlight>
                  <a:srgbClr val="121314"/>
                </a:highlight>
                <a:latin typeface="Courier New"/>
                <a:ea typeface="Courier New"/>
                <a:cs typeface="Courier New"/>
                <a:sym typeface="Courier New"/>
              </a:rPr>
              <a:t>// reassignable</a:t>
            </a:r>
            <a:endParaRPr sz="1200" dirty="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FF7B72"/>
                </a:solidFill>
                <a:highlight>
                  <a:srgbClr val="121314"/>
                </a:highlight>
                <a:latin typeface="Courier New"/>
                <a:ea typeface="Courier New"/>
                <a:cs typeface="Courier New"/>
                <a:sym typeface="Courier New"/>
              </a:rPr>
              <a:t>const</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79C0FF"/>
                </a:solidFill>
                <a:highlight>
                  <a:srgbClr val="121314"/>
                </a:highlight>
                <a:latin typeface="Courier New"/>
                <a:ea typeface="Courier New"/>
                <a:cs typeface="Courier New"/>
                <a:sym typeface="Courier New"/>
              </a:rPr>
              <a:t>pi</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D4D4D4"/>
                </a:solidFill>
                <a:highlight>
                  <a:srgbClr val="121314"/>
                </a:highlight>
                <a:latin typeface="Courier New"/>
                <a:ea typeface="Courier New"/>
                <a:cs typeface="Courier New"/>
                <a:sym typeface="Courier New"/>
              </a:rPr>
              <a:t>=</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B5CEA8"/>
                </a:solidFill>
                <a:highlight>
                  <a:srgbClr val="121314"/>
                </a:highlight>
                <a:latin typeface="Courier New"/>
                <a:ea typeface="Courier New"/>
                <a:cs typeface="Courier New"/>
                <a:sym typeface="Courier New"/>
              </a:rPr>
              <a:t>3.14159</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8B949E"/>
                </a:solidFill>
                <a:highlight>
                  <a:srgbClr val="121314"/>
                </a:highlight>
                <a:latin typeface="Courier New"/>
                <a:ea typeface="Courier New"/>
                <a:cs typeface="Courier New"/>
                <a:sym typeface="Courier New"/>
              </a:rPr>
              <a:t>// constant</a:t>
            </a:r>
            <a:endParaRPr sz="1200" dirty="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FF7B72"/>
                </a:solidFill>
                <a:highlight>
                  <a:srgbClr val="121314"/>
                </a:highlight>
                <a:latin typeface="Courier New"/>
                <a:ea typeface="Courier New"/>
                <a:cs typeface="Courier New"/>
                <a:sym typeface="Courier New"/>
              </a:rPr>
              <a:t>var</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C9D1D9"/>
                </a:solidFill>
                <a:highlight>
                  <a:srgbClr val="121314"/>
                </a:highlight>
                <a:latin typeface="Courier New"/>
                <a:ea typeface="Courier New"/>
                <a:cs typeface="Courier New"/>
                <a:sym typeface="Courier New"/>
              </a:rPr>
              <a:t>legacy</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D4D4D4"/>
                </a:solidFill>
                <a:highlight>
                  <a:srgbClr val="121314"/>
                </a:highlight>
                <a:latin typeface="Courier New"/>
                <a:ea typeface="Courier New"/>
                <a:cs typeface="Courier New"/>
                <a:sym typeface="Courier New"/>
              </a:rPr>
              <a:t>=</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A5D6FF"/>
                </a:solidFill>
                <a:highlight>
                  <a:srgbClr val="121314"/>
                </a:highlight>
                <a:latin typeface="Courier New"/>
                <a:ea typeface="Courier New"/>
                <a:cs typeface="Courier New"/>
                <a:sym typeface="Courier New"/>
              </a:rPr>
              <a:t>"old"</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8B949E"/>
                </a:solidFill>
                <a:highlight>
                  <a:srgbClr val="121314"/>
                </a:highlight>
                <a:latin typeface="Courier New"/>
                <a:ea typeface="Courier New"/>
                <a:cs typeface="Courier New"/>
                <a:sym typeface="Courier New"/>
              </a:rPr>
              <a:t>// avoid</a:t>
            </a:r>
            <a:endParaRPr sz="1200" dirty="0">
              <a:solidFill>
                <a:srgbClr val="8B949E"/>
              </a:solidFill>
              <a:highlight>
                <a:srgbClr val="121314"/>
              </a:highlight>
              <a:latin typeface="Courier New"/>
              <a:ea typeface="Courier New"/>
              <a:cs typeface="Courier New"/>
              <a:sym typeface="Courier New"/>
            </a:endParaRPr>
          </a:p>
        </p:txBody>
      </p:sp>
      <p:sp>
        <p:nvSpPr>
          <p:cNvPr id="112" name="Google Shape;112;p2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12" name="文字方塊 11">
            <a:extLst>
              <a:ext uri="{FF2B5EF4-FFF2-40B4-BE49-F238E27FC236}">
                <a16:creationId xmlns:a16="http://schemas.microsoft.com/office/drawing/2014/main" id="{BBB8D3CC-B8DB-4D01-B921-B8696D52C16E}"/>
              </a:ext>
            </a:extLst>
          </p:cNvPr>
          <p:cNvSpPr txBox="1"/>
          <p:nvPr/>
        </p:nvSpPr>
        <p:spPr>
          <a:xfrm>
            <a:off x="4817604" y="3643403"/>
            <a:ext cx="3925874" cy="461665"/>
          </a:xfrm>
          <a:prstGeom prst="rect">
            <a:avLst/>
          </a:prstGeom>
          <a:solidFill>
            <a:schemeClr val="bg2"/>
          </a:solidFill>
        </p:spPr>
        <p:txBody>
          <a:bodyPr wrap="square">
            <a:spAutoFit/>
          </a:bodyPr>
          <a:lstStyle/>
          <a:p>
            <a:r>
              <a:rPr lang="en-US" altLang="zh-TW" sz="1200" b="0" dirty="0">
                <a:solidFill>
                  <a:srgbClr val="FF7B72"/>
                </a:solidFill>
                <a:effectLst/>
                <a:latin typeface="Courier New" panose="02070309020205020404" pitchFamily="49" charset="0"/>
                <a:cs typeface="Courier New" panose="02070309020205020404" pitchFamily="49" charset="0"/>
              </a:rPr>
              <a:t>let</a:t>
            </a:r>
            <a:r>
              <a:rPr lang="en-US" altLang="zh-TW" sz="1200" b="0" dirty="0">
                <a:solidFill>
                  <a:srgbClr val="BBBEBF"/>
                </a:solidFill>
                <a:effectLst/>
                <a:latin typeface="Courier New" panose="02070309020205020404" pitchFamily="49" charset="0"/>
                <a:cs typeface="Courier New" panose="02070309020205020404" pitchFamily="49" charset="0"/>
              </a:rPr>
              <a:t> </a:t>
            </a:r>
            <a:r>
              <a:rPr lang="en-US" altLang="zh-TW" sz="1200" b="0" dirty="0">
                <a:solidFill>
                  <a:srgbClr val="C9D1D9"/>
                </a:solidFill>
                <a:effectLst/>
                <a:latin typeface="Courier New" panose="02070309020205020404" pitchFamily="49" charset="0"/>
                <a:cs typeface="Courier New" panose="02070309020205020404" pitchFamily="49" charset="0"/>
              </a:rPr>
              <a:t>message</a:t>
            </a:r>
            <a:r>
              <a:rPr lang="en-US" altLang="zh-TW" sz="1200" b="0" dirty="0">
                <a:solidFill>
                  <a:srgbClr val="BBBEBF"/>
                </a:solidFill>
                <a:effectLst/>
                <a:latin typeface="Courier New" panose="02070309020205020404" pitchFamily="49" charset="0"/>
                <a:cs typeface="Courier New" panose="02070309020205020404" pitchFamily="49" charset="0"/>
              </a:rPr>
              <a:t> </a:t>
            </a:r>
            <a:r>
              <a:rPr lang="en-US" altLang="zh-TW" sz="1200" b="0" dirty="0">
                <a:solidFill>
                  <a:srgbClr val="D4D4D4"/>
                </a:solidFill>
                <a:effectLst/>
                <a:latin typeface="Courier New" panose="02070309020205020404" pitchFamily="49" charset="0"/>
                <a:cs typeface="Courier New" panose="02070309020205020404" pitchFamily="49" charset="0"/>
              </a:rPr>
              <a:t>=</a:t>
            </a:r>
            <a:r>
              <a:rPr lang="en-US" altLang="zh-TW" sz="1200" b="0" dirty="0">
                <a:solidFill>
                  <a:srgbClr val="BBBEBF"/>
                </a:solidFill>
                <a:effectLst/>
                <a:latin typeface="Courier New" panose="02070309020205020404" pitchFamily="49" charset="0"/>
                <a:cs typeface="Courier New" panose="02070309020205020404" pitchFamily="49" charset="0"/>
              </a:rPr>
              <a:t> </a:t>
            </a:r>
            <a:r>
              <a:rPr lang="en-US" altLang="zh-TW" sz="1200" b="0" dirty="0">
                <a:solidFill>
                  <a:srgbClr val="A5D6FF"/>
                </a:solidFill>
                <a:effectLst/>
                <a:latin typeface="Courier New" panose="02070309020205020404" pitchFamily="49" charset="0"/>
                <a:cs typeface="Courier New" panose="02070309020205020404" pitchFamily="49" charset="0"/>
              </a:rPr>
              <a:t>"Hello"</a:t>
            </a:r>
            <a:r>
              <a:rPr lang="en-US" altLang="zh-TW" sz="1200" b="0" dirty="0">
                <a:solidFill>
                  <a:srgbClr val="BBBEBF"/>
                </a:solidFill>
                <a:effectLst/>
                <a:latin typeface="Courier New" panose="02070309020205020404" pitchFamily="49" charset="0"/>
                <a:cs typeface="Courier New" panose="02070309020205020404" pitchFamily="49" charset="0"/>
              </a:rPr>
              <a:t>, </a:t>
            </a:r>
            <a:r>
              <a:rPr lang="en-US" altLang="zh-TW" sz="1200" b="0" dirty="0">
                <a:solidFill>
                  <a:srgbClr val="C9D1D9"/>
                </a:solidFill>
                <a:effectLst/>
                <a:latin typeface="Courier New" panose="02070309020205020404" pitchFamily="49" charset="0"/>
                <a:cs typeface="Courier New" panose="02070309020205020404" pitchFamily="49" charset="0"/>
              </a:rPr>
              <a:t>legacy</a:t>
            </a:r>
            <a:r>
              <a:rPr lang="en-US" altLang="zh-TW" sz="1200" b="0" dirty="0">
                <a:solidFill>
                  <a:srgbClr val="BBBEBF"/>
                </a:solidFill>
                <a:effectLst/>
                <a:latin typeface="Courier New" panose="02070309020205020404" pitchFamily="49" charset="0"/>
                <a:cs typeface="Courier New" panose="02070309020205020404" pitchFamily="49" charset="0"/>
              </a:rPr>
              <a:t> </a:t>
            </a:r>
            <a:r>
              <a:rPr lang="en-US" altLang="zh-TW" sz="1200" b="0" dirty="0">
                <a:solidFill>
                  <a:srgbClr val="D4D4D4"/>
                </a:solidFill>
                <a:effectLst/>
                <a:latin typeface="Courier New" panose="02070309020205020404" pitchFamily="49" charset="0"/>
                <a:cs typeface="Courier New" panose="02070309020205020404" pitchFamily="49" charset="0"/>
              </a:rPr>
              <a:t>=</a:t>
            </a:r>
            <a:r>
              <a:rPr lang="en-US" altLang="zh-TW" sz="1200" b="0" dirty="0">
                <a:solidFill>
                  <a:srgbClr val="BBBEBF"/>
                </a:solidFill>
                <a:effectLst/>
                <a:latin typeface="Courier New" panose="02070309020205020404" pitchFamily="49" charset="0"/>
                <a:cs typeface="Courier New" panose="02070309020205020404" pitchFamily="49" charset="0"/>
              </a:rPr>
              <a:t> </a:t>
            </a:r>
            <a:r>
              <a:rPr lang="en-US" altLang="zh-TW" sz="1200" b="0" dirty="0">
                <a:solidFill>
                  <a:srgbClr val="A5D6FF"/>
                </a:solidFill>
                <a:effectLst/>
                <a:latin typeface="Courier New" panose="02070309020205020404" pitchFamily="49" charset="0"/>
                <a:cs typeface="Courier New" panose="02070309020205020404" pitchFamily="49" charset="0"/>
              </a:rPr>
              <a:t>"old"</a:t>
            </a:r>
            <a:r>
              <a:rPr lang="en-US" altLang="zh-TW" sz="1200" b="0" dirty="0">
                <a:solidFill>
                  <a:srgbClr val="BBBEBF"/>
                </a:solidFill>
                <a:effectLst/>
                <a:latin typeface="Courier New" panose="02070309020205020404" pitchFamily="49" charset="0"/>
                <a:cs typeface="Courier New" panose="02070309020205020404" pitchFamily="49" charset="0"/>
              </a:rPr>
              <a:t>;</a:t>
            </a:r>
          </a:p>
          <a:p>
            <a:r>
              <a:rPr lang="en-US" altLang="zh-TW" sz="1200" b="0" dirty="0">
                <a:solidFill>
                  <a:srgbClr val="FF7B72"/>
                </a:solidFill>
                <a:effectLst/>
                <a:latin typeface="Courier New" panose="02070309020205020404" pitchFamily="49" charset="0"/>
                <a:cs typeface="Courier New" panose="02070309020205020404" pitchFamily="49" charset="0"/>
              </a:rPr>
              <a:t>const</a:t>
            </a:r>
            <a:r>
              <a:rPr lang="en-US" altLang="zh-TW" sz="1200" b="0" dirty="0">
                <a:solidFill>
                  <a:srgbClr val="BBBEBF"/>
                </a:solidFill>
                <a:effectLst/>
                <a:latin typeface="Courier New" panose="02070309020205020404" pitchFamily="49" charset="0"/>
                <a:cs typeface="Courier New" panose="02070309020205020404" pitchFamily="49" charset="0"/>
              </a:rPr>
              <a:t> </a:t>
            </a:r>
            <a:r>
              <a:rPr lang="en-US" altLang="zh-TW" sz="1200" b="0" dirty="0">
                <a:solidFill>
                  <a:srgbClr val="79C0FF"/>
                </a:solidFill>
                <a:effectLst/>
                <a:latin typeface="Courier New" panose="02070309020205020404" pitchFamily="49" charset="0"/>
                <a:cs typeface="Courier New" panose="02070309020205020404" pitchFamily="49" charset="0"/>
              </a:rPr>
              <a:t>pi</a:t>
            </a:r>
            <a:r>
              <a:rPr lang="en-US" altLang="zh-TW" sz="1200" b="0" dirty="0">
                <a:solidFill>
                  <a:srgbClr val="BBBEBF"/>
                </a:solidFill>
                <a:effectLst/>
                <a:latin typeface="Courier New" panose="02070309020205020404" pitchFamily="49" charset="0"/>
                <a:cs typeface="Courier New" panose="02070309020205020404" pitchFamily="49" charset="0"/>
              </a:rPr>
              <a:t> </a:t>
            </a:r>
            <a:r>
              <a:rPr lang="en-US" altLang="zh-TW" sz="1200" b="0" dirty="0">
                <a:solidFill>
                  <a:srgbClr val="D4D4D4"/>
                </a:solidFill>
                <a:effectLst/>
                <a:latin typeface="Courier New" panose="02070309020205020404" pitchFamily="49" charset="0"/>
                <a:cs typeface="Courier New" panose="02070309020205020404" pitchFamily="49" charset="0"/>
              </a:rPr>
              <a:t>=</a:t>
            </a:r>
            <a:r>
              <a:rPr lang="en-US" altLang="zh-TW" sz="1200" b="0" dirty="0">
                <a:solidFill>
                  <a:srgbClr val="BBBEBF"/>
                </a:solidFill>
                <a:effectLst/>
                <a:latin typeface="Courier New" panose="02070309020205020404" pitchFamily="49" charset="0"/>
                <a:cs typeface="Courier New" panose="02070309020205020404" pitchFamily="49" charset="0"/>
              </a:rPr>
              <a:t> </a:t>
            </a:r>
            <a:r>
              <a:rPr lang="en-US" altLang="zh-TW" sz="1200" b="0" dirty="0">
                <a:solidFill>
                  <a:srgbClr val="B5CEA8"/>
                </a:solidFill>
                <a:effectLst/>
                <a:latin typeface="Courier New" panose="02070309020205020404" pitchFamily="49" charset="0"/>
                <a:cs typeface="Courier New" panose="02070309020205020404" pitchFamily="49" charset="0"/>
              </a:rPr>
              <a:t>3.14159</a:t>
            </a:r>
            <a:r>
              <a:rPr lang="en-US" altLang="zh-TW" sz="1200" b="0" dirty="0">
                <a:solidFill>
                  <a:srgbClr val="BBBEBF"/>
                </a:solidFill>
                <a:effectLst/>
                <a:latin typeface="Courier New" panose="02070309020205020404" pitchFamily="49" charset="0"/>
                <a:cs typeface="Courier New" panose="02070309020205020404" pitchFamily="49"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Variable Naming Rules</a:t>
            </a:r>
            <a:endParaRPr/>
          </a:p>
        </p:txBody>
      </p:sp>
      <p:sp>
        <p:nvSpPr>
          <p:cNvPr id="118" name="Google Shape;118;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a:bodyPr>
          <a:lstStyle/>
          <a:p>
            <a:pPr marL="457200" lvl="0" indent="-342900" algn="l" rtl="0">
              <a:spcBef>
                <a:spcPts val="0"/>
              </a:spcBef>
              <a:spcAft>
                <a:spcPts val="0"/>
              </a:spcAft>
              <a:buSzPts val="1800"/>
              <a:buChar char="●"/>
            </a:pPr>
            <a:r>
              <a:rPr lang="en"/>
              <a:t>Generally, you should stick to just using Latin characters (0-9, a-z, A-Z) and the underscore character.</a:t>
            </a:r>
            <a:endParaRPr/>
          </a:p>
          <a:p>
            <a:pPr marL="457200" lvl="0" indent="-342900" algn="l" rtl="0">
              <a:spcBef>
                <a:spcPts val="0"/>
              </a:spcBef>
              <a:spcAft>
                <a:spcPts val="0"/>
              </a:spcAft>
              <a:buSzPts val="1800"/>
              <a:buChar char="●"/>
            </a:pPr>
            <a:r>
              <a:rPr lang="en"/>
              <a:t>Variables are case sensitive — so myage is a different variable from myAge.</a:t>
            </a:r>
            <a:endParaRPr/>
          </a:p>
          <a:p>
            <a:pPr marL="457200" lvl="0" indent="-342900" algn="l" rtl="0">
              <a:spcBef>
                <a:spcPts val="0"/>
              </a:spcBef>
              <a:spcAft>
                <a:spcPts val="0"/>
              </a:spcAft>
              <a:buSzPts val="1800"/>
              <a:buChar char="●"/>
            </a:pPr>
            <a:r>
              <a:rPr lang="en"/>
              <a:t>Don't use underscores at the start of variable names — this is used in certain JavaScript constructs to mean specific things, so may get confusing.</a:t>
            </a:r>
            <a:endParaRPr/>
          </a:p>
          <a:p>
            <a:pPr marL="457200" lvl="0" indent="-342900" algn="l" rtl="0">
              <a:spcBef>
                <a:spcPts val="0"/>
              </a:spcBef>
              <a:spcAft>
                <a:spcPts val="0"/>
              </a:spcAft>
              <a:buSzPts val="1800"/>
              <a:buChar char="●"/>
            </a:pPr>
            <a:r>
              <a:rPr lang="en"/>
              <a:t>Don't use numbers at the start of variables.</a:t>
            </a:r>
            <a:endParaRPr/>
          </a:p>
          <a:p>
            <a:pPr marL="457200" lvl="0" indent="-342900" algn="l" rtl="0">
              <a:spcBef>
                <a:spcPts val="0"/>
              </a:spcBef>
              <a:spcAft>
                <a:spcPts val="0"/>
              </a:spcAft>
              <a:buSzPts val="1800"/>
              <a:buChar char="●"/>
            </a:pPr>
            <a:r>
              <a:rPr lang="en"/>
              <a:t>A safe convention to stick to is lower camel case, where you stick together multiple words, using lower case for the whole first word and then capitalize subsequent words.</a:t>
            </a:r>
            <a:endParaRPr/>
          </a:p>
          <a:p>
            <a:pPr marL="914400" lvl="1" indent="-317500" algn="l" rtl="0">
              <a:spcBef>
                <a:spcPts val="0"/>
              </a:spcBef>
              <a:spcAft>
                <a:spcPts val="0"/>
              </a:spcAft>
              <a:buSzPts val="1400"/>
              <a:buChar char="○"/>
            </a:pPr>
            <a:r>
              <a:rPr lang="en"/>
              <a:t>userName, shoppingCart.</a:t>
            </a:r>
            <a:endParaRPr/>
          </a:p>
          <a:p>
            <a:pPr marL="457200" lvl="0" indent="-342900" algn="l" rtl="0">
              <a:spcBef>
                <a:spcPts val="0"/>
              </a:spcBef>
              <a:spcAft>
                <a:spcPts val="0"/>
              </a:spcAft>
              <a:buSzPts val="1800"/>
              <a:buChar char="●"/>
            </a:pPr>
            <a:r>
              <a:rPr lang="en"/>
              <a:t>Avoid using JavaScript reserved words</a:t>
            </a:r>
            <a:endParaRPr/>
          </a:p>
          <a:p>
            <a:pPr marL="914400" lvl="1" indent="-317500" algn="l" rtl="0">
              <a:spcBef>
                <a:spcPts val="0"/>
              </a:spcBef>
              <a:spcAft>
                <a:spcPts val="0"/>
              </a:spcAft>
              <a:buSzPts val="1400"/>
              <a:buChar char="○"/>
            </a:pPr>
            <a:r>
              <a:rPr lang="en"/>
              <a:t>var, function, let, and for</a:t>
            </a:r>
            <a:endParaRPr/>
          </a:p>
        </p:txBody>
      </p:sp>
      <p:sp>
        <p:nvSpPr>
          <p:cNvPr id="119" name="Google Shape;119;p2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Variable Scopes</a:t>
            </a:r>
            <a:endParaRPr/>
          </a:p>
        </p:txBody>
      </p:sp>
      <p:sp>
        <p:nvSpPr>
          <p:cNvPr id="125" name="Google Shape;125;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Global Scope</a:t>
            </a:r>
            <a:endParaRPr dirty="0"/>
          </a:p>
          <a:p>
            <a:pPr marL="914400" lvl="1" indent="-317500" algn="l" rtl="0">
              <a:spcBef>
                <a:spcPts val="0"/>
              </a:spcBef>
              <a:spcAft>
                <a:spcPts val="0"/>
              </a:spcAft>
              <a:buSzPts val="1400"/>
              <a:buChar char="○"/>
            </a:pPr>
            <a:r>
              <a:rPr lang="en" dirty="0"/>
              <a:t>Variables </a:t>
            </a:r>
            <a:r>
              <a:rPr lang="en" dirty="0">
                <a:solidFill>
                  <a:srgbClr val="2502F8"/>
                </a:solidFill>
              </a:rPr>
              <a:t>declared</a:t>
            </a:r>
            <a:r>
              <a:rPr lang="en" dirty="0"/>
              <a:t> outside any function or block are globally accessible.</a:t>
            </a:r>
            <a:endParaRPr dirty="0"/>
          </a:p>
          <a:p>
            <a:pPr marL="914400" lvl="1" indent="-317500" algn="l" rtl="0">
              <a:spcBef>
                <a:spcPts val="0"/>
              </a:spcBef>
              <a:spcAft>
                <a:spcPts val="0"/>
              </a:spcAft>
              <a:buSzPts val="1400"/>
              <a:buChar char="○"/>
            </a:pPr>
            <a:r>
              <a:rPr lang="en" dirty="0"/>
              <a:t>All scripts and functions in the same web page can access a variable with global scope.</a:t>
            </a:r>
            <a:endParaRPr dirty="0"/>
          </a:p>
          <a:p>
            <a:pPr marL="457200" lvl="0" indent="-342900" algn="l" rtl="0">
              <a:spcBef>
                <a:spcPts val="0"/>
              </a:spcBef>
              <a:spcAft>
                <a:spcPts val="0"/>
              </a:spcAft>
              <a:buSzPts val="1800"/>
              <a:buChar char="●"/>
            </a:pPr>
            <a:r>
              <a:rPr lang="en" dirty="0"/>
              <a:t>Function Scope</a:t>
            </a:r>
            <a:endParaRPr dirty="0"/>
          </a:p>
          <a:p>
            <a:pPr marL="914400" lvl="1" indent="-317500" algn="l" rtl="0">
              <a:spcBef>
                <a:spcPts val="0"/>
              </a:spcBef>
              <a:spcAft>
                <a:spcPts val="0"/>
              </a:spcAft>
              <a:buSzPts val="1400"/>
              <a:buChar char="○"/>
            </a:pPr>
            <a:r>
              <a:rPr lang="en" dirty="0"/>
              <a:t>Variables declared inside a function are local to that function.</a:t>
            </a:r>
            <a:endParaRPr dirty="0"/>
          </a:p>
          <a:p>
            <a:pPr marL="914400" lvl="1" indent="-317500" algn="l" rtl="0">
              <a:spcBef>
                <a:spcPts val="0"/>
              </a:spcBef>
              <a:spcAft>
                <a:spcPts val="0"/>
              </a:spcAft>
              <a:buSzPts val="1400"/>
              <a:buChar char="○"/>
            </a:pPr>
            <a:r>
              <a:rPr lang="en" dirty="0"/>
              <a:t>Local variables are created when the function starts and deleted when it ends.</a:t>
            </a:r>
            <a:endParaRPr dirty="0"/>
          </a:p>
          <a:p>
            <a:pPr marL="914400" lvl="1" indent="-317500" algn="l" rtl="0">
              <a:spcBef>
                <a:spcPts val="0"/>
              </a:spcBef>
              <a:spcAft>
                <a:spcPts val="0"/>
              </a:spcAft>
              <a:buSzPts val="1400"/>
              <a:buChar char="○"/>
            </a:pPr>
            <a:r>
              <a:rPr lang="en" dirty="0"/>
              <a:t>Identical variable names can exist in different functions without conflict.</a:t>
            </a:r>
            <a:endParaRPr dirty="0"/>
          </a:p>
          <a:p>
            <a:pPr marL="457200" lvl="0" indent="-342900" algn="l" rtl="0">
              <a:spcBef>
                <a:spcPts val="0"/>
              </a:spcBef>
              <a:spcAft>
                <a:spcPts val="0"/>
              </a:spcAft>
              <a:buSzPts val="1800"/>
              <a:buChar char="●"/>
            </a:pPr>
            <a:r>
              <a:rPr lang="en" dirty="0"/>
              <a:t>Block Scope (ES6+)</a:t>
            </a:r>
            <a:endParaRPr dirty="0"/>
          </a:p>
          <a:p>
            <a:pPr marL="914400" lvl="1" indent="-317500" algn="l" rtl="0">
              <a:spcBef>
                <a:spcPts val="0"/>
              </a:spcBef>
              <a:spcAft>
                <a:spcPts val="0"/>
              </a:spcAft>
              <a:buSzPts val="1400"/>
              <a:buChar char="○"/>
            </a:pPr>
            <a:r>
              <a:rPr lang="en" dirty="0"/>
              <a:t>Introduced with let and const. Variables declared inside {} are accessible only within that block.</a:t>
            </a:r>
            <a:endParaRPr dirty="0"/>
          </a:p>
          <a:p>
            <a:pPr marL="914400" lvl="1" indent="-317500" algn="l" rtl="0">
              <a:spcBef>
                <a:spcPts val="0"/>
              </a:spcBef>
              <a:spcAft>
                <a:spcPts val="0"/>
              </a:spcAft>
              <a:buSzPts val="1400"/>
              <a:buChar char="○"/>
            </a:pPr>
            <a:r>
              <a:rPr lang="en" dirty="0">
                <a:solidFill>
                  <a:srgbClr val="2502F8"/>
                </a:solidFill>
              </a:rPr>
              <a:t>var ignores block boundaries</a:t>
            </a:r>
            <a:endParaRPr dirty="0">
              <a:solidFill>
                <a:srgbClr val="2502F8"/>
              </a:solidFill>
            </a:endParaRPr>
          </a:p>
        </p:txBody>
      </p:sp>
      <p:sp>
        <p:nvSpPr>
          <p:cNvPr id="126" name="Google Shape;126;p2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Scope Examples</a:t>
            </a:r>
            <a:endParaRPr/>
          </a:p>
        </p:txBody>
      </p:sp>
      <p:sp>
        <p:nvSpPr>
          <p:cNvPr id="132" name="Google Shape;132;p23"/>
          <p:cNvSpPr txBox="1"/>
          <p:nvPr/>
        </p:nvSpPr>
        <p:spPr>
          <a:xfrm>
            <a:off x="376775" y="1366900"/>
            <a:ext cx="3504900" cy="16008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let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carName</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A5D6FF"/>
                </a:solidFill>
                <a:highlight>
                  <a:srgbClr val="121314"/>
                </a:highlight>
                <a:latin typeface="Courier New"/>
                <a:ea typeface="Courier New"/>
                <a:cs typeface="Courier New"/>
                <a:sym typeface="Courier New"/>
              </a:rPr>
              <a:t>"Volvo"</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8B949E"/>
                </a:solidFill>
                <a:highlight>
                  <a:srgbClr val="121314"/>
                </a:highlight>
                <a:latin typeface="Courier New"/>
                <a:ea typeface="Courier New"/>
                <a:cs typeface="Courier New"/>
                <a:sym typeface="Courier New"/>
              </a:rPr>
              <a:t>// code here can use carName</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function</a:t>
            </a:r>
            <a:r>
              <a:rPr lang="en" sz="1200">
                <a:solidFill>
                  <a:srgbClr val="BBBEBF"/>
                </a:solidFill>
                <a:highlight>
                  <a:srgbClr val="121314"/>
                </a:highlight>
                <a:latin typeface="Courier New"/>
                <a:ea typeface="Courier New"/>
                <a:cs typeface="Courier New"/>
                <a:sym typeface="Courier New"/>
              </a:rPr>
              <a:t> </a:t>
            </a:r>
            <a:r>
              <a:rPr lang="en" sz="1200">
                <a:solidFill>
                  <a:srgbClr val="D2A8FF"/>
                </a:solidFill>
                <a:highlight>
                  <a:srgbClr val="121314"/>
                </a:highlight>
                <a:latin typeface="Courier New"/>
                <a:ea typeface="Courier New"/>
                <a:cs typeface="Courier New"/>
                <a:sym typeface="Courier New"/>
              </a:rPr>
              <a:t>myFunction</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8B949E"/>
                </a:solidFill>
                <a:highlight>
                  <a:srgbClr val="121314"/>
                </a:highlight>
                <a:latin typeface="Courier New"/>
                <a:ea typeface="Courier New"/>
                <a:cs typeface="Courier New"/>
                <a:sym typeface="Courier New"/>
              </a:rPr>
              <a:t>// code here can also use carName</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p:txBody>
      </p:sp>
      <p:sp>
        <p:nvSpPr>
          <p:cNvPr id="133" name="Google Shape;133;p23"/>
          <p:cNvSpPr txBox="1"/>
          <p:nvPr/>
        </p:nvSpPr>
        <p:spPr>
          <a:xfrm>
            <a:off x="376775" y="3301550"/>
            <a:ext cx="4460100" cy="13545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function</a:t>
            </a:r>
            <a:r>
              <a:rPr lang="en" sz="1200">
                <a:solidFill>
                  <a:srgbClr val="BBBEBF"/>
                </a:solidFill>
                <a:highlight>
                  <a:srgbClr val="121314"/>
                </a:highlight>
                <a:latin typeface="Courier New"/>
                <a:ea typeface="Courier New"/>
                <a:cs typeface="Courier New"/>
                <a:sym typeface="Courier New"/>
              </a:rPr>
              <a:t> </a:t>
            </a:r>
            <a:r>
              <a:rPr lang="en" sz="1200">
                <a:solidFill>
                  <a:srgbClr val="D2A8FF"/>
                </a:solidFill>
                <a:highlight>
                  <a:srgbClr val="121314"/>
                </a:highlight>
                <a:latin typeface="Courier New"/>
                <a:ea typeface="Courier New"/>
                <a:cs typeface="Courier New"/>
                <a:sym typeface="Courier New"/>
              </a:rPr>
              <a:t>myFunction</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FF7B72"/>
                </a:solidFill>
                <a:highlight>
                  <a:srgbClr val="121314"/>
                </a:highlight>
                <a:latin typeface="Courier New"/>
                <a:ea typeface="Courier New"/>
                <a:cs typeface="Courier New"/>
                <a:sym typeface="Courier New"/>
              </a:rPr>
              <a:t>const</a:t>
            </a:r>
            <a:r>
              <a:rPr lang="en" sz="1200">
                <a:solidFill>
                  <a:srgbClr val="C9D1D9"/>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carName</a:t>
            </a:r>
            <a:r>
              <a:rPr lang="en" sz="1200">
                <a:solidFill>
                  <a:srgbClr val="C9D1D9"/>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 </a:t>
            </a:r>
            <a:r>
              <a:rPr lang="en" sz="1200">
                <a:solidFill>
                  <a:srgbClr val="A5D6FF"/>
                </a:solidFill>
                <a:highlight>
                  <a:srgbClr val="121314"/>
                </a:highlight>
                <a:latin typeface="Courier New"/>
                <a:ea typeface="Courier New"/>
                <a:cs typeface="Courier New"/>
                <a:sym typeface="Courier New"/>
              </a:rPr>
              <a:t>"Volvo"</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console</a:t>
            </a:r>
            <a:r>
              <a:rPr lang="en" sz="1200">
                <a:solidFill>
                  <a:srgbClr val="C9D1D9"/>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C9D1D9"/>
                </a:solidFill>
                <a:highlight>
                  <a:srgbClr val="121314"/>
                </a:highlight>
                <a:latin typeface="Courier New"/>
                <a:ea typeface="Courier New"/>
                <a:cs typeface="Courier New"/>
                <a:sym typeface="Courier New"/>
              </a:rPr>
              <a:t>(</a:t>
            </a:r>
            <a:r>
              <a:rPr lang="en" sz="1200">
                <a:solidFill>
                  <a:srgbClr val="79C0FF"/>
                </a:solidFill>
                <a:highlight>
                  <a:srgbClr val="121314"/>
                </a:highlight>
                <a:latin typeface="Courier New"/>
                <a:ea typeface="Courier New"/>
                <a:cs typeface="Courier New"/>
                <a:sym typeface="Courier New"/>
              </a:rPr>
              <a:t>carName</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8B949E"/>
                </a:solidFill>
                <a:highlight>
                  <a:srgbClr val="121314"/>
                </a:highlight>
                <a:latin typeface="Courier New"/>
                <a:ea typeface="Courier New"/>
                <a:cs typeface="Courier New"/>
                <a:sym typeface="Courier New"/>
              </a:rPr>
              <a:t>// console.log(carName); // Error: not defined</a:t>
            </a:r>
            <a:endParaRPr sz="1200">
              <a:solidFill>
                <a:srgbClr val="8B949E"/>
              </a:solidFill>
              <a:highlight>
                <a:srgbClr val="121314"/>
              </a:highlight>
              <a:latin typeface="Courier New"/>
              <a:ea typeface="Courier New"/>
              <a:cs typeface="Courier New"/>
              <a:sym typeface="Courier New"/>
            </a:endParaRPr>
          </a:p>
        </p:txBody>
      </p:sp>
      <p:sp>
        <p:nvSpPr>
          <p:cNvPr id="134" name="Google Shape;134;p23"/>
          <p:cNvSpPr txBox="1"/>
          <p:nvPr/>
        </p:nvSpPr>
        <p:spPr>
          <a:xfrm>
            <a:off x="4977075" y="1366900"/>
            <a:ext cx="4109400" cy="25860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dirty="0">
                <a:solidFill>
                  <a:srgbClr val="C9D1D9"/>
                </a:solidFill>
                <a:highlight>
                  <a:srgbClr val="121314"/>
                </a:highlight>
                <a:latin typeface="Courier New"/>
                <a:ea typeface="Courier New"/>
                <a:cs typeface="Courier New"/>
                <a:sym typeface="Courier New"/>
              </a:rPr>
              <a:t>{</a:t>
            </a:r>
            <a:endParaRPr sz="1200" dirty="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C9D1D9"/>
                </a:solidFill>
                <a:highlight>
                  <a:srgbClr val="121314"/>
                </a:highlight>
                <a:latin typeface="Courier New"/>
                <a:ea typeface="Courier New"/>
                <a:cs typeface="Courier New"/>
                <a:sym typeface="Courier New"/>
              </a:rPr>
              <a:t> </a:t>
            </a:r>
            <a:r>
              <a:rPr lang="en" sz="1200" dirty="0">
                <a:solidFill>
                  <a:srgbClr val="FF7B72"/>
                </a:solidFill>
                <a:highlight>
                  <a:srgbClr val="121314"/>
                </a:highlight>
                <a:latin typeface="Courier New"/>
                <a:ea typeface="Courier New"/>
                <a:cs typeface="Courier New"/>
                <a:sym typeface="Courier New"/>
              </a:rPr>
              <a:t>let</a:t>
            </a:r>
            <a:r>
              <a:rPr lang="en" sz="1200" dirty="0">
                <a:solidFill>
                  <a:srgbClr val="C9D1D9"/>
                </a:solidFill>
                <a:highlight>
                  <a:srgbClr val="121314"/>
                </a:highlight>
                <a:latin typeface="Courier New"/>
                <a:ea typeface="Courier New"/>
                <a:cs typeface="Courier New"/>
                <a:sym typeface="Courier New"/>
              </a:rPr>
              <a:t> x </a:t>
            </a:r>
            <a:r>
              <a:rPr lang="en" sz="1200" dirty="0">
                <a:solidFill>
                  <a:srgbClr val="D4D4D4"/>
                </a:solidFill>
                <a:highlight>
                  <a:srgbClr val="121314"/>
                </a:highlight>
                <a:latin typeface="Courier New"/>
                <a:ea typeface="Courier New"/>
                <a:cs typeface="Courier New"/>
                <a:sym typeface="Courier New"/>
              </a:rPr>
              <a:t>=</a:t>
            </a:r>
            <a:r>
              <a:rPr lang="en" sz="1200" dirty="0">
                <a:solidFill>
                  <a:srgbClr val="C9D1D9"/>
                </a:solidFill>
                <a:highlight>
                  <a:srgbClr val="121314"/>
                </a:highlight>
                <a:latin typeface="Courier New"/>
                <a:ea typeface="Courier New"/>
                <a:cs typeface="Courier New"/>
                <a:sym typeface="Courier New"/>
              </a:rPr>
              <a:t> </a:t>
            </a:r>
            <a:r>
              <a:rPr lang="en" sz="1200" dirty="0">
                <a:solidFill>
                  <a:srgbClr val="B5CEA8"/>
                </a:solidFill>
                <a:highlight>
                  <a:srgbClr val="121314"/>
                </a:highlight>
                <a:latin typeface="Courier New"/>
                <a:ea typeface="Courier New"/>
                <a:cs typeface="Courier New"/>
                <a:sym typeface="Courier New"/>
              </a:rPr>
              <a:t>3</a:t>
            </a:r>
            <a:r>
              <a:rPr lang="en" sz="1200" dirty="0">
                <a:solidFill>
                  <a:srgbClr val="C9D1D9"/>
                </a:solidFill>
                <a:highlight>
                  <a:srgbClr val="121314"/>
                </a:highlight>
                <a:latin typeface="Courier New"/>
                <a:ea typeface="Courier New"/>
                <a:cs typeface="Courier New"/>
                <a:sym typeface="Courier New"/>
              </a:rPr>
              <a:t>;</a:t>
            </a:r>
            <a:endParaRPr sz="1200" dirty="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C9D1D9"/>
                </a:solidFill>
                <a:highlight>
                  <a:srgbClr val="121314"/>
                </a:highlight>
                <a:latin typeface="Courier New"/>
                <a:ea typeface="Courier New"/>
                <a:cs typeface="Courier New"/>
                <a:sym typeface="Courier New"/>
              </a:rPr>
              <a:t> </a:t>
            </a:r>
            <a:r>
              <a:rPr lang="en" sz="1200" dirty="0">
                <a:solidFill>
                  <a:srgbClr val="FF7B72"/>
                </a:solidFill>
                <a:highlight>
                  <a:srgbClr val="121314"/>
                </a:highlight>
                <a:latin typeface="Courier New"/>
                <a:ea typeface="Courier New"/>
                <a:cs typeface="Courier New"/>
                <a:sym typeface="Courier New"/>
              </a:rPr>
              <a:t>const</a:t>
            </a:r>
            <a:r>
              <a:rPr lang="en" sz="1200" dirty="0">
                <a:solidFill>
                  <a:srgbClr val="C9D1D9"/>
                </a:solidFill>
                <a:highlight>
                  <a:srgbClr val="121314"/>
                </a:highlight>
                <a:latin typeface="Courier New"/>
                <a:ea typeface="Courier New"/>
                <a:cs typeface="Courier New"/>
                <a:sym typeface="Courier New"/>
              </a:rPr>
              <a:t> </a:t>
            </a:r>
            <a:r>
              <a:rPr lang="en" sz="1200" dirty="0">
                <a:solidFill>
                  <a:srgbClr val="79C0FF"/>
                </a:solidFill>
                <a:highlight>
                  <a:srgbClr val="121314"/>
                </a:highlight>
                <a:latin typeface="Courier New"/>
                <a:ea typeface="Courier New"/>
                <a:cs typeface="Courier New"/>
                <a:sym typeface="Courier New"/>
              </a:rPr>
              <a:t>y</a:t>
            </a:r>
            <a:r>
              <a:rPr lang="en" sz="1200" dirty="0">
                <a:solidFill>
                  <a:srgbClr val="C9D1D9"/>
                </a:solidFill>
                <a:highlight>
                  <a:srgbClr val="121314"/>
                </a:highlight>
                <a:latin typeface="Courier New"/>
                <a:ea typeface="Courier New"/>
                <a:cs typeface="Courier New"/>
                <a:sym typeface="Courier New"/>
              </a:rPr>
              <a:t> </a:t>
            </a:r>
            <a:r>
              <a:rPr lang="en" sz="1200" dirty="0">
                <a:solidFill>
                  <a:srgbClr val="D4D4D4"/>
                </a:solidFill>
                <a:highlight>
                  <a:srgbClr val="121314"/>
                </a:highlight>
                <a:latin typeface="Courier New"/>
                <a:ea typeface="Courier New"/>
                <a:cs typeface="Courier New"/>
                <a:sym typeface="Courier New"/>
              </a:rPr>
              <a:t>=</a:t>
            </a:r>
            <a:r>
              <a:rPr lang="en" sz="1200" dirty="0">
                <a:solidFill>
                  <a:srgbClr val="C9D1D9"/>
                </a:solidFill>
                <a:highlight>
                  <a:srgbClr val="121314"/>
                </a:highlight>
                <a:latin typeface="Courier New"/>
                <a:ea typeface="Courier New"/>
                <a:cs typeface="Courier New"/>
                <a:sym typeface="Courier New"/>
              </a:rPr>
              <a:t> </a:t>
            </a:r>
            <a:r>
              <a:rPr lang="en" sz="1200" dirty="0">
                <a:solidFill>
                  <a:srgbClr val="B5CEA8"/>
                </a:solidFill>
                <a:highlight>
                  <a:srgbClr val="121314"/>
                </a:highlight>
                <a:latin typeface="Courier New"/>
                <a:ea typeface="Courier New"/>
                <a:cs typeface="Courier New"/>
                <a:sym typeface="Courier New"/>
              </a:rPr>
              <a:t>4</a:t>
            </a:r>
            <a:r>
              <a:rPr lang="en" sz="1200" dirty="0">
                <a:solidFill>
                  <a:srgbClr val="C9D1D9"/>
                </a:solidFill>
                <a:highlight>
                  <a:srgbClr val="121314"/>
                </a:highlight>
                <a:latin typeface="Courier New"/>
                <a:ea typeface="Courier New"/>
                <a:cs typeface="Courier New"/>
                <a:sym typeface="Courier New"/>
              </a:rPr>
              <a:t>;</a:t>
            </a:r>
            <a:endParaRPr sz="1200" dirty="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C9D1D9"/>
                </a:solidFill>
                <a:highlight>
                  <a:srgbClr val="121314"/>
                </a:highlight>
                <a:latin typeface="Courier New"/>
                <a:ea typeface="Courier New"/>
                <a:cs typeface="Courier New"/>
                <a:sym typeface="Courier New"/>
              </a:rPr>
              <a:t>}</a:t>
            </a:r>
            <a:endParaRPr sz="1200" dirty="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8B949E"/>
                </a:solidFill>
                <a:highlight>
                  <a:srgbClr val="121314"/>
                </a:highlight>
                <a:latin typeface="Courier New"/>
                <a:ea typeface="Courier New"/>
                <a:cs typeface="Courier New"/>
                <a:sym typeface="Courier New"/>
              </a:rPr>
              <a:t>// x and y not accessible here</a:t>
            </a:r>
            <a:endParaRPr sz="1200" dirty="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2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C9D1D9"/>
                </a:solidFill>
                <a:highlight>
                  <a:srgbClr val="121314"/>
                </a:highlight>
                <a:latin typeface="Courier New"/>
                <a:ea typeface="Courier New"/>
                <a:cs typeface="Courier New"/>
                <a:sym typeface="Courier New"/>
              </a:rPr>
              <a:t>{</a:t>
            </a:r>
            <a:endParaRPr sz="1200" dirty="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C9D1D9"/>
                </a:solidFill>
                <a:highlight>
                  <a:srgbClr val="121314"/>
                </a:highlight>
                <a:latin typeface="Courier New"/>
                <a:ea typeface="Courier New"/>
                <a:cs typeface="Courier New"/>
                <a:sym typeface="Courier New"/>
              </a:rPr>
              <a:t> </a:t>
            </a:r>
            <a:r>
              <a:rPr lang="en" sz="1200" dirty="0">
                <a:solidFill>
                  <a:srgbClr val="FF7B72"/>
                </a:solidFill>
                <a:highlight>
                  <a:srgbClr val="121314"/>
                </a:highlight>
                <a:latin typeface="Courier New"/>
                <a:ea typeface="Courier New"/>
                <a:cs typeface="Courier New"/>
                <a:sym typeface="Courier New"/>
              </a:rPr>
              <a:t>var</a:t>
            </a:r>
            <a:r>
              <a:rPr lang="en" sz="1200" dirty="0">
                <a:solidFill>
                  <a:srgbClr val="C9D1D9"/>
                </a:solidFill>
                <a:highlight>
                  <a:srgbClr val="121314"/>
                </a:highlight>
                <a:latin typeface="Courier New"/>
                <a:ea typeface="Courier New"/>
                <a:cs typeface="Courier New"/>
                <a:sym typeface="Courier New"/>
              </a:rPr>
              <a:t> z </a:t>
            </a:r>
            <a:r>
              <a:rPr lang="en" sz="1200" dirty="0">
                <a:solidFill>
                  <a:srgbClr val="D4D4D4"/>
                </a:solidFill>
                <a:highlight>
                  <a:srgbClr val="121314"/>
                </a:highlight>
                <a:latin typeface="Courier New"/>
                <a:ea typeface="Courier New"/>
                <a:cs typeface="Courier New"/>
                <a:sym typeface="Courier New"/>
              </a:rPr>
              <a:t>=</a:t>
            </a:r>
            <a:r>
              <a:rPr lang="en" sz="1200" dirty="0">
                <a:solidFill>
                  <a:srgbClr val="C9D1D9"/>
                </a:solidFill>
                <a:highlight>
                  <a:srgbClr val="121314"/>
                </a:highlight>
                <a:latin typeface="Courier New"/>
                <a:ea typeface="Courier New"/>
                <a:cs typeface="Courier New"/>
                <a:sym typeface="Courier New"/>
              </a:rPr>
              <a:t> </a:t>
            </a:r>
            <a:r>
              <a:rPr lang="en" sz="1200" dirty="0">
                <a:solidFill>
                  <a:srgbClr val="B5CEA8"/>
                </a:solidFill>
                <a:highlight>
                  <a:srgbClr val="121314"/>
                </a:highlight>
                <a:latin typeface="Courier New"/>
                <a:ea typeface="Courier New"/>
                <a:cs typeface="Courier New"/>
                <a:sym typeface="Courier New"/>
              </a:rPr>
              <a:t>5</a:t>
            </a:r>
            <a:r>
              <a:rPr lang="en" sz="1200" dirty="0">
                <a:solidFill>
                  <a:srgbClr val="C9D1D9"/>
                </a:solidFill>
                <a:highlight>
                  <a:srgbClr val="121314"/>
                </a:highlight>
                <a:latin typeface="Courier New"/>
                <a:ea typeface="Courier New"/>
                <a:cs typeface="Courier New"/>
                <a:sym typeface="Courier New"/>
              </a:rPr>
              <a:t>;</a:t>
            </a:r>
            <a:endParaRPr sz="1200" dirty="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C9D1D9"/>
                </a:solidFill>
                <a:highlight>
                  <a:srgbClr val="121314"/>
                </a:highlight>
                <a:latin typeface="Courier New"/>
                <a:ea typeface="Courier New"/>
                <a:cs typeface="Courier New"/>
                <a:sym typeface="Courier New"/>
              </a:rPr>
              <a:t>}</a:t>
            </a:r>
            <a:endParaRPr sz="1200" dirty="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79C0FF"/>
                </a:solidFill>
                <a:highlight>
                  <a:srgbClr val="121314"/>
                </a:highlight>
                <a:latin typeface="Courier New"/>
                <a:ea typeface="Courier New"/>
                <a:cs typeface="Courier New"/>
                <a:sym typeface="Courier New"/>
              </a:rPr>
              <a:t>console</a:t>
            </a:r>
            <a:r>
              <a:rPr lang="en" sz="1200" dirty="0">
                <a:solidFill>
                  <a:srgbClr val="BBBEBF"/>
                </a:solidFill>
                <a:highlight>
                  <a:srgbClr val="121314"/>
                </a:highlight>
                <a:latin typeface="Courier New"/>
                <a:ea typeface="Courier New"/>
                <a:cs typeface="Courier New"/>
                <a:sym typeface="Courier New"/>
              </a:rPr>
              <a:t>.</a:t>
            </a:r>
            <a:r>
              <a:rPr lang="en" sz="1200" dirty="0">
                <a:solidFill>
                  <a:srgbClr val="D2A8FF"/>
                </a:solidFill>
                <a:highlight>
                  <a:srgbClr val="121314"/>
                </a:highlight>
                <a:latin typeface="Courier New"/>
                <a:ea typeface="Courier New"/>
                <a:cs typeface="Courier New"/>
                <a:sym typeface="Courier New"/>
              </a:rPr>
              <a:t>log</a:t>
            </a:r>
            <a:r>
              <a:rPr lang="en" sz="1200" dirty="0">
                <a:solidFill>
                  <a:srgbClr val="BBBEBF"/>
                </a:solidFill>
                <a:highlight>
                  <a:srgbClr val="121314"/>
                </a:highlight>
                <a:latin typeface="Courier New"/>
                <a:ea typeface="Courier New"/>
                <a:cs typeface="Courier New"/>
                <a:sym typeface="Courier New"/>
              </a:rPr>
              <a:t>(</a:t>
            </a:r>
            <a:r>
              <a:rPr lang="en" sz="1200" dirty="0">
                <a:solidFill>
                  <a:srgbClr val="C9D1D9"/>
                </a:solidFill>
                <a:highlight>
                  <a:srgbClr val="121314"/>
                </a:highlight>
                <a:latin typeface="Courier New"/>
                <a:ea typeface="Courier New"/>
                <a:cs typeface="Courier New"/>
                <a:sym typeface="Courier New"/>
              </a:rPr>
              <a:t>z</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8B949E"/>
                </a:solidFill>
                <a:highlight>
                  <a:srgbClr val="121314"/>
                </a:highlight>
                <a:latin typeface="Courier New"/>
                <a:ea typeface="Courier New"/>
                <a:cs typeface="Courier New"/>
                <a:sym typeface="Courier New"/>
              </a:rPr>
              <a:t>// Works (not recommended)</a:t>
            </a:r>
            <a:endParaRPr sz="1200" dirty="0">
              <a:solidFill>
                <a:srgbClr val="8B949E"/>
              </a:solidFill>
              <a:highlight>
                <a:srgbClr val="121314"/>
              </a:highlight>
              <a:latin typeface="Courier New"/>
              <a:ea typeface="Courier New"/>
              <a:cs typeface="Courier New"/>
              <a:sym typeface="Courier New"/>
            </a:endParaRPr>
          </a:p>
        </p:txBody>
      </p:sp>
      <p:sp>
        <p:nvSpPr>
          <p:cNvPr id="135" name="Google Shape;135;p2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Variable Declaration and Assignment</a:t>
            </a:r>
            <a:endParaRPr/>
          </a:p>
        </p:txBody>
      </p:sp>
      <p:sp>
        <p:nvSpPr>
          <p:cNvPr id="141" name="Google Shape;141;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a:bodyPr>
          <a:lstStyle/>
          <a:p>
            <a:pPr marL="457200" lvl="0" indent="-342900" algn="l" rtl="0">
              <a:spcBef>
                <a:spcPts val="0"/>
              </a:spcBef>
              <a:spcAft>
                <a:spcPts val="0"/>
              </a:spcAft>
              <a:buSzPts val="1800"/>
              <a:buChar char="●"/>
            </a:pPr>
            <a:r>
              <a:rPr lang="en" dirty="0"/>
              <a:t>A variable is assigned a value with an assignment statement, using the assignment operator, =.</a:t>
            </a:r>
            <a:endParaRPr dirty="0"/>
          </a:p>
          <a:p>
            <a:pPr marL="914400" lvl="1" indent="-317500" algn="l" rtl="0">
              <a:spcBef>
                <a:spcPts val="0"/>
              </a:spcBef>
              <a:spcAft>
                <a:spcPts val="0"/>
              </a:spcAft>
              <a:buSzPts val="1400"/>
              <a:buChar char="○"/>
            </a:pPr>
            <a:r>
              <a:rPr lang="en" dirty="0"/>
              <a:t>The = operator is called a binary operator, because it has two operands.</a:t>
            </a:r>
            <a:endParaRPr dirty="0"/>
          </a:p>
          <a:p>
            <a:pPr marL="457200" lvl="0" indent="-342900" algn="l" rtl="0">
              <a:spcBef>
                <a:spcPts val="0"/>
              </a:spcBef>
              <a:spcAft>
                <a:spcPts val="0"/>
              </a:spcAft>
              <a:buSzPts val="1800"/>
              <a:buChar char="●"/>
            </a:pPr>
            <a:r>
              <a:rPr lang="en" dirty="0"/>
              <a:t>JavaScript does not require variables to have a type before they can be used in a script.</a:t>
            </a:r>
            <a:endParaRPr dirty="0"/>
          </a:p>
          <a:p>
            <a:pPr marL="457200" lvl="0" indent="-342900" algn="l" rtl="0">
              <a:spcBef>
                <a:spcPts val="0"/>
              </a:spcBef>
              <a:spcAft>
                <a:spcPts val="0"/>
              </a:spcAft>
              <a:buSzPts val="1800"/>
              <a:buChar char="●"/>
            </a:pPr>
            <a:r>
              <a:rPr lang="en" dirty="0"/>
              <a:t>A variable in JavaScript can contain a value of any data type, and in many situations, JavaScript automatically converts between values of different types for you.</a:t>
            </a:r>
            <a:endParaRPr dirty="0"/>
          </a:p>
          <a:p>
            <a:pPr marL="457200" lvl="0" indent="-342900" algn="l" rtl="0">
              <a:spcBef>
                <a:spcPts val="0"/>
              </a:spcBef>
              <a:spcAft>
                <a:spcPts val="0"/>
              </a:spcAft>
              <a:buSzPts val="1800"/>
              <a:buChar char="●"/>
            </a:pPr>
            <a:r>
              <a:rPr lang="en" dirty="0">
                <a:solidFill>
                  <a:srgbClr val="2502F8"/>
                </a:solidFill>
              </a:rPr>
              <a:t>When a variable is declared in JavaScript, but is not given a value, it has an undefined value</a:t>
            </a:r>
            <a:r>
              <a:rPr lang="en" dirty="0"/>
              <a:t>.</a:t>
            </a:r>
            <a:endParaRPr dirty="0"/>
          </a:p>
          <a:p>
            <a:pPr marL="914400" lvl="1" indent="-317500" algn="l" rtl="0">
              <a:spcBef>
                <a:spcPts val="0"/>
              </a:spcBef>
              <a:spcAft>
                <a:spcPts val="0"/>
              </a:spcAft>
              <a:buSzPts val="1400"/>
              <a:buChar char="○"/>
            </a:pPr>
            <a:r>
              <a:rPr lang="en" dirty="0"/>
              <a:t>Attempting to use the value of such a variable is normally a logic error.</a:t>
            </a:r>
            <a:endParaRPr dirty="0"/>
          </a:p>
          <a:p>
            <a:pPr marL="914400" lvl="1" indent="-317500" algn="l" rtl="0">
              <a:spcBef>
                <a:spcPts val="0"/>
              </a:spcBef>
              <a:spcAft>
                <a:spcPts val="0"/>
              </a:spcAft>
              <a:buSzPts val="1400"/>
              <a:buChar char="○"/>
            </a:pPr>
            <a:r>
              <a:rPr lang="en" dirty="0"/>
              <a:t>To indicate that a variable does not contain a value, you can assign </a:t>
            </a:r>
            <a:r>
              <a:rPr lang="en" dirty="0">
                <a:solidFill>
                  <a:srgbClr val="FF0000"/>
                </a:solidFill>
              </a:rPr>
              <a:t>the value null </a:t>
            </a:r>
            <a:r>
              <a:rPr lang="en" dirty="0"/>
              <a:t>to it.</a:t>
            </a:r>
            <a:endParaRPr dirty="0"/>
          </a:p>
        </p:txBody>
      </p:sp>
      <p:sp>
        <p:nvSpPr>
          <p:cNvPr id="142" name="Google Shape;142;p2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Automatically Global &amp; Strict Mode</a:t>
            </a:r>
            <a:endParaRPr/>
          </a:p>
        </p:txBody>
      </p:sp>
      <p:sp>
        <p:nvSpPr>
          <p:cNvPr id="148" name="Google Shape;148;p25"/>
          <p:cNvSpPr txBox="1">
            <a:spLocks noGrp="1"/>
          </p:cNvSpPr>
          <p:nvPr>
            <p:ph type="body" idx="1"/>
          </p:nvPr>
        </p:nvSpPr>
        <p:spPr>
          <a:xfrm>
            <a:off x="311700" y="1152475"/>
            <a:ext cx="8520600" cy="14193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Assigning a value to an undeclared variable makes it global</a:t>
            </a:r>
            <a:endParaRPr dirty="0"/>
          </a:p>
          <a:p>
            <a:pPr marL="457200" lvl="0" indent="-342900" algn="l" rtl="0">
              <a:spcBef>
                <a:spcPts val="0"/>
              </a:spcBef>
              <a:spcAft>
                <a:spcPts val="0"/>
              </a:spcAft>
              <a:buSzPts val="1800"/>
              <a:buChar char="●"/>
            </a:pPr>
            <a:r>
              <a:rPr lang="en" dirty="0"/>
              <a:t>In Strict Mode, undeclared variables cause errors — preventing accidental global creation.</a:t>
            </a:r>
          </a:p>
          <a:p>
            <a:pPr lvl="1">
              <a:lnSpc>
                <a:spcPct val="110000"/>
              </a:lnSpc>
              <a:spcBef>
                <a:spcPts val="0"/>
              </a:spcBef>
            </a:pPr>
            <a:r>
              <a:rPr lang="en-US" altLang="zh-TW" b="0" dirty="0">
                <a:solidFill>
                  <a:srgbClr val="A5D6FF"/>
                </a:solidFill>
                <a:effectLst/>
                <a:highlight>
                  <a:srgbClr val="000000"/>
                </a:highlight>
                <a:latin typeface="Consolas" panose="020B0609020204030204" pitchFamily="49" charset="0"/>
              </a:rPr>
              <a:t>"use strict"</a:t>
            </a:r>
            <a:r>
              <a:rPr lang="en-US" altLang="zh-TW" b="0" dirty="0">
                <a:solidFill>
                  <a:srgbClr val="BBBEBF"/>
                </a:solidFill>
                <a:effectLst/>
                <a:highlight>
                  <a:srgbClr val="000000"/>
                </a:highlight>
                <a:latin typeface="Consolas" panose="020B0609020204030204" pitchFamily="49" charset="0"/>
              </a:rPr>
              <a:t>;</a:t>
            </a:r>
          </a:p>
        </p:txBody>
      </p:sp>
      <p:sp>
        <p:nvSpPr>
          <p:cNvPr id="149" name="Google Shape;149;p25"/>
          <p:cNvSpPr txBox="1"/>
          <p:nvPr/>
        </p:nvSpPr>
        <p:spPr>
          <a:xfrm>
            <a:off x="795300" y="2655825"/>
            <a:ext cx="4381262" cy="1169521"/>
          </a:xfrm>
          <a:prstGeom prst="rect">
            <a:avLst/>
          </a:prstGeom>
          <a:solidFill>
            <a:schemeClr val="dk2"/>
          </a:solidFill>
          <a:ln>
            <a:noFill/>
          </a:ln>
        </p:spPr>
        <p:txBody>
          <a:bodyPr spcFirstLastPara="1" wrap="square" lIns="91425" tIns="91425" rIns="91425" bIns="91425" anchor="t" anchorCtr="0">
            <a:spAutoFit/>
          </a:bodyPr>
          <a:lstStyle/>
          <a:p>
            <a:r>
              <a:rPr lang="en-US" altLang="zh-TW" sz="1600" b="0" dirty="0">
                <a:solidFill>
                  <a:srgbClr val="FF7B72"/>
                </a:solidFill>
                <a:effectLst/>
                <a:latin typeface="Consolas" panose="020B0609020204030204" pitchFamily="49" charset="0"/>
              </a:rPr>
              <a:t>function</a:t>
            </a:r>
            <a:r>
              <a:rPr lang="en-US" altLang="zh-TW" sz="1600" b="0" dirty="0">
                <a:solidFill>
                  <a:srgbClr val="BBBEBF"/>
                </a:solidFill>
                <a:effectLst/>
                <a:latin typeface="Consolas" panose="020B0609020204030204" pitchFamily="49" charset="0"/>
              </a:rPr>
              <a:t> </a:t>
            </a:r>
            <a:r>
              <a:rPr lang="en-US" altLang="zh-TW" sz="1600" b="0" dirty="0" err="1">
                <a:solidFill>
                  <a:srgbClr val="D2A8FF"/>
                </a:solidFill>
                <a:effectLst/>
                <a:latin typeface="Consolas" panose="020B0609020204030204" pitchFamily="49" charset="0"/>
              </a:rPr>
              <a:t>myFunction</a:t>
            </a:r>
            <a:r>
              <a:rPr lang="en-US" altLang="zh-TW" sz="1600" b="0" dirty="0">
                <a:solidFill>
                  <a:srgbClr val="BBBEBF"/>
                </a:solidFill>
                <a:effectLst/>
                <a:latin typeface="Consolas" panose="020B0609020204030204" pitchFamily="49" charset="0"/>
              </a:rPr>
              <a:t>() </a:t>
            </a:r>
            <a:r>
              <a:rPr lang="en-US" altLang="zh-TW" sz="1600" b="0" dirty="0">
                <a:solidFill>
                  <a:srgbClr val="C9D1D9"/>
                </a:solidFill>
                <a:effectLst/>
                <a:latin typeface="Consolas" panose="020B0609020204030204" pitchFamily="49" charset="0"/>
              </a:rPr>
              <a:t>{</a:t>
            </a:r>
            <a:endParaRPr lang="en-US" altLang="zh-TW" sz="1600" b="0" dirty="0">
              <a:solidFill>
                <a:srgbClr val="BBBEBF"/>
              </a:solidFill>
              <a:effectLst/>
              <a:latin typeface="Consolas" panose="020B0609020204030204" pitchFamily="49" charset="0"/>
            </a:endParaRPr>
          </a:p>
          <a:p>
            <a:r>
              <a:rPr lang="en-US" altLang="zh-TW" sz="1600" b="0" dirty="0">
                <a:solidFill>
                  <a:srgbClr val="C9D1D9"/>
                </a:solidFill>
                <a:effectLst/>
                <a:latin typeface="Consolas" panose="020B0609020204030204" pitchFamily="49" charset="0"/>
              </a:rPr>
              <a:t> </a:t>
            </a:r>
            <a:r>
              <a:rPr lang="en-US" altLang="zh-TW" sz="1600" b="0" dirty="0">
                <a:solidFill>
                  <a:srgbClr val="8B949E"/>
                </a:solidFill>
                <a:effectLst/>
                <a:latin typeface="Consolas" panose="020B0609020204030204" pitchFamily="49" charset="0"/>
              </a:rPr>
              <a:t>//use strict;</a:t>
            </a:r>
            <a:endParaRPr lang="en-US" altLang="zh-TW" sz="1600" b="0" dirty="0">
              <a:solidFill>
                <a:srgbClr val="BBBEBF"/>
              </a:solidFill>
              <a:effectLst/>
              <a:latin typeface="Consolas" panose="020B0609020204030204" pitchFamily="49" charset="0"/>
            </a:endParaRPr>
          </a:p>
          <a:p>
            <a:r>
              <a:rPr lang="en-US" altLang="zh-TW" sz="1600" b="0" dirty="0">
                <a:solidFill>
                  <a:srgbClr val="C9D1D9"/>
                </a:solidFill>
                <a:effectLst/>
                <a:latin typeface="Consolas" panose="020B0609020204030204" pitchFamily="49" charset="0"/>
              </a:rPr>
              <a:t> </a:t>
            </a:r>
            <a:r>
              <a:rPr lang="en-US" altLang="zh-TW" sz="1600" b="0" dirty="0" err="1">
                <a:solidFill>
                  <a:srgbClr val="C9D1D9"/>
                </a:solidFill>
                <a:effectLst/>
                <a:latin typeface="Consolas" panose="020B0609020204030204" pitchFamily="49" charset="0"/>
              </a:rPr>
              <a:t>carName</a:t>
            </a:r>
            <a:r>
              <a:rPr lang="en-US" altLang="zh-TW" sz="1600" b="0" dirty="0">
                <a:solidFill>
                  <a:srgbClr val="C9D1D9"/>
                </a:solidFill>
                <a:effectLst/>
                <a:latin typeface="Consolas" panose="020B0609020204030204" pitchFamily="49" charset="0"/>
              </a:rPr>
              <a:t> </a:t>
            </a:r>
            <a:r>
              <a:rPr lang="en-US" altLang="zh-TW" sz="1600" b="0" dirty="0">
                <a:solidFill>
                  <a:srgbClr val="D4D4D4"/>
                </a:solidFill>
                <a:effectLst/>
                <a:latin typeface="Consolas" panose="020B0609020204030204" pitchFamily="49" charset="0"/>
              </a:rPr>
              <a:t>=</a:t>
            </a:r>
            <a:r>
              <a:rPr lang="en-US" altLang="zh-TW" sz="1600" b="0" dirty="0">
                <a:solidFill>
                  <a:srgbClr val="C9D1D9"/>
                </a:solidFill>
                <a:effectLst/>
                <a:latin typeface="Consolas" panose="020B0609020204030204" pitchFamily="49" charset="0"/>
              </a:rPr>
              <a:t> </a:t>
            </a:r>
            <a:r>
              <a:rPr lang="en-US" altLang="zh-TW" sz="1600" b="0" dirty="0">
                <a:solidFill>
                  <a:srgbClr val="A5D6FF"/>
                </a:solidFill>
                <a:effectLst/>
                <a:latin typeface="Consolas" panose="020B0609020204030204" pitchFamily="49" charset="0"/>
              </a:rPr>
              <a:t>"Volvo"</a:t>
            </a:r>
            <a:r>
              <a:rPr lang="en-US" altLang="zh-TW" sz="1600" b="0" dirty="0">
                <a:solidFill>
                  <a:srgbClr val="C9D1D9"/>
                </a:solidFill>
                <a:effectLst/>
                <a:latin typeface="Consolas" panose="020B0609020204030204" pitchFamily="49" charset="0"/>
              </a:rPr>
              <a:t>; </a:t>
            </a:r>
            <a:r>
              <a:rPr lang="en-US" altLang="zh-TW" sz="1600" b="0" dirty="0">
                <a:solidFill>
                  <a:srgbClr val="8B949E"/>
                </a:solidFill>
                <a:effectLst/>
                <a:latin typeface="Consolas" panose="020B0609020204030204" pitchFamily="49" charset="0"/>
              </a:rPr>
              <a:t>// becomes global</a:t>
            </a:r>
            <a:endParaRPr lang="en-US" altLang="zh-TW" sz="1600" b="0" dirty="0">
              <a:solidFill>
                <a:srgbClr val="BBBEBF"/>
              </a:solidFill>
              <a:effectLst/>
              <a:latin typeface="Consolas" panose="020B0609020204030204" pitchFamily="49" charset="0"/>
            </a:endParaRPr>
          </a:p>
          <a:p>
            <a:r>
              <a:rPr lang="en-US" altLang="zh-TW" sz="1600" b="0" dirty="0">
                <a:solidFill>
                  <a:srgbClr val="C9D1D9"/>
                </a:solidFill>
                <a:effectLst/>
                <a:latin typeface="Consolas" panose="020B0609020204030204" pitchFamily="49" charset="0"/>
              </a:rPr>
              <a:t>}</a:t>
            </a:r>
            <a:endParaRPr lang="en-US" altLang="zh-TW" sz="1600" b="0" dirty="0">
              <a:solidFill>
                <a:srgbClr val="BBBEBF"/>
              </a:solidFill>
              <a:effectLst/>
              <a:latin typeface="Consolas" panose="020B0609020204030204" pitchFamily="49" charset="0"/>
            </a:endParaRPr>
          </a:p>
        </p:txBody>
      </p:sp>
      <p:sp>
        <p:nvSpPr>
          <p:cNvPr id="150" name="Google Shape;150;p2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Hoisting</a:t>
            </a:r>
            <a:endParaRPr/>
          </a:p>
        </p:txBody>
      </p:sp>
      <p:sp>
        <p:nvSpPr>
          <p:cNvPr id="156" name="Google Shape;156;p26"/>
          <p:cNvSpPr txBox="1">
            <a:spLocks noGrp="1"/>
          </p:cNvSpPr>
          <p:nvPr>
            <p:ph type="body" idx="1"/>
          </p:nvPr>
        </p:nvSpPr>
        <p:spPr>
          <a:xfrm>
            <a:off x="311700" y="1152475"/>
            <a:ext cx="8520600" cy="2553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Hoisting is JavaScript’s behavior of moving declarations to the top of their scope before code execution.</a:t>
            </a:r>
            <a:endParaRPr/>
          </a:p>
          <a:p>
            <a:pPr marL="457200" lvl="0" indent="-342900" algn="l" rtl="0">
              <a:spcBef>
                <a:spcPts val="0"/>
              </a:spcBef>
              <a:spcAft>
                <a:spcPts val="0"/>
              </a:spcAft>
              <a:buSzPts val="1800"/>
              <a:buChar char="●"/>
            </a:pPr>
            <a:r>
              <a:rPr lang="en"/>
              <a:t>Effect: Variables and functions can be used before they are declared, but only their declarations are hoisted — not initializations.</a:t>
            </a:r>
            <a:endParaRPr/>
          </a:p>
          <a:p>
            <a:pPr marL="457200" lvl="0" indent="-342900" algn="l" rtl="0">
              <a:spcBef>
                <a:spcPts val="0"/>
              </a:spcBef>
              <a:spcAft>
                <a:spcPts val="0"/>
              </a:spcAft>
              <a:buSzPts val="1800"/>
              <a:buChar char="●"/>
            </a:pPr>
            <a:r>
              <a:rPr lang="en"/>
              <a:t>Variable hoisting</a:t>
            </a:r>
            <a:endParaRPr/>
          </a:p>
          <a:p>
            <a:pPr marL="914400" lvl="1" indent="-317500" algn="l" rtl="0">
              <a:spcBef>
                <a:spcPts val="0"/>
              </a:spcBef>
              <a:spcAft>
                <a:spcPts val="0"/>
              </a:spcAft>
              <a:buSzPts val="1400"/>
              <a:buChar char="○"/>
            </a:pPr>
            <a:r>
              <a:rPr lang="en"/>
              <a:t>var: value is initialized as undefined (still executable)</a:t>
            </a:r>
            <a:endParaRPr/>
          </a:p>
          <a:p>
            <a:pPr marL="914400" lvl="1" indent="-317500" algn="l" rtl="0">
              <a:spcBef>
                <a:spcPts val="0"/>
              </a:spcBef>
              <a:spcAft>
                <a:spcPts val="0"/>
              </a:spcAft>
              <a:buSzPts val="1400"/>
              <a:buChar char="○"/>
            </a:pPr>
            <a:r>
              <a:rPr lang="en"/>
              <a:t>let and const: value is not initialized and any access causes ReferenceError, i.e. variables are in so-called Temporal Dead Zone (TDZ).</a:t>
            </a:r>
            <a:endParaRPr/>
          </a:p>
        </p:txBody>
      </p:sp>
      <p:sp>
        <p:nvSpPr>
          <p:cNvPr id="157" name="Google Shape;157;p26"/>
          <p:cNvSpPr txBox="1"/>
          <p:nvPr/>
        </p:nvSpPr>
        <p:spPr>
          <a:xfrm>
            <a:off x="311700" y="3662650"/>
            <a:ext cx="3000000" cy="6156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79C0FF"/>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a</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var</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5</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p:txBody>
      </p:sp>
      <p:pic>
        <p:nvPicPr>
          <p:cNvPr id="158" name="Google Shape;158;p26"/>
          <p:cNvPicPr preferRelativeResize="0"/>
          <p:nvPr/>
        </p:nvPicPr>
        <p:blipFill>
          <a:blip r:embed="rId3">
            <a:alphaModFix/>
          </a:blip>
          <a:stretch>
            <a:fillRect/>
          </a:stretch>
        </p:blipFill>
        <p:spPr>
          <a:xfrm>
            <a:off x="311700" y="4367000"/>
            <a:ext cx="962025" cy="485775"/>
          </a:xfrm>
          <a:prstGeom prst="rect">
            <a:avLst/>
          </a:prstGeom>
          <a:noFill/>
          <a:ln>
            <a:noFill/>
          </a:ln>
        </p:spPr>
      </p:pic>
      <p:sp>
        <p:nvSpPr>
          <p:cNvPr id="159" name="Google Shape;159;p26"/>
          <p:cNvSpPr txBox="1"/>
          <p:nvPr/>
        </p:nvSpPr>
        <p:spPr>
          <a:xfrm>
            <a:off x="4013150" y="3662650"/>
            <a:ext cx="3000000" cy="6156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79C0FF"/>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a</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let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5</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p:txBody>
      </p:sp>
      <p:pic>
        <p:nvPicPr>
          <p:cNvPr id="160" name="Google Shape;160;p26"/>
          <p:cNvPicPr preferRelativeResize="0"/>
          <p:nvPr/>
        </p:nvPicPr>
        <p:blipFill>
          <a:blip r:embed="rId4">
            <a:alphaModFix/>
          </a:blip>
          <a:stretch>
            <a:fillRect/>
          </a:stretch>
        </p:blipFill>
        <p:spPr>
          <a:xfrm>
            <a:off x="4013150" y="4414625"/>
            <a:ext cx="4333875" cy="390525"/>
          </a:xfrm>
          <a:prstGeom prst="rect">
            <a:avLst/>
          </a:prstGeom>
          <a:noFill/>
          <a:ln>
            <a:noFill/>
          </a:ln>
        </p:spPr>
      </p:pic>
      <p:sp>
        <p:nvSpPr>
          <p:cNvPr id="161" name="Google Shape;161;p2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Function Hoisting</a:t>
            </a:r>
            <a:endParaRPr/>
          </a:p>
        </p:txBody>
      </p:sp>
      <p:sp>
        <p:nvSpPr>
          <p:cNvPr id="167" name="Google Shape;167;p27"/>
          <p:cNvSpPr txBox="1">
            <a:spLocks noGrp="1"/>
          </p:cNvSpPr>
          <p:nvPr>
            <p:ph type="body" idx="1"/>
          </p:nvPr>
        </p:nvSpPr>
        <p:spPr>
          <a:xfrm>
            <a:off x="311700" y="1152475"/>
            <a:ext cx="3999900" cy="8715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dirty="0"/>
              <a:t>Function </a:t>
            </a:r>
            <a:r>
              <a:rPr lang="en" dirty="0">
                <a:solidFill>
                  <a:srgbClr val="2502F8"/>
                </a:solidFill>
              </a:rPr>
              <a:t>declarations</a:t>
            </a:r>
            <a:r>
              <a:rPr lang="en" dirty="0"/>
              <a:t> are fully hoisted — both name and body.</a:t>
            </a:r>
            <a:endParaRPr dirty="0"/>
          </a:p>
        </p:txBody>
      </p:sp>
      <p:sp>
        <p:nvSpPr>
          <p:cNvPr id="168" name="Google Shape;168;p27"/>
          <p:cNvSpPr txBox="1">
            <a:spLocks noGrp="1"/>
          </p:cNvSpPr>
          <p:nvPr>
            <p:ph type="body" idx="2"/>
          </p:nvPr>
        </p:nvSpPr>
        <p:spPr>
          <a:xfrm>
            <a:off x="4832400" y="1152475"/>
            <a:ext cx="3999900" cy="5211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dirty="0"/>
              <a:t>Function </a:t>
            </a:r>
            <a:r>
              <a:rPr lang="en" dirty="0">
                <a:solidFill>
                  <a:srgbClr val="2502F8"/>
                </a:solidFill>
              </a:rPr>
              <a:t>expressions</a:t>
            </a:r>
            <a:r>
              <a:rPr lang="en" dirty="0"/>
              <a:t> are not hoisted:</a:t>
            </a:r>
            <a:endParaRPr dirty="0"/>
          </a:p>
        </p:txBody>
      </p:sp>
      <p:sp>
        <p:nvSpPr>
          <p:cNvPr id="169" name="Google Shape;169;p27"/>
          <p:cNvSpPr txBox="1"/>
          <p:nvPr/>
        </p:nvSpPr>
        <p:spPr>
          <a:xfrm>
            <a:off x="700975" y="1883900"/>
            <a:ext cx="3000000" cy="8619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D2A8FF"/>
                </a:solidFill>
                <a:highlight>
                  <a:srgbClr val="121314"/>
                </a:highlight>
                <a:latin typeface="Courier New"/>
                <a:ea typeface="Courier New"/>
                <a:cs typeface="Courier New"/>
                <a:sym typeface="Courier New"/>
              </a:rPr>
              <a:t>greet</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Works</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function</a:t>
            </a:r>
            <a:r>
              <a:rPr lang="en" sz="1200">
                <a:solidFill>
                  <a:srgbClr val="BBBEBF"/>
                </a:solidFill>
                <a:highlight>
                  <a:srgbClr val="121314"/>
                </a:highlight>
                <a:latin typeface="Courier New"/>
                <a:ea typeface="Courier New"/>
                <a:cs typeface="Courier New"/>
                <a:sym typeface="Courier New"/>
              </a:rPr>
              <a:t> </a:t>
            </a:r>
            <a:r>
              <a:rPr lang="en" sz="1200">
                <a:solidFill>
                  <a:srgbClr val="D2A8FF"/>
                </a:solidFill>
                <a:highlight>
                  <a:srgbClr val="121314"/>
                </a:highlight>
                <a:latin typeface="Courier New"/>
                <a:ea typeface="Courier New"/>
                <a:cs typeface="Courier New"/>
                <a:sym typeface="Courier New"/>
              </a:rPr>
              <a:t>greet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console</a:t>
            </a:r>
            <a:r>
              <a:rPr lang="en" sz="1200">
                <a:solidFill>
                  <a:srgbClr val="C9D1D9"/>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C9D1D9"/>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"Hello!"</a:t>
            </a:r>
            <a:r>
              <a:rPr lang="en" sz="1200">
                <a:solidFill>
                  <a:srgbClr val="C9D1D9"/>
                </a:solidFill>
                <a:highlight>
                  <a:srgbClr val="121314"/>
                </a:highlight>
                <a:latin typeface="Courier New"/>
                <a:ea typeface="Courier New"/>
                <a:cs typeface="Courier New"/>
                <a:sym typeface="Courier New"/>
              </a:rPr>
              <a:t>); }</a:t>
            </a:r>
            <a:endParaRPr sz="1200">
              <a:solidFill>
                <a:srgbClr val="C9D1D9"/>
              </a:solidFill>
              <a:highlight>
                <a:srgbClr val="121314"/>
              </a:highlight>
              <a:latin typeface="Courier New"/>
              <a:ea typeface="Courier New"/>
              <a:cs typeface="Courier New"/>
              <a:sym typeface="Courier New"/>
            </a:endParaRPr>
          </a:p>
        </p:txBody>
      </p:sp>
      <p:pic>
        <p:nvPicPr>
          <p:cNvPr id="170" name="Google Shape;170;p27"/>
          <p:cNvPicPr preferRelativeResize="0"/>
          <p:nvPr/>
        </p:nvPicPr>
        <p:blipFill>
          <a:blip r:embed="rId3">
            <a:alphaModFix/>
          </a:blip>
          <a:stretch>
            <a:fillRect/>
          </a:stretch>
        </p:blipFill>
        <p:spPr>
          <a:xfrm>
            <a:off x="700975" y="2959525"/>
            <a:ext cx="866775" cy="447675"/>
          </a:xfrm>
          <a:prstGeom prst="rect">
            <a:avLst/>
          </a:prstGeom>
          <a:noFill/>
          <a:ln>
            <a:noFill/>
          </a:ln>
        </p:spPr>
      </p:pic>
      <p:sp>
        <p:nvSpPr>
          <p:cNvPr id="171" name="Google Shape;171;p27"/>
          <p:cNvSpPr txBox="1"/>
          <p:nvPr/>
        </p:nvSpPr>
        <p:spPr>
          <a:xfrm>
            <a:off x="5222375" y="1647317"/>
            <a:ext cx="3000000" cy="8619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dirty="0">
                <a:solidFill>
                  <a:srgbClr val="D2A8FF"/>
                </a:solidFill>
                <a:highlight>
                  <a:srgbClr val="121314"/>
                </a:highlight>
                <a:latin typeface="Courier New"/>
                <a:ea typeface="Courier New"/>
                <a:cs typeface="Courier New"/>
                <a:sym typeface="Courier New"/>
              </a:rPr>
              <a:t>greet</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8B949E"/>
                </a:solidFill>
                <a:highlight>
                  <a:srgbClr val="121314"/>
                </a:highlight>
                <a:latin typeface="Courier New"/>
                <a:ea typeface="Courier New"/>
                <a:cs typeface="Courier New"/>
                <a:sym typeface="Courier New"/>
              </a:rPr>
              <a:t>// Error</a:t>
            </a:r>
            <a:endParaRPr sz="1200" dirty="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FF7B72"/>
                </a:solidFill>
                <a:highlight>
                  <a:srgbClr val="121314"/>
                </a:highlight>
                <a:latin typeface="Courier New"/>
                <a:ea typeface="Courier New"/>
                <a:cs typeface="Courier New"/>
                <a:sym typeface="Courier New"/>
              </a:rPr>
              <a:t>var</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D2A8FF"/>
                </a:solidFill>
                <a:highlight>
                  <a:srgbClr val="121314"/>
                </a:highlight>
                <a:latin typeface="Courier New"/>
                <a:ea typeface="Courier New"/>
                <a:cs typeface="Courier New"/>
                <a:sym typeface="Courier New"/>
              </a:rPr>
              <a:t>greet</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D4D4D4"/>
                </a:solidFill>
                <a:highlight>
                  <a:srgbClr val="121314"/>
                </a:highlight>
                <a:latin typeface="Courier New"/>
                <a:ea typeface="Courier New"/>
                <a:cs typeface="Courier New"/>
                <a:sym typeface="Courier New"/>
              </a:rPr>
              <a:t>=</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FF7B72"/>
                </a:solidFill>
                <a:highlight>
                  <a:srgbClr val="121314"/>
                </a:highlight>
                <a:latin typeface="Courier New"/>
                <a:ea typeface="Courier New"/>
                <a:cs typeface="Courier New"/>
                <a:sym typeface="Courier New"/>
              </a:rPr>
              <a:t>function</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C9D1D9"/>
                </a:solidFill>
                <a:highlight>
                  <a:srgbClr val="121314"/>
                </a:highlight>
                <a:latin typeface="Courier New"/>
                <a:ea typeface="Courier New"/>
                <a:cs typeface="Courier New"/>
                <a:sym typeface="Courier New"/>
              </a:rPr>
              <a:t>{ </a:t>
            </a:r>
            <a:r>
              <a:rPr lang="en" sz="1200" dirty="0">
                <a:solidFill>
                  <a:srgbClr val="79C0FF"/>
                </a:solidFill>
                <a:highlight>
                  <a:srgbClr val="121314"/>
                </a:highlight>
                <a:latin typeface="Courier New"/>
                <a:ea typeface="Courier New"/>
                <a:cs typeface="Courier New"/>
                <a:sym typeface="Courier New"/>
              </a:rPr>
              <a:t>console</a:t>
            </a:r>
            <a:r>
              <a:rPr lang="en" sz="1200" dirty="0">
                <a:solidFill>
                  <a:srgbClr val="C9D1D9"/>
                </a:solidFill>
                <a:highlight>
                  <a:srgbClr val="121314"/>
                </a:highlight>
                <a:latin typeface="Courier New"/>
                <a:ea typeface="Courier New"/>
                <a:cs typeface="Courier New"/>
                <a:sym typeface="Courier New"/>
              </a:rPr>
              <a:t>.</a:t>
            </a:r>
            <a:r>
              <a:rPr lang="en" sz="1200" dirty="0">
                <a:solidFill>
                  <a:srgbClr val="D2A8FF"/>
                </a:solidFill>
                <a:highlight>
                  <a:srgbClr val="121314"/>
                </a:highlight>
                <a:latin typeface="Courier New"/>
                <a:ea typeface="Courier New"/>
                <a:cs typeface="Courier New"/>
                <a:sym typeface="Courier New"/>
              </a:rPr>
              <a:t>log</a:t>
            </a:r>
            <a:r>
              <a:rPr lang="en" sz="1200" dirty="0">
                <a:solidFill>
                  <a:srgbClr val="C9D1D9"/>
                </a:solidFill>
                <a:highlight>
                  <a:srgbClr val="121314"/>
                </a:highlight>
                <a:latin typeface="Courier New"/>
                <a:ea typeface="Courier New"/>
                <a:cs typeface="Courier New"/>
                <a:sym typeface="Courier New"/>
              </a:rPr>
              <a:t>(</a:t>
            </a:r>
            <a:r>
              <a:rPr lang="en" sz="1200" dirty="0">
                <a:solidFill>
                  <a:srgbClr val="A5D6FF"/>
                </a:solidFill>
                <a:highlight>
                  <a:srgbClr val="121314"/>
                </a:highlight>
                <a:latin typeface="Courier New"/>
                <a:ea typeface="Courier New"/>
                <a:cs typeface="Courier New"/>
                <a:sym typeface="Courier New"/>
              </a:rPr>
              <a:t>"Hi!"</a:t>
            </a:r>
            <a:r>
              <a:rPr lang="en" sz="1200" dirty="0">
                <a:solidFill>
                  <a:srgbClr val="C9D1D9"/>
                </a:solidFill>
                <a:highlight>
                  <a:srgbClr val="121314"/>
                </a:highlight>
                <a:latin typeface="Courier New"/>
                <a:ea typeface="Courier New"/>
                <a:cs typeface="Courier New"/>
                <a:sym typeface="Courier New"/>
              </a:rPr>
              <a:t>); }</a:t>
            </a:r>
            <a:r>
              <a:rPr lang="en" sz="1200" dirty="0">
                <a:solidFill>
                  <a:srgbClr val="BBBEBF"/>
                </a:solidFill>
                <a:highlight>
                  <a:srgbClr val="121314"/>
                </a:highlight>
                <a:latin typeface="Courier New"/>
                <a:ea typeface="Courier New"/>
                <a:cs typeface="Courier New"/>
                <a:sym typeface="Courier New"/>
              </a:rPr>
              <a:t>;</a:t>
            </a:r>
            <a:endParaRPr sz="1200" dirty="0">
              <a:solidFill>
                <a:srgbClr val="BBBEBF"/>
              </a:solidFill>
              <a:highlight>
                <a:srgbClr val="121314"/>
              </a:highlight>
              <a:latin typeface="Courier New"/>
              <a:ea typeface="Courier New"/>
              <a:cs typeface="Courier New"/>
              <a:sym typeface="Courier New"/>
            </a:endParaRPr>
          </a:p>
        </p:txBody>
      </p:sp>
      <p:pic>
        <p:nvPicPr>
          <p:cNvPr id="172" name="Google Shape;172;p27"/>
          <p:cNvPicPr preferRelativeResize="0"/>
          <p:nvPr/>
        </p:nvPicPr>
        <p:blipFill>
          <a:blip r:embed="rId4">
            <a:alphaModFix/>
          </a:blip>
          <a:stretch>
            <a:fillRect/>
          </a:stretch>
        </p:blipFill>
        <p:spPr>
          <a:xfrm>
            <a:off x="5222375" y="2713417"/>
            <a:ext cx="2609850" cy="457200"/>
          </a:xfrm>
          <a:prstGeom prst="rect">
            <a:avLst/>
          </a:prstGeom>
          <a:noFill/>
          <a:ln>
            <a:noFill/>
          </a:ln>
        </p:spPr>
      </p:pic>
      <p:sp>
        <p:nvSpPr>
          <p:cNvPr id="173" name="Google Shape;173;p2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8"/>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Primitive Data Types</a:t>
            </a:r>
            <a:endParaRPr/>
          </a:p>
        </p:txBody>
      </p:sp>
      <p:sp>
        <p:nvSpPr>
          <p:cNvPr id="179" name="Google Shape;179;p2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16</a:t>
            </a:fld>
            <a:endParaRPr>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Primitive Data Types</a:t>
            </a:r>
            <a:endParaRPr/>
          </a:p>
        </p:txBody>
      </p:sp>
      <p:sp>
        <p:nvSpPr>
          <p:cNvPr id="185" name="Google Shape;185;p2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17</a:t>
            </a:fld>
            <a:endParaRPr>
              <a:solidFill>
                <a:schemeClr val="lt2"/>
              </a:solidFill>
            </a:endParaRPr>
          </a:p>
        </p:txBody>
      </p:sp>
      <p:sp>
        <p:nvSpPr>
          <p:cNvPr id="186" name="Google Shape;186;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All types except Object define immutable values represented directly at the lowest level of the language. We refer to values of these types as primitive values.</a:t>
            </a:r>
            <a:endParaRPr dirty="0"/>
          </a:p>
          <a:p>
            <a:pPr marL="457200" lvl="0" indent="-342900" algn="l" rtl="0">
              <a:spcBef>
                <a:spcPts val="0"/>
              </a:spcBef>
              <a:spcAft>
                <a:spcPts val="0"/>
              </a:spcAft>
              <a:buSzPts val="1800"/>
              <a:buChar char="●"/>
            </a:pPr>
            <a:r>
              <a:rPr lang="en" dirty="0"/>
              <a:t>All primitive types, except null, can be tested by the typeof operator. typeof null returns "object", so one has to use === null to test for null.</a:t>
            </a:r>
            <a:endParaRPr dirty="0"/>
          </a:p>
          <a:p>
            <a:pPr marL="457200" lvl="0" indent="-342900" algn="l" rtl="0">
              <a:spcBef>
                <a:spcPts val="0"/>
              </a:spcBef>
              <a:spcAft>
                <a:spcPts val="0"/>
              </a:spcAft>
              <a:buSzPts val="1800"/>
              <a:buChar char="●"/>
            </a:pPr>
            <a:r>
              <a:rPr lang="en" dirty="0"/>
              <a:t>All primitive types, except null and undefined, have their corresponding object wrapper types, which provide useful methods for working with the primitive values.</a:t>
            </a:r>
            <a:endParaRPr dirty="0"/>
          </a:p>
          <a:p>
            <a:pPr marL="914400" lvl="1" indent="-317500" algn="l" rtl="0">
              <a:spcBef>
                <a:spcPts val="0"/>
              </a:spcBef>
              <a:spcAft>
                <a:spcPts val="0"/>
              </a:spcAft>
              <a:buSzPts val="1400"/>
              <a:buChar char="○"/>
            </a:pPr>
            <a:r>
              <a:rPr lang="en" dirty="0"/>
              <a:t>For example, the Number object provides methods like toExponential().</a:t>
            </a:r>
            <a:endParaRPr dirty="0"/>
          </a:p>
          <a:p>
            <a:pPr marL="914400" lvl="1" indent="-317500" algn="l" rtl="0">
              <a:spcBef>
                <a:spcPts val="0"/>
              </a:spcBef>
              <a:spcAft>
                <a:spcPts val="0"/>
              </a:spcAft>
              <a:buSzPts val="1400"/>
              <a:buChar char="○"/>
            </a:pPr>
            <a:r>
              <a:rPr lang="en" dirty="0"/>
              <a:t>Auto-boxing: When a property is accessed on a primitive value, JavaScript automatically wraps the value into the corresponding wrapper object and accesses the property on the object instead.</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Auto-Boxing Illustration Example</a:t>
            </a:r>
            <a:endParaRPr/>
          </a:p>
        </p:txBody>
      </p:sp>
      <p:sp>
        <p:nvSpPr>
          <p:cNvPr id="192" name="Google Shape;192;p3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sp>
        <p:nvSpPr>
          <p:cNvPr id="193" name="Google Shape;193;p30"/>
          <p:cNvSpPr txBox="1"/>
          <p:nvPr/>
        </p:nvSpPr>
        <p:spPr>
          <a:xfrm>
            <a:off x="499450" y="1525050"/>
            <a:ext cx="3908100" cy="20934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dirty="0">
                <a:solidFill>
                  <a:srgbClr val="FF7B72"/>
                </a:solidFill>
                <a:highlight>
                  <a:srgbClr val="121314"/>
                </a:highlight>
                <a:latin typeface="Courier New"/>
                <a:ea typeface="Courier New"/>
                <a:cs typeface="Courier New"/>
                <a:sym typeface="Courier New"/>
              </a:rPr>
              <a:t>const</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79C0FF"/>
                </a:solidFill>
                <a:highlight>
                  <a:srgbClr val="121314"/>
                </a:highlight>
                <a:latin typeface="Courier New"/>
                <a:ea typeface="Courier New"/>
                <a:cs typeface="Courier New"/>
                <a:sym typeface="Courier New"/>
              </a:rPr>
              <a:t>str</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D4D4D4"/>
                </a:solidFill>
                <a:highlight>
                  <a:srgbClr val="121314"/>
                </a:highlight>
                <a:latin typeface="Courier New"/>
                <a:ea typeface="Courier New"/>
                <a:cs typeface="Courier New"/>
                <a:sym typeface="Courier New"/>
              </a:rPr>
              <a:t>=</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A5D6FF"/>
                </a:solidFill>
                <a:highlight>
                  <a:srgbClr val="121314"/>
                </a:highlight>
                <a:latin typeface="Courier New"/>
                <a:ea typeface="Courier New"/>
                <a:cs typeface="Courier New"/>
                <a:sym typeface="Courier New"/>
              </a:rPr>
              <a:t>"hello"</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8B949E"/>
                </a:solidFill>
                <a:highlight>
                  <a:srgbClr val="121314"/>
                </a:highlight>
                <a:latin typeface="Courier New"/>
                <a:ea typeface="Courier New"/>
                <a:cs typeface="Courier New"/>
                <a:sym typeface="Courier New"/>
              </a:rPr>
              <a:t>// Primitive string</a:t>
            </a:r>
            <a:endParaRPr sz="1200" dirty="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2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8B949E"/>
                </a:solidFill>
                <a:highlight>
                  <a:srgbClr val="121314"/>
                </a:highlight>
                <a:latin typeface="Courier New"/>
                <a:ea typeface="Courier New"/>
                <a:cs typeface="Courier New"/>
                <a:sym typeface="Courier New"/>
              </a:rPr>
              <a:t>// 1. Try to add a property</a:t>
            </a:r>
            <a:endParaRPr sz="1200" dirty="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C9D1D9"/>
                </a:solidFill>
                <a:highlight>
                  <a:srgbClr val="121314"/>
                </a:highlight>
                <a:latin typeface="Courier New"/>
                <a:ea typeface="Courier New"/>
                <a:cs typeface="Courier New"/>
                <a:sym typeface="Courier New"/>
              </a:rPr>
              <a:t>str</a:t>
            </a:r>
            <a:r>
              <a:rPr lang="en" sz="1200" dirty="0">
                <a:solidFill>
                  <a:srgbClr val="BBBEBF"/>
                </a:solidFill>
                <a:highlight>
                  <a:srgbClr val="121314"/>
                </a:highlight>
                <a:latin typeface="Courier New"/>
                <a:ea typeface="Courier New"/>
                <a:cs typeface="Courier New"/>
                <a:sym typeface="Courier New"/>
              </a:rPr>
              <a:t>.</a:t>
            </a:r>
            <a:r>
              <a:rPr lang="en" sz="1200" dirty="0">
                <a:solidFill>
                  <a:srgbClr val="C9D1D9"/>
                </a:solidFill>
                <a:highlight>
                  <a:srgbClr val="121314"/>
                </a:highlight>
                <a:latin typeface="Courier New"/>
                <a:ea typeface="Courier New"/>
                <a:cs typeface="Courier New"/>
                <a:sym typeface="Courier New"/>
              </a:rPr>
              <a:t>customProp</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D4D4D4"/>
                </a:solidFill>
                <a:highlight>
                  <a:srgbClr val="121314"/>
                </a:highlight>
                <a:latin typeface="Courier New"/>
                <a:ea typeface="Courier New"/>
                <a:cs typeface="Courier New"/>
                <a:sym typeface="Courier New"/>
              </a:rPr>
              <a:t>=</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A5D6FF"/>
                </a:solidFill>
                <a:highlight>
                  <a:srgbClr val="121314"/>
                </a:highlight>
                <a:latin typeface="Courier New"/>
                <a:ea typeface="Courier New"/>
                <a:cs typeface="Courier New"/>
                <a:sym typeface="Courier New"/>
              </a:rPr>
              <a:t>"world"</a:t>
            </a:r>
            <a:r>
              <a:rPr lang="en" sz="1200" dirty="0">
                <a:solidFill>
                  <a:srgbClr val="BBBEBF"/>
                </a:solidFill>
                <a:highlight>
                  <a:srgbClr val="121314"/>
                </a:highlight>
                <a:latin typeface="Courier New"/>
                <a:ea typeface="Courier New"/>
                <a:cs typeface="Courier New"/>
                <a:sym typeface="Courier New"/>
              </a:rPr>
              <a:t>;</a:t>
            </a:r>
            <a:endParaRPr sz="12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8B949E"/>
                </a:solidFill>
                <a:highlight>
                  <a:srgbClr val="121314"/>
                </a:highlight>
                <a:latin typeface="Courier New"/>
                <a:ea typeface="Courier New"/>
                <a:cs typeface="Courier New"/>
                <a:sym typeface="Courier New"/>
              </a:rPr>
              <a:t>// JS auto-boxing per value type</a:t>
            </a:r>
            <a:endParaRPr sz="1200" dirty="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2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8B949E"/>
                </a:solidFill>
                <a:highlight>
                  <a:srgbClr val="121314"/>
                </a:highlight>
                <a:latin typeface="Courier New"/>
                <a:ea typeface="Courier New"/>
                <a:cs typeface="Courier New"/>
                <a:sym typeface="Courier New"/>
              </a:rPr>
              <a:t>// 2. Try to access the added property</a:t>
            </a:r>
            <a:endParaRPr sz="1200" dirty="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C9D1D9"/>
                </a:solidFill>
                <a:highlight>
                  <a:srgbClr val="121314"/>
                </a:highlight>
                <a:latin typeface="Courier New"/>
                <a:ea typeface="Courier New"/>
                <a:cs typeface="Courier New"/>
                <a:sym typeface="Courier New"/>
              </a:rPr>
              <a:t>console</a:t>
            </a:r>
            <a:r>
              <a:rPr lang="en" sz="1200" dirty="0">
                <a:solidFill>
                  <a:srgbClr val="BBBEBF"/>
                </a:solidFill>
                <a:highlight>
                  <a:srgbClr val="121314"/>
                </a:highlight>
                <a:latin typeface="Courier New"/>
                <a:ea typeface="Courier New"/>
                <a:cs typeface="Courier New"/>
                <a:sym typeface="Courier New"/>
              </a:rPr>
              <a:t>.</a:t>
            </a:r>
            <a:r>
              <a:rPr lang="en" sz="1200" dirty="0">
                <a:solidFill>
                  <a:srgbClr val="D2A8FF"/>
                </a:solidFill>
                <a:highlight>
                  <a:srgbClr val="121314"/>
                </a:highlight>
                <a:latin typeface="Courier New"/>
                <a:ea typeface="Courier New"/>
                <a:cs typeface="Courier New"/>
                <a:sym typeface="Courier New"/>
              </a:rPr>
              <a:t>log</a:t>
            </a:r>
            <a:r>
              <a:rPr lang="en" sz="1200" dirty="0">
                <a:solidFill>
                  <a:srgbClr val="BBBEBF"/>
                </a:solidFill>
                <a:highlight>
                  <a:srgbClr val="121314"/>
                </a:highlight>
                <a:latin typeface="Courier New"/>
                <a:ea typeface="Courier New"/>
                <a:cs typeface="Courier New"/>
                <a:sym typeface="Courier New"/>
              </a:rPr>
              <a:t>(</a:t>
            </a:r>
            <a:r>
              <a:rPr lang="en" sz="1200" dirty="0">
                <a:solidFill>
                  <a:srgbClr val="C9D1D9"/>
                </a:solidFill>
                <a:highlight>
                  <a:srgbClr val="121314"/>
                </a:highlight>
                <a:latin typeface="Courier New"/>
                <a:ea typeface="Courier New"/>
                <a:cs typeface="Courier New"/>
                <a:sym typeface="Courier New"/>
              </a:rPr>
              <a:t>str</a:t>
            </a:r>
            <a:r>
              <a:rPr lang="en" sz="1200" dirty="0">
                <a:solidFill>
                  <a:srgbClr val="BBBEBF"/>
                </a:solidFill>
                <a:highlight>
                  <a:srgbClr val="121314"/>
                </a:highlight>
                <a:latin typeface="Courier New"/>
                <a:ea typeface="Courier New"/>
                <a:cs typeface="Courier New"/>
                <a:sym typeface="Courier New"/>
              </a:rPr>
              <a:t>.</a:t>
            </a:r>
            <a:r>
              <a:rPr lang="en" sz="1200" dirty="0">
                <a:solidFill>
                  <a:srgbClr val="C9D1D9"/>
                </a:solidFill>
                <a:highlight>
                  <a:srgbClr val="121314"/>
                </a:highlight>
                <a:latin typeface="Courier New"/>
                <a:ea typeface="Courier New"/>
                <a:cs typeface="Courier New"/>
                <a:sym typeface="Courier New"/>
              </a:rPr>
              <a:t>customProp</a:t>
            </a:r>
            <a:r>
              <a:rPr lang="en" sz="1200" dirty="0">
                <a:solidFill>
                  <a:srgbClr val="BBBEBF"/>
                </a:solidFill>
                <a:highlight>
                  <a:srgbClr val="121314"/>
                </a:highlight>
                <a:latin typeface="Courier New"/>
                <a:ea typeface="Courier New"/>
                <a:cs typeface="Courier New"/>
                <a:sym typeface="Courier New"/>
              </a:rPr>
              <a:t>);</a:t>
            </a:r>
            <a:endParaRPr sz="1200" dirty="0">
              <a:solidFill>
                <a:srgbClr val="BBBEBF"/>
              </a:solidFill>
              <a:highlight>
                <a:srgbClr val="121314"/>
              </a:highlight>
              <a:latin typeface="Courier New"/>
              <a:ea typeface="Courier New"/>
              <a:cs typeface="Courier New"/>
              <a:sym typeface="Courier New"/>
            </a:endParaRPr>
          </a:p>
        </p:txBody>
      </p:sp>
      <p:pic>
        <p:nvPicPr>
          <p:cNvPr id="194" name="Google Shape;194;p30"/>
          <p:cNvPicPr preferRelativeResize="0"/>
          <p:nvPr/>
        </p:nvPicPr>
        <p:blipFill>
          <a:blip r:embed="rId3">
            <a:alphaModFix/>
          </a:blip>
          <a:stretch>
            <a:fillRect/>
          </a:stretch>
        </p:blipFill>
        <p:spPr>
          <a:xfrm>
            <a:off x="5111975" y="1525050"/>
            <a:ext cx="952500" cy="4191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Overview of Primitive Data Types</a:t>
            </a:r>
            <a:endParaRPr/>
          </a:p>
        </p:txBody>
      </p:sp>
      <p:graphicFrame>
        <p:nvGraphicFramePr>
          <p:cNvPr id="200" name="Google Shape;200;p31"/>
          <p:cNvGraphicFramePr/>
          <p:nvPr/>
        </p:nvGraphicFramePr>
        <p:xfrm>
          <a:off x="185738" y="1164900"/>
          <a:ext cx="8772525" cy="3210514"/>
        </p:xfrm>
        <a:graphic>
          <a:graphicData uri="http://schemas.openxmlformats.org/drawingml/2006/table">
            <a:tbl>
              <a:tblPr>
                <a:noFill/>
                <a:tableStyleId>{160DF2F2-2E2D-4924-9058-CAD130D829AF}</a:tableStyleId>
              </a:tblPr>
              <a:tblGrid>
                <a:gridCol w="873525">
                  <a:extLst>
                    <a:ext uri="{9D8B030D-6E8A-4147-A177-3AD203B41FA5}">
                      <a16:colId xmlns:a16="http://schemas.microsoft.com/office/drawing/2014/main" val="20000"/>
                    </a:ext>
                  </a:extLst>
                </a:gridCol>
                <a:gridCol w="5796150">
                  <a:extLst>
                    <a:ext uri="{9D8B030D-6E8A-4147-A177-3AD203B41FA5}">
                      <a16:colId xmlns:a16="http://schemas.microsoft.com/office/drawing/2014/main" val="20001"/>
                    </a:ext>
                  </a:extLst>
                </a:gridCol>
                <a:gridCol w="2102850">
                  <a:extLst>
                    <a:ext uri="{9D8B030D-6E8A-4147-A177-3AD203B41FA5}">
                      <a16:colId xmlns:a16="http://schemas.microsoft.com/office/drawing/2014/main" val="20002"/>
                    </a:ext>
                  </a:extLst>
                </a:gridCol>
              </a:tblGrid>
              <a:tr h="0">
                <a:tc>
                  <a:txBody>
                    <a:bodyPr/>
                    <a:lstStyle/>
                    <a:p>
                      <a:pPr marL="0" lvl="0" indent="0" algn="ctr" rtl="0">
                        <a:lnSpc>
                          <a:spcPct val="115000"/>
                        </a:lnSpc>
                        <a:spcBef>
                          <a:spcPts val="0"/>
                        </a:spcBef>
                        <a:spcAft>
                          <a:spcPts val="0"/>
                        </a:spcAft>
                        <a:buNone/>
                      </a:pPr>
                      <a:r>
                        <a:rPr lang="en" sz="1200">
                          <a:latin typeface="Source Sans Pro"/>
                          <a:ea typeface="Source Sans Pro"/>
                          <a:cs typeface="Source Sans Pro"/>
                          <a:sym typeface="Source Sans Pro"/>
                        </a:rPr>
                        <a:t>Data Type</a:t>
                      </a:r>
                      <a:endParaRPr sz="1200">
                        <a:latin typeface="Source Sans Pro"/>
                        <a:ea typeface="Source Sans Pro"/>
                        <a:cs typeface="Source Sans Pro"/>
                        <a:sym typeface="Source Sans Pr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200">
                          <a:latin typeface="Source Sans Pro"/>
                          <a:ea typeface="Source Sans Pro"/>
                          <a:cs typeface="Source Sans Pro"/>
                          <a:sym typeface="Source Sans Pro"/>
                        </a:rPr>
                        <a:t>Description</a:t>
                      </a:r>
                      <a:endParaRPr sz="1200">
                        <a:latin typeface="Source Sans Pro"/>
                        <a:ea typeface="Source Sans Pro"/>
                        <a:cs typeface="Source Sans Pro"/>
                        <a:sym typeface="Source Sans Pr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200">
                          <a:latin typeface="Source Sans Pro"/>
                          <a:ea typeface="Source Sans Pro"/>
                          <a:cs typeface="Source Sans Pro"/>
                          <a:sym typeface="Source Sans Pro"/>
                        </a:rPr>
                        <a:t>Example</a:t>
                      </a:r>
                      <a:endParaRPr sz="1200">
                        <a:latin typeface="Source Sans Pro"/>
                        <a:ea typeface="Source Sans Pro"/>
                        <a:cs typeface="Source Sans Pro"/>
                        <a:sym typeface="Source Sans Pr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361950">
                <a:tc>
                  <a:txBody>
                    <a:bodyPr/>
                    <a:lstStyle/>
                    <a:p>
                      <a:pPr marL="0" lvl="0" indent="0" algn="ctr" rtl="0">
                        <a:lnSpc>
                          <a:spcPct val="115000"/>
                        </a:lnSpc>
                        <a:spcBef>
                          <a:spcPts val="0"/>
                        </a:spcBef>
                        <a:spcAft>
                          <a:spcPts val="0"/>
                        </a:spcAft>
                        <a:buNone/>
                      </a:pPr>
                      <a:r>
                        <a:rPr lang="en" sz="1200">
                          <a:latin typeface="Source Sans Pro"/>
                          <a:ea typeface="Source Sans Pro"/>
                          <a:cs typeface="Source Sans Pro"/>
                          <a:sym typeface="Source Sans Pro"/>
                        </a:rPr>
                        <a:t>Number</a:t>
                      </a:r>
                      <a:endParaRPr sz="1200">
                        <a:latin typeface="Source Sans Pro"/>
                        <a:ea typeface="Source Sans Pro"/>
                        <a:cs typeface="Source Sans Pro"/>
                        <a:sym typeface="Source Sans Pro"/>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latin typeface="Source Sans Pro"/>
                          <a:ea typeface="Source Sans Pro"/>
                          <a:cs typeface="Source Sans Pro"/>
                          <a:sym typeface="Source Sans Pro"/>
                        </a:rPr>
                        <a:t>64-bit floating-point values; includes integers, decimals, and special values like </a:t>
                      </a:r>
                      <a:r>
                        <a:rPr lang="en" sz="1200">
                          <a:solidFill>
                            <a:srgbClr val="188038"/>
                          </a:solidFill>
                          <a:latin typeface="Source Sans Pro"/>
                          <a:ea typeface="Source Sans Pro"/>
                          <a:cs typeface="Source Sans Pro"/>
                          <a:sym typeface="Source Sans Pro"/>
                        </a:rPr>
                        <a:t>Infinity</a:t>
                      </a:r>
                      <a:r>
                        <a:rPr lang="en" sz="1200">
                          <a:latin typeface="Source Sans Pro"/>
                          <a:ea typeface="Source Sans Pro"/>
                          <a:cs typeface="Source Sans Pro"/>
                          <a:sym typeface="Source Sans Pro"/>
                        </a:rPr>
                        <a:t>, </a:t>
                      </a:r>
                      <a:r>
                        <a:rPr lang="en" sz="1200">
                          <a:solidFill>
                            <a:srgbClr val="188038"/>
                          </a:solidFill>
                          <a:latin typeface="Source Sans Pro"/>
                          <a:ea typeface="Source Sans Pro"/>
                          <a:cs typeface="Source Sans Pro"/>
                          <a:sym typeface="Source Sans Pro"/>
                        </a:rPr>
                        <a:t>-Infinity</a:t>
                      </a:r>
                      <a:r>
                        <a:rPr lang="en" sz="1200">
                          <a:latin typeface="Source Sans Pro"/>
                          <a:ea typeface="Source Sans Pro"/>
                          <a:cs typeface="Source Sans Pro"/>
                          <a:sym typeface="Source Sans Pro"/>
                        </a:rPr>
                        <a:t>, and </a:t>
                      </a:r>
                      <a:r>
                        <a:rPr lang="en" sz="1200">
                          <a:solidFill>
                            <a:srgbClr val="188038"/>
                          </a:solidFill>
                          <a:latin typeface="Source Sans Pro"/>
                          <a:ea typeface="Source Sans Pro"/>
                          <a:cs typeface="Source Sans Pro"/>
                          <a:sym typeface="Source Sans Pro"/>
                        </a:rPr>
                        <a:t>NaN</a:t>
                      </a:r>
                      <a:r>
                        <a:rPr lang="en" sz="1200">
                          <a:latin typeface="Source Sans Pro"/>
                          <a:ea typeface="Source Sans Pro"/>
                          <a:cs typeface="Source Sans Pro"/>
                          <a:sym typeface="Source Sans Pro"/>
                        </a:rPr>
                        <a:t>.</a:t>
                      </a:r>
                      <a:endParaRPr sz="1200">
                        <a:latin typeface="Source Sans Pro"/>
                        <a:ea typeface="Source Sans Pro"/>
                        <a:cs typeface="Source Sans Pro"/>
                        <a:sym typeface="Source Sans Pr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solidFill>
                            <a:srgbClr val="188038"/>
                          </a:solidFill>
                          <a:latin typeface="Source Sans Pro"/>
                          <a:ea typeface="Source Sans Pro"/>
                          <a:cs typeface="Source Sans Pro"/>
                          <a:sym typeface="Source Sans Pro"/>
                        </a:rPr>
                        <a:t>let n = 42;</a:t>
                      </a:r>
                      <a:endParaRPr sz="1200">
                        <a:solidFill>
                          <a:srgbClr val="188038"/>
                        </a:solidFill>
                        <a:latin typeface="Source Sans Pro"/>
                        <a:ea typeface="Source Sans Pro"/>
                        <a:cs typeface="Source Sans Pro"/>
                        <a:sym typeface="Source Sans Pro"/>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ctr" rtl="0">
                        <a:lnSpc>
                          <a:spcPct val="115000"/>
                        </a:lnSpc>
                        <a:spcBef>
                          <a:spcPts val="0"/>
                        </a:spcBef>
                        <a:spcAft>
                          <a:spcPts val="0"/>
                        </a:spcAft>
                        <a:buNone/>
                      </a:pPr>
                      <a:r>
                        <a:rPr lang="en" sz="1200">
                          <a:latin typeface="Source Sans Pro"/>
                          <a:ea typeface="Source Sans Pro"/>
                          <a:cs typeface="Source Sans Pro"/>
                          <a:sym typeface="Source Sans Pro"/>
                        </a:rPr>
                        <a:t>BigInt</a:t>
                      </a:r>
                      <a:endParaRPr sz="1200">
                        <a:latin typeface="Source Sans Pro"/>
                        <a:ea typeface="Source Sans Pro"/>
                        <a:cs typeface="Source Sans Pro"/>
                        <a:sym typeface="Source Sans Pr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dirty="0">
                          <a:latin typeface="Source Sans Pro"/>
                          <a:ea typeface="Source Sans Pro"/>
                          <a:cs typeface="Source Sans Pro"/>
                          <a:sym typeface="Source Sans Pro"/>
                        </a:rPr>
                        <a:t>Arbitrary-length integers beyond safe integer range (</a:t>
                      </a:r>
                      <a:r>
                        <a:rPr lang="en" sz="1200" dirty="0">
                          <a:solidFill>
                            <a:srgbClr val="188038"/>
                          </a:solidFill>
                          <a:latin typeface="Source Sans Pro"/>
                          <a:ea typeface="Source Sans Pro"/>
                          <a:cs typeface="Source Sans Pro"/>
                          <a:sym typeface="Source Sans Pro"/>
                        </a:rPr>
                        <a:t>±(2^53 - 1)</a:t>
                      </a:r>
                      <a:r>
                        <a:rPr lang="en" sz="1200" dirty="0">
                          <a:latin typeface="Source Sans Pro"/>
                          <a:ea typeface="Source Sans Pro"/>
                          <a:cs typeface="Source Sans Pro"/>
                          <a:sym typeface="Source Sans Pro"/>
                        </a:rPr>
                        <a:t>). Created with </a:t>
                      </a:r>
                      <a:r>
                        <a:rPr lang="en" sz="1200" dirty="0">
                          <a:solidFill>
                            <a:srgbClr val="188038"/>
                          </a:solidFill>
                          <a:latin typeface="Source Sans Pro"/>
                          <a:ea typeface="Source Sans Pro"/>
                          <a:cs typeface="Source Sans Pro"/>
                          <a:sym typeface="Source Sans Pro"/>
                        </a:rPr>
                        <a:t>n</a:t>
                      </a:r>
                      <a:r>
                        <a:rPr lang="en" sz="1200" dirty="0">
                          <a:latin typeface="Source Sans Pro"/>
                          <a:ea typeface="Source Sans Pro"/>
                          <a:cs typeface="Source Sans Pro"/>
                          <a:sym typeface="Source Sans Pro"/>
                        </a:rPr>
                        <a:t> suffix.</a:t>
                      </a:r>
                      <a:endParaRPr sz="1200" dirty="0">
                        <a:latin typeface="Source Sans Pro"/>
                        <a:ea typeface="Source Sans Pro"/>
                        <a:cs typeface="Source Sans Pro"/>
                        <a:sym typeface="Source Sans Pr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solidFill>
                            <a:srgbClr val="188038"/>
                          </a:solidFill>
                          <a:latin typeface="Source Sans Pro"/>
                          <a:ea typeface="Source Sans Pro"/>
                          <a:cs typeface="Source Sans Pro"/>
                          <a:sym typeface="Source Sans Pro"/>
                        </a:rPr>
                        <a:t>123456789012345678901n</a:t>
                      </a:r>
                      <a:endParaRPr sz="1200">
                        <a:solidFill>
                          <a:srgbClr val="188038"/>
                        </a:solidFill>
                        <a:latin typeface="Source Sans Pro"/>
                        <a:ea typeface="Source Sans Pro"/>
                        <a:cs typeface="Source Sans Pro"/>
                        <a:sym typeface="Source Sans Pr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ctr" rtl="0">
                        <a:lnSpc>
                          <a:spcPct val="115000"/>
                        </a:lnSpc>
                        <a:spcBef>
                          <a:spcPts val="0"/>
                        </a:spcBef>
                        <a:spcAft>
                          <a:spcPts val="0"/>
                        </a:spcAft>
                        <a:buNone/>
                      </a:pPr>
                      <a:r>
                        <a:rPr lang="en" sz="1200">
                          <a:latin typeface="Source Sans Pro"/>
                          <a:ea typeface="Source Sans Pro"/>
                          <a:cs typeface="Source Sans Pro"/>
                          <a:sym typeface="Source Sans Pro"/>
                        </a:rPr>
                        <a:t>String</a:t>
                      </a:r>
                      <a:endParaRPr sz="1200">
                        <a:latin typeface="Source Sans Pro"/>
                        <a:ea typeface="Source Sans Pro"/>
                        <a:cs typeface="Source Sans Pro"/>
                        <a:sym typeface="Source Sans Pr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latin typeface="Source Sans Pro"/>
                          <a:ea typeface="Source Sans Pro"/>
                          <a:cs typeface="Source Sans Pro"/>
                          <a:sym typeface="Source Sans Pro"/>
                        </a:rPr>
                        <a:t>Textual data, immutable, enclosed in quotes (</a:t>
                      </a:r>
                      <a:r>
                        <a:rPr lang="en" sz="1200">
                          <a:solidFill>
                            <a:srgbClr val="188038"/>
                          </a:solidFill>
                          <a:latin typeface="Source Sans Pro"/>
                          <a:ea typeface="Source Sans Pro"/>
                          <a:cs typeface="Source Sans Pro"/>
                          <a:sym typeface="Source Sans Pro"/>
                        </a:rPr>
                        <a:t>"</a:t>
                      </a:r>
                      <a:r>
                        <a:rPr lang="en" sz="1200">
                          <a:latin typeface="Source Sans Pro"/>
                          <a:ea typeface="Source Sans Pro"/>
                          <a:cs typeface="Source Sans Pro"/>
                          <a:sym typeface="Source Sans Pro"/>
                        </a:rPr>
                        <a:t>, </a:t>
                      </a:r>
                      <a:r>
                        <a:rPr lang="en" sz="1200">
                          <a:solidFill>
                            <a:srgbClr val="188038"/>
                          </a:solidFill>
                          <a:latin typeface="Source Sans Pro"/>
                          <a:ea typeface="Source Sans Pro"/>
                          <a:cs typeface="Source Sans Pro"/>
                          <a:sym typeface="Source Sans Pro"/>
                        </a:rPr>
                        <a:t>'</a:t>
                      </a:r>
                      <a:r>
                        <a:rPr lang="en" sz="1200">
                          <a:latin typeface="Source Sans Pro"/>
                          <a:ea typeface="Source Sans Pro"/>
                          <a:cs typeface="Source Sans Pro"/>
                          <a:sym typeface="Source Sans Pro"/>
                        </a:rPr>
                        <a:t>, </a:t>
                      </a:r>
                      <a:r>
                        <a:rPr lang="en" sz="1200">
                          <a:solidFill>
                            <a:srgbClr val="188038"/>
                          </a:solidFill>
                          <a:latin typeface="Source Sans Pro"/>
                          <a:ea typeface="Source Sans Pro"/>
                          <a:cs typeface="Source Sans Pro"/>
                          <a:sym typeface="Source Sans Pro"/>
                        </a:rPr>
                        <a:t>`</a:t>
                      </a:r>
                      <a:r>
                        <a:rPr lang="en" sz="1200">
                          <a:latin typeface="Source Sans Pro"/>
                          <a:ea typeface="Source Sans Pro"/>
                          <a:cs typeface="Source Sans Pro"/>
                          <a:sym typeface="Source Sans Pro"/>
                        </a:rPr>
                        <a:t>). Backticks allow interpolation.</a:t>
                      </a:r>
                      <a:endParaRPr sz="1200">
                        <a:latin typeface="Source Sans Pro"/>
                        <a:ea typeface="Source Sans Pro"/>
                        <a:cs typeface="Source Sans Pro"/>
                        <a:sym typeface="Source Sans Pr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solidFill>
                            <a:srgbClr val="188038"/>
                          </a:solidFill>
                          <a:latin typeface="Source Sans Pro"/>
                          <a:ea typeface="Source Sans Pro"/>
                          <a:cs typeface="Source Sans Pro"/>
                          <a:sym typeface="Source Sans Pro"/>
                        </a:rPr>
                        <a:t>`Hello ${name}`</a:t>
                      </a:r>
                      <a:endParaRPr sz="1200">
                        <a:solidFill>
                          <a:srgbClr val="188038"/>
                        </a:solidFill>
                        <a:latin typeface="Source Sans Pro"/>
                        <a:ea typeface="Source Sans Pro"/>
                        <a:cs typeface="Source Sans Pro"/>
                        <a:sym typeface="Source Sans Pr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ctr" rtl="0">
                        <a:lnSpc>
                          <a:spcPct val="115000"/>
                        </a:lnSpc>
                        <a:spcBef>
                          <a:spcPts val="0"/>
                        </a:spcBef>
                        <a:spcAft>
                          <a:spcPts val="0"/>
                        </a:spcAft>
                        <a:buNone/>
                      </a:pPr>
                      <a:r>
                        <a:rPr lang="en" sz="1200">
                          <a:latin typeface="Source Sans Pro"/>
                          <a:ea typeface="Source Sans Pro"/>
                          <a:cs typeface="Source Sans Pro"/>
                          <a:sym typeface="Source Sans Pro"/>
                        </a:rPr>
                        <a:t>Boolean</a:t>
                      </a:r>
                      <a:endParaRPr sz="1200">
                        <a:latin typeface="Source Sans Pro"/>
                        <a:ea typeface="Source Sans Pro"/>
                        <a:cs typeface="Source Sans Pro"/>
                        <a:sym typeface="Source Sans Pr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latin typeface="Source Sans Pro"/>
                          <a:ea typeface="Source Sans Pro"/>
                          <a:cs typeface="Source Sans Pro"/>
                          <a:sym typeface="Source Sans Pro"/>
                        </a:rPr>
                        <a:t>Logical values </a:t>
                      </a:r>
                      <a:r>
                        <a:rPr lang="en" sz="1200">
                          <a:solidFill>
                            <a:srgbClr val="188038"/>
                          </a:solidFill>
                          <a:latin typeface="Source Sans Pro"/>
                          <a:ea typeface="Source Sans Pro"/>
                          <a:cs typeface="Source Sans Pro"/>
                          <a:sym typeface="Source Sans Pro"/>
                        </a:rPr>
                        <a:t>true</a:t>
                      </a:r>
                      <a:r>
                        <a:rPr lang="en" sz="1200">
                          <a:latin typeface="Source Sans Pro"/>
                          <a:ea typeface="Source Sans Pro"/>
                          <a:cs typeface="Source Sans Pro"/>
                          <a:sym typeface="Source Sans Pro"/>
                        </a:rPr>
                        <a:t> or </a:t>
                      </a:r>
                      <a:r>
                        <a:rPr lang="en" sz="1200">
                          <a:solidFill>
                            <a:srgbClr val="188038"/>
                          </a:solidFill>
                          <a:latin typeface="Source Sans Pro"/>
                          <a:ea typeface="Source Sans Pro"/>
                          <a:cs typeface="Source Sans Pro"/>
                          <a:sym typeface="Source Sans Pro"/>
                        </a:rPr>
                        <a:t>false</a:t>
                      </a:r>
                      <a:r>
                        <a:rPr lang="en" sz="1200">
                          <a:latin typeface="Source Sans Pro"/>
                          <a:ea typeface="Source Sans Pro"/>
                          <a:cs typeface="Source Sans Pro"/>
                          <a:sym typeface="Source Sans Pro"/>
                        </a:rPr>
                        <a:t>, often used in conditions.</a:t>
                      </a:r>
                      <a:endParaRPr sz="1200">
                        <a:latin typeface="Source Sans Pro"/>
                        <a:ea typeface="Source Sans Pro"/>
                        <a:cs typeface="Source Sans Pro"/>
                        <a:sym typeface="Source Sans Pr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solidFill>
                            <a:srgbClr val="188038"/>
                          </a:solidFill>
                          <a:latin typeface="Source Sans Pro"/>
                          <a:ea typeface="Source Sans Pro"/>
                          <a:cs typeface="Source Sans Pro"/>
                          <a:sym typeface="Source Sans Pro"/>
                        </a:rPr>
                        <a:t>let isActive = true;</a:t>
                      </a:r>
                      <a:endParaRPr sz="1200">
                        <a:solidFill>
                          <a:srgbClr val="188038"/>
                        </a:solidFill>
                        <a:latin typeface="Source Sans Pro"/>
                        <a:ea typeface="Source Sans Pro"/>
                        <a:cs typeface="Source Sans Pro"/>
                        <a:sym typeface="Source Sans Pr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ctr" rtl="0">
                        <a:lnSpc>
                          <a:spcPct val="115000"/>
                        </a:lnSpc>
                        <a:spcBef>
                          <a:spcPts val="0"/>
                        </a:spcBef>
                        <a:spcAft>
                          <a:spcPts val="0"/>
                        </a:spcAft>
                        <a:buNone/>
                      </a:pPr>
                      <a:r>
                        <a:rPr lang="en" sz="1200">
                          <a:latin typeface="Source Sans Pro"/>
                          <a:ea typeface="Source Sans Pro"/>
                          <a:cs typeface="Source Sans Pro"/>
                          <a:sym typeface="Source Sans Pro"/>
                        </a:rPr>
                        <a:t>Null</a:t>
                      </a:r>
                      <a:endParaRPr sz="1200">
                        <a:latin typeface="Source Sans Pro"/>
                        <a:ea typeface="Source Sans Pro"/>
                        <a:cs typeface="Source Sans Pro"/>
                        <a:sym typeface="Source Sans Pr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latin typeface="Source Sans Pro"/>
                          <a:ea typeface="Source Sans Pro"/>
                          <a:cs typeface="Source Sans Pro"/>
                          <a:sym typeface="Source Sans Pro"/>
                        </a:rPr>
                        <a:t>Special value representing “nothing” or “unknown.”</a:t>
                      </a:r>
                      <a:endParaRPr sz="1200">
                        <a:latin typeface="Source Sans Pro"/>
                        <a:ea typeface="Source Sans Pro"/>
                        <a:cs typeface="Source Sans Pro"/>
                        <a:sym typeface="Source Sans Pr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solidFill>
                            <a:srgbClr val="188038"/>
                          </a:solidFill>
                          <a:latin typeface="Source Sans Pro"/>
                          <a:ea typeface="Source Sans Pro"/>
                          <a:cs typeface="Source Sans Pro"/>
                          <a:sym typeface="Source Sans Pro"/>
                        </a:rPr>
                        <a:t>let age = null;</a:t>
                      </a:r>
                      <a:endParaRPr sz="1200">
                        <a:solidFill>
                          <a:srgbClr val="188038"/>
                        </a:solidFill>
                        <a:latin typeface="Source Sans Pro"/>
                        <a:ea typeface="Source Sans Pro"/>
                        <a:cs typeface="Source Sans Pro"/>
                        <a:sym typeface="Source Sans Pr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0">
                <a:tc>
                  <a:txBody>
                    <a:bodyPr/>
                    <a:lstStyle/>
                    <a:p>
                      <a:pPr marL="0" lvl="0" indent="0" algn="ctr" rtl="0">
                        <a:lnSpc>
                          <a:spcPct val="115000"/>
                        </a:lnSpc>
                        <a:spcBef>
                          <a:spcPts val="0"/>
                        </a:spcBef>
                        <a:spcAft>
                          <a:spcPts val="0"/>
                        </a:spcAft>
                        <a:buNone/>
                      </a:pPr>
                      <a:r>
                        <a:rPr lang="en" sz="1200">
                          <a:latin typeface="Source Sans Pro"/>
                          <a:ea typeface="Source Sans Pro"/>
                          <a:cs typeface="Source Sans Pro"/>
                          <a:sym typeface="Source Sans Pro"/>
                        </a:rPr>
                        <a:t>Undefined</a:t>
                      </a:r>
                      <a:endParaRPr sz="1200">
                        <a:latin typeface="Source Sans Pro"/>
                        <a:ea typeface="Source Sans Pro"/>
                        <a:cs typeface="Source Sans Pro"/>
                        <a:sym typeface="Source Sans Pr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latin typeface="Source Sans Pro"/>
                          <a:ea typeface="Source Sans Pro"/>
                          <a:cs typeface="Source Sans Pro"/>
                          <a:sym typeface="Source Sans Pro"/>
                        </a:rPr>
                        <a:t>Default value for uninitialized variables.</a:t>
                      </a:r>
                      <a:endParaRPr sz="1200">
                        <a:latin typeface="Source Sans Pro"/>
                        <a:ea typeface="Source Sans Pro"/>
                        <a:cs typeface="Source Sans Pro"/>
                        <a:sym typeface="Source Sans Pr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solidFill>
                            <a:srgbClr val="188038"/>
                          </a:solidFill>
                          <a:latin typeface="Source Sans Pro"/>
                          <a:ea typeface="Source Sans Pro"/>
                          <a:cs typeface="Source Sans Pro"/>
                          <a:sym typeface="Source Sans Pro"/>
                        </a:rPr>
                        <a:t>let x; // undefined</a:t>
                      </a:r>
                      <a:endParaRPr sz="1200">
                        <a:solidFill>
                          <a:srgbClr val="188038"/>
                        </a:solidFill>
                        <a:latin typeface="Source Sans Pro"/>
                        <a:ea typeface="Source Sans Pro"/>
                        <a:cs typeface="Source Sans Pro"/>
                        <a:sym typeface="Source Sans Pr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0">
                <a:tc>
                  <a:txBody>
                    <a:bodyPr/>
                    <a:lstStyle/>
                    <a:p>
                      <a:pPr marL="0" lvl="0" indent="0" algn="ctr" rtl="0">
                        <a:lnSpc>
                          <a:spcPct val="115000"/>
                        </a:lnSpc>
                        <a:spcBef>
                          <a:spcPts val="0"/>
                        </a:spcBef>
                        <a:spcAft>
                          <a:spcPts val="0"/>
                        </a:spcAft>
                        <a:buNone/>
                      </a:pPr>
                      <a:r>
                        <a:rPr lang="en" sz="1200">
                          <a:latin typeface="Source Sans Pro"/>
                          <a:ea typeface="Source Sans Pro"/>
                          <a:cs typeface="Source Sans Pro"/>
                          <a:sym typeface="Source Sans Pro"/>
                        </a:rPr>
                        <a:t>Symbol</a:t>
                      </a:r>
                      <a:endParaRPr sz="1200">
                        <a:latin typeface="Source Sans Pro"/>
                        <a:ea typeface="Source Sans Pro"/>
                        <a:cs typeface="Source Sans Pro"/>
                        <a:sym typeface="Source Sans Pr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latin typeface="Source Sans Pro"/>
                          <a:ea typeface="Source Sans Pro"/>
                          <a:cs typeface="Source Sans Pro"/>
                          <a:sym typeface="Source Sans Pro"/>
                        </a:rPr>
                        <a:t>Unique, immutable identifiers often used as object property keys.</a:t>
                      </a:r>
                      <a:endParaRPr sz="1200">
                        <a:latin typeface="Source Sans Pro"/>
                        <a:ea typeface="Source Sans Pro"/>
                        <a:cs typeface="Source Sans Pro"/>
                        <a:sym typeface="Source Sans Pr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dirty="0">
                          <a:solidFill>
                            <a:srgbClr val="188038"/>
                          </a:solidFill>
                          <a:latin typeface="Source Sans Pro"/>
                          <a:ea typeface="Source Sans Pro"/>
                          <a:cs typeface="Source Sans Pro"/>
                          <a:sym typeface="Source Sans Pro"/>
                        </a:rPr>
                        <a:t>Symbol("id")</a:t>
                      </a:r>
                      <a:endParaRPr sz="1200" dirty="0">
                        <a:solidFill>
                          <a:srgbClr val="188038"/>
                        </a:solidFill>
                        <a:latin typeface="Source Sans Pro"/>
                        <a:ea typeface="Source Sans Pro"/>
                        <a:cs typeface="Source Sans Pro"/>
                        <a:sym typeface="Source Sans Pr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201" name="Google Shape;201;p3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Number &amp; BigInt</a:t>
            </a:r>
            <a:endParaRPr/>
          </a:p>
        </p:txBody>
      </p:sp>
      <p:sp>
        <p:nvSpPr>
          <p:cNvPr id="207" name="Google Shape;207;p32"/>
          <p:cNvSpPr txBox="1">
            <a:spLocks noGrp="1"/>
          </p:cNvSpPr>
          <p:nvPr>
            <p:ph type="body" idx="1"/>
          </p:nvPr>
        </p:nvSpPr>
        <p:spPr>
          <a:xfrm>
            <a:off x="311700" y="1152475"/>
            <a:ext cx="3999900" cy="2235900"/>
          </a:xfrm>
          <a:prstGeom prst="rect">
            <a:avLst/>
          </a:prstGeom>
        </p:spPr>
        <p:txBody>
          <a:bodyPr spcFirstLastPara="1" wrap="square" lIns="91425" tIns="91425" rIns="91425" bIns="91425" anchor="t" anchorCtr="0">
            <a:normAutofit lnSpcReduction="10000"/>
          </a:bodyPr>
          <a:lstStyle/>
          <a:p>
            <a:pPr marL="457200" lvl="0" indent="-317500" algn="l" rtl="0">
              <a:spcBef>
                <a:spcPts val="0"/>
              </a:spcBef>
              <a:spcAft>
                <a:spcPts val="0"/>
              </a:spcAft>
              <a:buSzPts val="1400"/>
              <a:buChar char="●"/>
            </a:pPr>
            <a:r>
              <a:rPr lang="en" dirty="0"/>
              <a:t>Number</a:t>
            </a:r>
            <a:endParaRPr dirty="0"/>
          </a:p>
          <a:p>
            <a:pPr marL="914400" lvl="1" indent="-304800" algn="l" rtl="0">
              <a:spcBef>
                <a:spcPts val="0"/>
              </a:spcBef>
              <a:spcAft>
                <a:spcPts val="0"/>
              </a:spcAft>
              <a:buSzPts val="1200"/>
              <a:buChar char="○"/>
            </a:pPr>
            <a:r>
              <a:rPr lang="en" dirty="0"/>
              <a:t>Stored as 64‑bit floating point.</a:t>
            </a:r>
            <a:endParaRPr dirty="0"/>
          </a:p>
          <a:p>
            <a:pPr marL="914400" lvl="1" indent="-304800" algn="l" rtl="0">
              <a:spcBef>
                <a:spcPts val="0"/>
              </a:spcBef>
              <a:spcAft>
                <a:spcPts val="0"/>
              </a:spcAft>
              <a:buSzPts val="1200"/>
              <a:buChar char="○"/>
            </a:pPr>
            <a:r>
              <a:rPr lang="en" dirty="0"/>
              <a:t>Includes integers, decimals, Infinity, -Infinity, and NaN.</a:t>
            </a:r>
            <a:endParaRPr dirty="0"/>
          </a:p>
          <a:p>
            <a:pPr marL="914400" lvl="1" indent="-304800" algn="l" rtl="0">
              <a:spcBef>
                <a:spcPts val="0"/>
              </a:spcBef>
              <a:spcAft>
                <a:spcPts val="0"/>
              </a:spcAft>
              <a:buSzPts val="1200"/>
              <a:buChar char="○"/>
            </a:pPr>
            <a:r>
              <a:rPr lang="en" dirty="0"/>
              <a:t>Quirks:</a:t>
            </a:r>
            <a:endParaRPr dirty="0"/>
          </a:p>
          <a:p>
            <a:pPr marL="1371600" lvl="2" indent="-304800" algn="l" rtl="0">
              <a:spcBef>
                <a:spcPts val="0"/>
              </a:spcBef>
              <a:spcAft>
                <a:spcPts val="0"/>
              </a:spcAft>
              <a:buSzPts val="1200"/>
              <a:buChar char="■"/>
            </a:pPr>
            <a:r>
              <a:rPr lang="en" dirty="0"/>
              <a:t>NaN !== NaN (only value not equal to itself).</a:t>
            </a:r>
            <a:endParaRPr dirty="0"/>
          </a:p>
          <a:p>
            <a:pPr marL="1371600" lvl="2" indent="-304800" algn="l" rtl="0">
              <a:spcBef>
                <a:spcPts val="0"/>
              </a:spcBef>
              <a:spcAft>
                <a:spcPts val="0"/>
              </a:spcAft>
              <a:buSzPts val="1200"/>
              <a:buChar char="■"/>
            </a:pPr>
            <a:r>
              <a:rPr lang="en" dirty="0"/>
              <a:t>Precision issues: 0.1 + 0.2 === 0.3 → false.</a:t>
            </a:r>
            <a:endParaRPr dirty="0"/>
          </a:p>
          <a:p>
            <a:pPr marL="1371600" lvl="2" indent="-304800" algn="l" rtl="0">
              <a:spcBef>
                <a:spcPts val="0"/>
              </a:spcBef>
              <a:spcAft>
                <a:spcPts val="0"/>
              </a:spcAft>
              <a:buSzPts val="1200"/>
              <a:buChar char="■"/>
            </a:pPr>
            <a:r>
              <a:rPr lang="en" dirty="0"/>
              <a:t>Division by zero → Infinity or -Infinity</a:t>
            </a:r>
            <a:endParaRPr dirty="0"/>
          </a:p>
        </p:txBody>
      </p:sp>
      <p:sp>
        <p:nvSpPr>
          <p:cNvPr id="208" name="Google Shape;208;p32"/>
          <p:cNvSpPr txBox="1"/>
          <p:nvPr/>
        </p:nvSpPr>
        <p:spPr>
          <a:xfrm>
            <a:off x="933825" y="3472425"/>
            <a:ext cx="6873300" cy="8619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79C0FF"/>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4EC9B0"/>
                </a:solidFill>
                <a:highlight>
                  <a:srgbClr val="121314"/>
                </a:highlight>
                <a:latin typeface="Courier New"/>
                <a:ea typeface="Courier New"/>
                <a:cs typeface="Courier New"/>
                <a:sym typeface="Courier New"/>
              </a:rPr>
              <a:t>Number</a:t>
            </a:r>
            <a:r>
              <a:rPr lang="en" sz="1200">
                <a:solidFill>
                  <a:srgbClr val="BBBEBF"/>
                </a:solidFill>
                <a:highlight>
                  <a:srgbClr val="121314"/>
                </a:highlight>
                <a:latin typeface="Courier New"/>
                <a:ea typeface="Courier New"/>
                <a:cs typeface="Courier New"/>
                <a:sym typeface="Courier New"/>
              </a:rPr>
              <a:t>.</a:t>
            </a:r>
            <a:r>
              <a:rPr lang="en" sz="1200">
                <a:solidFill>
                  <a:srgbClr val="79C0FF"/>
                </a:solidFill>
                <a:highlight>
                  <a:srgbClr val="121314"/>
                </a:highlight>
                <a:latin typeface="Courier New"/>
                <a:ea typeface="Courier New"/>
                <a:cs typeface="Courier New"/>
                <a:sym typeface="Courier New"/>
              </a:rPr>
              <a:t>MAX_SAFE_INTEGER</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9007199254740991</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79C0FF"/>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B5CEA8"/>
                </a:solidFill>
                <a:highlight>
                  <a:srgbClr val="121314"/>
                </a:highlight>
                <a:latin typeface="Courier New"/>
                <a:ea typeface="Courier New"/>
                <a:cs typeface="Courier New"/>
                <a:sym typeface="Courier New"/>
              </a:rPr>
              <a:t>9007199254740991</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1</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9007199254740991</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2</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true</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79C0FF"/>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B5CEA8"/>
                </a:solidFill>
                <a:highlight>
                  <a:srgbClr val="121314"/>
                </a:highlight>
                <a:latin typeface="Courier New"/>
                <a:ea typeface="Courier New"/>
                <a:cs typeface="Courier New"/>
                <a:sym typeface="Courier New"/>
              </a:rPr>
              <a:t>9007199254740991</a:t>
            </a:r>
            <a:r>
              <a:rPr lang="en" sz="1200">
                <a:solidFill>
                  <a:srgbClr val="FF7B72"/>
                </a:solidFill>
                <a:highlight>
                  <a:srgbClr val="121314"/>
                </a:highlight>
                <a:latin typeface="Courier New"/>
                <a:ea typeface="Courier New"/>
                <a:cs typeface="Courier New"/>
                <a:sym typeface="Courier New"/>
              </a:rPr>
              <a:t>n</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1</a:t>
            </a:r>
            <a:r>
              <a:rPr lang="en" sz="1200">
                <a:solidFill>
                  <a:srgbClr val="FF7B72"/>
                </a:solidFill>
                <a:highlight>
                  <a:srgbClr val="121314"/>
                </a:highlight>
                <a:latin typeface="Courier New"/>
                <a:ea typeface="Courier New"/>
                <a:cs typeface="Courier New"/>
                <a:sym typeface="Courier New"/>
              </a:rPr>
              <a:t>n</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9007199254740991</a:t>
            </a:r>
            <a:r>
              <a:rPr lang="en" sz="1200">
                <a:solidFill>
                  <a:srgbClr val="FF7B72"/>
                </a:solidFill>
                <a:highlight>
                  <a:srgbClr val="121314"/>
                </a:highlight>
                <a:latin typeface="Courier New"/>
                <a:ea typeface="Courier New"/>
                <a:cs typeface="Courier New"/>
                <a:sym typeface="Courier New"/>
              </a:rPr>
              <a:t>n</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2</a:t>
            </a:r>
            <a:r>
              <a:rPr lang="en" sz="1200">
                <a:solidFill>
                  <a:srgbClr val="FF7B72"/>
                </a:solidFill>
                <a:highlight>
                  <a:srgbClr val="121314"/>
                </a:highlight>
                <a:latin typeface="Courier New"/>
                <a:ea typeface="Courier New"/>
                <a:cs typeface="Courier New"/>
                <a:sym typeface="Courier New"/>
              </a:rPr>
              <a:t>n</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false</a:t>
            </a:r>
            <a:endParaRPr sz="1200">
              <a:solidFill>
                <a:srgbClr val="8B949E"/>
              </a:solidFill>
              <a:highlight>
                <a:srgbClr val="121314"/>
              </a:highlight>
              <a:latin typeface="Courier New"/>
              <a:ea typeface="Courier New"/>
              <a:cs typeface="Courier New"/>
              <a:sym typeface="Courier New"/>
            </a:endParaRPr>
          </a:p>
        </p:txBody>
      </p:sp>
      <p:sp>
        <p:nvSpPr>
          <p:cNvPr id="209" name="Google Shape;209;p32"/>
          <p:cNvSpPr txBox="1">
            <a:spLocks noGrp="1"/>
          </p:cNvSpPr>
          <p:nvPr>
            <p:ph type="body" idx="2"/>
          </p:nvPr>
        </p:nvSpPr>
        <p:spPr>
          <a:xfrm>
            <a:off x="4832400" y="1152475"/>
            <a:ext cx="3999900" cy="22359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a:t>BigInt</a:t>
            </a:r>
            <a:endParaRPr/>
          </a:p>
          <a:p>
            <a:pPr marL="914400" lvl="1" indent="-304800" algn="l" rtl="0">
              <a:spcBef>
                <a:spcPts val="0"/>
              </a:spcBef>
              <a:spcAft>
                <a:spcPts val="0"/>
              </a:spcAft>
              <a:buSzPts val="1200"/>
              <a:buChar char="○"/>
            </a:pPr>
            <a:r>
              <a:rPr lang="en"/>
              <a:t>Represents integers of arbitrary length.</a:t>
            </a:r>
            <a:endParaRPr/>
          </a:p>
          <a:p>
            <a:pPr marL="914400" lvl="1" indent="-304800" algn="l" rtl="0">
              <a:spcBef>
                <a:spcPts val="0"/>
              </a:spcBef>
              <a:spcAft>
                <a:spcPts val="0"/>
              </a:spcAft>
              <a:buSzPts val="1200"/>
              <a:buChar char="○"/>
            </a:pPr>
            <a:r>
              <a:rPr lang="en"/>
              <a:t>Created with n suffix: 123456789012345678901n.</a:t>
            </a:r>
            <a:endParaRPr/>
          </a:p>
          <a:p>
            <a:pPr marL="914400" lvl="1" indent="-304800" algn="l" rtl="0">
              <a:spcBef>
                <a:spcPts val="0"/>
              </a:spcBef>
              <a:spcAft>
                <a:spcPts val="0"/>
              </a:spcAft>
              <a:buSzPts val="1200"/>
              <a:buChar char="○"/>
            </a:pPr>
            <a:r>
              <a:rPr lang="en"/>
              <a:t>Cannot mix with Number in arithmetic (TypeError).</a:t>
            </a:r>
            <a:endParaRPr/>
          </a:p>
        </p:txBody>
      </p:sp>
      <p:sp>
        <p:nvSpPr>
          <p:cNvPr id="210" name="Google Shape;210;p3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a:extLst>
              <a:ext uri="{FF2B5EF4-FFF2-40B4-BE49-F238E27FC236}">
                <a16:creationId xmlns:a16="http://schemas.microsoft.com/office/drawing/2014/main" id="{430FDAF1-71D5-4E49-B7F5-0DDBD998E860}"/>
              </a:ext>
            </a:extLst>
          </p:cNvPr>
          <p:cNvSpPr>
            <a:spLocks noGrp="1"/>
          </p:cNvSpPr>
          <p:nvPr>
            <p:ph type="title"/>
          </p:nvPr>
        </p:nvSpPr>
        <p:spPr/>
        <p:txBody>
          <a:bodyPr/>
          <a:lstStyle/>
          <a:p>
            <a:r>
              <a:rPr lang="en-US" altLang="zh-TW" dirty="0"/>
              <a:t>Quirks in JS Number</a:t>
            </a:r>
            <a:endParaRPr lang="zh-TW" altLang="en-US" dirty="0"/>
          </a:p>
        </p:txBody>
      </p:sp>
      <p:sp>
        <p:nvSpPr>
          <p:cNvPr id="5" name="投影片編號版面配置區 4">
            <a:extLst>
              <a:ext uri="{FF2B5EF4-FFF2-40B4-BE49-F238E27FC236}">
                <a16:creationId xmlns:a16="http://schemas.microsoft.com/office/drawing/2014/main" id="{BB76BB5A-50B2-4CDC-B79B-2EC04682384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graphicFrame>
        <p:nvGraphicFramePr>
          <p:cNvPr id="7" name="表格 6">
            <a:extLst>
              <a:ext uri="{FF2B5EF4-FFF2-40B4-BE49-F238E27FC236}">
                <a16:creationId xmlns:a16="http://schemas.microsoft.com/office/drawing/2014/main" id="{7BDDE3AF-FD33-47FF-A104-C782C003C66D}"/>
              </a:ext>
            </a:extLst>
          </p:cNvPr>
          <p:cNvGraphicFramePr>
            <a:graphicFrameLocks noGrp="1"/>
          </p:cNvGraphicFramePr>
          <p:nvPr>
            <p:extLst>
              <p:ext uri="{D42A27DB-BD31-4B8C-83A1-F6EECF244321}">
                <p14:modId xmlns:p14="http://schemas.microsoft.com/office/powerpoint/2010/main" val="401901143"/>
              </p:ext>
            </p:extLst>
          </p:nvPr>
        </p:nvGraphicFramePr>
        <p:xfrm>
          <a:off x="311150" y="1641475"/>
          <a:ext cx="8092262" cy="2133600"/>
        </p:xfrm>
        <a:graphic>
          <a:graphicData uri="http://schemas.openxmlformats.org/drawingml/2006/table">
            <a:tbl>
              <a:tblPr>
                <a:tableStyleId>{7DF18680-E054-41AD-8BC1-D1AEF772440D}</a:tableStyleId>
              </a:tblPr>
              <a:tblGrid>
                <a:gridCol w="1792804">
                  <a:extLst>
                    <a:ext uri="{9D8B030D-6E8A-4147-A177-3AD203B41FA5}">
                      <a16:colId xmlns:a16="http://schemas.microsoft.com/office/drawing/2014/main" val="4101312729"/>
                    </a:ext>
                  </a:extLst>
                </a:gridCol>
                <a:gridCol w="1808402">
                  <a:extLst>
                    <a:ext uri="{9D8B030D-6E8A-4147-A177-3AD203B41FA5}">
                      <a16:colId xmlns:a16="http://schemas.microsoft.com/office/drawing/2014/main" val="962920649"/>
                    </a:ext>
                  </a:extLst>
                </a:gridCol>
                <a:gridCol w="1707936">
                  <a:extLst>
                    <a:ext uri="{9D8B030D-6E8A-4147-A177-3AD203B41FA5}">
                      <a16:colId xmlns:a16="http://schemas.microsoft.com/office/drawing/2014/main" val="3892156805"/>
                    </a:ext>
                  </a:extLst>
                </a:gridCol>
                <a:gridCol w="2783120">
                  <a:extLst>
                    <a:ext uri="{9D8B030D-6E8A-4147-A177-3AD203B41FA5}">
                      <a16:colId xmlns:a16="http://schemas.microsoft.com/office/drawing/2014/main" val="2050283652"/>
                    </a:ext>
                  </a:extLst>
                </a:gridCol>
              </a:tblGrid>
              <a:tr h="0">
                <a:tc>
                  <a:txBody>
                    <a:bodyPr/>
                    <a:lstStyle/>
                    <a:p>
                      <a:pPr algn="ctr"/>
                      <a:r>
                        <a:rPr lang="zh-TW" altLang="en-US" baseline="0" dirty="0">
                          <a:solidFill>
                            <a:srgbClr val="2502F8"/>
                          </a:solidFill>
                          <a:effectLst/>
                          <a:latin typeface="Calibri" panose="020F0502020204030204" pitchFamily="34" charset="0"/>
                          <a:ea typeface="標楷體" panose="03000509000000000000" pitchFamily="65" charset="-120"/>
                        </a:rPr>
                        <a:t>現象</a:t>
                      </a:r>
                    </a:p>
                  </a:txBody>
                  <a:tcPr anchor="ctr">
                    <a:solidFill>
                      <a:schemeClr val="accent6">
                        <a:lumMod val="20000"/>
                        <a:lumOff val="80000"/>
                      </a:schemeClr>
                    </a:solidFill>
                  </a:tcPr>
                </a:tc>
                <a:tc>
                  <a:txBody>
                    <a:bodyPr/>
                    <a:lstStyle/>
                    <a:p>
                      <a:pPr algn="ctr"/>
                      <a:r>
                        <a:rPr lang="zh-TW" altLang="en-US" baseline="0" dirty="0">
                          <a:solidFill>
                            <a:srgbClr val="2502F8"/>
                          </a:solidFill>
                          <a:effectLst/>
                          <a:latin typeface="Calibri" panose="020F0502020204030204" pitchFamily="34" charset="0"/>
                          <a:ea typeface="標楷體" panose="03000509000000000000" pitchFamily="65" charset="-120"/>
                        </a:rPr>
                        <a:t>範例</a:t>
                      </a:r>
                    </a:p>
                  </a:txBody>
                  <a:tcPr anchor="ctr">
                    <a:solidFill>
                      <a:schemeClr val="accent6">
                        <a:lumMod val="20000"/>
                        <a:lumOff val="80000"/>
                      </a:schemeClr>
                    </a:solidFill>
                  </a:tcPr>
                </a:tc>
                <a:tc>
                  <a:txBody>
                    <a:bodyPr/>
                    <a:lstStyle/>
                    <a:p>
                      <a:pPr algn="ctr"/>
                      <a:r>
                        <a:rPr lang="zh-TW" altLang="en-US" baseline="0" dirty="0">
                          <a:solidFill>
                            <a:srgbClr val="2502F8"/>
                          </a:solidFill>
                          <a:effectLst/>
                          <a:latin typeface="Calibri" panose="020F0502020204030204" pitchFamily="34" charset="0"/>
                          <a:ea typeface="標楷體" panose="03000509000000000000" pitchFamily="65" charset="-120"/>
                        </a:rPr>
                        <a:t>結果</a:t>
                      </a:r>
                    </a:p>
                  </a:txBody>
                  <a:tcPr anchor="ctr">
                    <a:solidFill>
                      <a:schemeClr val="accent6">
                        <a:lumMod val="20000"/>
                        <a:lumOff val="80000"/>
                      </a:schemeClr>
                    </a:solidFill>
                  </a:tcPr>
                </a:tc>
                <a:tc>
                  <a:txBody>
                    <a:bodyPr/>
                    <a:lstStyle/>
                    <a:p>
                      <a:pPr algn="ctr"/>
                      <a:r>
                        <a:rPr lang="zh-TW" altLang="en-US" baseline="0" dirty="0">
                          <a:solidFill>
                            <a:srgbClr val="2502F8"/>
                          </a:solidFill>
                          <a:effectLst/>
                          <a:latin typeface="Calibri" panose="020F0502020204030204" pitchFamily="34" charset="0"/>
                          <a:ea typeface="標楷體" panose="03000509000000000000" pitchFamily="65" charset="-120"/>
                        </a:rPr>
                        <a:t>原因</a:t>
                      </a:r>
                    </a:p>
                  </a:txBody>
                  <a:tcPr anchor="ctr">
                    <a:solidFill>
                      <a:schemeClr val="accent6">
                        <a:lumMod val="20000"/>
                        <a:lumOff val="80000"/>
                      </a:schemeClr>
                    </a:solidFill>
                  </a:tcPr>
                </a:tc>
                <a:extLst>
                  <a:ext uri="{0D108BD9-81ED-4DB2-BD59-A6C34878D82A}">
                    <a16:rowId xmlns:a16="http://schemas.microsoft.com/office/drawing/2014/main" val="4163372881"/>
                  </a:ext>
                </a:extLst>
              </a:tr>
              <a:tr h="0">
                <a:tc>
                  <a:txBody>
                    <a:bodyPr/>
                    <a:lstStyle/>
                    <a:p>
                      <a:pPr algn="ctr"/>
                      <a:r>
                        <a:rPr lang="en-US" baseline="0" dirty="0" err="1">
                          <a:solidFill>
                            <a:schemeClr val="bg2"/>
                          </a:solidFill>
                          <a:effectLst/>
                          <a:latin typeface="Calibri" panose="020F0502020204030204" pitchFamily="34" charset="0"/>
                          <a:ea typeface="標楷體" panose="03000509000000000000" pitchFamily="65" charset="-120"/>
                        </a:rPr>
                        <a:t>NaN</a:t>
                      </a:r>
                      <a:r>
                        <a:rPr lang="en-US" baseline="0" dirty="0">
                          <a:solidFill>
                            <a:schemeClr val="bg2"/>
                          </a:solidFill>
                          <a:effectLst/>
                          <a:latin typeface="Calibri" panose="020F0502020204030204" pitchFamily="34" charset="0"/>
                          <a:ea typeface="標楷體" panose="03000509000000000000" pitchFamily="65" charset="-120"/>
                        </a:rPr>
                        <a:t> </a:t>
                      </a:r>
                      <a:r>
                        <a:rPr lang="zh-TW" altLang="en-US" baseline="0" dirty="0">
                          <a:solidFill>
                            <a:schemeClr val="bg2"/>
                          </a:solidFill>
                          <a:effectLst/>
                          <a:latin typeface="Calibri" panose="020F0502020204030204" pitchFamily="34" charset="0"/>
                          <a:ea typeface="標楷體" panose="03000509000000000000" pitchFamily="65" charset="-120"/>
                        </a:rPr>
                        <a:t>不等於自己</a:t>
                      </a:r>
                    </a:p>
                  </a:txBody>
                  <a:tcPr anchor="ctr"/>
                </a:tc>
                <a:tc>
                  <a:txBody>
                    <a:bodyPr/>
                    <a:lstStyle/>
                    <a:p>
                      <a:pPr algn="ctr"/>
                      <a:r>
                        <a:rPr lang="en-US" baseline="0">
                          <a:solidFill>
                            <a:schemeClr val="bg2"/>
                          </a:solidFill>
                          <a:effectLst/>
                          <a:latin typeface="Calibri" panose="020F0502020204030204" pitchFamily="34" charset="0"/>
                          <a:ea typeface="標楷體" panose="03000509000000000000" pitchFamily="65" charset="-120"/>
                        </a:rPr>
                        <a:t>NaN === NaN</a:t>
                      </a:r>
                    </a:p>
                  </a:txBody>
                  <a:tcPr anchor="ctr"/>
                </a:tc>
                <a:tc>
                  <a:txBody>
                    <a:bodyPr/>
                    <a:lstStyle/>
                    <a:p>
                      <a:pPr algn="ctr"/>
                      <a:r>
                        <a:rPr lang="en-US" baseline="0" dirty="0">
                          <a:solidFill>
                            <a:schemeClr val="bg2"/>
                          </a:solidFill>
                          <a:effectLst/>
                          <a:latin typeface="Calibri" panose="020F0502020204030204" pitchFamily="34" charset="0"/>
                          <a:ea typeface="標楷體" panose="03000509000000000000" pitchFamily="65" charset="-120"/>
                        </a:rPr>
                        <a:t>false</a:t>
                      </a:r>
                    </a:p>
                  </a:txBody>
                  <a:tcPr anchor="ctr"/>
                </a:tc>
                <a:tc>
                  <a:txBody>
                    <a:bodyPr/>
                    <a:lstStyle/>
                    <a:p>
                      <a:r>
                        <a:rPr lang="en-US" baseline="0" dirty="0">
                          <a:solidFill>
                            <a:schemeClr val="bg2"/>
                          </a:solidFill>
                          <a:effectLst/>
                          <a:latin typeface="Calibri" panose="020F0502020204030204" pitchFamily="34" charset="0"/>
                          <a:ea typeface="標楷體" panose="03000509000000000000" pitchFamily="65" charset="-120"/>
                        </a:rPr>
                        <a:t>ECMAScript </a:t>
                      </a:r>
                      <a:r>
                        <a:rPr lang="zh-TW" altLang="en-US" baseline="0" dirty="0">
                          <a:solidFill>
                            <a:schemeClr val="bg2"/>
                          </a:solidFill>
                          <a:effectLst/>
                          <a:latin typeface="Calibri" panose="020F0502020204030204" pitchFamily="34" charset="0"/>
                          <a:ea typeface="標楷體" panose="03000509000000000000" pitchFamily="65" charset="-120"/>
                        </a:rPr>
                        <a:t>規範</a:t>
                      </a:r>
                    </a:p>
                  </a:txBody>
                  <a:tcPr anchor="ctr"/>
                </a:tc>
                <a:extLst>
                  <a:ext uri="{0D108BD9-81ED-4DB2-BD59-A6C34878D82A}">
                    <a16:rowId xmlns:a16="http://schemas.microsoft.com/office/drawing/2014/main" val="2336137605"/>
                  </a:ext>
                </a:extLst>
              </a:tr>
              <a:tr h="0">
                <a:tc>
                  <a:txBody>
                    <a:bodyPr/>
                    <a:lstStyle/>
                    <a:p>
                      <a:pPr algn="ctr"/>
                      <a:r>
                        <a:rPr lang="zh-TW" altLang="en-US" baseline="0" dirty="0">
                          <a:solidFill>
                            <a:schemeClr val="bg2"/>
                          </a:solidFill>
                          <a:effectLst/>
                          <a:latin typeface="Calibri" panose="020F0502020204030204" pitchFamily="34" charset="0"/>
                          <a:ea typeface="標楷體" panose="03000509000000000000" pitchFamily="65" charset="-120"/>
                        </a:rPr>
                        <a:t>浮點數誤差</a:t>
                      </a:r>
                    </a:p>
                  </a:txBody>
                  <a:tcPr anchor="ctr"/>
                </a:tc>
                <a:tc>
                  <a:txBody>
                    <a:bodyPr/>
                    <a:lstStyle/>
                    <a:p>
                      <a:pPr algn="ctr"/>
                      <a:r>
                        <a:rPr lang="en-US" altLang="zh-TW" baseline="0" dirty="0">
                          <a:solidFill>
                            <a:schemeClr val="bg2"/>
                          </a:solidFill>
                          <a:effectLst/>
                          <a:latin typeface="Calibri" panose="020F0502020204030204" pitchFamily="34" charset="0"/>
                          <a:ea typeface="標楷體" panose="03000509000000000000" pitchFamily="65" charset="-120"/>
                        </a:rPr>
                        <a:t>0.1 + 0.2 === 0.3</a:t>
                      </a:r>
                    </a:p>
                  </a:txBody>
                  <a:tcPr anchor="ctr"/>
                </a:tc>
                <a:tc>
                  <a:txBody>
                    <a:bodyPr/>
                    <a:lstStyle/>
                    <a:p>
                      <a:pPr algn="ctr"/>
                      <a:r>
                        <a:rPr lang="en-US" baseline="0">
                          <a:solidFill>
                            <a:schemeClr val="bg2"/>
                          </a:solidFill>
                          <a:effectLst/>
                          <a:latin typeface="Calibri" panose="020F0502020204030204" pitchFamily="34" charset="0"/>
                          <a:ea typeface="標楷體" panose="03000509000000000000" pitchFamily="65" charset="-120"/>
                        </a:rPr>
                        <a:t>false</a:t>
                      </a:r>
                    </a:p>
                  </a:txBody>
                  <a:tcPr anchor="ctr"/>
                </a:tc>
                <a:tc>
                  <a:txBody>
                    <a:bodyPr/>
                    <a:lstStyle/>
                    <a:p>
                      <a:r>
                        <a:rPr lang="en-US" baseline="0" dirty="0">
                          <a:solidFill>
                            <a:schemeClr val="bg2"/>
                          </a:solidFill>
                          <a:effectLst/>
                          <a:latin typeface="Calibri" panose="020F0502020204030204" pitchFamily="34" charset="0"/>
                          <a:ea typeface="標楷體" panose="03000509000000000000" pitchFamily="65" charset="-120"/>
                        </a:rPr>
                        <a:t>IEEE 754</a:t>
                      </a:r>
                    </a:p>
                  </a:txBody>
                  <a:tcPr anchor="ctr"/>
                </a:tc>
                <a:extLst>
                  <a:ext uri="{0D108BD9-81ED-4DB2-BD59-A6C34878D82A}">
                    <a16:rowId xmlns:a16="http://schemas.microsoft.com/office/drawing/2014/main" val="2251610769"/>
                  </a:ext>
                </a:extLst>
              </a:tr>
              <a:tr h="0">
                <a:tc>
                  <a:txBody>
                    <a:bodyPr/>
                    <a:lstStyle/>
                    <a:p>
                      <a:pPr algn="ctr"/>
                      <a:r>
                        <a:rPr lang="zh-TW" altLang="en-US" baseline="0">
                          <a:solidFill>
                            <a:schemeClr val="bg2"/>
                          </a:solidFill>
                          <a:effectLst/>
                          <a:latin typeface="Calibri" panose="020F0502020204030204" pitchFamily="34" charset="0"/>
                          <a:ea typeface="標楷體" panose="03000509000000000000" pitchFamily="65" charset="-120"/>
                        </a:rPr>
                        <a:t>除以 </a:t>
                      </a:r>
                      <a:r>
                        <a:rPr lang="en-US" altLang="zh-TW" baseline="0">
                          <a:solidFill>
                            <a:schemeClr val="bg2"/>
                          </a:solidFill>
                          <a:effectLst/>
                          <a:latin typeface="Calibri" panose="020F0502020204030204" pitchFamily="34" charset="0"/>
                          <a:ea typeface="標楷體" panose="03000509000000000000" pitchFamily="65" charset="-120"/>
                        </a:rPr>
                        <a:t>0</a:t>
                      </a:r>
                    </a:p>
                  </a:txBody>
                  <a:tcPr anchor="ctr"/>
                </a:tc>
                <a:tc>
                  <a:txBody>
                    <a:bodyPr/>
                    <a:lstStyle/>
                    <a:p>
                      <a:pPr algn="ctr"/>
                      <a:r>
                        <a:rPr lang="en-US" altLang="zh-TW" baseline="0" dirty="0">
                          <a:solidFill>
                            <a:schemeClr val="bg2"/>
                          </a:solidFill>
                          <a:effectLst/>
                          <a:latin typeface="Calibri" panose="020F0502020204030204" pitchFamily="34" charset="0"/>
                          <a:ea typeface="標楷體" panose="03000509000000000000" pitchFamily="65" charset="-120"/>
                        </a:rPr>
                        <a:t>1 / 0</a:t>
                      </a:r>
                    </a:p>
                  </a:txBody>
                  <a:tcPr anchor="ctr"/>
                </a:tc>
                <a:tc>
                  <a:txBody>
                    <a:bodyPr/>
                    <a:lstStyle/>
                    <a:p>
                      <a:pPr algn="ctr"/>
                      <a:r>
                        <a:rPr lang="en-US" baseline="0" dirty="0">
                          <a:solidFill>
                            <a:schemeClr val="bg2"/>
                          </a:solidFill>
                          <a:effectLst/>
                          <a:latin typeface="Calibri" panose="020F0502020204030204" pitchFamily="34" charset="0"/>
                          <a:ea typeface="標楷體" panose="03000509000000000000" pitchFamily="65" charset="-120"/>
                        </a:rPr>
                        <a:t>Infinity</a:t>
                      </a:r>
                    </a:p>
                  </a:txBody>
                  <a:tcPr anchor="ctr"/>
                </a:tc>
                <a:tc>
                  <a:txBody>
                    <a:bodyPr/>
                    <a:lstStyle/>
                    <a:p>
                      <a:r>
                        <a:rPr lang="en-US" baseline="0" dirty="0">
                          <a:solidFill>
                            <a:schemeClr val="bg2"/>
                          </a:solidFill>
                          <a:effectLst/>
                          <a:latin typeface="Calibri" panose="020F0502020204030204" pitchFamily="34" charset="0"/>
                          <a:ea typeface="標楷體" panose="03000509000000000000" pitchFamily="65" charset="-120"/>
                        </a:rPr>
                        <a:t>IEEE 754</a:t>
                      </a:r>
                    </a:p>
                  </a:txBody>
                  <a:tcPr anchor="ctr"/>
                </a:tc>
                <a:extLst>
                  <a:ext uri="{0D108BD9-81ED-4DB2-BD59-A6C34878D82A}">
                    <a16:rowId xmlns:a16="http://schemas.microsoft.com/office/drawing/2014/main" val="1699272446"/>
                  </a:ext>
                </a:extLst>
              </a:tr>
              <a:tr h="0">
                <a:tc>
                  <a:txBody>
                    <a:bodyPr/>
                    <a:lstStyle/>
                    <a:p>
                      <a:pPr algn="ctr"/>
                      <a:r>
                        <a:rPr lang="en-US" altLang="zh-TW" baseline="0">
                          <a:solidFill>
                            <a:schemeClr val="bg2"/>
                          </a:solidFill>
                          <a:effectLst/>
                          <a:latin typeface="Calibri" panose="020F0502020204030204" pitchFamily="34" charset="0"/>
                          <a:ea typeface="標楷體" panose="03000509000000000000" pitchFamily="65" charset="-120"/>
                        </a:rPr>
                        <a:t>0 </a:t>
                      </a:r>
                      <a:r>
                        <a:rPr lang="zh-TW" altLang="en-US" baseline="0">
                          <a:solidFill>
                            <a:schemeClr val="bg2"/>
                          </a:solidFill>
                          <a:effectLst/>
                          <a:latin typeface="Calibri" panose="020F0502020204030204" pitchFamily="34" charset="0"/>
                          <a:ea typeface="標楷體" panose="03000509000000000000" pitchFamily="65" charset="-120"/>
                        </a:rPr>
                        <a:t>除以 </a:t>
                      </a:r>
                      <a:r>
                        <a:rPr lang="en-US" altLang="zh-TW" baseline="0">
                          <a:solidFill>
                            <a:schemeClr val="bg2"/>
                          </a:solidFill>
                          <a:effectLst/>
                          <a:latin typeface="Calibri" panose="020F0502020204030204" pitchFamily="34" charset="0"/>
                          <a:ea typeface="標楷體" panose="03000509000000000000" pitchFamily="65" charset="-120"/>
                        </a:rPr>
                        <a:t>0</a:t>
                      </a:r>
                    </a:p>
                  </a:txBody>
                  <a:tcPr anchor="ctr"/>
                </a:tc>
                <a:tc>
                  <a:txBody>
                    <a:bodyPr/>
                    <a:lstStyle/>
                    <a:p>
                      <a:pPr algn="ctr"/>
                      <a:r>
                        <a:rPr lang="en-US" altLang="zh-TW" baseline="0">
                          <a:solidFill>
                            <a:schemeClr val="bg2"/>
                          </a:solidFill>
                          <a:effectLst/>
                          <a:latin typeface="Calibri" panose="020F0502020204030204" pitchFamily="34" charset="0"/>
                          <a:ea typeface="標楷體" panose="03000509000000000000" pitchFamily="65" charset="-120"/>
                        </a:rPr>
                        <a:t>0 / 0</a:t>
                      </a:r>
                    </a:p>
                  </a:txBody>
                  <a:tcPr anchor="ctr"/>
                </a:tc>
                <a:tc>
                  <a:txBody>
                    <a:bodyPr/>
                    <a:lstStyle/>
                    <a:p>
                      <a:pPr algn="ctr"/>
                      <a:r>
                        <a:rPr lang="en-US" baseline="0" dirty="0" err="1">
                          <a:solidFill>
                            <a:schemeClr val="bg2"/>
                          </a:solidFill>
                          <a:effectLst/>
                          <a:latin typeface="Calibri" panose="020F0502020204030204" pitchFamily="34" charset="0"/>
                          <a:ea typeface="標楷體" panose="03000509000000000000" pitchFamily="65" charset="-120"/>
                        </a:rPr>
                        <a:t>NaN</a:t>
                      </a:r>
                      <a:endParaRPr lang="en-US" baseline="0" dirty="0">
                        <a:solidFill>
                          <a:schemeClr val="bg2"/>
                        </a:solidFill>
                        <a:effectLst/>
                        <a:latin typeface="Calibri" panose="020F0502020204030204" pitchFamily="34" charset="0"/>
                        <a:ea typeface="標楷體" panose="03000509000000000000" pitchFamily="65" charset="-120"/>
                      </a:endParaRPr>
                    </a:p>
                  </a:txBody>
                  <a:tcPr anchor="ctr"/>
                </a:tc>
                <a:tc>
                  <a:txBody>
                    <a:bodyPr/>
                    <a:lstStyle/>
                    <a:p>
                      <a:r>
                        <a:rPr lang="zh-TW" altLang="en-US" baseline="0" dirty="0">
                          <a:solidFill>
                            <a:schemeClr val="bg2"/>
                          </a:solidFill>
                          <a:effectLst/>
                          <a:latin typeface="Calibri" panose="020F0502020204030204" pitchFamily="34" charset="0"/>
                          <a:ea typeface="標楷體" panose="03000509000000000000" pitchFamily="65" charset="-120"/>
                        </a:rPr>
                        <a:t>無法定義</a:t>
                      </a:r>
                    </a:p>
                  </a:txBody>
                  <a:tcPr anchor="ctr"/>
                </a:tc>
                <a:extLst>
                  <a:ext uri="{0D108BD9-81ED-4DB2-BD59-A6C34878D82A}">
                    <a16:rowId xmlns:a16="http://schemas.microsoft.com/office/drawing/2014/main" val="1284913042"/>
                  </a:ext>
                </a:extLst>
              </a:tr>
              <a:tr h="0">
                <a:tc>
                  <a:txBody>
                    <a:bodyPr/>
                    <a:lstStyle/>
                    <a:p>
                      <a:pPr algn="ctr"/>
                      <a:r>
                        <a:rPr lang="en-US" baseline="0">
                          <a:solidFill>
                            <a:schemeClr val="bg2"/>
                          </a:solidFill>
                          <a:effectLst/>
                          <a:latin typeface="Calibri" panose="020F0502020204030204" pitchFamily="34" charset="0"/>
                          <a:ea typeface="標楷體" panose="03000509000000000000" pitchFamily="65" charset="-120"/>
                        </a:rPr>
                        <a:t>Infinity </a:t>
                      </a:r>
                      <a:r>
                        <a:rPr lang="zh-TW" altLang="en-US" baseline="0">
                          <a:solidFill>
                            <a:schemeClr val="bg2"/>
                          </a:solidFill>
                          <a:effectLst/>
                          <a:latin typeface="Calibri" panose="020F0502020204030204" pitchFamily="34" charset="0"/>
                          <a:ea typeface="標楷體" panose="03000509000000000000" pitchFamily="65" charset="-120"/>
                        </a:rPr>
                        <a:t>型別</a:t>
                      </a:r>
                    </a:p>
                  </a:txBody>
                  <a:tcPr anchor="ctr"/>
                </a:tc>
                <a:tc>
                  <a:txBody>
                    <a:bodyPr/>
                    <a:lstStyle/>
                    <a:p>
                      <a:pPr algn="ctr"/>
                      <a:r>
                        <a:rPr lang="en-US" baseline="0">
                          <a:solidFill>
                            <a:schemeClr val="bg2"/>
                          </a:solidFill>
                          <a:effectLst/>
                          <a:latin typeface="Calibri" panose="020F0502020204030204" pitchFamily="34" charset="0"/>
                          <a:ea typeface="標楷體" panose="03000509000000000000" pitchFamily="65" charset="-120"/>
                        </a:rPr>
                        <a:t>typeof Infinity</a:t>
                      </a:r>
                    </a:p>
                  </a:txBody>
                  <a:tcPr anchor="ctr"/>
                </a:tc>
                <a:tc>
                  <a:txBody>
                    <a:bodyPr/>
                    <a:lstStyle/>
                    <a:p>
                      <a:pPr algn="ctr"/>
                      <a:r>
                        <a:rPr lang="en-US" baseline="0">
                          <a:solidFill>
                            <a:schemeClr val="bg2"/>
                          </a:solidFill>
                          <a:effectLst/>
                          <a:latin typeface="Calibri" panose="020F0502020204030204" pitchFamily="34" charset="0"/>
                          <a:ea typeface="標楷體" panose="03000509000000000000" pitchFamily="65" charset="-120"/>
                        </a:rPr>
                        <a:t>"number"</a:t>
                      </a:r>
                    </a:p>
                  </a:txBody>
                  <a:tcPr anchor="ctr"/>
                </a:tc>
                <a:tc>
                  <a:txBody>
                    <a:bodyPr/>
                    <a:lstStyle/>
                    <a:p>
                      <a:r>
                        <a:rPr lang="en-US" baseline="0" dirty="0">
                          <a:solidFill>
                            <a:schemeClr val="bg2"/>
                          </a:solidFill>
                          <a:effectLst/>
                          <a:latin typeface="Calibri" panose="020F0502020204030204" pitchFamily="34" charset="0"/>
                          <a:ea typeface="標楷體" panose="03000509000000000000" pitchFamily="65" charset="-120"/>
                        </a:rPr>
                        <a:t>Infinity </a:t>
                      </a:r>
                      <a:r>
                        <a:rPr lang="zh-TW" altLang="en-US" baseline="0" dirty="0">
                          <a:solidFill>
                            <a:schemeClr val="bg2"/>
                          </a:solidFill>
                          <a:effectLst/>
                          <a:latin typeface="Calibri" panose="020F0502020204030204" pitchFamily="34" charset="0"/>
                          <a:ea typeface="標楷體" panose="03000509000000000000" pitchFamily="65" charset="-120"/>
                        </a:rPr>
                        <a:t>是 </a:t>
                      </a:r>
                      <a:r>
                        <a:rPr lang="en-US" baseline="0" dirty="0">
                          <a:solidFill>
                            <a:schemeClr val="bg2"/>
                          </a:solidFill>
                          <a:effectLst/>
                          <a:latin typeface="Calibri" panose="020F0502020204030204" pitchFamily="34" charset="0"/>
                          <a:ea typeface="標楷體" panose="03000509000000000000" pitchFamily="65" charset="-120"/>
                        </a:rPr>
                        <a:t>Number</a:t>
                      </a:r>
                    </a:p>
                  </a:txBody>
                  <a:tcPr anchor="ctr"/>
                </a:tc>
                <a:extLst>
                  <a:ext uri="{0D108BD9-81ED-4DB2-BD59-A6C34878D82A}">
                    <a16:rowId xmlns:a16="http://schemas.microsoft.com/office/drawing/2014/main" val="528866795"/>
                  </a:ext>
                </a:extLst>
              </a:tr>
              <a:tr h="0">
                <a:tc>
                  <a:txBody>
                    <a:bodyPr/>
                    <a:lstStyle/>
                    <a:p>
                      <a:pPr algn="ctr"/>
                      <a:r>
                        <a:rPr lang="en-US" baseline="0">
                          <a:solidFill>
                            <a:schemeClr val="bg2"/>
                          </a:solidFill>
                          <a:effectLst/>
                          <a:latin typeface="Calibri" panose="020F0502020204030204" pitchFamily="34" charset="0"/>
                          <a:ea typeface="標楷體" panose="03000509000000000000" pitchFamily="65" charset="-120"/>
                        </a:rPr>
                        <a:t>null </a:t>
                      </a:r>
                      <a:r>
                        <a:rPr lang="zh-TW" altLang="en-US" baseline="0">
                          <a:solidFill>
                            <a:schemeClr val="bg2"/>
                          </a:solidFill>
                          <a:effectLst/>
                          <a:latin typeface="Calibri" panose="020F0502020204030204" pitchFamily="34" charset="0"/>
                          <a:ea typeface="標楷體" panose="03000509000000000000" pitchFamily="65" charset="-120"/>
                        </a:rPr>
                        <a:t>型別</a:t>
                      </a:r>
                    </a:p>
                  </a:txBody>
                  <a:tcPr anchor="ctr"/>
                </a:tc>
                <a:tc>
                  <a:txBody>
                    <a:bodyPr/>
                    <a:lstStyle/>
                    <a:p>
                      <a:pPr algn="ctr"/>
                      <a:r>
                        <a:rPr lang="en-US" baseline="0">
                          <a:solidFill>
                            <a:schemeClr val="bg2"/>
                          </a:solidFill>
                          <a:effectLst/>
                          <a:latin typeface="Calibri" panose="020F0502020204030204" pitchFamily="34" charset="0"/>
                          <a:ea typeface="標楷體" panose="03000509000000000000" pitchFamily="65" charset="-120"/>
                        </a:rPr>
                        <a:t>typeof null</a:t>
                      </a:r>
                    </a:p>
                  </a:txBody>
                  <a:tcPr anchor="ctr"/>
                </a:tc>
                <a:tc>
                  <a:txBody>
                    <a:bodyPr/>
                    <a:lstStyle/>
                    <a:p>
                      <a:pPr algn="ctr"/>
                      <a:r>
                        <a:rPr lang="en-US" baseline="0" dirty="0">
                          <a:solidFill>
                            <a:schemeClr val="bg2"/>
                          </a:solidFill>
                          <a:effectLst/>
                          <a:latin typeface="Calibri" panose="020F0502020204030204" pitchFamily="34" charset="0"/>
                          <a:ea typeface="標楷體" panose="03000509000000000000" pitchFamily="65" charset="-120"/>
                        </a:rPr>
                        <a:t>"object"</a:t>
                      </a:r>
                    </a:p>
                  </a:txBody>
                  <a:tcPr anchor="ctr"/>
                </a:tc>
                <a:tc>
                  <a:txBody>
                    <a:bodyPr/>
                    <a:lstStyle/>
                    <a:p>
                      <a:r>
                        <a:rPr lang="zh-TW" altLang="en-US" baseline="0" dirty="0">
                          <a:solidFill>
                            <a:schemeClr val="bg2"/>
                          </a:solidFill>
                          <a:effectLst/>
                          <a:latin typeface="Calibri" panose="020F0502020204030204" pitchFamily="34" charset="0"/>
                          <a:ea typeface="標楷體" panose="03000509000000000000" pitchFamily="65" charset="-120"/>
                        </a:rPr>
                        <a:t>歷史 </a:t>
                      </a:r>
                      <a:r>
                        <a:rPr lang="en-US" baseline="0" dirty="0">
                          <a:solidFill>
                            <a:schemeClr val="bg2"/>
                          </a:solidFill>
                          <a:effectLst/>
                          <a:latin typeface="Calibri" panose="020F0502020204030204" pitchFamily="34" charset="0"/>
                          <a:ea typeface="標楷體" panose="03000509000000000000" pitchFamily="65" charset="-120"/>
                        </a:rPr>
                        <a:t>Bug</a:t>
                      </a:r>
                    </a:p>
                  </a:txBody>
                  <a:tcPr anchor="ctr"/>
                </a:tc>
                <a:extLst>
                  <a:ext uri="{0D108BD9-81ED-4DB2-BD59-A6C34878D82A}">
                    <a16:rowId xmlns:a16="http://schemas.microsoft.com/office/drawing/2014/main" val="2612264734"/>
                  </a:ext>
                </a:extLst>
              </a:tr>
            </a:tbl>
          </a:graphicData>
        </a:graphic>
      </p:graphicFrame>
    </p:spTree>
    <p:extLst>
      <p:ext uri="{BB962C8B-B14F-4D97-AF65-F5344CB8AC3E}">
        <p14:creationId xmlns:p14="http://schemas.microsoft.com/office/powerpoint/2010/main" val="235339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String &amp; Boolean</a:t>
            </a:r>
            <a:endParaRPr/>
          </a:p>
        </p:txBody>
      </p:sp>
      <p:sp>
        <p:nvSpPr>
          <p:cNvPr id="216" name="Google Shape;216;p33"/>
          <p:cNvSpPr txBox="1">
            <a:spLocks noGrp="1"/>
          </p:cNvSpPr>
          <p:nvPr>
            <p:ph type="body" idx="1"/>
          </p:nvPr>
        </p:nvSpPr>
        <p:spPr>
          <a:xfrm>
            <a:off x="311700" y="1152475"/>
            <a:ext cx="3999900" cy="14193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dirty="0"/>
              <a:t>String</a:t>
            </a:r>
            <a:endParaRPr dirty="0"/>
          </a:p>
          <a:p>
            <a:pPr marL="914400" lvl="1" indent="-304800" algn="l" rtl="0">
              <a:spcBef>
                <a:spcPts val="0"/>
              </a:spcBef>
              <a:spcAft>
                <a:spcPts val="0"/>
              </a:spcAft>
              <a:buSzPts val="1200"/>
              <a:buChar char="○"/>
            </a:pPr>
            <a:r>
              <a:rPr lang="en" dirty="0"/>
              <a:t>Immutable sequences of characters.</a:t>
            </a:r>
            <a:endParaRPr dirty="0"/>
          </a:p>
          <a:p>
            <a:pPr marL="914400" lvl="1" indent="-304800" algn="l" rtl="0">
              <a:spcBef>
                <a:spcPts val="0"/>
              </a:spcBef>
              <a:spcAft>
                <a:spcPts val="0"/>
              </a:spcAft>
              <a:buSzPts val="1200"/>
              <a:buChar char="○"/>
            </a:pPr>
            <a:r>
              <a:rPr lang="en" dirty="0"/>
              <a:t>Declared with ", ', or backticks `.</a:t>
            </a:r>
            <a:endParaRPr dirty="0"/>
          </a:p>
          <a:p>
            <a:pPr marL="914400" lvl="1" indent="-304800" algn="l" rtl="0">
              <a:spcBef>
                <a:spcPts val="0"/>
              </a:spcBef>
              <a:spcAft>
                <a:spcPts val="0"/>
              </a:spcAft>
              <a:buSzPts val="1200"/>
              <a:buChar char="○"/>
            </a:pPr>
            <a:r>
              <a:rPr lang="en" dirty="0"/>
              <a:t>Backticks allow interpolation:</a:t>
            </a:r>
            <a:endParaRPr dirty="0"/>
          </a:p>
        </p:txBody>
      </p:sp>
      <p:sp>
        <p:nvSpPr>
          <p:cNvPr id="217" name="Google Shape;217;p33"/>
          <p:cNvSpPr txBox="1">
            <a:spLocks noGrp="1"/>
          </p:cNvSpPr>
          <p:nvPr>
            <p:ph type="body" idx="2"/>
          </p:nvPr>
        </p:nvSpPr>
        <p:spPr>
          <a:xfrm>
            <a:off x="4832400" y="1152475"/>
            <a:ext cx="3999900" cy="12045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a:t>Boolean</a:t>
            </a:r>
            <a:endParaRPr/>
          </a:p>
          <a:p>
            <a:pPr marL="914400" lvl="1" indent="-304800" algn="l" rtl="0">
              <a:spcBef>
                <a:spcPts val="0"/>
              </a:spcBef>
              <a:spcAft>
                <a:spcPts val="0"/>
              </a:spcAft>
              <a:buSzPts val="1200"/>
              <a:buChar char="○"/>
            </a:pPr>
            <a:r>
              <a:rPr lang="en"/>
              <a:t>Logical values: true or false.</a:t>
            </a:r>
            <a:endParaRPr/>
          </a:p>
          <a:p>
            <a:pPr marL="914400" lvl="1" indent="-304800" algn="l" rtl="0">
              <a:spcBef>
                <a:spcPts val="0"/>
              </a:spcBef>
              <a:spcAft>
                <a:spcPts val="0"/>
              </a:spcAft>
              <a:buSzPts val="1200"/>
              <a:buChar char="○"/>
            </a:pPr>
            <a:r>
              <a:rPr lang="en"/>
              <a:t>Commonly used in conditions:</a:t>
            </a:r>
            <a:endParaRPr/>
          </a:p>
        </p:txBody>
      </p:sp>
      <p:sp>
        <p:nvSpPr>
          <p:cNvPr id="218" name="Google Shape;218;p33"/>
          <p:cNvSpPr txBox="1"/>
          <p:nvPr/>
        </p:nvSpPr>
        <p:spPr>
          <a:xfrm>
            <a:off x="613350" y="2418400"/>
            <a:ext cx="3225619" cy="675796"/>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dirty="0">
                <a:solidFill>
                  <a:srgbClr val="FF7B72"/>
                </a:solidFill>
                <a:highlight>
                  <a:srgbClr val="121314"/>
                </a:highlight>
                <a:latin typeface="Courier New"/>
                <a:ea typeface="Courier New"/>
                <a:cs typeface="Courier New"/>
                <a:sym typeface="Courier New"/>
              </a:rPr>
              <a:t>let</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C9D1D9"/>
                </a:solidFill>
                <a:highlight>
                  <a:srgbClr val="121314"/>
                </a:highlight>
                <a:latin typeface="Courier New"/>
                <a:ea typeface="Courier New"/>
                <a:cs typeface="Courier New"/>
                <a:sym typeface="Courier New"/>
              </a:rPr>
              <a:t>name</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D4D4D4"/>
                </a:solidFill>
                <a:highlight>
                  <a:srgbClr val="121314"/>
                </a:highlight>
                <a:latin typeface="Courier New"/>
                <a:ea typeface="Courier New"/>
                <a:cs typeface="Courier New"/>
                <a:sym typeface="Courier New"/>
              </a:rPr>
              <a:t>=</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A5D6FF"/>
                </a:solidFill>
                <a:highlight>
                  <a:srgbClr val="121314"/>
                </a:highlight>
                <a:latin typeface="Courier New"/>
                <a:ea typeface="Courier New"/>
                <a:cs typeface="Courier New"/>
                <a:sym typeface="Courier New"/>
              </a:rPr>
              <a:t>"Charlie"</a:t>
            </a:r>
            <a:r>
              <a:rPr lang="en" sz="1200" dirty="0">
                <a:solidFill>
                  <a:srgbClr val="BBBEBF"/>
                </a:solidFill>
                <a:highlight>
                  <a:srgbClr val="121314"/>
                </a:highlight>
                <a:latin typeface="Courier New"/>
                <a:ea typeface="Courier New"/>
                <a:cs typeface="Courier New"/>
                <a:sym typeface="Courier New"/>
              </a:rPr>
              <a:t>;</a:t>
            </a:r>
            <a:endParaRPr sz="12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79C0FF"/>
                </a:solidFill>
                <a:highlight>
                  <a:srgbClr val="121314"/>
                </a:highlight>
                <a:latin typeface="Courier New"/>
                <a:ea typeface="Courier New"/>
                <a:cs typeface="Courier New"/>
                <a:sym typeface="Courier New"/>
              </a:rPr>
              <a:t>console</a:t>
            </a:r>
            <a:r>
              <a:rPr lang="en" sz="1200" dirty="0">
                <a:solidFill>
                  <a:srgbClr val="BBBEBF"/>
                </a:solidFill>
                <a:highlight>
                  <a:srgbClr val="121314"/>
                </a:highlight>
                <a:latin typeface="Courier New"/>
                <a:ea typeface="Courier New"/>
                <a:cs typeface="Courier New"/>
                <a:sym typeface="Courier New"/>
              </a:rPr>
              <a:t>.</a:t>
            </a:r>
            <a:r>
              <a:rPr lang="en" sz="1200" dirty="0">
                <a:solidFill>
                  <a:srgbClr val="D2A8FF"/>
                </a:solidFill>
                <a:highlight>
                  <a:srgbClr val="121314"/>
                </a:highlight>
                <a:latin typeface="Courier New"/>
                <a:ea typeface="Courier New"/>
                <a:cs typeface="Courier New"/>
                <a:sym typeface="Courier New"/>
              </a:rPr>
              <a:t>log</a:t>
            </a:r>
            <a:r>
              <a:rPr lang="en" sz="1200" dirty="0">
                <a:solidFill>
                  <a:srgbClr val="BBBEBF"/>
                </a:solidFill>
                <a:highlight>
                  <a:srgbClr val="121314"/>
                </a:highlight>
                <a:latin typeface="Courier New"/>
                <a:ea typeface="Courier New"/>
                <a:cs typeface="Courier New"/>
                <a:sym typeface="Courier New"/>
              </a:rPr>
              <a:t>(</a:t>
            </a:r>
            <a:r>
              <a:rPr lang="en" sz="1200" dirty="0">
                <a:solidFill>
                  <a:srgbClr val="A5D6FF"/>
                </a:solidFill>
                <a:highlight>
                  <a:srgbClr val="121314"/>
                </a:highlight>
                <a:latin typeface="Courier New"/>
                <a:ea typeface="Courier New"/>
                <a:cs typeface="Courier New"/>
                <a:sym typeface="Courier New"/>
              </a:rPr>
              <a:t>`Hello, </a:t>
            </a:r>
            <a:r>
              <a:rPr lang="en" sz="1200" dirty="0">
                <a:solidFill>
                  <a:srgbClr val="569CD6"/>
                </a:solidFill>
                <a:highlight>
                  <a:srgbClr val="121314"/>
                </a:highlight>
                <a:latin typeface="Courier New"/>
                <a:ea typeface="Courier New"/>
                <a:cs typeface="Courier New"/>
                <a:sym typeface="Courier New"/>
              </a:rPr>
              <a:t>${</a:t>
            </a:r>
            <a:r>
              <a:rPr lang="en" sz="1200" dirty="0">
                <a:solidFill>
                  <a:srgbClr val="79C0FF"/>
                </a:solidFill>
                <a:highlight>
                  <a:srgbClr val="121314"/>
                </a:highlight>
                <a:latin typeface="Courier New"/>
                <a:ea typeface="Courier New"/>
                <a:cs typeface="Courier New"/>
                <a:sym typeface="Courier New"/>
              </a:rPr>
              <a:t>name</a:t>
            </a:r>
            <a:r>
              <a:rPr lang="en" sz="1200" dirty="0">
                <a:solidFill>
                  <a:srgbClr val="569CD6"/>
                </a:solidFill>
                <a:highlight>
                  <a:srgbClr val="121314"/>
                </a:highlight>
                <a:latin typeface="Courier New"/>
                <a:ea typeface="Courier New"/>
                <a:cs typeface="Courier New"/>
                <a:sym typeface="Courier New"/>
              </a:rPr>
              <a:t>}</a:t>
            </a:r>
            <a:r>
              <a:rPr lang="en" sz="1200" dirty="0">
                <a:solidFill>
                  <a:srgbClr val="A5D6FF"/>
                </a:solidFill>
                <a:highlight>
                  <a:srgbClr val="121314"/>
                </a:highlight>
                <a:latin typeface="Courier New"/>
                <a:ea typeface="Courier New"/>
                <a:cs typeface="Courier New"/>
                <a:sym typeface="Courier New"/>
              </a:rPr>
              <a:t>!`</a:t>
            </a:r>
            <a:r>
              <a:rPr lang="en" sz="1200" dirty="0">
                <a:solidFill>
                  <a:srgbClr val="BBBEBF"/>
                </a:solidFill>
                <a:highlight>
                  <a:srgbClr val="121314"/>
                </a:highlight>
                <a:latin typeface="Courier New"/>
                <a:ea typeface="Courier New"/>
                <a:cs typeface="Courier New"/>
                <a:sym typeface="Courier New"/>
              </a:rPr>
              <a:t>);</a:t>
            </a:r>
            <a:endParaRPr sz="1200" dirty="0">
              <a:solidFill>
                <a:srgbClr val="BBBEBF"/>
              </a:solidFill>
              <a:highlight>
                <a:srgbClr val="121314"/>
              </a:highlight>
              <a:latin typeface="Courier New"/>
              <a:ea typeface="Courier New"/>
              <a:cs typeface="Courier New"/>
              <a:sym typeface="Courier New"/>
            </a:endParaRPr>
          </a:p>
        </p:txBody>
      </p:sp>
      <p:pic>
        <p:nvPicPr>
          <p:cNvPr id="219" name="Google Shape;219;p33"/>
          <p:cNvPicPr preferRelativeResize="0"/>
          <p:nvPr/>
        </p:nvPicPr>
        <p:blipFill>
          <a:blip r:embed="rId3">
            <a:alphaModFix/>
          </a:blip>
          <a:stretch>
            <a:fillRect/>
          </a:stretch>
        </p:blipFill>
        <p:spPr>
          <a:xfrm>
            <a:off x="613350" y="3204148"/>
            <a:ext cx="1419225" cy="476250"/>
          </a:xfrm>
          <a:prstGeom prst="rect">
            <a:avLst/>
          </a:prstGeom>
          <a:noFill/>
          <a:ln>
            <a:noFill/>
          </a:ln>
        </p:spPr>
      </p:pic>
      <p:sp>
        <p:nvSpPr>
          <p:cNvPr id="220" name="Google Shape;220;p33"/>
          <p:cNvSpPr txBox="1"/>
          <p:nvPr/>
        </p:nvSpPr>
        <p:spPr>
          <a:xfrm>
            <a:off x="4832400" y="2172100"/>
            <a:ext cx="3658200" cy="11082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let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isActive</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true</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586C0"/>
                </a:solidFill>
                <a:highlight>
                  <a:srgbClr val="121314"/>
                </a:highlight>
                <a:latin typeface="Courier New"/>
                <a:ea typeface="Courier New"/>
                <a:cs typeface="Courier New"/>
                <a:sym typeface="Courier New"/>
              </a:rPr>
              <a:t>if</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isActive</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console</a:t>
            </a:r>
            <a:r>
              <a:rPr lang="en" sz="1200">
                <a:solidFill>
                  <a:srgbClr val="C9D1D9"/>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C9D1D9"/>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"User is active"</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p:txBody>
      </p:sp>
      <p:pic>
        <p:nvPicPr>
          <p:cNvPr id="221" name="Google Shape;221;p33"/>
          <p:cNvPicPr preferRelativeResize="0"/>
          <p:nvPr/>
        </p:nvPicPr>
        <p:blipFill>
          <a:blip r:embed="rId4">
            <a:alphaModFix/>
          </a:blip>
          <a:stretch>
            <a:fillRect/>
          </a:stretch>
        </p:blipFill>
        <p:spPr>
          <a:xfrm>
            <a:off x="4832400" y="3529100"/>
            <a:ext cx="1419225" cy="476250"/>
          </a:xfrm>
          <a:prstGeom prst="rect">
            <a:avLst/>
          </a:prstGeom>
          <a:noFill/>
          <a:ln>
            <a:noFill/>
          </a:ln>
        </p:spPr>
      </p:pic>
      <p:sp>
        <p:nvSpPr>
          <p:cNvPr id="222" name="Google Shape;222;p3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sp>
        <p:nvSpPr>
          <p:cNvPr id="11" name="文字方塊 10">
            <a:extLst>
              <a:ext uri="{FF2B5EF4-FFF2-40B4-BE49-F238E27FC236}">
                <a16:creationId xmlns:a16="http://schemas.microsoft.com/office/drawing/2014/main" id="{8B40A5DF-514A-4AC9-B5AE-8060266D4CF6}"/>
              </a:ext>
            </a:extLst>
          </p:cNvPr>
          <p:cNvSpPr txBox="1"/>
          <p:nvPr/>
        </p:nvSpPr>
        <p:spPr>
          <a:xfrm>
            <a:off x="613350" y="3928158"/>
            <a:ext cx="3225619" cy="646331"/>
          </a:xfrm>
          <a:prstGeom prst="rect">
            <a:avLst/>
          </a:prstGeom>
          <a:solidFill>
            <a:schemeClr val="bg2"/>
          </a:solidFill>
        </p:spPr>
        <p:txBody>
          <a:bodyPr wrap="square">
            <a:spAutoFit/>
          </a:bodyPr>
          <a:lstStyle/>
          <a:p>
            <a:r>
              <a:rPr lang="en-US" altLang="zh-TW" sz="1200" b="0" dirty="0">
                <a:solidFill>
                  <a:srgbClr val="FF7B72"/>
                </a:solidFill>
                <a:effectLst/>
                <a:latin typeface="Courier New" panose="02070309020205020404" pitchFamily="49" charset="0"/>
                <a:cs typeface="Courier New" panose="02070309020205020404" pitchFamily="49" charset="0"/>
              </a:rPr>
              <a:t>let</a:t>
            </a:r>
            <a:r>
              <a:rPr lang="en-US" altLang="zh-TW" sz="1200" b="0" dirty="0">
                <a:solidFill>
                  <a:srgbClr val="BBBEBF"/>
                </a:solidFill>
                <a:effectLst/>
                <a:latin typeface="Courier New" panose="02070309020205020404" pitchFamily="49" charset="0"/>
                <a:cs typeface="Courier New" panose="02070309020205020404" pitchFamily="49" charset="0"/>
              </a:rPr>
              <a:t> </a:t>
            </a:r>
            <a:r>
              <a:rPr lang="en-US" altLang="zh-TW" sz="1200" b="0" dirty="0">
                <a:solidFill>
                  <a:srgbClr val="C9D1D9"/>
                </a:solidFill>
                <a:effectLst/>
                <a:latin typeface="Courier New" panose="02070309020205020404" pitchFamily="49" charset="0"/>
                <a:cs typeface="Courier New" panose="02070309020205020404" pitchFamily="49" charset="0"/>
              </a:rPr>
              <a:t>name</a:t>
            </a:r>
            <a:r>
              <a:rPr lang="en-US" altLang="zh-TW" sz="1200" b="0" dirty="0">
                <a:solidFill>
                  <a:srgbClr val="BBBEBF"/>
                </a:solidFill>
                <a:effectLst/>
                <a:latin typeface="Courier New" panose="02070309020205020404" pitchFamily="49" charset="0"/>
                <a:cs typeface="Courier New" panose="02070309020205020404" pitchFamily="49" charset="0"/>
              </a:rPr>
              <a:t> </a:t>
            </a:r>
            <a:r>
              <a:rPr lang="en-US" altLang="zh-TW" sz="1200" b="0" dirty="0">
                <a:solidFill>
                  <a:srgbClr val="D4D4D4"/>
                </a:solidFill>
                <a:effectLst/>
                <a:latin typeface="Courier New" panose="02070309020205020404" pitchFamily="49" charset="0"/>
                <a:cs typeface="Courier New" panose="02070309020205020404" pitchFamily="49" charset="0"/>
              </a:rPr>
              <a:t>=</a:t>
            </a:r>
            <a:r>
              <a:rPr lang="en-US" altLang="zh-TW" sz="1200" b="0" dirty="0">
                <a:solidFill>
                  <a:srgbClr val="BBBEBF"/>
                </a:solidFill>
                <a:effectLst/>
                <a:latin typeface="Courier New" panose="02070309020205020404" pitchFamily="49" charset="0"/>
                <a:cs typeface="Courier New" panose="02070309020205020404" pitchFamily="49" charset="0"/>
              </a:rPr>
              <a:t> </a:t>
            </a:r>
            <a:r>
              <a:rPr lang="en-US" altLang="zh-TW" sz="1200" b="0" dirty="0">
                <a:solidFill>
                  <a:srgbClr val="A5D6FF"/>
                </a:solidFill>
                <a:effectLst/>
                <a:latin typeface="Courier New" panose="02070309020205020404" pitchFamily="49" charset="0"/>
                <a:cs typeface="Courier New" panose="02070309020205020404" pitchFamily="49" charset="0"/>
              </a:rPr>
              <a:t>"Tom"</a:t>
            </a:r>
            <a:r>
              <a:rPr lang="en-US" altLang="zh-TW" sz="1200" b="0" dirty="0">
                <a:solidFill>
                  <a:srgbClr val="BBBEBF"/>
                </a:solidFill>
                <a:effectLst/>
                <a:latin typeface="Courier New" panose="02070309020205020404" pitchFamily="49" charset="0"/>
                <a:cs typeface="Courier New" panose="02070309020205020404" pitchFamily="49" charset="0"/>
              </a:rPr>
              <a:t>;</a:t>
            </a:r>
          </a:p>
          <a:p>
            <a:r>
              <a:rPr lang="en-US" altLang="zh-TW" sz="1200" b="0" dirty="0">
                <a:solidFill>
                  <a:srgbClr val="FF7B72"/>
                </a:solidFill>
                <a:effectLst/>
                <a:latin typeface="Courier New" panose="02070309020205020404" pitchFamily="49" charset="0"/>
                <a:cs typeface="Courier New" panose="02070309020205020404" pitchFamily="49" charset="0"/>
              </a:rPr>
              <a:t>let</a:t>
            </a:r>
            <a:r>
              <a:rPr lang="en-US" altLang="zh-TW" sz="1200" b="0" dirty="0">
                <a:solidFill>
                  <a:srgbClr val="BBBEBF"/>
                </a:solidFill>
                <a:effectLst/>
                <a:latin typeface="Courier New" panose="02070309020205020404" pitchFamily="49" charset="0"/>
                <a:cs typeface="Courier New" panose="02070309020205020404" pitchFamily="49" charset="0"/>
              </a:rPr>
              <a:t> </a:t>
            </a:r>
            <a:r>
              <a:rPr lang="en-US" altLang="zh-TW" sz="1200" b="0" dirty="0">
                <a:solidFill>
                  <a:srgbClr val="C9D1D9"/>
                </a:solidFill>
                <a:effectLst/>
                <a:latin typeface="Courier New" panose="02070309020205020404" pitchFamily="49" charset="0"/>
                <a:cs typeface="Courier New" panose="02070309020205020404" pitchFamily="49" charset="0"/>
              </a:rPr>
              <a:t>msg</a:t>
            </a:r>
            <a:r>
              <a:rPr lang="en-US" altLang="zh-TW" sz="1200" b="0" dirty="0">
                <a:solidFill>
                  <a:srgbClr val="BBBEBF"/>
                </a:solidFill>
                <a:effectLst/>
                <a:latin typeface="Courier New" panose="02070309020205020404" pitchFamily="49" charset="0"/>
                <a:cs typeface="Courier New" panose="02070309020205020404" pitchFamily="49" charset="0"/>
              </a:rPr>
              <a:t> </a:t>
            </a:r>
            <a:r>
              <a:rPr lang="en-US" altLang="zh-TW" sz="1200" b="0" dirty="0">
                <a:solidFill>
                  <a:srgbClr val="D4D4D4"/>
                </a:solidFill>
                <a:effectLst/>
                <a:latin typeface="Courier New" panose="02070309020205020404" pitchFamily="49" charset="0"/>
                <a:cs typeface="Courier New" panose="02070309020205020404" pitchFamily="49" charset="0"/>
              </a:rPr>
              <a:t>=</a:t>
            </a:r>
            <a:r>
              <a:rPr lang="en-US" altLang="zh-TW" sz="1200" b="0" dirty="0">
                <a:solidFill>
                  <a:srgbClr val="BBBEBF"/>
                </a:solidFill>
                <a:effectLst/>
                <a:latin typeface="Courier New" panose="02070309020205020404" pitchFamily="49" charset="0"/>
                <a:cs typeface="Courier New" panose="02070309020205020404" pitchFamily="49" charset="0"/>
              </a:rPr>
              <a:t> </a:t>
            </a:r>
            <a:r>
              <a:rPr lang="en-US" altLang="zh-TW" sz="1200" b="0" dirty="0">
                <a:solidFill>
                  <a:srgbClr val="A5D6FF"/>
                </a:solidFill>
                <a:effectLst/>
                <a:latin typeface="Courier New" panose="02070309020205020404" pitchFamily="49" charset="0"/>
                <a:cs typeface="Courier New" panose="02070309020205020404" pitchFamily="49" charset="0"/>
              </a:rPr>
              <a:t>`Hello </a:t>
            </a:r>
            <a:r>
              <a:rPr lang="en-US" altLang="zh-TW" sz="1200" b="0" dirty="0">
                <a:solidFill>
                  <a:srgbClr val="569CD6"/>
                </a:solidFill>
                <a:effectLst/>
                <a:latin typeface="Courier New" panose="02070309020205020404" pitchFamily="49" charset="0"/>
                <a:cs typeface="Courier New" panose="02070309020205020404" pitchFamily="49" charset="0"/>
              </a:rPr>
              <a:t>${</a:t>
            </a:r>
            <a:r>
              <a:rPr lang="en-US" altLang="zh-TW" sz="1200" b="0" dirty="0">
                <a:solidFill>
                  <a:srgbClr val="C9D1D9"/>
                </a:solidFill>
                <a:effectLst/>
                <a:latin typeface="Courier New" panose="02070309020205020404" pitchFamily="49" charset="0"/>
                <a:cs typeface="Courier New" panose="02070309020205020404" pitchFamily="49" charset="0"/>
              </a:rPr>
              <a:t>name</a:t>
            </a:r>
            <a:r>
              <a:rPr lang="en-US" altLang="zh-TW" sz="1200" b="0" dirty="0">
                <a:solidFill>
                  <a:srgbClr val="569CD6"/>
                </a:solidFill>
                <a:effectLst/>
                <a:latin typeface="Courier New" panose="02070309020205020404" pitchFamily="49" charset="0"/>
                <a:cs typeface="Courier New" panose="02070309020205020404" pitchFamily="49" charset="0"/>
              </a:rPr>
              <a:t>}</a:t>
            </a:r>
            <a:r>
              <a:rPr lang="en-US" altLang="zh-TW" sz="1200" b="0" dirty="0">
                <a:solidFill>
                  <a:srgbClr val="A5D6FF"/>
                </a:solidFill>
                <a:effectLst/>
                <a:latin typeface="Courier New" panose="02070309020205020404" pitchFamily="49" charset="0"/>
                <a:cs typeface="Courier New" panose="02070309020205020404" pitchFamily="49" charset="0"/>
              </a:rPr>
              <a:t>`</a:t>
            </a:r>
            <a:r>
              <a:rPr lang="en-US" altLang="zh-TW" sz="1200" b="0" dirty="0">
                <a:solidFill>
                  <a:srgbClr val="BBBEBF"/>
                </a:solidFill>
                <a:effectLst/>
                <a:latin typeface="Courier New" panose="02070309020205020404" pitchFamily="49" charset="0"/>
                <a:cs typeface="Courier New" panose="02070309020205020404" pitchFamily="49" charset="0"/>
              </a:rPr>
              <a:t>;</a:t>
            </a:r>
          </a:p>
          <a:p>
            <a:r>
              <a:rPr lang="en-US" altLang="zh-TW" sz="1200" b="0" dirty="0">
                <a:solidFill>
                  <a:srgbClr val="79C0FF"/>
                </a:solidFill>
                <a:effectLst/>
                <a:latin typeface="Courier New" panose="02070309020205020404" pitchFamily="49" charset="0"/>
                <a:cs typeface="Courier New" panose="02070309020205020404" pitchFamily="49" charset="0"/>
              </a:rPr>
              <a:t>console</a:t>
            </a:r>
            <a:r>
              <a:rPr lang="en-US" altLang="zh-TW" sz="1200" b="0" dirty="0">
                <a:solidFill>
                  <a:srgbClr val="BBBEBF"/>
                </a:solidFill>
                <a:effectLst/>
                <a:latin typeface="Courier New" panose="02070309020205020404" pitchFamily="49" charset="0"/>
                <a:cs typeface="Courier New" panose="02070309020205020404" pitchFamily="49" charset="0"/>
              </a:rPr>
              <a:t>.</a:t>
            </a:r>
            <a:r>
              <a:rPr lang="en-US" altLang="zh-TW" sz="1200" b="0" dirty="0">
                <a:solidFill>
                  <a:srgbClr val="D2A8FF"/>
                </a:solidFill>
                <a:effectLst/>
                <a:latin typeface="Courier New" panose="02070309020205020404" pitchFamily="49" charset="0"/>
                <a:cs typeface="Courier New" panose="02070309020205020404" pitchFamily="49" charset="0"/>
              </a:rPr>
              <a:t>log</a:t>
            </a:r>
            <a:r>
              <a:rPr lang="en-US" altLang="zh-TW" sz="1200" b="0" dirty="0">
                <a:solidFill>
                  <a:srgbClr val="BBBEBF"/>
                </a:solidFill>
                <a:effectLst/>
                <a:latin typeface="Courier New" panose="02070309020205020404" pitchFamily="49" charset="0"/>
                <a:cs typeface="Courier New" panose="02070309020205020404" pitchFamily="49" charset="0"/>
              </a:rPr>
              <a:t>(</a:t>
            </a:r>
            <a:r>
              <a:rPr lang="en-US" altLang="zh-TW" sz="1200" b="0" dirty="0">
                <a:solidFill>
                  <a:srgbClr val="C9D1D9"/>
                </a:solidFill>
                <a:effectLst/>
                <a:latin typeface="Courier New" panose="02070309020205020404" pitchFamily="49" charset="0"/>
                <a:cs typeface="Courier New" panose="02070309020205020404" pitchFamily="49" charset="0"/>
              </a:rPr>
              <a:t>msg</a:t>
            </a:r>
            <a:r>
              <a:rPr lang="en-US" altLang="zh-TW" sz="1200" b="0" dirty="0">
                <a:solidFill>
                  <a:srgbClr val="BBBEBF"/>
                </a:solidFill>
                <a:effectLst/>
                <a:latin typeface="Courier New" panose="02070309020205020404" pitchFamily="49" charset="0"/>
                <a:cs typeface="Courier New" panose="02070309020205020404" pitchFamily="49" charset="0"/>
              </a:rPr>
              <a:t>);</a:t>
            </a:r>
          </a:p>
        </p:txBody>
      </p:sp>
      <p:sp>
        <p:nvSpPr>
          <p:cNvPr id="13" name="文字方塊 12">
            <a:extLst>
              <a:ext uri="{FF2B5EF4-FFF2-40B4-BE49-F238E27FC236}">
                <a16:creationId xmlns:a16="http://schemas.microsoft.com/office/drawing/2014/main" id="{1C79C5C3-6CDE-49E8-AE2D-85AB2F6DD919}"/>
              </a:ext>
            </a:extLst>
          </p:cNvPr>
          <p:cNvSpPr txBox="1"/>
          <p:nvPr/>
        </p:nvSpPr>
        <p:spPr>
          <a:xfrm>
            <a:off x="613350" y="4668360"/>
            <a:ext cx="1084432" cy="307777"/>
          </a:xfrm>
          <a:prstGeom prst="rect">
            <a:avLst/>
          </a:prstGeom>
          <a:solidFill>
            <a:schemeClr val="bg1">
              <a:lumMod val="85000"/>
            </a:schemeClr>
          </a:solidFill>
        </p:spPr>
        <p:txBody>
          <a:bodyPr wrap="square">
            <a:spAutoFit/>
          </a:bodyPr>
          <a:lstStyle/>
          <a:p>
            <a:r>
              <a:rPr lang="en-US" altLang="zh-TW" dirty="0"/>
              <a:t>Hello Tom</a:t>
            </a:r>
            <a:endParaRPr lang="zh-TW"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Null, Undefined, &amp; Symbol</a:t>
            </a:r>
            <a:endParaRPr/>
          </a:p>
        </p:txBody>
      </p:sp>
      <p:sp>
        <p:nvSpPr>
          <p:cNvPr id="228" name="Google Shape;228;p34"/>
          <p:cNvSpPr txBox="1">
            <a:spLocks noGrp="1"/>
          </p:cNvSpPr>
          <p:nvPr>
            <p:ph type="body" idx="1"/>
          </p:nvPr>
        </p:nvSpPr>
        <p:spPr>
          <a:xfrm>
            <a:off x="311700" y="1152475"/>
            <a:ext cx="3999900" cy="16341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a:t>Null</a:t>
            </a:r>
            <a:endParaRPr/>
          </a:p>
          <a:p>
            <a:pPr marL="914400" lvl="1" indent="-304800" algn="l" rtl="0">
              <a:spcBef>
                <a:spcPts val="0"/>
              </a:spcBef>
              <a:spcAft>
                <a:spcPts val="0"/>
              </a:spcAft>
              <a:buSzPts val="1200"/>
              <a:buChar char="○"/>
            </a:pPr>
            <a:r>
              <a:rPr lang="en"/>
              <a:t>Intentional absence of value.</a:t>
            </a:r>
            <a:endParaRPr/>
          </a:p>
          <a:p>
            <a:pPr marL="914400" lvl="1" indent="-304800" algn="l" rtl="0">
              <a:spcBef>
                <a:spcPts val="0"/>
              </a:spcBef>
              <a:spcAft>
                <a:spcPts val="0"/>
              </a:spcAft>
              <a:buSzPts val="1200"/>
              <a:buChar char="○"/>
            </a:pPr>
            <a:r>
              <a:rPr lang="en"/>
              <a:t>Example: let age = null;</a:t>
            </a:r>
            <a:endParaRPr/>
          </a:p>
          <a:p>
            <a:pPr marL="457200" lvl="0" indent="-317500" algn="l" rtl="0">
              <a:spcBef>
                <a:spcPts val="0"/>
              </a:spcBef>
              <a:spcAft>
                <a:spcPts val="0"/>
              </a:spcAft>
              <a:buSzPts val="1400"/>
              <a:buChar char="●"/>
            </a:pPr>
            <a:r>
              <a:rPr lang="en"/>
              <a:t>Undefined</a:t>
            </a:r>
            <a:endParaRPr/>
          </a:p>
          <a:p>
            <a:pPr marL="914400" lvl="1" indent="-304800" algn="l" rtl="0">
              <a:spcBef>
                <a:spcPts val="0"/>
              </a:spcBef>
              <a:spcAft>
                <a:spcPts val="0"/>
              </a:spcAft>
              <a:buSzPts val="1200"/>
              <a:buChar char="○"/>
            </a:pPr>
            <a:r>
              <a:rPr lang="en"/>
              <a:t>Default for uninitialized variables or missing properties.</a:t>
            </a:r>
            <a:endParaRPr/>
          </a:p>
        </p:txBody>
      </p:sp>
      <p:sp>
        <p:nvSpPr>
          <p:cNvPr id="229" name="Google Shape;229;p34"/>
          <p:cNvSpPr txBox="1">
            <a:spLocks noGrp="1"/>
          </p:cNvSpPr>
          <p:nvPr>
            <p:ph type="body" idx="2"/>
          </p:nvPr>
        </p:nvSpPr>
        <p:spPr>
          <a:xfrm>
            <a:off x="4832400" y="1152475"/>
            <a:ext cx="3999900" cy="12483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a:t>Symbol</a:t>
            </a:r>
            <a:endParaRPr/>
          </a:p>
          <a:p>
            <a:pPr marL="914400" lvl="1" indent="-304800" algn="l" rtl="0">
              <a:spcBef>
                <a:spcPts val="0"/>
              </a:spcBef>
              <a:spcAft>
                <a:spcPts val="0"/>
              </a:spcAft>
              <a:buSzPts val="1200"/>
              <a:buChar char="○"/>
            </a:pPr>
            <a:r>
              <a:rPr lang="en"/>
              <a:t>Unique, immutable identifiers.</a:t>
            </a:r>
            <a:endParaRPr/>
          </a:p>
          <a:p>
            <a:pPr marL="914400" lvl="1" indent="-304800" algn="l" rtl="0">
              <a:spcBef>
                <a:spcPts val="0"/>
              </a:spcBef>
              <a:spcAft>
                <a:spcPts val="0"/>
              </a:spcAft>
              <a:buSzPts val="1200"/>
              <a:buChar char="○"/>
            </a:pPr>
            <a:r>
              <a:rPr lang="en"/>
              <a:t>Often used as object property keys to avoid collisions.</a:t>
            </a:r>
            <a:endParaRPr/>
          </a:p>
        </p:txBody>
      </p:sp>
      <p:sp>
        <p:nvSpPr>
          <p:cNvPr id="230" name="Google Shape;230;p34"/>
          <p:cNvSpPr txBox="1"/>
          <p:nvPr/>
        </p:nvSpPr>
        <p:spPr>
          <a:xfrm>
            <a:off x="578325" y="2663750"/>
            <a:ext cx="3000000" cy="6156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let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x</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79C0FF"/>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x</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undefined</a:t>
            </a:r>
            <a:endParaRPr sz="1200">
              <a:solidFill>
                <a:srgbClr val="8B949E"/>
              </a:solidFill>
              <a:highlight>
                <a:srgbClr val="121314"/>
              </a:highlight>
              <a:latin typeface="Courier New"/>
              <a:ea typeface="Courier New"/>
              <a:cs typeface="Courier New"/>
              <a:sym typeface="Courier New"/>
            </a:endParaRPr>
          </a:p>
        </p:txBody>
      </p:sp>
      <p:pic>
        <p:nvPicPr>
          <p:cNvPr id="231" name="Google Shape;231;p34"/>
          <p:cNvPicPr preferRelativeResize="0"/>
          <p:nvPr/>
        </p:nvPicPr>
        <p:blipFill>
          <a:blip r:embed="rId3">
            <a:alphaModFix/>
          </a:blip>
          <a:stretch>
            <a:fillRect/>
          </a:stretch>
        </p:blipFill>
        <p:spPr>
          <a:xfrm>
            <a:off x="578325" y="3396700"/>
            <a:ext cx="933450" cy="447675"/>
          </a:xfrm>
          <a:prstGeom prst="rect">
            <a:avLst/>
          </a:prstGeom>
          <a:noFill/>
          <a:ln>
            <a:noFill/>
          </a:ln>
        </p:spPr>
      </p:pic>
      <p:sp>
        <p:nvSpPr>
          <p:cNvPr id="232" name="Google Shape;232;p34"/>
          <p:cNvSpPr txBox="1"/>
          <p:nvPr/>
        </p:nvSpPr>
        <p:spPr>
          <a:xfrm>
            <a:off x="5038350" y="2484825"/>
            <a:ext cx="3000000" cy="11082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let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id1</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DCDCAA"/>
                </a:solidFill>
                <a:highlight>
                  <a:srgbClr val="121314"/>
                </a:highlight>
                <a:latin typeface="Courier New"/>
                <a:ea typeface="Courier New"/>
                <a:cs typeface="Courier New"/>
                <a:sym typeface="Courier New"/>
              </a:rPr>
              <a:t>Symbol</a:t>
            </a:r>
            <a:r>
              <a:rPr lang="en" sz="1200">
                <a:solidFill>
                  <a:srgbClr val="BBBEBF"/>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"id"</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let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id2</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DCDCAA"/>
                </a:solidFill>
                <a:highlight>
                  <a:srgbClr val="121314"/>
                </a:highlight>
                <a:latin typeface="Courier New"/>
                <a:ea typeface="Courier New"/>
                <a:cs typeface="Courier New"/>
                <a:sym typeface="Courier New"/>
              </a:rPr>
              <a:t>Symbol</a:t>
            </a:r>
            <a:r>
              <a:rPr lang="en" sz="1200">
                <a:solidFill>
                  <a:srgbClr val="BBBEBF"/>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"id"</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79C0FF"/>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id1</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id2</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false</a:t>
            </a:r>
            <a:endParaRPr sz="1200">
              <a:solidFill>
                <a:srgbClr val="8B949E"/>
              </a:solidFill>
              <a:highlight>
                <a:srgbClr val="121314"/>
              </a:highlight>
              <a:latin typeface="Courier New"/>
              <a:ea typeface="Courier New"/>
              <a:cs typeface="Courier New"/>
              <a:sym typeface="Courier New"/>
            </a:endParaRPr>
          </a:p>
        </p:txBody>
      </p:sp>
      <p:pic>
        <p:nvPicPr>
          <p:cNvPr id="233" name="Google Shape;233;p34"/>
          <p:cNvPicPr preferRelativeResize="0"/>
          <p:nvPr/>
        </p:nvPicPr>
        <p:blipFill>
          <a:blip r:embed="rId4">
            <a:alphaModFix/>
          </a:blip>
          <a:stretch>
            <a:fillRect/>
          </a:stretch>
        </p:blipFill>
        <p:spPr>
          <a:xfrm>
            <a:off x="5038350" y="3751425"/>
            <a:ext cx="685800" cy="447675"/>
          </a:xfrm>
          <a:prstGeom prst="rect">
            <a:avLst/>
          </a:prstGeom>
          <a:noFill/>
          <a:ln>
            <a:noFill/>
          </a:ln>
        </p:spPr>
      </p:pic>
      <p:sp>
        <p:nvSpPr>
          <p:cNvPr id="234" name="Google Shape;234;p3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Common Pitfalls</a:t>
            </a:r>
            <a:endParaRPr/>
          </a:p>
        </p:txBody>
      </p:sp>
      <p:sp>
        <p:nvSpPr>
          <p:cNvPr id="240" name="Google Shape;240;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typeof null returns "object" (a historical bug).</a:t>
            </a:r>
            <a:endParaRPr dirty="0"/>
          </a:p>
          <a:p>
            <a:pPr marL="457200" lvl="0" indent="-342900" algn="l" rtl="0">
              <a:spcBef>
                <a:spcPts val="0"/>
              </a:spcBef>
              <a:spcAft>
                <a:spcPts val="0"/>
              </a:spcAft>
              <a:buSzPts val="1800"/>
              <a:buChar char="●"/>
            </a:pPr>
            <a:r>
              <a:rPr lang="en" dirty="0"/>
              <a:t>Mixing BigInt and Number throws TypeError.</a:t>
            </a:r>
            <a:endParaRPr dirty="0"/>
          </a:p>
          <a:p>
            <a:pPr marL="457200" lvl="0" indent="-342900" algn="l" rtl="0">
              <a:spcBef>
                <a:spcPts val="0"/>
              </a:spcBef>
              <a:spcAft>
                <a:spcPts val="0"/>
              </a:spcAft>
              <a:buSzPts val="1800"/>
              <a:buChar char="●"/>
            </a:pPr>
            <a:r>
              <a:rPr lang="en" dirty="0"/>
              <a:t>Implicit coercion: "42" + 1 → "421" (string concatenation), while "42" - 1 → 41 (numeric subtraction).</a:t>
            </a:r>
            <a:endParaRPr dirty="0"/>
          </a:p>
        </p:txBody>
      </p:sp>
      <p:sp>
        <p:nvSpPr>
          <p:cNvPr id="241" name="Google Shape;241;p3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6"/>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Check Data Type by typeof Operator</a:t>
            </a:r>
            <a:endParaRPr/>
          </a:p>
        </p:txBody>
      </p:sp>
      <p:sp>
        <p:nvSpPr>
          <p:cNvPr id="247" name="Google Shape;247;p3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25</a:t>
            </a:fld>
            <a:endParaRPr>
              <a:solidFill>
                <a:schemeClr val="lt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JavaScript Operator ─ typeof</a:t>
            </a:r>
            <a:endParaRPr/>
          </a:p>
        </p:txBody>
      </p:sp>
      <p:sp>
        <p:nvSpPr>
          <p:cNvPr id="253" name="Google Shape;253;p37"/>
          <p:cNvSpPr txBox="1">
            <a:spLocks noGrp="1"/>
          </p:cNvSpPr>
          <p:nvPr>
            <p:ph type="body" idx="1"/>
          </p:nvPr>
        </p:nvSpPr>
        <p:spPr>
          <a:xfrm>
            <a:off x="251243" y="1500098"/>
            <a:ext cx="4577675" cy="2928318"/>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dirty="0"/>
              <a:t>The typeof operator in JavaScript returns a string describing the type of a given operand.</a:t>
            </a:r>
            <a:endParaRPr dirty="0"/>
          </a:p>
          <a:p>
            <a:pPr marL="914400" lvl="1" indent="-304800" algn="l" rtl="0">
              <a:spcBef>
                <a:spcPts val="0"/>
              </a:spcBef>
              <a:spcAft>
                <a:spcPts val="0"/>
              </a:spcAft>
              <a:buSzPts val="1200"/>
              <a:buChar char="○"/>
            </a:pPr>
            <a:r>
              <a:rPr lang="en" dirty="0"/>
              <a:t>Widely used for debugging and type-checking</a:t>
            </a:r>
            <a:endParaRPr dirty="0"/>
          </a:p>
          <a:p>
            <a:pPr marL="457200" lvl="0" indent="-317500" algn="l" rtl="0">
              <a:spcBef>
                <a:spcPts val="0"/>
              </a:spcBef>
              <a:spcAft>
                <a:spcPts val="0"/>
              </a:spcAft>
              <a:buSzPts val="1400"/>
              <a:buChar char="●"/>
            </a:pPr>
            <a:r>
              <a:rPr lang="en" dirty="0"/>
              <a:t>"undefined" → for undefined or undeclared variables</a:t>
            </a:r>
            <a:endParaRPr dirty="0"/>
          </a:p>
          <a:p>
            <a:pPr marL="457200" lvl="0" indent="-317500" algn="l" rtl="0">
              <a:spcBef>
                <a:spcPts val="0"/>
              </a:spcBef>
              <a:spcAft>
                <a:spcPts val="0"/>
              </a:spcAft>
              <a:buSzPts val="1400"/>
              <a:buChar char="●"/>
            </a:pPr>
            <a:r>
              <a:rPr lang="en" dirty="0"/>
              <a:t>"object" → for objects, arrays, dates, regex, and </a:t>
            </a:r>
            <a:r>
              <a:rPr lang="en" b="1" dirty="0">
                <a:solidFill>
                  <a:srgbClr val="FF0000"/>
                </a:solidFill>
              </a:rPr>
              <a:t>null</a:t>
            </a:r>
            <a:endParaRPr b="1" dirty="0">
              <a:solidFill>
                <a:srgbClr val="FF0000"/>
              </a:solidFill>
            </a:endParaRPr>
          </a:p>
          <a:p>
            <a:pPr marL="457200" lvl="0" indent="-317500" algn="l" rtl="0">
              <a:spcBef>
                <a:spcPts val="0"/>
              </a:spcBef>
              <a:spcAft>
                <a:spcPts val="0"/>
              </a:spcAft>
              <a:buSzPts val="1400"/>
              <a:buChar char="●"/>
            </a:pPr>
            <a:r>
              <a:rPr lang="en" dirty="0"/>
              <a:t>"boolean" → for true/false</a:t>
            </a:r>
            <a:endParaRPr dirty="0"/>
          </a:p>
          <a:p>
            <a:pPr marL="457200" lvl="0" indent="-317500" algn="l" rtl="0">
              <a:spcBef>
                <a:spcPts val="0"/>
              </a:spcBef>
              <a:spcAft>
                <a:spcPts val="0"/>
              </a:spcAft>
              <a:buSzPts val="1400"/>
              <a:buChar char="●"/>
            </a:pPr>
            <a:r>
              <a:rPr lang="en" dirty="0"/>
              <a:t>"number" → for numbers, NaN, Infinity</a:t>
            </a:r>
            <a:endParaRPr dirty="0"/>
          </a:p>
          <a:p>
            <a:pPr marL="457200" lvl="0" indent="-317500" algn="l" rtl="0">
              <a:spcBef>
                <a:spcPts val="0"/>
              </a:spcBef>
              <a:spcAft>
                <a:spcPts val="0"/>
              </a:spcAft>
              <a:buSzPts val="1400"/>
              <a:buChar char="●"/>
            </a:pPr>
            <a:r>
              <a:rPr lang="en" dirty="0"/>
              <a:t>"bigint" → for BigInt literals (42n)</a:t>
            </a:r>
            <a:endParaRPr dirty="0"/>
          </a:p>
          <a:p>
            <a:pPr marL="457200" lvl="0" indent="-317500" algn="l" rtl="0">
              <a:spcBef>
                <a:spcPts val="0"/>
              </a:spcBef>
              <a:spcAft>
                <a:spcPts val="0"/>
              </a:spcAft>
              <a:buSzPts val="1400"/>
              <a:buChar char="●"/>
            </a:pPr>
            <a:r>
              <a:rPr lang="en" dirty="0"/>
              <a:t>"string" → for text values</a:t>
            </a:r>
            <a:endParaRPr dirty="0"/>
          </a:p>
          <a:p>
            <a:pPr marL="457200" lvl="0" indent="-317500" algn="l" rtl="0">
              <a:spcBef>
                <a:spcPts val="0"/>
              </a:spcBef>
              <a:spcAft>
                <a:spcPts val="0"/>
              </a:spcAft>
              <a:buSzPts val="1400"/>
              <a:buChar char="●"/>
            </a:pPr>
            <a:r>
              <a:rPr lang="en" dirty="0"/>
              <a:t>"symbol" → for Symbol()</a:t>
            </a:r>
            <a:endParaRPr dirty="0"/>
          </a:p>
          <a:p>
            <a:pPr marL="457200" lvl="0" indent="-317500" algn="l" rtl="0">
              <a:spcBef>
                <a:spcPts val="0"/>
              </a:spcBef>
              <a:spcAft>
                <a:spcPts val="0"/>
              </a:spcAft>
              <a:buSzPts val="1400"/>
              <a:buChar char="●"/>
            </a:pPr>
            <a:r>
              <a:rPr lang="en" dirty="0"/>
              <a:t>"function" → for functions and classes</a:t>
            </a:r>
            <a:endParaRPr dirty="0"/>
          </a:p>
        </p:txBody>
      </p:sp>
      <p:sp>
        <p:nvSpPr>
          <p:cNvPr id="254" name="Google Shape;254;p37"/>
          <p:cNvSpPr txBox="1"/>
          <p:nvPr/>
        </p:nvSpPr>
        <p:spPr>
          <a:xfrm>
            <a:off x="4889375" y="1813975"/>
            <a:ext cx="3759000" cy="20934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569CD6"/>
                </a:solidFill>
                <a:highlight>
                  <a:srgbClr val="121314"/>
                </a:highlight>
                <a:latin typeface="Courier New"/>
                <a:ea typeface="Courier New"/>
                <a:cs typeface="Courier New"/>
                <a:sym typeface="Courier New"/>
              </a:rPr>
              <a:t>typeof</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42</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"number"</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569CD6"/>
                </a:solidFill>
                <a:highlight>
                  <a:srgbClr val="121314"/>
                </a:highlight>
                <a:latin typeface="Courier New"/>
                <a:ea typeface="Courier New"/>
                <a:cs typeface="Courier New"/>
                <a:sym typeface="Courier New"/>
              </a:rPr>
              <a:t>typeof</a:t>
            </a:r>
            <a:r>
              <a:rPr lang="en" sz="1200">
                <a:solidFill>
                  <a:srgbClr val="BBBEBF"/>
                </a:solidFill>
                <a:highlight>
                  <a:srgbClr val="121314"/>
                </a:highlight>
                <a:latin typeface="Courier New"/>
                <a:ea typeface="Courier New"/>
                <a:cs typeface="Courier New"/>
                <a:sym typeface="Courier New"/>
              </a:rPr>
              <a:t> </a:t>
            </a:r>
            <a:r>
              <a:rPr lang="en" sz="1200">
                <a:solidFill>
                  <a:srgbClr val="A5D6FF"/>
                </a:solidFill>
                <a:highlight>
                  <a:srgbClr val="121314"/>
                </a:highlight>
                <a:latin typeface="Courier New"/>
                <a:ea typeface="Courier New"/>
                <a:cs typeface="Courier New"/>
                <a:sym typeface="Courier New"/>
              </a:rPr>
              <a:t>"hello"</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"string"</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569CD6"/>
                </a:solidFill>
                <a:highlight>
                  <a:srgbClr val="121314"/>
                </a:highlight>
                <a:latin typeface="Courier New"/>
                <a:ea typeface="Courier New"/>
                <a:cs typeface="Courier New"/>
                <a:sym typeface="Courier New"/>
              </a:rPr>
              <a:t>typeof</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true</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"boolean"</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569CD6"/>
                </a:solidFill>
                <a:highlight>
                  <a:srgbClr val="121314"/>
                </a:highlight>
                <a:latin typeface="Courier New"/>
                <a:ea typeface="Courier New"/>
                <a:cs typeface="Courier New"/>
                <a:sym typeface="Courier New"/>
              </a:rPr>
              <a:t>typeof</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undefined</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"undefined"</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569CD6"/>
                </a:solidFill>
                <a:highlight>
                  <a:srgbClr val="121314"/>
                </a:highlight>
                <a:latin typeface="Courier New"/>
                <a:ea typeface="Courier New"/>
                <a:cs typeface="Courier New"/>
                <a:sym typeface="Courier New"/>
              </a:rPr>
              <a:t>typeof</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a:t>
            </a:r>
            <a:r>
              <a:rPr lang="en" sz="1200">
                <a:solidFill>
                  <a:srgbClr val="B5CEA8"/>
                </a:solidFill>
                <a:highlight>
                  <a:srgbClr val="121314"/>
                </a:highlight>
                <a:latin typeface="Courier New"/>
                <a:ea typeface="Courier New"/>
                <a:cs typeface="Courier New"/>
                <a:sym typeface="Courier New"/>
              </a:rPr>
              <a:t>1</a:t>
            </a:r>
            <a:r>
              <a:rPr lang="en" sz="1200">
                <a:solidFill>
                  <a:srgbClr val="C9D1D9"/>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"object"</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569CD6"/>
                </a:solidFill>
                <a:highlight>
                  <a:srgbClr val="121314"/>
                </a:highlight>
                <a:latin typeface="Courier New"/>
                <a:ea typeface="Courier New"/>
                <a:cs typeface="Courier New"/>
                <a:sym typeface="Courier New"/>
              </a:rPr>
              <a:t>typeof</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1</a:t>
            </a:r>
            <a:r>
              <a:rPr lang="en" sz="1200">
                <a:solidFill>
                  <a:srgbClr val="BBBEBF"/>
                </a:solidFill>
                <a:highlight>
                  <a:srgbClr val="121314"/>
                </a:highlight>
                <a:latin typeface="Courier New"/>
                <a:ea typeface="Courier New"/>
                <a:cs typeface="Courier New"/>
                <a:sym typeface="Courier New"/>
              </a:rPr>
              <a:t>,</a:t>
            </a:r>
            <a:r>
              <a:rPr lang="en" sz="1200">
                <a:solidFill>
                  <a:srgbClr val="B5CEA8"/>
                </a:solidFill>
                <a:highlight>
                  <a:srgbClr val="121314"/>
                </a:highlight>
                <a:latin typeface="Courier New"/>
                <a:ea typeface="Courier New"/>
                <a:cs typeface="Courier New"/>
                <a:sym typeface="Courier New"/>
              </a:rPr>
              <a:t>2</a:t>
            </a:r>
            <a:r>
              <a:rPr lang="en" sz="1200">
                <a:solidFill>
                  <a:srgbClr val="BBBEBF"/>
                </a:solidFill>
                <a:highlight>
                  <a:srgbClr val="121314"/>
                </a:highlight>
                <a:latin typeface="Courier New"/>
                <a:ea typeface="Courier New"/>
                <a:cs typeface="Courier New"/>
                <a:sym typeface="Courier New"/>
              </a:rPr>
              <a:t>,</a:t>
            </a:r>
            <a:r>
              <a:rPr lang="en" sz="1200">
                <a:solidFill>
                  <a:srgbClr val="B5CEA8"/>
                </a:solidFill>
                <a:highlight>
                  <a:srgbClr val="121314"/>
                </a:highlight>
                <a:latin typeface="Courier New"/>
                <a:ea typeface="Courier New"/>
                <a:cs typeface="Courier New"/>
                <a:sym typeface="Courier New"/>
              </a:rPr>
              <a:t>3</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"object"</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569CD6"/>
                </a:solidFill>
                <a:highlight>
                  <a:srgbClr val="121314"/>
                </a:highlight>
                <a:latin typeface="Courier New"/>
                <a:ea typeface="Courier New"/>
                <a:cs typeface="Courier New"/>
                <a:sym typeface="Courier New"/>
              </a:rPr>
              <a:t>typeof</a:t>
            </a:r>
            <a:r>
              <a:rPr lang="en" sz="1200">
                <a:solidFill>
                  <a:srgbClr val="BBBEBF"/>
                </a:solidFill>
                <a:highlight>
                  <a:srgbClr val="121314"/>
                </a:highlight>
                <a:latin typeface="Courier New"/>
                <a:ea typeface="Courier New"/>
                <a:cs typeface="Courier New"/>
                <a:sym typeface="Courier New"/>
              </a:rPr>
              <a:t> </a:t>
            </a:r>
            <a:r>
              <a:rPr lang="en" sz="1200">
                <a:solidFill>
                  <a:srgbClr val="FF7B72"/>
                </a:solidFill>
                <a:highlight>
                  <a:srgbClr val="121314"/>
                </a:highlight>
                <a:latin typeface="Courier New"/>
                <a:ea typeface="Courier New"/>
                <a:cs typeface="Courier New"/>
                <a:sym typeface="Courier New"/>
              </a:rPr>
              <a:t>function</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"function"</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569CD6"/>
                </a:solidFill>
                <a:highlight>
                  <a:srgbClr val="121314"/>
                </a:highlight>
                <a:latin typeface="Courier New"/>
                <a:ea typeface="Courier New"/>
                <a:cs typeface="Courier New"/>
                <a:sym typeface="Courier New"/>
              </a:rPr>
              <a:t>typeof</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null</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"object"</a:t>
            </a:r>
            <a:endParaRPr sz="1200">
              <a:solidFill>
                <a:srgbClr val="8B949E"/>
              </a:solidFill>
              <a:highlight>
                <a:srgbClr val="121314"/>
              </a:highlight>
              <a:latin typeface="Courier New"/>
              <a:ea typeface="Courier New"/>
              <a:cs typeface="Courier New"/>
              <a:sym typeface="Courier New"/>
            </a:endParaRPr>
          </a:p>
        </p:txBody>
      </p:sp>
      <p:sp>
        <p:nvSpPr>
          <p:cNvPr id="255" name="Google Shape;255;p3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typeof ─ Notes and Practices</a:t>
            </a:r>
            <a:endParaRPr/>
          </a:p>
        </p:txBody>
      </p:sp>
      <p:sp>
        <p:nvSpPr>
          <p:cNvPr id="261" name="Google Shape;261;p38"/>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dirty="0"/>
              <a:t>Special Cases:</a:t>
            </a:r>
            <a:endParaRPr dirty="0"/>
          </a:p>
          <a:p>
            <a:pPr lvl="1" indent="-317500">
              <a:spcBef>
                <a:spcPts val="0"/>
              </a:spcBef>
              <a:buSzPts val="1400"/>
              <a:buChar char="●"/>
            </a:pPr>
            <a:r>
              <a:rPr lang="en" dirty="0">
                <a:solidFill>
                  <a:srgbClr val="FF0000"/>
                </a:solidFill>
              </a:rPr>
              <a:t>null returns "object" due to legacy design in early JavaScript implementations.</a:t>
            </a:r>
            <a:endParaRPr dirty="0">
              <a:solidFill>
                <a:srgbClr val="FF0000"/>
              </a:solidFill>
            </a:endParaRPr>
          </a:p>
          <a:p>
            <a:pPr lvl="1" indent="-317500">
              <a:spcBef>
                <a:spcPts val="0"/>
              </a:spcBef>
              <a:buSzPts val="1400"/>
              <a:buChar char="●"/>
            </a:pPr>
            <a:r>
              <a:rPr lang="en" dirty="0"/>
              <a:t>Arrays also return "object"</a:t>
            </a:r>
            <a:endParaRPr dirty="0"/>
          </a:p>
          <a:p>
            <a:pPr lvl="2">
              <a:spcBef>
                <a:spcPts val="0"/>
              </a:spcBef>
              <a:buChar char="○"/>
            </a:pPr>
            <a:r>
              <a:rPr lang="en" dirty="0"/>
              <a:t>use Array.isArray() for detection.</a:t>
            </a:r>
            <a:endParaRPr dirty="0"/>
          </a:p>
          <a:p>
            <a:pPr lvl="1" indent="-317500">
              <a:spcBef>
                <a:spcPts val="0"/>
              </a:spcBef>
              <a:buSzPts val="1400"/>
              <a:buChar char="●"/>
            </a:pPr>
            <a:r>
              <a:rPr lang="en" dirty="0">
                <a:solidFill>
                  <a:srgbClr val="2502F8"/>
                </a:solidFill>
              </a:rPr>
              <a:t>Undeclared variables: typeof undeclaredVar → "undefined" (no error thrown).</a:t>
            </a:r>
            <a:endParaRPr dirty="0">
              <a:solidFill>
                <a:srgbClr val="2502F8"/>
              </a:solidFill>
            </a:endParaRPr>
          </a:p>
          <a:p>
            <a:pPr lvl="1" indent="-317500">
              <a:spcBef>
                <a:spcPts val="0"/>
              </a:spcBef>
              <a:buSzPts val="1400"/>
              <a:buChar char="●"/>
            </a:pPr>
            <a:r>
              <a:rPr lang="en" dirty="0"/>
              <a:t>Block-scoped variables (let, const, class): Using typeof before declaration throws a ReferenceError because of the temporal dead zone.</a:t>
            </a:r>
            <a:endParaRPr dirty="0"/>
          </a:p>
          <a:p>
            <a:pPr lvl="1" indent="-317500">
              <a:spcBef>
                <a:spcPts val="0"/>
              </a:spcBef>
              <a:buSzPts val="1400"/>
              <a:buChar char="●"/>
            </a:pPr>
            <a:r>
              <a:rPr lang="en" dirty="0"/>
              <a:t>document.all: Returns "undefined" in browsers, a deliberate standards violation for compatibility</a:t>
            </a:r>
            <a:endParaRPr dirty="0"/>
          </a:p>
        </p:txBody>
      </p:sp>
      <p:sp>
        <p:nvSpPr>
          <p:cNvPr id="262" name="Google Shape;262;p38"/>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dirty="0"/>
              <a:t>Practical Tips:</a:t>
            </a:r>
            <a:endParaRPr dirty="0"/>
          </a:p>
          <a:p>
            <a:pPr lvl="1" indent="-317500">
              <a:spcBef>
                <a:spcPts val="0"/>
              </a:spcBef>
              <a:buSzPts val="1400"/>
              <a:buChar char="●"/>
            </a:pPr>
            <a:r>
              <a:rPr lang="en" dirty="0"/>
              <a:t>Use Array.isArray() to distinguish arrays from objects.</a:t>
            </a:r>
            <a:endParaRPr dirty="0"/>
          </a:p>
          <a:p>
            <a:pPr lvl="1" indent="-317500">
              <a:spcBef>
                <a:spcPts val="0"/>
              </a:spcBef>
              <a:buSzPts val="1400"/>
              <a:buChar char="●"/>
            </a:pPr>
            <a:r>
              <a:rPr lang="en" dirty="0"/>
              <a:t>Use Object.prototype.toString.call(value) for more precise type detection.</a:t>
            </a:r>
            <a:endParaRPr dirty="0"/>
          </a:p>
          <a:p>
            <a:pPr lvl="1" indent="-317500">
              <a:spcBef>
                <a:spcPts val="0"/>
              </a:spcBef>
              <a:buSzPts val="1400"/>
              <a:buChar char="●"/>
            </a:pPr>
            <a:r>
              <a:rPr lang="en" dirty="0"/>
              <a:t>Be cautious with null and wrapper objects (new Number(), new String()), which return "object".</a:t>
            </a:r>
            <a:endParaRPr dirty="0"/>
          </a:p>
          <a:p>
            <a:pPr lvl="1" indent="-317500">
              <a:spcBef>
                <a:spcPts val="0"/>
              </a:spcBef>
              <a:buSzPts val="1400"/>
              <a:buChar char="●"/>
            </a:pPr>
            <a:r>
              <a:rPr lang="en" dirty="0"/>
              <a:t>Parentheses may be needed when checking expressions:</a:t>
            </a:r>
            <a:endParaRPr dirty="0"/>
          </a:p>
          <a:p>
            <a:pPr lvl="2">
              <a:spcBef>
                <a:spcPts val="0"/>
              </a:spcBef>
              <a:buChar char="○"/>
            </a:pPr>
            <a:r>
              <a:rPr lang="en" dirty="0"/>
              <a:t>typeof (99 + “foo”);</a:t>
            </a:r>
            <a:r>
              <a:rPr lang="zh-TW" altLang="en-US" dirty="0"/>
              <a:t> </a:t>
            </a:r>
            <a:r>
              <a:rPr lang="en" dirty="0"/>
              <a:t> //string</a:t>
            </a:r>
            <a:endParaRPr dirty="0"/>
          </a:p>
        </p:txBody>
      </p:sp>
      <p:sp>
        <p:nvSpPr>
          <p:cNvPr id="263" name="Google Shape;263;p3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9"/>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Type Casting</a:t>
            </a:r>
            <a:endParaRPr/>
          </a:p>
        </p:txBody>
      </p:sp>
      <p:sp>
        <p:nvSpPr>
          <p:cNvPr id="269" name="Google Shape;269;p3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28</a:t>
            </a:fld>
            <a:endParaRPr>
              <a:solidFill>
                <a:schemeClr val="l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Implicit Type Conversion (Coercion)</a:t>
            </a:r>
            <a:endParaRPr/>
          </a:p>
        </p:txBody>
      </p:sp>
      <p:sp>
        <p:nvSpPr>
          <p:cNvPr id="275" name="Google Shape;275;p4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29</a:t>
            </a:fld>
            <a:endParaRPr>
              <a:solidFill>
                <a:schemeClr val="lt2"/>
              </a:solidFill>
            </a:endParaRPr>
          </a:p>
        </p:txBody>
      </p:sp>
      <p:sp>
        <p:nvSpPr>
          <p:cNvPr id="276" name="Google Shape;276;p40"/>
          <p:cNvSpPr txBox="1">
            <a:spLocks noGrp="1"/>
          </p:cNvSpPr>
          <p:nvPr>
            <p:ph type="body" idx="1"/>
          </p:nvPr>
        </p:nvSpPr>
        <p:spPr>
          <a:xfrm>
            <a:off x="311700" y="1152475"/>
            <a:ext cx="8520600" cy="7227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Type conversion is done by JavaScript automatically.</a:t>
            </a:r>
            <a:endParaRPr/>
          </a:p>
        </p:txBody>
      </p:sp>
      <p:sp>
        <p:nvSpPr>
          <p:cNvPr id="277" name="Google Shape;277;p40"/>
          <p:cNvSpPr txBox="1"/>
          <p:nvPr/>
        </p:nvSpPr>
        <p:spPr>
          <a:xfrm>
            <a:off x="885000" y="1638550"/>
            <a:ext cx="4696500" cy="33246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dirty="0">
                <a:solidFill>
                  <a:srgbClr val="808080"/>
                </a:solidFill>
                <a:highlight>
                  <a:srgbClr val="121314"/>
                </a:highlight>
                <a:latin typeface="Courier New"/>
                <a:ea typeface="Courier New"/>
                <a:cs typeface="Courier New"/>
                <a:sym typeface="Courier New"/>
              </a:rPr>
              <a:t>&lt;</a:t>
            </a:r>
            <a:r>
              <a:rPr lang="en" sz="1200" dirty="0">
                <a:solidFill>
                  <a:srgbClr val="7EE787"/>
                </a:solidFill>
                <a:highlight>
                  <a:srgbClr val="121314"/>
                </a:highlight>
                <a:latin typeface="Courier New"/>
                <a:ea typeface="Courier New"/>
                <a:cs typeface="Courier New"/>
                <a:sym typeface="Courier New"/>
              </a:rPr>
              <a:t>html</a:t>
            </a:r>
            <a:r>
              <a:rPr lang="en" sz="1200" dirty="0">
                <a:solidFill>
                  <a:srgbClr val="808080"/>
                </a:solidFill>
                <a:highlight>
                  <a:srgbClr val="121314"/>
                </a:highlight>
                <a:latin typeface="Courier New"/>
                <a:ea typeface="Courier New"/>
                <a:cs typeface="Courier New"/>
                <a:sym typeface="Courier New"/>
              </a:rPr>
              <a:t>&gt;</a:t>
            </a:r>
            <a:endParaRPr sz="1200" dirty="0">
              <a:solidFill>
                <a:srgbClr val="808080"/>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808080"/>
                </a:solidFill>
                <a:highlight>
                  <a:srgbClr val="121314"/>
                </a:highlight>
                <a:latin typeface="Courier New"/>
                <a:ea typeface="Courier New"/>
                <a:cs typeface="Courier New"/>
                <a:sym typeface="Courier New"/>
              </a:rPr>
              <a:t>&lt;</a:t>
            </a:r>
            <a:r>
              <a:rPr lang="en" sz="1200" dirty="0">
                <a:solidFill>
                  <a:srgbClr val="7EE787"/>
                </a:solidFill>
                <a:highlight>
                  <a:srgbClr val="121314"/>
                </a:highlight>
                <a:latin typeface="Courier New"/>
                <a:ea typeface="Courier New"/>
                <a:cs typeface="Courier New"/>
                <a:sym typeface="Courier New"/>
              </a:rPr>
              <a:t>head</a:t>
            </a:r>
            <a:r>
              <a:rPr lang="en" sz="1200" dirty="0">
                <a:solidFill>
                  <a:srgbClr val="808080"/>
                </a:solidFill>
                <a:highlight>
                  <a:srgbClr val="121314"/>
                </a:highlight>
                <a:latin typeface="Courier New"/>
                <a:ea typeface="Courier New"/>
                <a:cs typeface="Courier New"/>
                <a:sym typeface="Courier New"/>
              </a:rPr>
              <a:t>&gt;</a:t>
            </a:r>
            <a:endParaRPr sz="1200" dirty="0">
              <a:solidFill>
                <a:srgbClr val="808080"/>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C9D1D9"/>
                </a:solidFill>
                <a:highlight>
                  <a:srgbClr val="121314"/>
                </a:highlight>
                <a:latin typeface="Courier New"/>
                <a:ea typeface="Courier New"/>
                <a:cs typeface="Courier New"/>
                <a:sym typeface="Courier New"/>
              </a:rPr>
              <a:t>  </a:t>
            </a:r>
            <a:r>
              <a:rPr lang="en" sz="1200" dirty="0">
                <a:solidFill>
                  <a:srgbClr val="808080"/>
                </a:solidFill>
                <a:highlight>
                  <a:srgbClr val="121314"/>
                </a:highlight>
                <a:latin typeface="Courier New"/>
                <a:ea typeface="Courier New"/>
                <a:cs typeface="Courier New"/>
                <a:sym typeface="Courier New"/>
              </a:rPr>
              <a:t>&lt;</a:t>
            </a:r>
            <a:r>
              <a:rPr lang="en" sz="1200" dirty="0">
                <a:solidFill>
                  <a:srgbClr val="7EE787"/>
                </a:solidFill>
                <a:highlight>
                  <a:srgbClr val="121314"/>
                </a:highlight>
                <a:latin typeface="Courier New"/>
                <a:ea typeface="Courier New"/>
                <a:cs typeface="Courier New"/>
                <a:sym typeface="Courier New"/>
              </a:rPr>
              <a:t>title</a:t>
            </a:r>
            <a:r>
              <a:rPr lang="en" sz="1200" dirty="0">
                <a:solidFill>
                  <a:srgbClr val="808080"/>
                </a:solidFill>
                <a:highlight>
                  <a:srgbClr val="121314"/>
                </a:highlight>
                <a:latin typeface="Courier New"/>
                <a:ea typeface="Courier New"/>
                <a:cs typeface="Courier New"/>
                <a:sym typeface="Courier New"/>
              </a:rPr>
              <a:t>&gt;</a:t>
            </a:r>
            <a:r>
              <a:rPr lang="en" sz="1200" dirty="0">
                <a:solidFill>
                  <a:srgbClr val="C9D1D9"/>
                </a:solidFill>
                <a:highlight>
                  <a:srgbClr val="121314"/>
                </a:highlight>
                <a:latin typeface="Courier New"/>
                <a:ea typeface="Courier New"/>
                <a:cs typeface="Courier New"/>
                <a:sym typeface="Courier New"/>
              </a:rPr>
              <a:t>Implicit conversion to string </a:t>
            </a:r>
            <a:r>
              <a:rPr lang="en" sz="1200" dirty="0">
                <a:solidFill>
                  <a:srgbClr val="808080"/>
                </a:solidFill>
                <a:highlight>
                  <a:srgbClr val="121314"/>
                </a:highlight>
                <a:latin typeface="Courier New"/>
                <a:ea typeface="Courier New"/>
                <a:cs typeface="Courier New"/>
                <a:sym typeface="Courier New"/>
              </a:rPr>
              <a:t>&lt;/</a:t>
            </a:r>
            <a:r>
              <a:rPr lang="en" sz="1200" dirty="0">
                <a:solidFill>
                  <a:srgbClr val="7EE787"/>
                </a:solidFill>
                <a:highlight>
                  <a:srgbClr val="121314"/>
                </a:highlight>
                <a:latin typeface="Courier New"/>
                <a:ea typeface="Courier New"/>
                <a:cs typeface="Courier New"/>
                <a:sym typeface="Courier New"/>
              </a:rPr>
              <a:t>title</a:t>
            </a:r>
            <a:r>
              <a:rPr lang="en" sz="1200" dirty="0">
                <a:solidFill>
                  <a:srgbClr val="808080"/>
                </a:solidFill>
                <a:highlight>
                  <a:srgbClr val="121314"/>
                </a:highlight>
                <a:latin typeface="Courier New"/>
                <a:ea typeface="Courier New"/>
                <a:cs typeface="Courier New"/>
                <a:sym typeface="Courier New"/>
              </a:rPr>
              <a:t>&gt;</a:t>
            </a:r>
            <a:endParaRPr sz="1200" dirty="0">
              <a:solidFill>
                <a:srgbClr val="808080"/>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808080"/>
                </a:solidFill>
                <a:highlight>
                  <a:srgbClr val="121314"/>
                </a:highlight>
                <a:latin typeface="Courier New"/>
                <a:ea typeface="Courier New"/>
                <a:cs typeface="Courier New"/>
                <a:sym typeface="Courier New"/>
              </a:rPr>
              <a:t>&lt;/</a:t>
            </a:r>
            <a:r>
              <a:rPr lang="en" sz="1200" dirty="0">
                <a:solidFill>
                  <a:srgbClr val="7EE787"/>
                </a:solidFill>
                <a:highlight>
                  <a:srgbClr val="121314"/>
                </a:highlight>
                <a:latin typeface="Courier New"/>
                <a:ea typeface="Courier New"/>
                <a:cs typeface="Courier New"/>
                <a:sym typeface="Courier New"/>
              </a:rPr>
              <a:t>head</a:t>
            </a:r>
            <a:r>
              <a:rPr lang="en" sz="1200" dirty="0">
                <a:solidFill>
                  <a:srgbClr val="808080"/>
                </a:solidFill>
                <a:highlight>
                  <a:srgbClr val="121314"/>
                </a:highlight>
                <a:latin typeface="Courier New"/>
                <a:ea typeface="Courier New"/>
                <a:cs typeface="Courier New"/>
                <a:sym typeface="Courier New"/>
              </a:rPr>
              <a:t>&gt;</a:t>
            </a:r>
            <a:endParaRPr sz="1200" dirty="0">
              <a:solidFill>
                <a:srgbClr val="808080"/>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808080"/>
                </a:solidFill>
                <a:highlight>
                  <a:srgbClr val="121314"/>
                </a:highlight>
                <a:latin typeface="Courier New"/>
                <a:ea typeface="Courier New"/>
                <a:cs typeface="Courier New"/>
                <a:sym typeface="Courier New"/>
              </a:rPr>
              <a:t>&lt;</a:t>
            </a:r>
            <a:r>
              <a:rPr lang="en" sz="1200" dirty="0">
                <a:solidFill>
                  <a:srgbClr val="7EE787"/>
                </a:solidFill>
                <a:highlight>
                  <a:srgbClr val="121314"/>
                </a:highlight>
                <a:latin typeface="Courier New"/>
                <a:ea typeface="Courier New"/>
                <a:cs typeface="Courier New"/>
                <a:sym typeface="Courier New"/>
              </a:rPr>
              <a:t>body</a:t>
            </a:r>
            <a:r>
              <a:rPr lang="en" sz="1200" dirty="0">
                <a:solidFill>
                  <a:srgbClr val="808080"/>
                </a:solidFill>
                <a:highlight>
                  <a:srgbClr val="121314"/>
                </a:highlight>
                <a:latin typeface="Courier New"/>
                <a:ea typeface="Courier New"/>
                <a:cs typeface="Courier New"/>
                <a:sym typeface="Courier New"/>
              </a:rPr>
              <a:t>&gt;</a:t>
            </a:r>
            <a:endParaRPr sz="1200" dirty="0">
              <a:solidFill>
                <a:srgbClr val="808080"/>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C9D1D9"/>
                </a:solidFill>
                <a:highlight>
                  <a:srgbClr val="121314"/>
                </a:highlight>
                <a:latin typeface="Courier New"/>
                <a:ea typeface="Courier New"/>
                <a:cs typeface="Courier New"/>
                <a:sym typeface="Courier New"/>
              </a:rPr>
              <a:t>  </a:t>
            </a:r>
            <a:r>
              <a:rPr lang="en" sz="1200" dirty="0">
                <a:solidFill>
                  <a:srgbClr val="808080"/>
                </a:solidFill>
                <a:highlight>
                  <a:srgbClr val="121314"/>
                </a:highlight>
                <a:latin typeface="Courier New"/>
                <a:ea typeface="Courier New"/>
                <a:cs typeface="Courier New"/>
                <a:sym typeface="Courier New"/>
              </a:rPr>
              <a:t>&lt;</a:t>
            </a:r>
            <a:r>
              <a:rPr lang="en" sz="1200" dirty="0">
                <a:solidFill>
                  <a:srgbClr val="7EE787"/>
                </a:solidFill>
                <a:highlight>
                  <a:srgbClr val="121314"/>
                </a:highlight>
                <a:latin typeface="Courier New"/>
                <a:ea typeface="Courier New"/>
                <a:cs typeface="Courier New"/>
                <a:sym typeface="Courier New"/>
              </a:rPr>
              <a:t>script</a:t>
            </a:r>
            <a:r>
              <a:rPr lang="en" sz="1200" dirty="0">
                <a:solidFill>
                  <a:srgbClr val="808080"/>
                </a:solidFill>
                <a:highlight>
                  <a:srgbClr val="121314"/>
                </a:highlight>
                <a:latin typeface="Courier New"/>
                <a:ea typeface="Courier New"/>
                <a:cs typeface="Courier New"/>
                <a:sym typeface="Courier New"/>
              </a:rPr>
              <a:t>&gt;</a:t>
            </a:r>
            <a:endParaRPr sz="1200" dirty="0">
              <a:solidFill>
                <a:srgbClr val="808080"/>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C9D1D9"/>
                </a:solidFill>
                <a:highlight>
                  <a:srgbClr val="121314"/>
                </a:highlight>
                <a:latin typeface="Courier New"/>
                <a:ea typeface="Courier New"/>
                <a:cs typeface="Courier New"/>
                <a:sym typeface="Courier New"/>
              </a:rPr>
              <a:t>     document.write("100" + 24 + "</a:t>
            </a:r>
            <a:r>
              <a:rPr lang="en" sz="1200" dirty="0">
                <a:solidFill>
                  <a:srgbClr val="808080"/>
                </a:solidFill>
                <a:highlight>
                  <a:srgbClr val="121314"/>
                </a:highlight>
                <a:latin typeface="Courier New"/>
                <a:ea typeface="Courier New"/>
                <a:cs typeface="Courier New"/>
                <a:sym typeface="Courier New"/>
              </a:rPr>
              <a:t>&lt;</a:t>
            </a:r>
            <a:r>
              <a:rPr lang="en" sz="1200" dirty="0">
                <a:solidFill>
                  <a:srgbClr val="7EE787"/>
                </a:solidFill>
                <a:highlight>
                  <a:srgbClr val="121314"/>
                </a:highlight>
                <a:latin typeface="Courier New"/>
                <a:ea typeface="Courier New"/>
                <a:cs typeface="Courier New"/>
                <a:sym typeface="Courier New"/>
              </a:rPr>
              <a:t>br</a:t>
            </a:r>
            <a:r>
              <a:rPr lang="en" sz="1200" dirty="0">
                <a:solidFill>
                  <a:srgbClr val="808080"/>
                </a:solidFill>
                <a:highlight>
                  <a:srgbClr val="121314"/>
                </a:highlight>
                <a:latin typeface="Courier New"/>
                <a:ea typeface="Courier New"/>
                <a:cs typeface="Courier New"/>
                <a:sym typeface="Courier New"/>
              </a:rPr>
              <a:t>/&gt;</a:t>
            </a:r>
            <a:r>
              <a:rPr lang="en" sz="1200" dirty="0">
                <a:solidFill>
                  <a:srgbClr val="C9D1D9"/>
                </a:solidFill>
                <a:highlight>
                  <a:srgbClr val="121314"/>
                </a:highlight>
                <a:latin typeface="Courier New"/>
                <a:ea typeface="Courier New"/>
                <a:cs typeface="Courier New"/>
                <a:sym typeface="Courier New"/>
              </a:rPr>
              <a:t>");</a:t>
            </a:r>
            <a:endParaRPr sz="1200" dirty="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C9D1D9"/>
                </a:solidFill>
                <a:highlight>
                  <a:srgbClr val="121314"/>
                </a:highlight>
                <a:latin typeface="Courier New"/>
                <a:ea typeface="Courier New"/>
                <a:cs typeface="Courier New"/>
                <a:sym typeface="Courier New"/>
              </a:rPr>
              <a:t>     document.write('100' + false + "</a:t>
            </a:r>
            <a:r>
              <a:rPr lang="en" sz="1200" dirty="0">
                <a:solidFill>
                  <a:srgbClr val="808080"/>
                </a:solidFill>
                <a:highlight>
                  <a:srgbClr val="121314"/>
                </a:highlight>
                <a:latin typeface="Courier New"/>
                <a:ea typeface="Courier New"/>
                <a:cs typeface="Courier New"/>
                <a:sym typeface="Courier New"/>
              </a:rPr>
              <a:t>&lt;</a:t>
            </a:r>
            <a:r>
              <a:rPr lang="en" sz="1200" dirty="0">
                <a:solidFill>
                  <a:srgbClr val="7EE787"/>
                </a:solidFill>
                <a:highlight>
                  <a:srgbClr val="121314"/>
                </a:highlight>
                <a:latin typeface="Courier New"/>
                <a:ea typeface="Courier New"/>
                <a:cs typeface="Courier New"/>
                <a:sym typeface="Courier New"/>
              </a:rPr>
              <a:t>br</a:t>
            </a:r>
            <a:r>
              <a:rPr lang="en" sz="1200" dirty="0">
                <a:solidFill>
                  <a:srgbClr val="808080"/>
                </a:solidFill>
                <a:highlight>
                  <a:srgbClr val="121314"/>
                </a:highlight>
                <a:latin typeface="Courier New"/>
                <a:ea typeface="Courier New"/>
                <a:cs typeface="Courier New"/>
                <a:sym typeface="Courier New"/>
              </a:rPr>
              <a:t>/&gt;</a:t>
            </a:r>
            <a:r>
              <a:rPr lang="en" sz="1200" dirty="0">
                <a:solidFill>
                  <a:srgbClr val="C9D1D9"/>
                </a:solidFill>
                <a:highlight>
                  <a:srgbClr val="121314"/>
                </a:highlight>
                <a:latin typeface="Courier New"/>
                <a:ea typeface="Courier New"/>
                <a:cs typeface="Courier New"/>
                <a:sym typeface="Courier New"/>
              </a:rPr>
              <a:t>");</a:t>
            </a:r>
            <a:endParaRPr sz="1200" dirty="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C9D1D9"/>
                </a:solidFill>
                <a:highlight>
                  <a:srgbClr val="121314"/>
                </a:highlight>
                <a:latin typeface="Courier New"/>
                <a:ea typeface="Courier New"/>
                <a:cs typeface="Courier New"/>
                <a:sym typeface="Courier New"/>
              </a:rPr>
              <a:t>     document.write("100" + null+ "</a:t>
            </a:r>
            <a:r>
              <a:rPr lang="en" sz="1200" dirty="0">
                <a:solidFill>
                  <a:srgbClr val="808080"/>
                </a:solidFill>
                <a:highlight>
                  <a:srgbClr val="121314"/>
                </a:highlight>
                <a:latin typeface="Courier New"/>
                <a:ea typeface="Courier New"/>
                <a:cs typeface="Courier New"/>
                <a:sym typeface="Courier New"/>
              </a:rPr>
              <a:t>&lt;</a:t>
            </a:r>
            <a:r>
              <a:rPr lang="en" sz="1200" dirty="0">
                <a:solidFill>
                  <a:srgbClr val="7EE787"/>
                </a:solidFill>
                <a:highlight>
                  <a:srgbClr val="121314"/>
                </a:highlight>
                <a:latin typeface="Courier New"/>
                <a:ea typeface="Courier New"/>
                <a:cs typeface="Courier New"/>
                <a:sym typeface="Courier New"/>
              </a:rPr>
              <a:t>br</a:t>
            </a:r>
            <a:r>
              <a:rPr lang="en" sz="1200" dirty="0">
                <a:solidFill>
                  <a:srgbClr val="808080"/>
                </a:solidFill>
                <a:highlight>
                  <a:srgbClr val="121314"/>
                </a:highlight>
                <a:latin typeface="Courier New"/>
                <a:ea typeface="Courier New"/>
                <a:cs typeface="Courier New"/>
                <a:sym typeface="Courier New"/>
              </a:rPr>
              <a:t>/&gt;</a:t>
            </a:r>
            <a:r>
              <a:rPr lang="en" sz="1200" dirty="0">
                <a:solidFill>
                  <a:srgbClr val="C9D1D9"/>
                </a:solidFill>
                <a:highlight>
                  <a:srgbClr val="121314"/>
                </a:highlight>
                <a:latin typeface="Courier New"/>
                <a:ea typeface="Courier New"/>
                <a:cs typeface="Courier New"/>
                <a:sym typeface="Courier New"/>
              </a:rPr>
              <a:t>");</a:t>
            </a:r>
            <a:endParaRPr sz="1200" dirty="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C9D1D9"/>
                </a:solidFill>
                <a:highlight>
                  <a:srgbClr val="121314"/>
                </a:highlight>
                <a:latin typeface="Courier New"/>
                <a:ea typeface="Courier New"/>
                <a:cs typeface="Courier New"/>
                <a:sym typeface="Courier New"/>
              </a:rPr>
              <a:t>     document.write("100" + undefined+ "</a:t>
            </a:r>
            <a:r>
              <a:rPr lang="en" sz="1200" dirty="0">
                <a:solidFill>
                  <a:srgbClr val="808080"/>
                </a:solidFill>
                <a:highlight>
                  <a:srgbClr val="121314"/>
                </a:highlight>
                <a:latin typeface="Courier New"/>
                <a:ea typeface="Courier New"/>
                <a:cs typeface="Courier New"/>
                <a:sym typeface="Courier New"/>
              </a:rPr>
              <a:t>&lt;</a:t>
            </a:r>
            <a:r>
              <a:rPr lang="en" sz="1200" dirty="0">
                <a:solidFill>
                  <a:srgbClr val="7EE787"/>
                </a:solidFill>
                <a:highlight>
                  <a:srgbClr val="121314"/>
                </a:highlight>
                <a:latin typeface="Courier New"/>
                <a:ea typeface="Courier New"/>
                <a:cs typeface="Courier New"/>
                <a:sym typeface="Courier New"/>
              </a:rPr>
              <a:t>br</a:t>
            </a:r>
            <a:r>
              <a:rPr lang="en" sz="1200" dirty="0">
                <a:solidFill>
                  <a:srgbClr val="808080"/>
                </a:solidFill>
                <a:highlight>
                  <a:srgbClr val="121314"/>
                </a:highlight>
                <a:latin typeface="Courier New"/>
                <a:ea typeface="Courier New"/>
                <a:cs typeface="Courier New"/>
                <a:sym typeface="Courier New"/>
              </a:rPr>
              <a:t>/&gt;</a:t>
            </a:r>
            <a:r>
              <a:rPr lang="en" sz="1200" dirty="0">
                <a:solidFill>
                  <a:srgbClr val="C9D1D9"/>
                </a:solidFill>
                <a:highlight>
                  <a:srgbClr val="121314"/>
                </a:highlight>
                <a:latin typeface="Courier New"/>
                <a:ea typeface="Courier New"/>
                <a:cs typeface="Courier New"/>
                <a:sym typeface="Courier New"/>
              </a:rPr>
              <a:t>");</a:t>
            </a:r>
            <a:endParaRPr sz="1200" dirty="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C9D1D9"/>
                </a:solidFill>
                <a:highlight>
                  <a:srgbClr val="121314"/>
                </a:highlight>
                <a:latin typeface="Courier New"/>
                <a:ea typeface="Courier New"/>
                <a:cs typeface="Courier New"/>
                <a:sym typeface="Courier New"/>
              </a:rPr>
              <a:t>  </a:t>
            </a:r>
            <a:r>
              <a:rPr lang="en" sz="1200" dirty="0">
                <a:solidFill>
                  <a:srgbClr val="808080"/>
                </a:solidFill>
                <a:highlight>
                  <a:srgbClr val="121314"/>
                </a:highlight>
                <a:latin typeface="Courier New"/>
                <a:ea typeface="Courier New"/>
                <a:cs typeface="Courier New"/>
                <a:sym typeface="Courier New"/>
              </a:rPr>
              <a:t>&lt;/</a:t>
            </a:r>
            <a:r>
              <a:rPr lang="en" sz="1200" dirty="0">
                <a:solidFill>
                  <a:srgbClr val="7EE787"/>
                </a:solidFill>
                <a:highlight>
                  <a:srgbClr val="121314"/>
                </a:highlight>
                <a:latin typeface="Courier New"/>
                <a:ea typeface="Courier New"/>
                <a:cs typeface="Courier New"/>
                <a:sym typeface="Courier New"/>
              </a:rPr>
              <a:t>script</a:t>
            </a:r>
            <a:r>
              <a:rPr lang="en" sz="1200" dirty="0">
                <a:solidFill>
                  <a:srgbClr val="808080"/>
                </a:solidFill>
                <a:highlight>
                  <a:srgbClr val="121314"/>
                </a:highlight>
                <a:latin typeface="Courier New"/>
                <a:ea typeface="Courier New"/>
                <a:cs typeface="Courier New"/>
                <a:sym typeface="Courier New"/>
              </a:rPr>
              <a:t>&gt;</a:t>
            </a:r>
            <a:endParaRPr sz="1200" dirty="0">
              <a:solidFill>
                <a:srgbClr val="808080"/>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808080"/>
                </a:solidFill>
                <a:highlight>
                  <a:srgbClr val="121314"/>
                </a:highlight>
                <a:latin typeface="Courier New"/>
                <a:ea typeface="Courier New"/>
                <a:cs typeface="Courier New"/>
                <a:sym typeface="Courier New"/>
              </a:rPr>
              <a:t>&lt;/</a:t>
            </a:r>
            <a:r>
              <a:rPr lang="en" sz="1200" dirty="0">
                <a:solidFill>
                  <a:srgbClr val="7EE787"/>
                </a:solidFill>
                <a:highlight>
                  <a:srgbClr val="121314"/>
                </a:highlight>
                <a:latin typeface="Courier New"/>
                <a:ea typeface="Courier New"/>
                <a:cs typeface="Courier New"/>
                <a:sym typeface="Courier New"/>
              </a:rPr>
              <a:t>body</a:t>
            </a:r>
            <a:r>
              <a:rPr lang="en" sz="1200" dirty="0">
                <a:solidFill>
                  <a:srgbClr val="808080"/>
                </a:solidFill>
                <a:highlight>
                  <a:srgbClr val="121314"/>
                </a:highlight>
                <a:latin typeface="Courier New"/>
                <a:ea typeface="Courier New"/>
                <a:cs typeface="Courier New"/>
                <a:sym typeface="Courier New"/>
              </a:rPr>
              <a:t>&gt;</a:t>
            </a:r>
            <a:endParaRPr sz="1200" dirty="0">
              <a:solidFill>
                <a:srgbClr val="808080"/>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808080"/>
                </a:solidFill>
                <a:highlight>
                  <a:srgbClr val="121314"/>
                </a:highlight>
                <a:latin typeface="Courier New"/>
                <a:ea typeface="Courier New"/>
                <a:cs typeface="Courier New"/>
                <a:sym typeface="Courier New"/>
              </a:rPr>
              <a:t>&lt;/</a:t>
            </a:r>
            <a:r>
              <a:rPr lang="en" sz="1200" dirty="0">
                <a:solidFill>
                  <a:srgbClr val="7EE787"/>
                </a:solidFill>
                <a:highlight>
                  <a:srgbClr val="121314"/>
                </a:highlight>
                <a:latin typeface="Courier New"/>
                <a:ea typeface="Courier New"/>
                <a:cs typeface="Courier New"/>
                <a:sym typeface="Courier New"/>
              </a:rPr>
              <a:t>html</a:t>
            </a:r>
            <a:r>
              <a:rPr lang="en" sz="1200" dirty="0">
                <a:solidFill>
                  <a:srgbClr val="808080"/>
                </a:solidFill>
                <a:highlight>
                  <a:srgbClr val="121314"/>
                </a:highlight>
                <a:latin typeface="Courier New"/>
                <a:ea typeface="Courier New"/>
                <a:cs typeface="Courier New"/>
                <a:sym typeface="Courier New"/>
              </a:rPr>
              <a:t>&gt;</a:t>
            </a:r>
            <a:endParaRPr sz="1200" dirty="0">
              <a:solidFill>
                <a:srgbClr val="808080"/>
              </a:solidFill>
              <a:highlight>
                <a:srgbClr val="121314"/>
              </a:highlight>
              <a:latin typeface="Courier New"/>
              <a:ea typeface="Courier New"/>
              <a:cs typeface="Courier New"/>
              <a:sym typeface="Courier New"/>
            </a:endParaRPr>
          </a:p>
        </p:txBody>
      </p:sp>
      <p:sp>
        <p:nvSpPr>
          <p:cNvPr id="278" name="Google Shape;278;p40"/>
          <p:cNvSpPr txBox="1"/>
          <p:nvPr/>
        </p:nvSpPr>
        <p:spPr>
          <a:xfrm>
            <a:off x="5839924" y="1658335"/>
            <a:ext cx="2419076" cy="1031021"/>
          </a:xfrm>
          <a:prstGeom prst="rect">
            <a:avLst/>
          </a:prstGeom>
          <a:solidFill>
            <a:schemeClr val="dk2"/>
          </a:solidFill>
          <a:ln>
            <a:noFill/>
          </a:ln>
        </p:spPr>
        <p:txBody>
          <a:bodyPr spcFirstLastPara="1" wrap="square" lIns="91425" tIns="91425" rIns="91425" bIns="91425" anchor="t" anchorCtr="0">
            <a:spAutoFit/>
          </a:bodyPr>
          <a:lstStyle/>
          <a:p>
            <a:r>
              <a:rPr lang="en-US" altLang="zh-TW" sz="1100" b="0" dirty="0">
                <a:solidFill>
                  <a:srgbClr val="79C0FF"/>
                </a:solidFill>
                <a:effectLst/>
                <a:latin typeface="Consolas" panose="020B0609020204030204" pitchFamily="49" charset="0"/>
              </a:rPr>
              <a:t>console</a:t>
            </a:r>
            <a:r>
              <a:rPr lang="en-US" altLang="zh-TW" sz="1100" b="0" dirty="0">
                <a:solidFill>
                  <a:srgbClr val="D4D4D4"/>
                </a:solidFill>
                <a:effectLst/>
                <a:latin typeface="Consolas" panose="020B0609020204030204" pitchFamily="49" charset="0"/>
              </a:rPr>
              <a:t>.</a:t>
            </a:r>
            <a:r>
              <a:rPr lang="en-US" altLang="zh-TW" sz="1100" b="0" dirty="0">
                <a:solidFill>
                  <a:srgbClr val="D2A8FF"/>
                </a:solidFill>
                <a:effectLst/>
                <a:latin typeface="Consolas" panose="020B0609020204030204" pitchFamily="49" charset="0"/>
              </a:rPr>
              <a:t>log</a:t>
            </a:r>
            <a:r>
              <a:rPr lang="en-US" altLang="zh-TW" sz="1100" b="0" dirty="0">
                <a:solidFill>
                  <a:srgbClr val="D4D4D4"/>
                </a:solidFill>
                <a:effectLst/>
                <a:latin typeface="Consolas" panose="020B0609020204030204" pitchFamily="49" charset="0"/>
              </a:rPr>
              <a:t>(</a:t>
            </a:r>
            <a:r>
              <a:rPr lang="en-US" altLang="zh-TW" sz="1100" b="0" dirty="0">
                <a:solidFill>
                  <a:srgbClr val="A5D6FF"/>
                </a:solidFill>
                <a:effectLst/>
                <a:latin typeface="Consolas" panose="020B0609020204030204" pitchFamily="49" charset="0"/>
              </a:rPr>
              <a:t>'100'</a:t>
            </a:r>
            <a:r>
              <a:rPr lang="en-US" altLang="zh-TW" sz="1100" b="0" dirty="0">
                <a:solidFill>
                  <a:srgbClr val="D4D4D4"/>
                </a:solidFill>
                <a:effectLst/>
                <a:latin typeface="Consolas" panose="020B0609020204030204" pitchFamily="49" charset="0"/>
              </a:rPr>
              <a:t> / </a:t>
            </a:r>
            <a:r>
              <a:rPr lang="en-US" altLang="zh-TW" sz="1100" b="0" dirty="0">
                <a:solidFill>
                  <a:srgbClr val="B5CEA8"/>
                </a:solidFill>
                <a:effectLst/>
                <a:latin typeface="Consolas" panose="020B0609020204030204" pitchFamily="49" charset="0"/>
              </a:rPr>
              <a:t>50</a:t>
            </a:r>
            <a:r>
              <a:rPr lang="en-US" altLang="zh-TW" sz="1100" b="0" dirty="0">
                <a:solidFill>
                  <a:srgbClr val="D4D4D4"/>
                </a:solidFill>
                <a:effectLst/>
                <a:latin typeface="Consolas" panose="020B0609020204030204" pitchFamily="49" charset="0"/>
              </a:rPr>
              <a:t>);</a:t>
            </a:r>
            <a:endParaRPr lang="en-US" altLang="zh-TW" sz="1100" b="0" dirty="0">
              <a:solidFill>
                <a:srgbClr val="BBBEBF"/>
              </a:solidFill>
              <a:effectLst/>
              <a:latin typeface="Consolas" panose="020B0609020204030204" pitchFamily="49" charset="0"/>
            </a:endParaRPr>
          </a:p>
          <a:p>
            <a:r>
              <a:rPr lang="en-US" altLang="zh-TW" sz="1100" b="0" dirty="0">
                <a:solidFill>
                  <a:srgbClr val="79C0FF"/>
                </a:solidFill>
                <a:effectLst/>
                <a:latin typeface="Consolas" panose="020B0609020204030204" pitchFamily="49" charset="0"/>
              </a:rPr>
              <a:t>console</a:t>
            </a:r>
            <a:r>
              <a:rPr lang="en-US" altLang="zh-TW" sz="1100" b="0" dirty="0">
                <a:solidFill>
                  <a:srgbClr val="D4D4D4"/>
                </a:solidFill>
                <a:effectLst/>
                <a:latin typeface="Consolas" panose="020B0609020204030204" pitchFamily="49" charset="0"/>
              </a:rPr>
              <a:t>.</a:t>
            </a:r>
            <a:r>
              <a:rPr lang="en-US" altLang="zh-TW" sz="1100" b="0" dirty="0">
                <a:solidFill>
                  <a:srgbClr val="D2A8FF"/>
                </a:solidFill>
                <a:effectLst/>
                <a:latin typeface="Consolas" panose="020B0609020204030204" pitchFamily="49" charset="0"/>
              </a:rPr>
              <a:t>log</a:t>
            </a:r>
            <a:r>
              <a:rPr lang="en-US" altLang="zh-TW" sz="1100" b="0" dirty="0">
                <a:solidFill>
                  <a:srgbClr val="D4D4D4"/>
                </a:solidFill>
                <a:effectLst/>
                <a:latin typeface="Consolas" panose="020B0609020204030204" pitchFamily="49" charset="0"/>
              </a:rPr>
              <a:t>(</a:t>
            </a:r>
            <a:r>
              <a:rPr lang="en-US" altLang="zh-TW" sz="1100" b="0" dirty="0">
                <a:solidFill>
                  <a:srgbClr val="A5D6FF"/>
                </a:solidFill>
                <a:effectLst/>
                <a:latin typeface="Consolas" panose="020B0609020204030204" pitchFamily="49" charset="0"/>
              </a:rPr>
              <a:t>'100'</a:t>
            </a:r>
            <a:r>
              <a:rPr lang="en-US" altLang="zh-TW" sz="1100" b="0" dirty="0">
                <a:solidFill>
                  <a:srgbClr val="D4D4D4"/>
                </a:solidFill>
                <a:effectLst/>
                <a:latin typeface="Consolas" panose="020B0609020204030204" pitchFamily="49" charset="0"/>
              </a:rPr>
              <a:t> - </a:t>
            </a:r>
            <a:r>
              <a:rPr lang="en-US" altLang="zh-TW" sz="1100" b="0" dirty="0">
                <a:solidFill>
                  <a:srgbClr val="A5D6FF"/>
                </a:solidFill>
                <a:effectLst/>
                <a:latin typeface="Consolas" panose="020B0609020204030204" pitchFamily="49" charset="0"/>
              </a:rPr>
              <a:t>'50'</a:t>
            </a:r>
            <a:r>
              <a:rPr lang="en-US" altLang="zh-TW" sz="1100" b="0" dirty="0">
                <a:solidFill>
                  <a:srgbClr val="D4D4D4"/>
                </a:solidFill>
                <a:effectLst/>
                <a:latin typeface="Consolas" panose="020B0609020204030204" pitchFamily="49" charset="0"/>
              </a:rPr>
              <a:t>);</a:t>
            </a:r>
            <a:endParaRPr lang="en-US" altLang="zh-TW" sz="1100" b="0" dirty="0">
              <a:solidFill>
                <a:srgbClr val="BBBEBF"/>
              </a:solidFill>
              <a:effectLst/>
              <a:latin typeface="Consolas" panose="020B0609020204030204" pitchFamily="49" charset="0"/>
            </a:endParaRPr>
          </a:p>
          <a:p>
            <a:r>
              <a:rPr lang="en-US" altLang="zh-TW" sz="1100" b="0" dirty="0">
                <a:solidFill>
                  <a:srgbClr val="79C0FF"/>
                </a:solidFill>
                <a:effectLst/>
                <a:latin typeface="Consolas" panose="020B0609020204030204" pitchFamily="49" charset="0"/>
              </a:rPr>
              <a:t>console</a:t>
            </a:r>
            <a:r>
              <a:rPr lang="en-US" altLang="zh-TW" sz="1100" b="0" dirty="0">
                <a:solidFill>
                  <a:srgbClr val="D4D4D4"/>
                </a:solidFill>
                <a:effectLst/>
                <a:latin typeface="Consolas" panose="020B0609020204030204" pitchFamily="49" charset="0"/>
              </a:rPr>
              <a:t>.</a:t>
            </a:r>
            <a:r>
              <a:rPr lang="en-US" altLang="zh-TW" sz="1100" b="0" dirty="0">
                <a:solidFill>
                  <a:srgbClr val="D2A8FF"/>
                </a:solidFill>
                <a:effectLst/>
                <a:latin typeface="Consolas" panose="020B0609020204030204" pitchFamily="49" charset="0"/>
              </a:rPr>
              <a:t>log</a:t>
            </a:r>
            <a:r>
              <a:rPr lang="en-US" altLang="zh-TW" sz="1100" b="0" dirty="0">
                <a:solidFill>
                  <a:srgbClr val="D4D4D4"/>
                </a:solidFill>
                <a:effectLst/>
                <a:latin typeface="Consolas" panose="020B0609020204030204" pitchFamily="49" charset="0"/>
              </a:rPr>
              <a:t>(</a:t>
            </a:r>
            <a:r>
              <a:rPr lang="en-US" altLang="zh-TW" sz="1100" b="0" dirty="0">
                <a:solidFill>
                  <a:srgbClr val="A5D6FF"/>
                </a:solidFill>
                <a:effectLst/>
                <a:latin typeface="Consolas" panose="020B0609020204030204" pitchFamily="49" charset="0"/>
              </a:rPr>
              <a:t>'100'</a:t>
            </a:r>
            <a:r>
              <a:rPr lang="en-US" altLang="zh-TW" sz="1100" b="0" dirty="0">
                <a:solidFill>
                  <a:srgbClr val="D4D4D4"/>
                </a:solidFill>
                <a:effectLst/>
                <a:latin typeface="Consolas" panose="020B0609020204030204" pitchFamily="49" charset="0"/>
              </a:rPr>
              <a:t> * </a:t>
            </a:r>
            <a:r>
              <a:rPr lang="en-US" altLang="zh-TW" sz="1100" b="0" dirty="0">
                <a:solidFill>
                  <a:srgbClr val="569CD6"/>
                </a:solidFill>
                <a:effectLst/>
                <a:latin typeface="Consolas" panose="020B0609020204030204" pitchFamily="49" charset="0"/>
              </a:rPr>
              <a:t>true</a:t>
            </a:r>
            <a:r>
              <a:rPr lang="en-US" altLang="zh-TW" sz="1100" b="0" dirty="0">
                <a:solidFill>
                  <a:srgbClr val="D4D4D4"/>
                </a:solidFill>
                <a:effectLst/>
                <a:latin typeface="Consolas" panose="020B0609020204030204" pitchFamily="49" charset="0"/>
              </a:rPr>
              <a:t>);</a:t>
            </a:r>
            <a:endParaRPr lang="en-US" altLang="zh-TW" sz="1100" b="0" dirty="0">
              <a:solidFill>
                <a:srgbClr val="BBBEBF"/>
              </a:solidFill>
              <a:effectLst/>
              <a:latin typeface="Consolas" panose="020B0609020204030204" pitchFamily="49" charset="0"/>
            </a:endParaRPr>
          </a:p>
          <a:p>
            <a:r>
              <a:rPr lang="en-US" altLang="zh-TW" sz="1100" b="0" dirty="0">
                <a:solidFill>
                  <a:srgbClr val="79C0FF"/>
                </a:solidFill>
                <a:effectLst/>
                <a:latin typeface="Consolas" panose="020B0609020204030204" pitchFamily="49" charset="0"/>
              </a:rPr>
              <a:t>console</a:t>
            </a:r>
            <a:r>
              <a:rPr lang="en-US" altLang="zh-TW" sz="1100" b="0" dirty="0">
                <a:solidFill>
                  <a:srgbClr val="D4D4D4"/>
                </a:solidFill>
                <a:effectLst/>
                <a:latin typeface="Consolas" panose="020B0609020204030204" pitchFamily="49" charset="0"/>
              </a:rPr>
              <a:t>.</a:t>
            </a:r>
            <a:r>
              <a:rPr lang="en-US" altLang="zh-TW" sz="1100" b="0" dirty="0">
                <a:solidFill>
                  <a:srgbClr val="D2A8FF"/>
                </a:solidFill>
                <a:effectLst/>
                <a:latin typeface="Consolas" panose="020B0609020204030204" pitchFamily="49" charset="0"/>
              </a:rPr>
              <a:t>log</a:t>
            </a:r>
            <a:r>
              <a:rPr lang="en-US" altLang="zh-TW" sz="1100" b="0" dirty="0">
                <a:solidFill>
                  <a:srgbClr val="D4D4D4"/>
                </a:solidFill>
                <a:effectLst/>
                <a:latin typeface="Consolas" panose="020B0609020204030204" pitchFamily="49" charset="0"/>
              </a:rPr>
              <a:t>(</a:t>
            </a:r>
            <a:r>
              <a:rPr lang="en-US" altLang="zh-TW" sz="1100" b="0" dirty="0">
                <a:solidFill>
                  <a:srgbClr val="A5D6FF"/>
                </a:solidFill>
                <a:effectLst/>
                <a:latin typeface="Consolas" panose="020B0609020204030204" pitchFamily="49" charset="0"/>
              </a:rPr>
              <a:t>'100'</a:t>
            </a:r>
            <a:r>
              <a:rPr lang="en-US" altLang="zh-TW" sz="1100" b="0" dirty="0">
                <a:solidFill>
                  <a:srgbClr val="D4D4D4"/>
                </a:solidFill>
                <a:effectLst/>
                <a:latin typeface="Consolas" panose="020B0609020204030204" pitchFamily="49" charset="0"/>
              </a:rPr>
              <a:t> - </a:t>
            </a:r>
            <a:r>
              <a:rPr lang="en-US" altLang="zh-TW" sz="1100" b="0" dirty="0">
                <a:solidFill>
                  <a:srgbClr val="569CD6"/>
                </a:solidFill>
                <a:effectLst/>
                <a:latin typeface="Consolas" panose="020B0609020204030204" pitchFamily="49" charset="0"/>
              </a:rPr>
              <a:t>false</a:t>
            </a:r>
            <a:r>
              <a:rPr lang="en-US" altLang="zh-TW" sz="1100" b="0" dirty="0">
                <a:solidFill>
                  <a:srgbClr val="D4D4D4"/>
                </a:solidFill>
                <a:effectLst/>
                <a:latin typeface="Consolas" panose="020B0609020204030204" pitchFamily="49" charset="0"/>
              </a:rPr>
              <a:t>);</a:t>
            </a:r>
            <a:endParaRPr lang="en-US" altLang="zh-TW" sz="1100" b="0" dirty="0">
              <a:solidFill>
                <a:srgbClr val="BBBEBF"/>
              </a:solidFill>
              <a:effectLst/>
              <a:latin typeface="Consolas" panose="020B0609020204030204" pitchFamily="49" charset="0"/>
            </a:endParaRPr>
          </a:p>
          <a:p>
            <a:r>
              <a:rPr lang="en-US" altLang="zh-TW" sz="1100" b="0" dirty="0">
                <a:solidFill>
                  <a:srgbClr val="79C0FF"/>
                </a:solidFill>
                <a:effectLst/>
                <a:latin typeface="Consolas" panose="020B0609020204030204" pitchFamily="49" charset="0"/>
              </a:rPr>
              <a:t>console</a:t>
            </a:r>
            <a:r>
              <a:rPr lang="en-US" altLang="zh-TW" sz="1100" b="0" dirty="0">
                <a:solidFill>
                  <a:srgbClr val="D4D4D4"/>
                </a:solidFill>
                <a:effectLst/>
                <a:latin typeface="Consolas" panose="020B0609020204030204" pitchFamily="49" charset="0"/>
              </a:rPr>
              <a:t>.</a:t>
            </a:r>
            <a:r>
              <a:rPr lang="en-US" altLang="zh-TW" sz="1100" b="0" dirty="0">
                <a:solidFill>
                  <a:srgbClr val="D2A8FF"/>
                </a:solidFill>
                <a:effectLst/>
                <a:latin typeface="Consolas" panose="020B0609020204030204" pitchFamily="49" charset="0"/>
              </a:rPr>
              <a:t>log</a:t>
            </a:r>
            <a:r>
              <a:rPr lang="en-US" altLang="zh-TW" sz="1100" b="0" dirty="0">
                <a:solidFill>
                  <a:srgbClr val="D4D4D4"/>
                </a:solidFill>
                <a:effectLst/>
                <a:latin typeface="Consolas" panose="020B0609020204030204" pitchFamily="49" charset="0"/>
              </a:rPr>
              <a:t>(</a:t>
            </a:r>
            <a:r>
              <a:rPr lang="en-US" altLang="zh-TW" sz="1100" b="0" dirty="0">
                <a:solidFill>
                  <a:srgbClr val="A5D6FF"/>
                </a:solidFill>
                <a:effectLst/>
                <a:latin typeface="Consolas" panose="020B0609020204030204" pitchFamily="49" charset="0"/>
              </a:rPr>
              <a:t>'</a:t>
            </a:r>
            <a:r>
              <a:rPr lang="en-US" altLang="zh-TW" sz="1100" b="0" dirty="0" err="1">
                <a:solidFill>
                  <a:srgbClr val="A5D6FF"/>
                </a:solidFill>
                <a:effectLst/>
                <a:latin typeface="Consolas" panose="020B0609020204030204" pitchFamily="49" charset="0"/>
              </a:rPr>
              <a:t>tp</a:t>
            </a:r>
            <a:r>
              <a:rPr lang="en-US" altLang="zh-TW" sz="1100" b="0" dirty="0">
                <a:solidFill>
                  <a:srgbClr val="A5D6FF"/>
                </a:solidFill>
                <a:effectLst/>
                <a:latin typeface="Consolas" panose="020B0609020204030204" pitchFamily="49" charset="0"/>
              </a:rPr>
              <a:t>'</a:t>
            </a:r>
            <a:r>
              <a:rPr lang="en-US" altLang="zh-TW" sz="1100" b="0" dirty="0">
                <a:solidFill>
                  <a:srgbClr val="D4D4D4"/>
                </a:solidFill>
                <a:effectLst/>
                <a:latin typeface="Consolas" panose="020B0609020204030204" pitchFamily="49" charset="0"/>
              </a:rPr>
              <a:t> / </a:t>
            </a:r>
            <a:r>
              <a:rPr lang="en-US" altLang="zh-TW" sz="1100" b="0" dirty="0">
                <a:solidFill>
                  <a:srgbClr val="B5CEA8"/>
                </a:solidFill>
                <a:effectLst/>
                <a:latin typeface="Consolas" panose="020B0609020204030204" pitchFamily="49" charset="0"/>
              </a:rPr>
              <a:t>50</a:t>
            </a:r>
            <a:r>
              <a:rPr lang="en-US" altLang="zh-TW" sz="1100" b="0" dirty="0">
                <a:solidFill>
                  <a:srgbClr val="D4D4D4"/>
                </a:solidFill>
                <a:effectLst/>
                <a:latin typeface="Consolas" panose="020B0609020204030204" pitchFamily="49" charset="0"/>
              </a:rPr>
              <a:t>);</a:t>
            </a:r>
            <a:endParaRPr lang="en-US" altLang="zh-TW" sz="1100" b="0" dirty="0">
              <a:solidFill>
                <a:srgbClr val="BBBEBF"/>
              </a:solidFill>
              <a:effectLst/>
              <a:latin typeface="Consolas" panose="020B0609020204030204" pitchFamily="49" charset="0"/>
            </a:endParaRPr>
          </a:p>
        </p:txBody>
      </p:sp>
      <p:sp>
        <p:nvSpPr>
          <p:cNvPr id="280" name="Google Shape;280;p40"/>
          <p:cNvSpPr txBox="1"/>
          <p:nvPr/>
        </p:nvSpPr>
        <p:spPr>
          <a:xfrm>
            <a:off x="5839924" y="2920167"/>
            <a:ext cx="2576100" cy="361800"/>
          </a:xfrm>
          <a:prstGeom prst="rect">
            <a:avLst/>
          </a:prstGeom>
          <a:solidFill>
            <a:schemeClr val="dk2"/>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dirty="0">
                <a:solidFill>
                  <a:srgbClr val="CC99CD"/>
                </a:solidFill>
                <a:highlight>
                  <a:srgbClr val="2D2D2D"/>
                </a:highlight>
                <a:latin typeface="Courier New"/>
                <a:ea typeface="Courier New"/>
                <a:cs typeface="Courier New"/>
                <a:sym typeface="Courier New"/>
              </a:rPr>
              <a:t>let</a:t>
            </a:r>
            <a:r>
              <a:rPr lang="en" sz="1150" dirty="0">
                <a:solidFill>
                  <a:srgbClr val="CCCCCC"/>
                </a:solidFill>
                <a:highlight>
                  <a:srgbClr val="2D2D2D"/>
                </a:highlight>
                <a:latin typeface="Courier New"/>
                <a:ea typeface="Courier New"/>
                <a:cs typeface="Courier New"/>
                <a:sym typeface="Courier New"/>
              </a:rPr>
              <a:t> num </a:t>
            </a:r>
            <a:r>
              <a:rPr lang="en" sz="1150" dirty="0">
                <a:solidFill>
                  <a:srgbClr val="67CDCC"/>
                </a:solidFill>
                <a:highlight>
                  <a:srgbClr val="2D2D2D"/>
                </a:highlight>
                <a:latin typeface="Courier New"/>
                <a:ea typeface="Courier New"/>
                <a:cs typeface="Courier New"/>
                <a:sym typeface="Courier New"/>
              </a:rPr>
              <a:t>=</a:t>
            </a:r>
            <a:r>
              <a:rPr lang="en" sz="1150" dirty="0">
                <a:solidFill>
                  <a:srgbClr val="CCCCCC"/>
                </a:solidFill>
                <a:highlight>
                  <a:srgbClr val="2D2D2D"/>
                </a:highlight>
                <a:latin typeface="Courier New"/>
                <a:ea typeface="Courier New"/>
                <a:cs typeface="Courier New"/>
                <a:sym typeface="Courier New"/>
              </a:rPr>
              <a:t> </a:t>
            </a:r>
            <a:r>
              <a:rPr lang="en" sz="1150" dirty="0">
                <a:solidFill>
                  <a:srgbClr val="F08D49"/>
                </a:solidFill>
                <a:highlight>
                  <a:srgbClr val="2D2D2D"/>
                </a:highlight>
                <a:latin typeface="Courier New"/>
                <a:ea typeface="Courier New"/>
                <a:cs typeface="Courier New"/>
                <a:sym typeface="Courier New"/>
              </a:rPr>
              <a:t>100</a:t>
            </a:r>
            <a:r>
              <a:rPr lang="en" sz="1150" dirty="0">
                <a:solidFill>
                  <a:srgbClr val="CCCCCC"/>
                </a:solidFill>
                <a:highlight>
                  <a:srgbClr val="2D2D2D"/>
                </a:highlight>
                <a:latin typeface="Courier New"/>
                <a:ea typeface="Courier New"/>
                <a:cs typeface="Courier New"/>
                <a:sym typeface="Courier New"/>
              </a:rPr>
              <a:t> </a:t>
            </a:r>
            <a:r>
              <a:rPr lang="en" sz="1150" dirty="0">
                <a:solidFill>
                  <a:srgbClr val="67CDCC"/>
                </a:solidFill>
                <a:highlight>
                  <a:srgbClr val="2D2D2D"/>
                </a:highlight>
                <a:latin typeface="Courier New"/>
                <a:ea typeface="Courier New"/>
                <a:cs typeface="Courier New"/>
                <a:sym typeface="Courier New"/>
              </a:rPr>
              <a:t>+</a:t>
            </a:r>
            <a:r>
              <a:rPr lang="en" sz="1150" dirty="0">
                <a:solidFill>
                  <a:srgbClr val="CCCCCC"/>
                </a:solidFill>
                <a:highlight>
                  <a:srgbClr val="2D2D2D"/>
                </a:highlight>
                <a:latin typeface="Courier New"/>
                <a:ea typeface="Courier New"/>
                <a:cs typeface="Courier New"/>
                <a:sym typeface="Courier New"/>
              </a:rPr>
              <a:t> </a:t>
            </a:r>
            <a:r>
              <a:rPr lang="en" sz="1150" dirty="0">
                <a:solidFill>
                  <a:srgbClr val="CC99CD"/>
                </a:solidFill>
                <a:highlight>
                  <a:srgbClr val="2D2D2D"/>
                </a:highlight>
                <a:latin typeface="Courier New"/>
                <a:ea typeface="Courier New"/>
                <a:cs typeface="Courier New"/>
                <a:sym typeface="Courier New"/>
              </a:rPr>
              <a:t>undefined</a:t>
            </a:r>
            <a:r>
              <a:rPr lang="en" sz="1150" dirty="0">
                <a:solidFill>
                  <a:srgbClr val="CCCCCC"/>
                </a:solidFill>
                <a:highlight>
                  <a:srgbClr val="2D2D2D"/>
                </a:highlight>
                <a:latin typeface="Courier New"/>
                <a:ea typeface="Courier New"/>
                <a:cs typeface="Courier New"/>
                <a:sym typeface="Courier New"/>
              </a:rPr>
              <a:t>;</a:t>
            </a: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4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Explicit Type Conversion</a:t>
            </a:r>
            <a:endParaRPr/>
          </a:p>
        </p:txBody>
      </p:sp>
      <p:sp>
        <p:nvSpPr>
          <p:cNvPr id="286" name="Google Shape;286;p41"/>
          <p:cNvSpPr txBox="1">
            <a:spLocks noGrp="1"/>
          </p:cNvSpPr>
          <p:nvPr>
            <p:ph type="body" idx="1"/>
          </p:nvPr>
        </p:nvSpPr>
        <p:spPr>
          <a:xfrm>
            <a:off x="311700" y="1152475"/>
            <a:ext cx="8520600" cy="678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Convert the data type of the variable manually</a:t>
            </a:r>
            <a:endParaRPr/>
          </a:p>
        </p:txBody>
      </p:sp>
      <p:sp>
        <p:nvSpPr>
          <p:cNvPr id="287" name="Google Shape;287;p4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30</a:t>
            </a:fld>
            <a:endParaRPr/>
          </a:p>
        </p:txBody>
      </p:sp>
      <p:sp>
        <p:nvSpPr>
          <p:cNvPr id="288" name="Google Shape;288;p41"/>
          <p:cNvSpPr txBox="1"/>
          <p:nvPr/>
        </p:nvSpPr>
        <p:spPr>
          <a:xfrm>
            <a:off x="210300" y="1672731"/>
            <a:ext cx="4950900" cy="2485800"/>
          </a:xfrm>
          <a:prstGeom prst="rect">
            <a:avLst/>
          </a:prstGeom>
          <a:solidFill>
            <a:schemeClr val="dk2"/>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solidFill>
                  <a:srgbClr val="67CDCC"/>
                </a:solidFill>
                <a:highlight>
                  <a:srgbClr val="2D2D2D"/>
                </a:highlight>
                <a:latin typeface="Courier New"/>
                <a:ea typeface="Courier New"/>
                <a:cs typeface="Courier New"/>
                <a:sym typeface="Courier New"/>
              </a:rPr>
              <a:t>&lt;</a:t>
            </a:r>
            <a:r>
              <a:rPr lang="en" sz="1150">
                <a:solidFill>
                  <a:srgbClr val="CCCCCC"/>
                </a:solidFill>
                <a:highlight>
                  <a:srgbClr val="2D2D2D"/>
                </a:highlight>
                <a:latin typeface="Courier New"/>
                <a:ea typeface="Courier New"/>
                <a:cs typeface="Courier New"/>
                <a:sym typeface="Courier New"/>
              </a:rPr>
              <a:t>html</a:t>
            </a:r>
            <a:r>
              <a:rPr lang="en" sz="1150">
                <a:solidFill>
                  <a:srgbClr val="67CDCC"/>
                </a:solidFill>
                <a:highlight>
                  <a:srgbClr val="2D2D2D"/>
                </a:highlight>
                <a:latin typeface="Courier New"/>
                <a:ea typeface="Courier New"/>
                <a:cs typeface="Courier New"/>
                <a:sym typeface="Courier New"/>
              </a:rPr>
              <a:t>&gt;</a:t>
            </a:r>
            <a:endParaRPr sz="1150">
              <a:solidFill>
                <a:srgbClr val="CCCCCC"/>
              </a:solidFill>
              <a:highlight>
                <a:srgbClr val="2D2D2D"/>
              </a:highlight>
              <a:latin typeface="Courier New"/>
              <a:ea typeface="Courier New"/>
              <a:cs typeface="Courier New"/>
              <a:sym typeface="Courier New"/>
            </a:endParaRPr>
          </a:p>
          <a:p>
            <a:pPr marL="0" lvl="0" indent="0" algn="l" rtl="0">
              <a:spcBef>
                <a:spcPts val="0"/>
              </a:spcBef>
              <a:spcAft>
                <a:spcPts val="0"/>
              </a:spcAft>
              <a:buNone/>
            </a:pPr>
            <a:r>
              <a:rPr lang="en" sz="1150">
                <a:solidFill>
                  <a:srgbClr val="67CDCC"/>
                </a:solidFill>
                <a:highlight>
                  <a:srgbClr val="2D2D2D"/>
                </a:highlight>
                <a:latin typeface="Courier New"/>
                <a:ea typeface="Courier New"/>
                <a:cs typeface="Courier New"/>
                <a:sym typeface="Courier New"/>
              </a:rPr>
              <a:t>&lt;</a:t>
            </a:r>
            <a:r>
              <a:rPr lang="en" sz="1150">
                <a:solidFill>
                  <a:srgbClr val="CCCCCC"/>
                </a:solidFill>
                <a:highlight>
                  <a:srgbClr val="2D2D2D"/>
                </a:highlight>
                <a:latin typeface="Courier New"/>
                <a:ea typeface="Courier New"/>
                <a:cs typeface="Courier New"/>
                <a:sym typeface="Courier New"/>
              </a:rPr>
              <a:t>head</a:t>
            </a:r>
            <a:r>
              <a:rPr lang="en" sz="1150">
                <a:solidFill>
                  <a:srgbClr val="67CDCC"/>
                </a:solidFill>
                <a:highlight>
                  <a:srgbClr val="2D2D2D"/>
                </a:highlight>
                <a:latin typeface="Courier New"/>
                <a:ea typeface="Courier New"/>
                <a:cs typeface="Courier New"/>
                <a:sym typeface="Courier New"/>
              </a:rPr>
              <a:t>&gt;</a:t>
            </a:r>
            <a:endParaRPr sz="1150">
              <a:solidFill>
                <a:srgbClr val="CCCCCC"/>
              </a:solidFill>
              <a:highlight>
                <a:srgbClr val="2D2D2D"/>
              </a:highlight>
              <a:latin typeface="Courier New"/>
              <a:ea typeface="Courier New"/>
              <a:cs typeface="Courier New"/>
              <a:sym typeface="Courier New"/>
            </a:endParaRPr>
          </a:p>
          <a:p>
            <a:pPr marL="0" lvl="0" indent="0" algn="l" rtl="0">
              <a:spcBef>
                <a:spcPts val="0"/>
              </a:spcBef>
              <a:spcAft>
                <a:spcPts val="0"/>
              </a:spcAft>
              <a:buNone/>
            </a:pPr>
            <a:r>
              <a:rPr lang="en" sz="1150">
                <a:solidFill>
                  <a:srgbClr val="CCCCCC"/>
                </a:solidFill>
                <a:highlight>
                  <a:srgbClr val="2D2D2D"/>
                </a:highlight>
                <a:latin typeface="Courier New"/>
                <a:ea typeface="Courier New"/>
                <a:cs typeface="Courier New"/>
                <a:sym typeface="Courier New"/>
              </a:rPr>
              <a:t>    </a:t>
            </a:r>
            <a:r>
              <a:rPr lang="en" sz="1150">
                <a:solidFill>
                  <a:srgbClr val="67CDCC"/>
                </a:solidFill>
                <a:highlight>
                  <a:srgbClr val="2D2D2D"/>
                </a:highlight>
                <a:latin typeface="Courier New"/>
                <a:ea typeface="Courier New"/>
                <a:cs typeface="Courier New"/>
                <a:sym typeface="Courier New"/>
              </a:rPr>
              <a:t>&lt;</a:t>
            </a:r>
            <a:r>
              <a:rPr lang="en" sz="1150">
                <a:solidFill>
                  <a:srgbClr val="CCCCCC"/>
                </a:solidFill>
                <a:highlight>
                  <a:srgbClr val="2D2D2D"/>
                </a:highlight>
                <a:latin typeface="Courier New"/>
                <a:ea typeface="Courier New"/>
                <a:cs typeface="Courier New"/>
                <a:sym typeface="Courier New"/>
              </a:rPr>
              <a:t>title</a:t>
            </a:r>
            <a:r>
              <a:rPr lang="en" sz="1150">
                <a:solidFill>
                  <a:srgbClr val="67CDCC"/>
                </a:solidFill>
                <a:highlight>
                  <a:srgbClr val="2D2D2D"/>
                </a:highlight>
                <a:latin typeface="Courier New"/>
                <a:ea typeface="Courier New"/>
                <a:cs typeface="Courier New"/>
                <a:sym typeface="Courier New"/>
              </a:rPr>
              <a:t>&gt;</a:t>
            </a:r>
            <a:r>
              <a:rPr lang="en" sz="1150">
                <a:solidFill>
                  <a:srgbClr val="CCCCCC"/>
                </a:solidFill>
                <a:highlight>
                  <a:srgbClr val="2D2D2D"/>
                </a:highlight>
                <a:latin typeface="Courier New"/>
                <a:ea typeface="Courier New"/>
                <a:cs typeface="Courier New"/>
                <a:sym typeface="Courier New"/>
              </a:rPr>
              <a:t> Converting to string explicitly </a:t>
            </a:r>
            <a:r>
              <a:rPr lang="en" sz="1150">
                <a:solidFill>
                  <a:srgbClr val="67CDCC"/>
                </a:solidFill>
                <a:highlight>
                  <a:srgbClr val="2D2D2D"/>
                </a:highlight>
                <a:latin typeface="Courier New"/>
                <a:ea typeface="Courier New"/>
                <a:cs typeface="Courier New"/>
                <a:sym typeface="Courier New"/>
              </a:rPr>
              <a:t>&lt;/</a:t>
            </a:r>
            <a:r>
              <a:rPr lang="en" sz="1150">
                <a:solidFill>
                  <a:srgbClr val="CCCCCC"/>
                </a:solidFill>
                <a:highlight>
                  <a:srgbClr val="2D2D2D"/>
                </a:highlight>
                <a:latin typeface="Courier New"/>
                <a:ea typeface="Courier New"/>
                <a:cs typeface="Courier New"/>
                <a:sym typeface="Courier New"/>
              </a:rPr>
              <a:t>title</a:t>
            </a:r>
            <a:r>
              <a:rPr lang="en" sz="1150">
                <a:solidFill>
                  <a:srgbClr val="67CDCC"/>
                </a:solidFill>
                <a:highlight>
                  <a:srgbClr val="2D2D2D"/>
                </a:highlight>
                <a:latin typeface="Courier New"/>
                <a:ea typeface="Courier New"/>
                <a:cs typeface="Courier New"/>
                <a:sym typeface="Courier New"/>
              </a:rPr>
              <a:t>&gt;</a:t>
            </a:r>
            <a:endParaRPr sz="1150">
              <a:solidFill>
                <a:srgbClr val="CCCCCC"/>
              </a:solidFill>
              <a:highlight>
                <a:srgbClr val="2D2D2D"/>
              </a:highlight>
              <a:latin typeface="Courier New"/>
              <a:ea typeface="Courier New"/>
              <a:cs typeface="Courier New"/>
              <a:sym typeface="Courier New"/>
            </a:endParaRPr>
          </a:p>
          <a:p>
            <a:pPr marL="0" lvl="0" indent="0" algn="l" rtl="0">
              <a:spcBef>
                <a:spcPts val="0"/>
              </a:spcBef>
              <a:spcAft>
                <a:spcPts val="0"/>
              </a:spcAft>
              <a:buNone/>
            </a:pPr>
            <a:r>
              <a:rPr lang="en" sz="1150">
                <a:solidFill>
                  <a:srgbClr val="67CDCC"/>
                </a:solidFill>
                <a:highlight>
                  <a:srgbClr val="2D2D2D"/>
                </a:highlight>
                <a:latin typeface="Courier New"/>
                <a:ea typeface="Courier New"/>
                <a:cs typeface="Courier New"/>
                <a:sym typeface="Courier New"/>
              </a:rPr>
              <a:t>&lt;/</a:t>
            </a:r>
            <a:r>
              <a:rPr lang="en" sz="1150">
                <a:solidFill>
                  <a:srgbClr val="CCCCCC"/>
                </a:solidFill>
                <a:highlight>
                  <a:srgbClr val="2D2D2D"/>
                </a:highlight>
                <a:latin typeface="Courier New"/>
                <a:ea typeface="Courier New"/>
                <a:cs typeface="Courier New"/>
                <a:sym typeface="Courier New"/>
              </a:rPr>
              <a:t>head</a:t>
            </a:r>
            <a:r>
              <a:rPr lang="en" sz="1150">
                <a:solidFill>
                  <a:srgbClr val="67CDCC"/>
                </a:solidFill>
                <a:highlight>
                  <a:srgbClr val="2D2D2D"/>
                </a:highlight>
                <a:latin typeface="Courier New"/>
                <a:ea typeface="Courier New"/>
                <a:cs typeface="Courier New"/>
                <a:sym typeface="Courier New"/>
              </a:rPr>
              <a:t>&gt;</a:t>
            </a:r>
            <a:endParaRPr sz="1150">
              <a:solidFill>
                <a:srgbClr val="CCCCCC"/>
              </a:solidFill>
              <a:highlight>
                <a:srgbClr val="2D2D2D"/>
              </a:highlight>
              <a:latin typeface="Courier New"/>
              <a:ea typeface="Courier New"/>
              <a:cs typeface="Courier New"/>
              <a:sym typeface="Courier New"/>
            </a:endParaRPr>
          </a:p>
          <a:p>
            <a:pPr marL="0" lvl="0" indent="0" algn="l" rtl="0">
              <a:spcBef>
                <a:spcPts val="0"/>
              </a:spcBef>
              <a:spcAft>
                <a:spcPts val="0"/>
              </a:spcAft>
              <a:buNone/>
            </a:pPr>
            <a:r>
              <a:rPr lang="en" sz="1150">
                <a:solidFill>
                  <a:srgbClr val="67CDCC"/>
                </a:solidFill>
                <a:highlight>
                  <a:srgbClr val="2D2D2D"/>
                </a:highlight>
                <a:latin typeface="Courier New"/>
                <a:ea typeface="Courier New"/>
                <a:cs typeface="Courier New"/>
                <a:sym typeface="Courier New"/>
              </a:rPr>
              <a:t>&lt;</a:t>
            </a:r>
            <a:r>
              <a:rPr lang="en" sz="1150">
                <a:solidFill>
                  <a:srgbClr val="CCCCCC"/>
                </a:solidFill>
                <a:highlight>
                  <a:srgbClr val="2D2D2D"/>
                </a:highlight>
                <a:latin typeface="Courier New"/>
                <a:ea typeface="Courier New"/>
                <a:cs typeface="Courier New"/>
                <a:sym typeface="Courier New"/>
              </a:rPr>
              <a:t>body</a:t>
            </a:r>
            <a:r>
              <a:rPr lang="en" sz="1150">
                <a:solidFill>
                  <a:srgbClr val="67CDCC"/>
                </a:solidFill>
                <a:highlight>
                  <a:srgbClr val="2D2D2D"/>
                </a:highlight>
                <a:latin typeface="Courier New"/>
                <a:ea typeface="Courier New"/>
                <a:cs typeface="Courier New"/>
                <a:sym typeface="Courier New"/>
              </a:rPr>
              <a:t>&gt;</a:t>
            </a:r>
            <a:endParaRPr sz="1150">
              <a:solidFill>
                <a:srgbClr val="CCCCCC"/>
              </a:solidFill>
              <a:highlight>
                <a:srgbClr val="2D2D2D"/>
              </a:highlight>
              <a:latin typeface="Courier New"/>
              <a:ea typeface="Courier New"/>
              <a:cs typeface="Courier New"/>
              <a:sym typeface="Courier New"/>
            </a:endParaRPr>
          </a:p>
          <a:p>
            <a:pPr marL="0" lvl="0" indent="0" algn="l" rtl="0">
              <a:spcBef>
                <a:spcPts val="0"/>
              </a:spcBef>
              <a:spcAft>
                <a:spcPts val="0"/>
              </a:spcAft>
              <a:buNone/>
            </a:pPr>
            <a:r>
              <a:rPr lang="en" sz="1150">
                <a:solidFill>
                  <a:srgbClr val="CCCCCC"/>
                </a:solidFill>
                <a:highlight>
                  <a:srgbClr val="2D2D2D"/>
                </a:highlight>
                <a:latin typeface="Courier New"/>
                <a:ea typeface="Courier New"/>
                <a:cs typeface="Courier New"/>
                <a:sym typeface="Courier New"/>
              </a:rPr>
              <a:t>    </a:t>
            </a:r>
            <a:r>
              <a:rPr lang="en" sz="1150">
                <a:solidFill>
                  <a:srgbClr val="67CDCC"/>
                </a:solidFill>
                <a:highlight>
                  <a:srgbClr val="2D2D2D"/>
                </a:highlight>
                <a:latin typeface="Courier New"/>
                <a:ea typeface="Courier New"/>
                <a:cs typeface="Courier New"/>
                <a:sym typeface="Courier New"/>
              </a:rPr>
              <a:t>&lt;</a:t>
            </a:r>
            <a:r>
              <a:rPr lang="en" sz="1150">
                <a:solidFill>
                  <a:srgbClr val="CCCCCC"/>
                </a:solidFill>
                <a:highlight>
                  <a:srgbClr val="2D2D2D"/>
                </a:highlight>
                <a:latin typeface="Courier New"/>
                <a:ea typeface="Courier New"/>
                <a:cs typeface="Courier New"/>
                <a:sym typeface="Courier New"/>
              </a:rPr>
              <a:t>script</a:t>
            </a:r>
            <a:r>
              <a:rPr lang="en" sz="1150">
                <a:solidFill>
                  <a:srgbClr val="67CDCC"/>
                </a:solidFill>
                <a:highlight>
                  <a:srgbClr val="2D2D2D"/>
                </a:highlight>
                <a:latin typeface="Courier New"/>
                <a:ea typeface="Courier New"/>
                <a:cs typeface="Courier New"/>
                <a:sym typeface="Courier New"/>
              </a:rPr>
              <a:t>&gt;</a:t>
            </a:r>
            <a:endParaRPr sz="1150">
              <a:solidFill>
                <a:srgbClr val="CCCCCC"/>
              </a:solidFill>
              <a:highlight>
                <a:srgbClr val="2D2D2D"/>
              </a:highlight>
              <a:latin typeface="Courier New"/>
              <a:ea typeface="Courier New"/>
              <a:cs typeface="Courier New"/>
              <a:sym typeface="Courier New"/>
            </a:endParaRPr>
          </a:p>
          <a:p>
            <a:pPr marL="0" lvl="0" indent="0" algn="l" rtl="0">
              <a:spcBef>
                <a:spcPts val="0"/>
              </a:spcBef>
              <a:spcAft>
                <a:spcPts val="0"/>
              </a:spcAft>
              <a:buNone/>
            </a:pPr>
            <a:r>
              <a:rPr lang="en" sz="1150">
                <a:solidFill>
                  <a:srgbClr val="CCCCCC"/>
                </a:solidFill>
                <a:highlight>
                  <a:srgbClr val="2D2D2D"/>
                </a:highlight>
                <a:latin typeface="Courier New"/>
                <a:ea typeface="Courier New"/>
                <a:cs typeface="Courier New"/>
                <a:sym typeface="Courier New"/>
              </a:rPr>
              <a:t>        document.</a:t>
            </a:r>
            <a:r>
              <a:rPr lang="en" sz="1150">
                <a:solidFill>
                  <a:srgbClr val="F08D49"/>
                </a:solidFill>
                <a:highlight>
                  <a:srgbClr val="2D2D2D"/>
                </a:highlight>
                <a:latin typeface="Courier New"/>
                <a:ea typeface="Courier New"/>
                <a:cs typeface="Courier New"/>
                <a:sym typeface="Courier New"/>
              </a:rPr>
              <a:t>write</a:t>
            </a:r>
            <a:r>
              <a:rPr lang="en" sz="1150">
                <a:solidFill>
                  <a:srgbClr val="CCCCCC"/>
                </a:solidFill>
                <a:highlight>
                  <a:srgbClr val="2D2D2D"/>
                </a:highlight>
                <a:latin typeface="Courier New"/>
                <a:ea typeface="Courier New"/>
                <a:cs typeface="Courier New"/>
                <a:sym typeface="Courier New"/>
              </a:rPr>
              <a:t>(</a:t>
            </a:r>
            <a:r>
              <a:rPr lang="en" sz="1150">
                <a:solidFill>
                  <a:srgbClr val="CC99CD"/>
                </a:solidFill>
                <a:highlight>
                  <a:srgbClr val="2D2D2D"/>
                </a:highlight>
                <a:latin typeface="Courier New"/>
                <a:ea typeface="Courier New"/>
                <a:cs typeface="Courier New"/>
                <a:sym typeface="Courier New"/>
              </a:rPr>
              <a:t>typeof</a:t>
            </a:r>
            <a:r>
              <a:rPr lang="en" sz="1150">
                <a:solidFill>
                  <a:srgbClr val="CCCCCC"/>
                </a:solidFill>
                <a:highlight>
                  <a:srgbClr val="2D2D2D"/>
                </a:highlight>
                <a:latin typeface="Courier New"/>
                <a:ea typeface="Courier New"/>
                <a:cs typeface="Courier New"/>
                <a:sym typeface="Courier New"/>
              </a:rPr>
              <a:t> </a:t>
            </a:r>
            <a:r>
              <a:rPr lang="en" sz="1150">
                <a:solidFill>
                  <a:srgbClr val="F08D49"/>
                </a:solidFill>
                <a:highlight>
                  <a:srgbClr val="2D2D2D"/>
                </a:highlight>
                <a:latin typeface="Courier New"/>
                <a:ea typeface="Courier New"/>
                <a:cs typeface="Courier New"/>
                <a:sym typeface="Courier New"/>
              </a:rPr>
              <a:t>String</a:t>
            </a:r>
            <a:r>
              <a:rPr lang="en" sz="1150">
                <a:solidFill>
                  <a:srgbClr val="CCCCCC"/>
                </a:solidFill>
                <a:highlight>
                  <a:srgbClr val="2D2D2D"/>
                </a:highlight>
                <a:latin typeface="Courier New"/>
                <a:ea typeface="Courier New"/>
                <a:cs typeface="Courier New"/>
                <a:sym typeface="Courier New"/>
              </a:rPr>
              <a:t>(</a:t>
            </a:r>
            <a:r>
              <a:rPr lang="en" sz="1150">
                <a:solidFill>
                  <a:srgbClr val="F08D49"/>
                </a:solidFill>
                <a:highlight>
                  <a:srgbClr val="2D2D2D"/>
                </a:highlight>
                <a:latin typeface="Courier New"/>
                <a:ea typeface="Courier New"/>
                <a:cs typeface="Courier New"/>
                <a:sym typeface="Courier New"/>
              </a:rPr>
              <a:t>100</a:t>
            </a:r>
            <a:r>
              <a:rPr lang="en" sz="1150">
                <a:solidFill>
                  <a:srgbClr val="CCCCCC"/>
                </a:solidFill>
                <a:highlight>
                  <a:srgbClr val="2D2D2D"/>
                </a:highlight>
                <a:latin typeface="Courier New"/>
                <a:ea typeface="Courier New"/>
                <a:cs typeface="Courier New"/>
                <a:sym typeface="Courier New"/>
              </a:rPr>
              <a:t>) </a:t>
            </a:r>
            <a:r>
              <a:rPr lang="en" sz="1150">
                <a:solidFill>
                  <a:srgbClr val="67CDCC"/>
                </a:solidFill>
                <a:highlight>
                  <a:srgbClr val="2D2D2D"/>
                </a:highlight>
                <a:latin typeface="Courier New"/>
                <a:ea typeface="Courier New"/>
                <a:cs typeface="Courier New"/>
                <a:sym typeface="Courier New"/>
              </a:rPr>
              <a:t>+</a:t>
            </a:r>
            <a:r>
              <a:rPr lang="en" sz="1150">
                <a:solidFill>
                  <a:srgbClr val="CCCCCC"/>
                </a:solidFill>
                <a:highlight>
                  <a:srgbClr val="2D2D2D"/>
                </a:highlight>
                <a:latin typeface="Courier New"/>
                <a:ea typeface="Courier New"/>
                <a:cs typeface="Courier New"/>
                <a:sym typeface="Courier New"/>
              </a:rPr>
              <a:t> </a:t>
            </a:r>
            <a:r>
              <a:rPr lang="en" sz="1150">
                <a:solidFill>
                  <a:srgbClr val="7EC699"/>
                </a:solidFill>
                <a:highlight>
                  <a:srgbClr val="2D2D2D"/>
                </a:highlight>
                <a:latin typeface="Courier New"/>
                <a:ea typeface="Courier New"/>
                <a:cs typeface="Courier New"/>
                <a:sym typeface="Courier New"/>
              </a:rPr>
              <a:t>"&lt;br/&gt;"</a:t>
            </a:r>
            <a:r>
              <a:rPr lang="en" sz="1150">
                <a:solidFill>
                  <a:srgbClr val="CCCCCC"/>
                </a:solidFill>
                <a:highlight>
                  <a:srgbClr val="2D2D2D"/>
                </a:highlight>
                <a:latin typeface="Courier New"/>
                <a:ea typeface="Courier New"/>
                <a:cs typeface="Courier New"/>
                <a:sym typeface="Courier New"/>
              </a:rPr>
              <a:t>);</a:t>
            </a:r>
            <a:endParaRPr sz="1150">
              <a:solidFill>
                <a:srgbClr val="CCCCCC"/>
              </a:solidFill>
              <a:highlight>
                <a:srgbClr val="2D2D2D"/>
              </a:highlight>
              <a:latin typeface="Courier New"/>
              <a:ea typeface="Courier New"/>
              <a:cs typeface="Courier New"/>
              <a:sym typeface="Courier New"/>
            </a:endParaRPr>
          </a:p>
          <a:p>
            <a:pPr marL="0" lvl="0" indent="0" algn="l" rtl="0">
              <a:spcBef>
                <a:spcPts val="0"/>
              </a:spcBef>
              <a:spcAft>
                <a:spcPts val="0"/>
              </a:spcAft>
              <a:buNone/>
            </a:pPr>
            <a:r>
              <a:rPr lang="en" sz="1150">
                <a:solidFill>
                  <a:srgbClr val="CCCCCC"/>
                </a:solidFill>
                <a:highlight>
                  <a:srgbClr val="2D2D2D"/>
                </a:highlight>
                <a:latin typeface="Courier New"/>
                <a:ea typeface="Courier New"/>
                <a:cs typeface="Courier New"/>
                <a:sym typeface="Courier New"/>
              </a:rPr>
              <a:t>        document.</a:t>
            </a:r>
            <a:r>
              <a:rPr lang="en" sz="1150">
                <a:solidFill>
                  <a:srgbClr val="F08D49"/>
                </a:solidFill>
                <a:highlight>
                  <a:srgbClr val="2D2D2D"/>
                </a:highlight>
                <a:latin typeface="Courier New"/>
                <a:ea typeface="Courier New"/>
                <a:cs typeface="Courier New"/>
                <a:sym typeface="Courier New"/>
              </a:rPr>
              <a:t>write</a:t>
            </a:r>
            <a:r>
              <a:rPr lang="en" sz="1150">
                <a:solidFill>
                  <a:srgbClr val="CCCCCC"/>
                </a:solidFill>
                <a:highlight>
                  <a:srgbClr val="2D2D2D"/>
                </a:highlight>
                <a:latin typeface="Courier New"/>
                <a:ea typeface="Courier New"/>
                <a:cs typeface="Courier New"/>
                <a:sym typeface="Courier New"/>
              </a:rPr>
              <a:t>(</a:t>
            </a:r>
            <a:r>
              <a:rPr lang="en" sz="1150">
                <a:solidFill>
                  <a:srgbClr val="CC99CD"/>
                </a:solidFill>
                <a:highlight>
                  <a:srgbClr val="2D2D2D"/>
                </a:highlight>
                <a:latin typeface="Courier New"/>
                <a:ea typeface="Courier New"/>
                <a:cs typeface="Courier New"/>
                <a:sym typeface="Courier New"/>
              </a:rPr>
              <a:t>typeof</a:t>
            </a:r>
            <a:r>
              <a:rPr lang="en" sz="1150">
                <a:solidFill>
                  <a:srgbClr val="CCCCCC"/>
                </a:solidFill>
                <a:highlight>
                  <a:srgbClr val="2D2D2D"/>
                </a:highlight>
                <a:latin typeface="Courier New"/>
                <a:ea typeface="Courier New"/>
                <a:cs typeface="Courier New"/>
                <a:sym typeface="Courier New"/>
              </a:rPr>
              <a:t> </a:t>
            </a:r>
            <a:r>
              <a:rPr lang="en" sz="1150">
                <a:solidFill>
                  <a:srgbClr val="F08D49"/>
                </a:solidFill>
                <a:highlight>
                  <a:srgbClr val="2D2D2D"/>
                </a:highlight>
                <a:latin typeface="Courier New"/>
                <a:ea typeface="Courier New"/>
                <a:cs typeface="Courier New"/>
                <a:sym typeface="Courier New"/>
              </a:rPr>
              <a:t>String</a:t>
            </a:r>
            <a:r>
              <a:rPr lang="en" sz="1150">
                <a:solidFill>
                  <a:srgbClr val="CCCCCC"/>
                </a:solidFill>
                <a:highlight>
                  <a:srgbClr val="2D2D2D"/>
                </a:highlight>
                <a:latin typeface="Courier New"/>
                <a:ea typeface="Courier New"/>
                <a:cs typeface="Courier New"/>
                <a:sym typeface="Courier New"/>
              </a:rPr>
              <a:t>(</a:t>
            </a:r>
            <a:r>
              <a:rPr lang="en" sz="1150">
                <a:solidFill>
                  <a:srgbClr val="CC99CD"/>
                </a:solidFill>
                <a:highlight>
                  <a:srgbClr val="2D2D2D"/>
                </a:highlight>
                <a:latin typeface="Courier New"/>
                <a:ea typeface="Courier New"/>
                <a:cs typeface="Courier New"/>
                <a:sym typeface="Courier New"/>
              </a:rPr>
              <a:t>null</a:t>
            </a:r>
            <a:r>
              <a:rPr lang="en" sz="1150">
                <a:solidFill>
                  <a:srgbClr val="CCCCCC"/>
                </a:solidFill>
                <a:highlight>
                  <a:srgbClr val="2D2D2D"/>
                </a:highlight>
                <a:latin typeface="Courier New"/>
                <a:ea typeface="Courier New"/>
                <a:cs typeface="Courier New"/>
                <a:sym typeface="Courier New"/>
              </a:rPr>
              <a:t>)</a:t>
            </a:r>
            <a:r>
              <a:rPr lang="en" sz="1150">
                <a:solidFill>
                  <a:srgbClr val="67CDCC"/>
                </a:solidFill>
                <a:highlight>
                  <a:srgbClr val="2D2D2D"/>
                </a:highlight>
                <a:latin typeface="Courier New"/>
                <a:ea typeface="Courier New"/>
                <a:cs typeface="Courier New"/>
                <a:sym typeface="Courier New"/>
              </a:rPr>
              <a:t>+</a:t>
            </a:r>
            <a:r>
              <a:rPr lang="en" sz="1150">
                <a:solidFill>
                  <a:srgbClr val="CCCCCC"/>
                </a:solidFill>
                <a:highlight>
                  <a:srgbClr val="2D2D2D"/>
                </a:highlight>
                <a:latin typeface="Courier New"/>
                <a:ea typeface="Courier New"/>
                <a:cs typeface="Courier New"/>
                <a:sym typeface="Courier New"/>
              </a:rPr>
              <a:t> </a:t>
            </a:r>
            <a:r>
              <a:rPr lang="en" sz="1150">
                <a:solidFill>
                  <a:srgbClr val="7EC699"/>
                </a:solidFill>
                <a:highlight>
                  <a:srgbClr val="2D2D2D"/>
                </a:highlight>
                <a:latin typeface="Courier New"/>
                <a:ea typeface="Courier New"/>
                <a:cs typeface="Courier New"/>
                <a:sym typeface="Courier New"/>
              </a:rPr>
              <a:t>"&lt;br/&gt;"</a:t>
            </a:r>
            <a:r>
              <a:rPr lang="en" sz="1150">
                <a:solidFill>
                  <a:srgbClr val="CCCCCC"/>
                </a:solidFill>
                <a:highlight>
                  <a:srgbClr val="2D2D2D"/>
                </a:highlight>
                <a:latin typeface="Courier New"/>
                <a:ea typeface="Courier New"/>
                <a:cs typeface="Courier New"/>
                <a:sym typeface="Courier New"/>
              </a:rPr>
              <a:t>);</a:t>
            </a:r>
            <a:endParaRPr sz="1150">
              <a:solidFill>
                <a:srgbClr val="CCCCCC"/>
              </a:solidFill>
              <a:highlight>
                <a:srgbClr val="2D2D2D"/>
              </a:highlight>
              <a:latin typeface="Courier New"/>
              <a:ea typeface="Courier New"/>
              <a:cs typeface="Courier New"/>
              <a:sym typeface="Courier New"/>
            </a:endParaRPr>
          </a:p>
          <a:p>
            <a:pPr marL="0" lvl="0" indent="0" algn="l" rtl="0">
              <a:spcBef>
                <a:spcPts val="0"/>
              </a:spcBef>
              <a:spcAft>
                <a:spcPts val="0"/>
              </a:spcAft>
              <a:buNone/>
            </a:pPr>
            <a:r>
              <a:rPr lang="en" sz="1150">
                <a:solidFill>
                  <a:srgbClr val="CCCCCC"/>
                </a:solidFill>
                <a:highlight>
                  <a:srgbClr val="2D2D2D"/>
                </a:highlight>
                <a:latin typeface="Courier New"/>
                <a:ea typeface="Courier New"/>
                <a:cs typeface="Courier New"/>
                <a:sym typeface="Courier New"/>
              </a:rPr>
              <a:t>        document.</a:t>
            </a:r>
            <a:r>
              <a:rPr lang="en" sz="1150">
                <a:solidFill>
                  <a:srgbClr val="F08D49"/>
                </a:solidFill>
                <a:highlight>
                  <a:srgbClr val="2D2D2D"/>
                </a:highlight>
                <a:latin typeface="Courier New"/>
                <a:ea typeface="Courier New"/>
                <a:cs typeface="Courier New"/>
                <a:sym typeface="Courier New"/>
              </a:rPr>
              <a:t>write</a:t>
            </a:r>
            <a:r>
              <a:rPr lang="en" sz="1150">
                <a:solidFill>
                  <a:srgbClr val="CCCCCC"/>
                </a:solidFill>
                <a:highlight>
                  <a:srgbClr val="2D2D2D"/>
                </a:highlight>
                <a:latin typeface="Courier New"/>
                <a:ea typeface="Courier New"/>
                <a:cs typeface="Courier New"/>
                <a:sym typeface="Courier New"/>
              </a:rPr>
              <a:t>(</a:t>
            </a:r>
            <a:r>
              <a:rPr lang="en" sz="1150">
                <a:solidFill>
                  <a:srgbClr val="CC99CD"/>
                </a:solidFill>
                <a:highlight>
                  <a:srgbClr val="2D2D2D"/>
                </a:highlight>
                <a:latin typeface="Courier New"/>
                <a:ea typeface="Courier New"/>
                <a:cs typeface="Courier New"/>
                <a:sym typeface="Courier New"/>
              </a:rPr>
              <a:t>typeof</a:t>
            </a:r>
            <a:r>
              <a:rPr lang="en" sz="1150">
                <a:solidFill>
                  <a:srgbClr val="CCCCCC"/>
                </a:solidFill>
                <a:highlight>
                  <a:srgbClr val="2D2D2D"/>
                </a:highlight>
                <a:latin typeface="Courier New"/>
                <a:ea typeface="Courier New"/>
                <a:cs typeface="Courier New"/>
                <a:sym typeface="Courier New"/>
              </a:rPr>
              <a:t> </a:t>
            </a:r>
            <a:r>
              <a:rPr lang="en" sz="1150">
                <a:solidFill>
                  <a:srgbClr val="F08D49"/>
                </a:solidFill>
                <a:highlight>
                  <a:srgbClr val="2D2D2D"/>
                </a:highlight>
                <a:latin typeface="Courier New"/>
                <a:ea typeface="Courier New"/>
                <a:cs typeface="Courier New"/>
                <a:sym typeface="Courier New"/>
              </a:rPr>
              <a:t>String</a:t>
            </a:r>
            <a:r>
              <a:rPr lang="en" sz="1150">
                <a:solidFill>
                  <a:srgbClr val="CCCCCC"/>
                </a:solidFill>
                <a:highlight>
                  <a:srgbClr val="2D2D2D"/>
                </a:highlight>
                <a:latin typeface="Courier New"/>
                <a:ea typeface="Courier New"/>
                <a:cs typeface="Courier New"/>
                <a:sym typeface="Courier New"/>
              </a:rPr>
              <a:t>(</a:t>
            </a:r>
            <a:r>
              <a:rPr lang="en" sz="1150">
                <a:solidFill>
                  <a:srgbClr val="F08D49"/>
                </a:solidFill>
                <a:highlight>
                  <a:srgbClr val="2D2D2D"/>
                </a:highlight>
                <a:latin typeface="Courier New"/>
                <a:ea typeface="Courier New"/>
                <a:cs typeface="Courier New"/>
                <a:sym typeface="Courier New"/>
              </a:rPr>
              <a:t>true</a:t>
            </a:r>
            <a:r>
              <a:rPr lang="en" sz="1150">
                <a:solidFill>
                  <a:srgbClr val="CCCCCC"/>
                </a:solidFill>
                <a:highlight>
                  <a:srgbClr val="2D2D2D"/>
                </a:highlight>
                <a:latin typeface="Courier New"/>
                <a:ea typeface="Courier New"/>
                <a:cs typeface="Courier New"/>
                <a:sym typeface="Courier New"/>
              </a:rPr>
              <a:t>) </a:t>
            </a:r>
            <a:r>
              <a:rPr lang="en" sz="1150">
                <a:solidFill>
                  <a:srgbClr val="67CDCC"/>
                </a:solidFill>
                <a:highlight>
                  <a:srgbClr val="2D2D2D"/>
                </a:highlight>
                <a:latin typeface="Courier New"/>
                <a:ea typeface="Courier New"/>
                <a:cs typeface="Courier New"/>
                <a:sym typeface="Courier New"/>
              </a:rPr>
              <a:t>+</a:t>
            </a:r>
            <a:r>
              <a:rPr lang="en" sz="1150">
                <a:solidFill>
                  <a:srgbClr val="CCCCCC"/>
                </a:solidFill>
                <a:highlight>
                  <a:srgbClr val="2D2D2D"/>
                </a:highlight>
                <a:latin typeface="Courier New"/>
                <a:ea typeface="Courier New"/>
                <a:cs typeface="Courier New"/>
                <a:sym typeface="Courier New"/>
              </a:rPr>
              <a:t> </a:t>
            </a:r>
            <a:r>
              <a:rPr lang="en" sz="1150">
                <a:solidFill>
                  <a:srgbClr val="7EC699"/>
                </a:solidFill>
                <a:highlight>
                  <a:srgbClr val="2D2D2D"/>
                </a:highlight>
                <a:latin typeface="Courier New"/>
                <a:ea typeface="Courier New"/>
                <a:cs typeface="Courier New"/>
                <a:sym typeface="Courier New"/>
              </a:rPr>
              <a:t>"&lt;br/&gt;"</a:t>
            </a:r>
            <a:r>
              <a:rPr lang="en" sz="1150">
                <a:solidFill>
                  <a:srgbClr val="CCCCCC"/>
                </a:solidFill>
                <a:highlight>
                  <a:srgbClr val="2D2D2D"/>
                </a:highlight>
                <a:latin typeface="Courier New"/>
                <a:ea typeface="Courier New"/>
                <a:cs typeface="Courier New"/>
                <a:sym typeface="Courier New"/>
              </a:rPr>
              <a:t>);	</a:t>
            </a:r>
            <a:endParaRPr sz="1150">
              <a:solidFill>
                <a:srgbClr val="CCCCCC"/>
              </a:solidFill>
              <a:highlight>
                <a:srgbClr val="2D2D2D"/>
              </a:highlight>
              <a:latin typeface="Courier New"/>
              <a:ea typeface="Courier New"/>
              <a:cs typeface="Courier New"/>
              <a:sym typeface="Courier New"/>
            </a:endParaRPr>
          </a:p>
          <a:p>
            <a:pPr marL="0" lvl="0" indent="0" algn="l" rtl="0">
              <a:spcBef>
                <a:spcPts val="0"/>
              </a:spcBef>
              <a:spcAft>
                <a:spcPts val="0"/>
              </a:spcAft>
              <a:buNone/>
            </a:pPr>
            <a:r>
              <a:rPr lang="en" sz="1150">
                <a:solidFill>
                  <a:srgbClr val="CCCCCC"/>
                </a:solidFill>
                <a:highlight>
                  <a:srgbClr val="2D2D2D"/>
                </a:highlight>
                <a:latin typeface="Courier New"/>
                <a:ea typeface="Courier New"/>
                <a:cs typeface="Courier New"/>
                <a:sym typeface="Courier New"/>
              </a:rPr>
              <a:t>    </a:t>
            </a:r>
            <a:r>
              <a:rPr lang="en" sz="1150">
                <a:solidFill>
                  <a:srgbClr val="67CDCC"/>
                </a:solidFill>
                <a:highlight>
                  <a:srgbClr val="2D2D2D"/>
                </a:highlight>
                <a:latin typeface="Courier New"/>
                <a:ea typeface="Courier New"/>
                <a:cs typeface="Courier New"/>
                <a:sym typeface="Courier New"/>
              </a:rPr>
              <a:t>&lt;/</a:t>
            </a:r>
            <a:r>
              <a:rPr lang="en" sz="1150">
                <a:solidFill>
                  <a:srgbClr val="CCCCCC"/>
                </a:solidFill>
                <a:highlight>
                  <a:srgbClr val="2D2D2D"/>
                </a:highlight>
                <a:latin typeface="Courier New"/>
                <a:ea typeface="Courier New"/>
                <a:cs typeface="Courier New"/>
                <a:sym typeface="Courier New"/>
              </a:rPr>
              <a:t>script</a:t>
            </a:r>
            <a:r>
              <a:rPr lang="en" sz="1150">
                <a:solidFill>
                  <a:srgbClr val="67CDCC"/>
                </a:solidFill>
                <a:highlight>
                  <a:srgbClr val="2D2D2D"/>
                </a:highlight>
                <a:latin typeface="Courier New"/>
                <a:ea typeface="Courier New"/>
                <a:cs typeface="Courier New"/>
                <a:sym typeface="Courier New"/>
              </a:rPr>
              <a:t>&gt;</a:t>
            </a:r>
            <a:endParaRPr sz="1150">
              <a:solidFill>
                <a:srgbClr val="CCCCCC"/>
              </a:solidFill>
              <a:highlight>
                <a:srgbClr val="2D2D2D"/>
              </a:highlight>
              <a:latin typeface="Courier New"/>
              <a:ea typeface="Courier New"/>
              <a:cs typeface="Courier New"/>
              <a:sym typeface="Courier New"/>
            </a:endParaRPr>
          </a:p>
          <a:p>
            <a:pPr marL="0" lvl="0" indent="0" algn="l" rtl="0">
              <a:spcBef>
                <a:spcPts val="0"/>
              </a:spcBef>
              <a:spcAft>
                <a:spcPts val="0"/>
              </a:spcAft>
              <a:buNone/>
            </a:pPr>
            <a:r>
              <a:rPr lang="en" sz="1150">
                <a:solidFill>
                  <a:srgbClr val="67CDCC"/>
                </a:solidFill>
                <a:highlight>
                  <a:srgbClr val="2D2D2D"/>
                </a:highlight>
                <a:latin typeface="Courier New"/>
                <a:ea typeface="Courier New"/>
                <a:cs typeface="Courier New"/>
                <a:sym typeface="Courier New"/>
              </a:rPr>
              <a:t>&lt;/</a:t>
            </a:r>
            <a:r>
              <a:rPr lang="en" sz="1150">
                <a:solidFill>
                  <a:srgbClr val="CCCCCC"/>
                </a:solidFill>
                <a:highlight>
                  <a:srgbClr val="2D2D2D"/>
                </a:highlight>
                <a:latin typeface="Courier New"/>
                <a:ea typeface="Courier New"/>
                <a:cs typeface="Courier New"/>
                <a:sym typeface="Courier New"/>
              </a:rPr>
              <a:t>body</a:t>
            </a:r>
            <a:r>
              <a:rPr lang="en" sz="1150">
                <a:solidFill>
                  <a:srgbClr val="67CDCC"/>
                </a:solidFill>
                <a:highlight>
                  <a:srgbClr val="2D2D2D"/>
                </a:highlight>
                <a:latin typeface="Courier New"/>
                <a:ea typeface="Courier New"/>
                <a:cs typeface="Courier New"/>
                <a:sym typeface="Courier New"/>
              </a:rPr>
              <a:t>&gt;</a:t>
            </a:r>
            <a:endParaRPr sz="1150">
              <a:solidFill>
                <a:srgbClr val="CCCCCC"/>
              </a:solidFill>
              <a:highlight>
                <a:srgbClr val="2D2D2D"/>
              </a:highlight>
              <a:latin typeface="Courier New"/>
              <a:ea typeface="Courier New"/>
              <a:cs typeface="Courier New"/>
              <a:sym typeface="Courier New"/>
            </a:endParaRPr>
          </a:p>
          <a:p>
            <a:pPr marL="0" lvl="0" indent="0" algn="l" rtl="0">
              <a:spcBef>
                <a:spcPts val="0"/>
              </a:spcBef>
              <a:spcAft>
                <a:spcPts val="0"/>
              </a:spcAft>
              <a:buNone/>
            </a:pPr>
            <a:r>
              <a:rPr lang="en" sz="1150">
                <a:solidFill>
                  <a:srgbClr val="67CDCC"/>
                </a:solidFill>
                <a:highlight>
                  <a:srgbClr val="2D2D2D"/>
                </a:highlight>
                <a:latin typeface="Courier New"/>
                <a:ea typeface="Courier New"/>
                <a:cs typeface="Courier New"/>
                <a:sym typeface="Courier New"/>
              </a:rPr>
              <a:t>&lt;/</a:t>
            </a:r>
            <a:r>
              <a:rPr lang="en" sz="1150">
                <a:solidFill>
                  <a:srgbClr val="CCCCCC"/>
                </a:solidFill>
                <a:highlight>
                  <a:srgbClr val="2D2D2D"/>
                </a:highlight>
                <a:latin typeface="Courier New"/>
                <a:ea typeface="Courier New"/>
                <a:cs typeface="Courier New"/>
                <a:sym typeface="Courier New"/>
              </a:rPr>
              <a:t>html</a:t>
            </a:r>
            <a:r>
              <a:rPr lang="en" sz="1150">
                <a:solidFill>
                  <a:srgbClr val="67CDCC"/>
                </a:solidFill>
                <a:highlight>
                  <a:srgbClr val="2D2D2D"/>
                </a:highlight>
                <a:latin typeface="Courier New"/>
                <a:ea typeface="Courier New"/>
                <a:cs typeface="Courier New"/>
                <a:sym typeface="Courier New"/>
              </a:rPr>
              <a:t>&gt;</a:t>
            </a:r>
            <a:endParaRPr/>
          </a:p>
        </p:txBody>
      </p:sp>
      <p:sp>
        <p:nvSpPr>
          <p:cNvPr id="289" name="Google Shape;289;p41"/>
          <p:cNvSpPr txBox="1"/>
          <p:nvPr/>
        </p:nvSpPr>
        <p:spPr>
          <a:xfrm>
            <a:off x="5287700" y="1672731"/>
            <a:ext cx="3759000" cy="538800"/>
          </a:xfrm>
          <a:prstGeom prst="rect">
            <a:avLst/>
          </a:prstGeom>
          <a:solidFill>
            <a:schemeClr val="dk2"/>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dirty="0">
                <a:solidFill>
                  <a:srgbClr val="CC99CD"/>
                </a:solidFill>
                <a:highlight>
                  <a:srgbClr val="2D2D2D"/>
                </a:highlight>
                <a:latin typeface="Courier New"/>
                <a:ea typeface="Courier New"/>
                <a:cs typeface="Courier New"/>
                <a:sym typeface="Courier New"/>
              </a:rPr>
              <a:t>const</a:t>
            </a:r>
            <a:r>
              <a:rPr lang="en" sz="1150" dirty="0">
                <a:solidFill>
                  <a:srgbClr val="CCCCCC"/>
                </a:solidFill>
                <a:highlight>
                  <a:srgbClr val="2D2D2D"/>
                </a:highlight>
                <a:latin typeface="Courier New"/>
                <a:ea typeface="Courier New"/>
                <a:cs typeface="Courier New"/>
                <a:sym typeface="Courier New"/>
              </a:rPr>
              <a:t> num </a:t>
            </a:r>
            <a:r>
              <a:rPr lang="en" sz="1150" dirty="0">
                <a:solidFill>
                  <a:srgbClr val="67CDCC"/>
                </a:solidFill>
                <a:highlight>
                  <a:srgbClr val="2D2D2D"/>
                </a:highlight>
                <a:latin typeface="Courier New"/>
                <a:ea typeface="Courier New"/>
                <a:cs typeface="Courier New"/>
                <a:sym typeface="Courier New"/>
              </a:rPr>
              <a:t>=</a:t>
            </a:r>
            <a:r>
              <a:rPr lang="en" sz="1150" dirty="0">
                <a:solidFill>
                  <a:srgbClr val="CCCCCC"/>
                </a:solidFill>
                <a:highlight>
                  <a:srgbClr val="2D2D2D"/>
                </a:highlight>
                <a:latin typeface="Courier New"/>
                <a:ea typeface="Courier New"/>
                <a:cs typeface="Courier New"/>
                <a:sym typeface="Courier New"/>
              </a:rPr>
              <a:t> </a:t>
            </a:r>
            <a:r>
              <a:rPr lang="en" sz="1150" dirty="0">
                <a:solidFill>
                  <a:srgbClr val="F08D49"/>
                </a:solidFill>
                <a:highlight>
                  <a:srgbClr val="2D2D2D"/>
                </a:highlight>
                <a:latin typeface="Courier New"/>
                <a:ea typeface="Courier New"/>
                <a:cs typeface="Courier New"/>
                <a:sym typeface="Courier New"/>
              </a:rPr>
              <a:t>100</a:t>
            </a:r>
            <a:r>
              <a:rPr lang="en" sz="1150" dirty="0">
                <a:solidFill>
                  <a:srgbClr val="CCCCCC"/>
                </a:solidFill>
                <a:highlight>
                  <a:srgbClr val="2D2D2D"/>
                </a:highlight>
                <a:latin typeface="Courier New"/>
                <a:ea typeface="Courier New"/>
                <a:cs typeface="Courier New"/>
                <a:sym typeface="Courier New"/>
              </a:rPr>
              <a:t>;</a:t>
            </a:r>
            <a:endParaRPr sz="1150" dirty="0">
              <a:solidFill>
                <a:srgbClr val="CCCCCC"/>
              </a:solidFill>
              <a:highlight>
                <a:srgbClr val="2D2D2D"/>
              </a:highlight>
              <a:latin typeface="Courier New"/>
              <a:ea typeface="Courier New"/>
              <a:cs typeface="Courier New"/>
              <a:sym typeface="Courier New"/>
            </a:endParaRPr>
          </a:p>
          <a:p>
            <a:pPr marL="0" lvl="0" indent="0" algn="l" rtl="0">
              <a:spcBef>
                <a:spcPts val="0"/>
              </a:spcBef>
              <a:spcAft>
                <a:spcPts val="0"/>
              </a:spcAft>
              <a:buNone/>
            </a:pPr>
            <a:r>
              <a:rPr lang="en" sz="1150" dirty="0">
                <a:solidFill>
                  <a:srgbClr val="CCCCCC"/>
                </a:solidFill>
                <a:highlight>
                  <a:srgbClr val="2D2D2D"/>
                </a:highlight>
                <a:latin typeface="Courier New"/>
                <a:ea typeface="Courier New"/>
                <a:cs typeface="Courier New"/>
                <a:sym typeface="Courier New"/>
              </a:rPr>
              <a:t>num.</a:t>
            </a:r>
            <a:r>
              <a:rPr lang="en" sz="1150" dirty="0">
                <a:solidFill>
                  <a:srgbClr val="F08D49"/>
                </a:solidFill>
                <a:highlight>
                  <a:srgbClr val="2D2D2D"/>
                </a:highlight>
                <a:latin typeface="Courier New"/>
                <a:ea typeface="Courier New"/>
                <a:cs typeface="Courier New"/>
                <a:sym typeface="Courier New"/>
              </a:rPr>
              <a:t>toString</a:t>
            </a:r>
            <a:r>
              <a:rPr lang="en" sz="1150" dirty="0">
                <a:solidFill>
                  <a:srgbClr val="CCCCCC"/>
                </a:solidFill>
                <a:highlight>
                  <a:srgbClr val="2D2D2D"/>
                </a:highlight>
                <a:latin typeface="Courier New"/>
                <a:ea typeface="Courier New"/>
                <a:cs typeface="Courier New"/>
                <a:sym typeface="Courier New"/>
              </a:rPr>
              <a:t>() </a:t>
            </a:r>
            <a:r>
              <a:rPr lang="en" sz="1150" dirty="0">
                <a:solidFill>
                  <a:srgbClr val="999999"/>
                </a:solidFill>
                <a:highlight>
                  <a:srgbClr val="2D2D2D"/>
                </a:highlight>
                <a:latin typeface="Courier New"/>
                <a:ea typeface="Courier New"/>
                <a:cs typeface="Courier New"/>
                <a:sym typeface="Courier New"/>
              </a:rPr>
              <a:t>// converts 100 to '100'</a:t>
            </a:r>
            <a:endParaRPr dirty="0"/>
          </a:p>
        </p:txBody>
      </p:sp>
      <p:sp>
        <p:nvSpPr>
          <p:cNvPr id="290" name="Google Shape;290;p41"/>
          <p:cNvSpPr txBox="1"/>
          <p:nvPr/>
        </p:nvSpPr>
        <p:spPr>
          <a:xfrm>
            <a:off x="5287700" y="2391231"/>
            <a:ext cx="3798900" cy="892800"/>
          </a:xfrm>
          <a:prstGeom prst="rect">
            <a:avLst/>
          </a:prstGeom>
          <a:solidFill>
            <a:schemeClr val="dk2"/>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dirty="0">
                <a:solidFill>
                  <a:srgbClr val="F08D49"/>
                </a:solidFill>
                <a:highlight>
                  <a:srgbClr val="2D2D2D"/>
                </a:highlight>
                <a:latin typeface="Courier New"/>
                <a:ea typeface="Courier New"/>
                <a:cs typeface="Courier New"/>
                <a:sym typeface="Courier New"/>
              </a:rPr>
              <a:t>Number</a:t>
            </a:r>
            <a:r>
              <a:rPr lang="en" sz="1150" dirty="0">
                <a:solidFill>
                  <a:srgbClr val="CCCCCC"/>
                </a:solidFill>
                <a:highlight>
                  <a:srgbClr val="2D2D2D"/>
                </a:highlight>
                <a:latin typeface="Courier New"/>
                <a:ea typeface="Courier New"/>
                <a:cs typeface="Courier New"/>
                <a:sym typeface="Courier New"/>
              </a:rPr>
              <a:t>(</a:t>
            </a:r>
            <a:r>
              <a:rPr lang="en" sz="1150" dirty="0">
                <a:solidFill>
                  <a:srgbClr val="7EC699"/>
                </a:solidFill>
                <a:highlight>
                  <a:srgbClr val="2D2D2D"/>
                </a:highlight>
                <a:latin typeface="Courier New"/>
                <a:ea typeface="Courier New"/>
                <a:cs typeface="Courier New"/>
                <a:sym typeface="Courier New"/>
              </a:rPr>
              <a:t>'100'</a:t>
            </a:r>
            <a:r>
              <a:rPr lang="en" sz="1150" dirty="0">
                <a:solidFill>
                  <a:srgbClr val="CCCCCC"/>
                </a:solidFill>
                <a:highlight>
                  <a:srgbClr val="2D2D2D"/>
                </a:highlight>
                <a:latin typeface="Courier New"/>
                <a:ea typeface="Courier New"/>
                <a:cs typeface="Courier New"/>
                <a:sym typeface="Courier New"/>
              </a:rPr>
              <a:t>); </a:t>
            </a:r>
            <a:r>
              <a:rPr lang="en" sz="1150" dirty="0">
                <a:solidFill>
                  <a:srgbClr val="999999"/>
                </a:solidFill>
                <a:highlight>
                  <a:srgbClr val="2D2D2D"/>
                </a:highlight>
                <a:latin typeface="Courier New"/>
                <a:ea typeface="Courier New"/>
                <a:cs typeface="Courier New"/>
                <a:sym typeface="Courier New"/>
              </a:rPr>
              <a:t>// Converts '100' to 100</a:t>
            </a:r>
            <a:endParaRPr sz="1150" dirty="0">
              <a:solidFill>
                <a:srgbClr val="CCCCCC"/>
              </a:solidFill>
              <a:highlight>
                <a:srgbClr val="2D2D2D"/>
              </a:highlight>
              <a:latin typeface="Courier New"/>
              <a:ea typeface="Courier New"/>
              <a:cs typeface="Courier New"/>
              <a:sym typeface="Courier New"/>
            </a:endParaRPr>
          </a:p>
          <a:p>
            <a:pPr marL="0" lvl="0" indent="0" algn="l" rtl="0">
              <a:spcBef>
                <a:spcPts val="0"/>
              </a:spcBef>
              <a:spcAft>
                <a:spcPts val="0"/>
              </a:spcAft>
              <a:buNone/>
            </a:pPr>
            <a:r>
              <a:rPr lang="en" sz="1150" dirty="0">
                <a:solidFill>
                  <a:srgbClr val="F08D49"/>
                </a:solidFill>
                <a:highlight>
                  <a:srgbClr val="2D2D2D"/>
                </a:highlight>
                <a:latin typeface="Courier New"/>
                <a:ea typeface="Courier New"/>
                <a:cs typeface="Courier New"/>
                <a:sym typeface="Courier New"/>
              </a:rPr>
              <a:t>Number</a:t>
            </a:r>
            <a:r>
              <a:rPr lang="en" sz="1150" dirty="0">
                <a:solidFill>
                  <a:srgbClr val="CCCCCC"/>
                </a:solidFill>
                <a:highlight>
                  <a:srgbClr val="2D2D2D"/>
                </a:highlight>
                <a:latin typeface="Courier New"/>
                <a:ea typeface="Courier New"/>
                <a:cs typeface="Courier New"/>
                <a:sym typeface="Courier New"/>
              </a:rPr>
              <a:t>(</a:t>
            </a:r>
            <a:r>
              <a:rPr lang="en" sz="1150" dirty="0">
                <a:solidFill>
                  <a:srgbClr val="F08D49"/>
                </a:solidFill>
                <a:highlight>
                  <a:srgbClr val="2D2D2D"/>
                </a:highlight>
                <a:latin typeface="Courier New"/>
                <a:ea typeface="Courier New"/>
                <a:cs typeface="Courier New"/>
                <a:sym typeface="Courier New"/>
              </a:rPr>
              <a:t>false</a:t>
            </a:r>
            <a:r>
              <a:rPr lang="en" sz="1150" dirty="0">
                <a:solidFill>
                  <a:srgbClr val="CCCCCC"/>
                </a:solidFill>
                <a:highlight>
                  <a:srgbClr val="2D2D2D"/>
                </a:highlight>
                <a:latin typeface="Courier New"/>
                <a:ea typeface="Courier New"/>
                <a:cs typeface="Courier New"/>
                <a:sym typeface="Courier New"/>
              </a:rPr>
              <a:t>); </a:t>
            </a:r>
            <a:r>
              <a:rPr lang="en" sz="1150" dirty="0">
                <a:solidFill>
                  <a:srgbClr val="999999"/>
                </a:solidFill>
                <a:highlight>
                  <a:srgbClr val="2D2D2D"/>
                </a:highlight>
                <a:latin typeface="Courier New"/>
                <a:ea typeface="Courier New"/>
                <a:cs typeface="Courier New"/>
                <a:sym typeface="Courier New"/>
              </a:rPr>
              <a:t>// Converts false to 0</a:t>
            </a:r>
            <a:endParaRPr sz="1150" dirty="0">
              <a:solidFill>
                <a:srgbClr val="CCCCCC"/>
              </a:solidFill>
              <a:highlight>
                <a:srgbClr val="2D2D2D"/>
              </a:highlight>
              <a:latin typeface="Courier New"/>
              <a:ea typeface="Courier New"/>
              <a:cs typeface="Courier New"/>
              <a:sym typeface="Courier New"/>
            </a:endParaRPr>
          </a:p>
          <a:p>
            <a:pPr marL="0" lvl="0" indent="0" algn="l" rtl="0">
              <a:spcBef>
                <a:spcPts val="0"/>
              </a:spcBef>
              <a:spcAft>
                <a:spcPts val="0"/>
              </a:spcAft>
              <a:buNone/>
            </a:pPr>
            <a:r>
              <a:rPr lang="en" sz="1150" dirty="0">
                <a:solidFill>
                  <a:srgbClr val="F08D49"/>
                </a:solidFill>
                <a:highlight>
                  <a:srgbClr val="2D2D2D"/>
                </a:highlight>
                <a:latin typeface="Courier New"/>
                <a:ea typeface="Courier New"/>
                <a:cs typeface="Courier New"/>
                <a:sym typeface="Courier New"/>
              </a:rPr>
              <a:t>Number</a:t>
            </a:r>
            <a:r>
              <a:rPr lang="en" sz="1150" dirty="0">
                <a:solidFill>
                  <a:srgbClr val="CCCCCC"/>
                </a:solidFill>
                <a:highlight>
                  <a:srgbClr val="2D2D2D"/>
                </a:highlight>
                <a:latin typeface="Courier New"/>
                <a:ea typeface="Courier New"/>
                <a:cs typeface="Courier New"/>
                <a:sym typeface="Courier New"/>
              </a:rPr>
              <a:t>(</a:t>
            </a:r>
            <a:r>
              <a:rPr lang="en" sz="1150" dirty="0">
                <a:solidFill>
                  <a:srgbClr val="CC99CD"/>
                </a:solidFill>
                <a:highlight>
                  <a:srgbClr val="2D2D2D"/>
                </a:highlight>
                <a:latin typeface="Courier New"/>
                <a:ea typeface="Courier New"/>
                <a:cs typeface="Courier New"/>
                <a:sym typeface="Courier New"/>
              </a:rPr>
              <a:t>null</a:t>
            </a:r>
            <a:r>
              <a:rPr lang="en" sz="1150" dirty="0">
                <a:solidFill>
                  <a:srgbClr val="CCCCCC"/>
                </a:solidFill>
                <a:highlight>
                  <a:srgbClr val="2D2D2D"/>
                </a:highlight>
                <a:latin typeface="Courier New"/>
                <a:ea typeface="Courier New"/>
                <a:cs typeface="Courier New"/>
                <a:sym typeface="Courier New"/>
              </a:rPr>
              <a:t>); </a:t>
            </a:r>
            <a:r>
              <a:rPr lang="en" sz="1150" dirty="0">
                <a:solidFill>
                  <a:srgbClr val="999999"/>
                </a:solidFill>
                <a:highlight>
                  <a:srgbClr val="2D2D2D"/>
                </a:highlight>
                <a:latin typeface="Courier New"/>
                <a:ea typeface="Courier New"/>
                <a:cs typeface="Courier New"/>
                <a:sym typeface="Courier New"/>
              </a:rPr>
              <a:t>// Converts null to 0</a:t>
            </a:r>
            <a:endParaRPr sz="1150" dirty="0">
              <a:solidFill>
                <a:srgbClr val="CCCCCC"/>
              </a:solidFill>
              <a:highlight>
                <a:srgbClr val="2D2D2D"/>
              </a:highlight>
              <a:latin typeface="Courier New"/>
              <a:ea typeface="Courier New"/>
              <a:cs typeface="Courier New"/>
              <a:sym typeface="Courier New"/>
            </a:endParaRPr>
          </a:p>
          <a:p>
            <a:pPr marL="0" lvl="0" indent="0" algn="l" rtl="0">
              <a:spcBef>
                <a:spcPts val="0"/>
              </a:spcBef>
              <a:spcAft>
                <a:spcPts val="0"/>
              </a:spcAft>
              <a:buNone/>
            </a:pPr>
            <a:r>
              <a:rPr lang="en" sz="1150" dirty="0">
                <a:solidFill>
                  <a:srgbClr val="CCCCCC"/>
                </a:solidFill>
                <a:highlight>
                  <a:srgbClr val="2D2D2D"/>
                </a:highlight>
                <a:latin typeface="Courier New"/>
                <a:ea typeface="Courier New"/>
                <a:cs typeface="Courier New"/>
                <a:sym typeface="Courier New"/>
              </a:rPr>
              <a:t>num </a:t>
            </a:r>
            <a:r>
              <a:rPr lang="en" sz="1150" dirty="0">
                <a:solidFill>
                  <a:srgbClr val="67CDCC"/>
                </a:solidFill>
                <a:highlight>
                  <a:srgbClr val="2D2D2D"/>
                </a:highlight>
                <a:latin typeface="Courier New"/>
                <a:ea typeface="Courier New"/>
                <a:cs typeface="Courier New"/>
                <a:sym typeface="Courier New"/>
              </a:rPr>
              <a:t>=</a:t>
            </a:r>
            <a:r>
              <a:rPr lang="en" sz="1150" dirty="0">
                <a:solidFill>
                  <a:srgbClr val="CCCCCC"/>
                </a:solidFill>
                <a:highlight>
                  <a:srgbClr val="2D2D2D"/>
                </a:highlight>
                <a:latin typeface="Courier New"/>
                <a:ea typeface="Courier New"/>
                <a:cs typeface="Courier New"/>
                <a:sym typeface="Courier New"/>
              </a:rPr>
              <a:t> </a:t>
            </a:r>
            <a:r>
              <a:rPr lang="en" sz="1150" dirty="0">
                <a:solidFill>
                  <a:srgbClr val="67CDCC"/>
                </a:solidFill>
                <a:highlight>
                  <a:srgbClr val="2D2D2D"/>
                </a:highlight>
                <a:latin typeface="Courier New"/>
                <a:ea typeface="Courier New"/>
                <a:cs typeface="Courier New"/>
                <a:sym typeface="Courier New"/>
              </a:rPr>
              <a:t>+</a:t>
            </a:r>
            <a:r>
              <a:rPr lang="en" sz="1150" dirty="0">
                <a:solidFill>
                  <a:srgbClr val="7EC699"/>
                </a:solidFill>
                <a:highlight>
                  <a:srgbClr val="2D2D2D"/>
                </a:highlight>
                <a:latin typeface="Courier New"/>
                <a:ea typeface="Courier New"/>
                <a:cs typeface="Courier New"/>
                <a:sym typeface="Courier New"/>
              </a:rPr>
              <a:t>"200"</a:t>
            </a:r>
            <a:r>
              <a:rPr lang="en" sz="1150" dirty="0">
                <a:solidFill>
                  <a:srgbClr val="CCCCCC"/>
                </a:solidFill>
                <a:highlight>
                  <a:srgbClr val="2D2D2D"/>
                </a:highlight>
                <a:latin typeface="Courier New"/>
                <a:ea typeface="Courier New"/>
                <a:cs typeface="Courier New"/>
                <a:sym typeface="Courier New"/>
              </a:rPr>
              <a:t>; </a:t>
            </a:r>
            <a:r>
              <a:rPr lang="en" sz="1150" dirty="0">
                <a:solidFill>
                  <a:srgbClr val="999999"/>
                </a:solidFill>
                <a:highlight>
                  <a:srgbClr val="2D2D2D"/>
                </a:highlight>
                <a:latin typeface="Courier New"/>
                <a:ea typeface="Courier New"/>
                <a:cs typeface="Courier New"/>
                <a:sym typeface="Courier New"/>
              </a:rPr>
              <a:t>// Using the unary operator</a:t>
            </a: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4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Conversion Table in JavaScript</a:t>
            </a:r>
            <a:endParaRPr/>
          </a:p>
        </p:txBody>
      </p:sp>
      <p:sp>
        <p:nvSpPr>
          <p:cNvPr id="299" name="Google Shape;299;p4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31</a:t>
            </a:fld>
            <a:endParaRPr/>
          </a:p>
        </p:txBody>
      </p:sp>
      <p:graphicFrame>
        <p:nvGraphicFramePr>
          <p:cNvPr id="300" name="Google Shape;300;p42"/>
          <p:cNvGraphicFramePr/>
          <p:nvPr>
            <p:extLst>
              <p:ext uri="{D42A27DB-BD31-4B8C-83A1-F6EECF244321}">
                <p14:modId xmlns:p14="http://schemas.microsoft.com/office/powerpoint/2010/main" val="2818969158"/>
              </p:ext>
            </p:extLst>
          </p:nvPr>
        </p:nvGraphicFramePr>
        <p:xfrm>
          <a:off x="670800" y="1214225"/>
          <a:ext cx="7289100" cy="3794760"/>
        </p:xfrm>
        <a:graphic>
          <a:graphicData uri="http://schemas.openxmlformats.org/drawingml/2006/table">
            <a:tbl>
              <a:tblPr>
                <a:solidFill>
                  <a:srgbClr val="FFFFFF"/>
                </a:solidFill>
                <a:tableStyleId>{160DF2F2-2E2D-4924-9058-CAD130D829AF}</a:tableStyleId>
              </a:tblPr>
              <a:tblGrid>
                <a:gridCol w="1161700">
                  <a:extLst>
                    <a:ext uri="{9D8B030D-6E8A-4147-A177-3AD203B41FA5}">
                      <a16:colId xmlns:a16="http://schemas.microsoft.com/office/drawing/2014/main" val="20000"/>
                    </a:ext>
                  </a:extLst>
                </a:gridCol>
                <a:gridCol w="1636174">
                  <a:extLst>
                    <a:ext uri="{9D8B030D-6E8A-4147-A177-3AD203B41FA5}">
                      <a16:colId xmlns:a16="http://schemas.microsoft.com/office/drawing/2014/main" val="20001"/>
                    </a:ext>
                  </a:extLst>
                </a:gridCol>
                <a:gridCol w="1685217">
                  <a:extLst>
                    <a:ext uri="{9D8B030D-6E8A-4147-A177-3AD203B41FA5}">
                      <a16:colId xmlns:a16="http://schemas.microsoft.com/office/drawing/2014/main" val="20002"/>
                    </a:ext>
                  </a:extLst>
                </a:gridCol>
                <a:gridCol w="2806009">
                  <a:extLst>
                    <a:ext uri="{9D8B030D-6E8A-4147-A177-3AD203B41FA5}">
                      <a16:colId xmlns:a16="http://schemas.microsoft.com/office/drawing/2014/main" val="20003"/>
                    </a:ext>
                  </a:extLst>
                </a:gridCol>
              </a:tblGrid>
              <a:tr h="267890">
                <a:tc>
                  <a:txBody>
                    <a:bodyPr/>
                    <a:lstStyle/>
                    <a:p>
                      <a:pPr marL="0" lvl="0" indent="0" algn="ctr" rtl="0">
                        <a:lnSpc>
                          <a:spcPct val="100000"/>
                        </a:lnSpc>
                        <a:spcBef>
                          <a:spcPts val="0"/>
                        </a:spcBef>
                        <a:spcAft>
                          <a:spcPts val="0"/>
                        </a:spcAft>
                        <a:buNone/>
                      </a:pPr>
                      <a:r>
                        <a:rPr lang="en" sz="1100">
                          <a:solidFill>
                            <a:schemeClr val="dk2"/>
                          </a:solidFill>
                          <a:latin typeface="Verdana"/>
                          <a:ea typeface="Verdana"/>
                          <a:cs typeface="Verdana"/>
                          <a:sym typeface="Verdana"/>
                        </a:rPr>
                        <a:t>Value</a:t>
                      </a:r>
                      <a:endParaRPr sz="1100">
                        <a:solidFill>
                          <a:schemeClr val="dk2"/>
                        </a:solidFill>
                        <a:latin typeface="Verdana"/>
                        <a:ea typeface="Verdana"/>
                        <a:cs typeface="Verdana"/>
                        <a:sym typeface="Verdana"/>
                      </a:endParaRPr>
                    </a:p>
                  </a:txBody>
                  <a:tcPr marL="114300" marR="114300" marT="76200" marB="76200">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2CC"/>
                    </a:solidFill>
                  </a:tcPr>
                </a:tc>
                <a:tc>
                  <a:txBody>
                    <a:bodyPr/>
                    <a:lstStyle/>
                    <a:p>
                      <a:pPr marL="0" lvl="0" indent="0" algn="ctr" rtl="0">
                        <a:lnSpc>
                          <a:spcPct val="100000"/>
                        </a:lnSpc>
                        <a:spcBef>
                          <a:spcPts val="0"/>
                        </a:spcBef>
                        <a:spcAft>
                          <a:spcPts val="0"/>
                        </a:spcAft>
                        <a:buNone/>
                      </a:pPr>
                      <a:r>
                        <a:rPr lang="en" sz="1100">
                          <a:solidFill>
                            <a:schemeClr val="dk2"/>
                          </a:solidFill>
                          <a:latin typeface="Verdana"/>
                          <a:ea typeface="Verdana"/>
                          <a:cs typeface="Verdana"/>
                          <a:sym typeface="Verdana"/>
                        </a:rPr>
                        <a:t>String conversion</a:t>
                      </a:r>
                      <a:endParaRPr sz="1100">
                        <a:solidFill>
                          <a:schemeClr val="dk2"/>
                        </a:solidFill>
                        <a:latin typeface="Verdana"/>
                        <a:ea typeface="Verdana"/>
                        <a:cs typeface="Verdana"/>
                        <a:sym typeface="Verdana"/>
                      </a:endParaRPr>
                    </a:p>
                  </a:txBody>
                  <a:tcPr marL="114300" marR="114300" marT="76200" marB="76200">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2CC"/>
                    </a:solidFill>
                  </a:tcPr>
                </a:tc>
                <a:tc>
                  <a:txBody>
                    <a:bodyPr/>
                    <a:lstStyle/>
                    <a:p>
                      <a:pPr marL="0" lvl="0" indent="0" algn="ctr" rtl="0">
                        <a:lnSpc>
                          <a:spcPct val="100000"/>
                        </a:lnSpc>
                        <a:spcBef>
                          <a:spcPts val="0"/>
                        </a:spcBef>
                        <a:spcAft>
                          <a:spcPts val="0"/>
                        </a:spcAft>
                        <a:buNone/>
                      </a:pPr>
                      <a:r>
                        <a:rPr lang="en" sz="1100">
                          <a:solidFill>
                            <a:schemeClr val="dk2"/>
                          </a:solidFill>
                          <a:latin typeface="Verdana"/>
                          <a:ea typeface="Verdana"/>
                          <a:cs typeface="Verdana"/>
                          <a:sym typeface="Verdana"/>
                        </a:rPr>
                        <a:t>Number conversion</a:t>
                      </a:r>
                      <a:endParaRPr sz="1100">
                        <a:solidFill>
                          <a:schemeClr val="dk2"/>
                        </a:solidFill>
                        <a:latin typeface="Verdana"/>
                        <a:ea typeface="Verdana"/>
                        <a:cs typeface="Verdana"/>
                        <a:sym typeface="Verdana"/>
                      </a:endParaRPr>
                    </a:p>
                  </a:txBody>
                  <a:tcPr marL="114300" marR="114300" marT="76200" marB="76200">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2CC"/>
                    </a:solidFill>
                  </a:tcPr>
                </a:tc>
                <a:tc>
                  <a:txBody>
                    <a:bodyPr/>
                    <a:lstStyle/>
                    <a:p>
                      <a:pPr marL="0" lvl="0" indent="0" algn="ctr" rtl="0">
                        <a:lnSpc>
                          <a:spcPct val="100000"/>
                        </a:lnSpc>
                        <a:spcBef>
                          <a:spcPts val="0"/>
                        </a:spcBef>
                        <a:spcAft>
                          <a:spcPts val="0"/>
                        </a:spcAft>
                        <a:buNone/>
                      </a:pPr>
                      <a:r>
                        <a:rPr lang="en" sz="1100">
                          <a:solidFill>
                            <a:schemeClr val="dk2"/>
                          </a:solidFill>
                          <a:latin typeface="Verdana"/>
                          <a:ea typeface="Verdana"/>
                          <a:cs typeface="Verdana"/>
                          <a:sym typeface="Verdana"/>
                        </a:rPr>
                        <a:t>Boolean conversion</a:t>
                      </a:r>
                      <a:endParaRPr sz="1100">
                        <a:solidFill>
                          <a:schemeClr val="dk2"/>
                        </a:solidFill>
                        <a:latin typeface="Verdana"/>
                        <a:ea typeface="Verdana"/>
                        <a:cs typeface="Verdana"/>
                        <a:sym typeface="Verdana"/>
                      </a:endParaRPr>
                    </a:p>
                  </a:txBody>
                  <a:tcPr marL="114300" marR="114300" marT="76200" marB="76200">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242376">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0</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"0"</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0</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false</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1"/>
                  </a:ext>
                </a:extLst>
              </a:tr>
              <a:tr h="242376">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1</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"1"</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1</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true</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2"/>
                  </a:ext>
                </a:extLst>
              </a:tr>
              <a:tr h="242376">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"1"</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"1"</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1</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true</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3"/>
                  </a:ext>
                </a:extLst>
              </a:tr>
              <a:tr h="242376">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"0"</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"0"</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0</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true</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4"/>
                  </a:ext>
                </a:extLst>
              </a:tr>
              <a:tr h="242376">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0</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false</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5"/>
                  </a:ext>
                </a:extLst>
              </a:tr>
              <a:tr h="242376">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"Hello"</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"Hello"</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NaN</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true</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6"/>
                  </a:ext>
                </a:extLst>
              </a:tr>
              <a:tr h="242376">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true</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"true"</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1</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true</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7"/>
                  </a:ext>
                </a:extLst>
              </a:tr>
              <a:tr h="242376">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false</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"false"</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0</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false</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8"/>
                  </a:ext>
                </a:extLst>
              </a:tr>
              <a:tr h="242376">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null</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"null"</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0</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false</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9"/>
                  </a:ext>
                </a:extLst>
              </a:tr>
              <a:tr h="242376">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undefined</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"undefined"</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NaN</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false</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10"/>
                  </a:ext>
                </a:extLst>
              </a:tr>
              <a:tr h="242376">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[50]</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"50"</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50</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true</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11"/>
                  </a:ext>
                </a:extLst>
              </a:tr>
              <a:tr h="242376">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[50, 100]</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"[50, 100]"</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a:solidFill>
                            <a:schemeClr val="dk2"/>
                          </a:solidFill>
                          <a:latin typeface="Verdana"/>
                          <a:ea typeface="Verdana"/>
                          <a:cs typeface="Verdana"/>
                          <a:sym typeface="Verdana"/>
                        </a:rPr>
                        <a:t>NaN</a:t>
                      </a:r>
                      <a:endParaRPr sz="90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dirty="0">
                          <a:solidFill>
                            <a:schemeClr val="dk2"/>
                          </a:solidFill>
                          <a:latin typeface="Verdana"/>
                          <a:ea typeface="Verdana"/>
                          <a:cs typeface="Verdana"/>
                          <a:sym typeface="Verdana"/>
                        </a:rPr>
                        <a:t>true</a:t>
                      </a:r>
                      <a:endParaRPr sz="900" dirty="0">
                        <a:solidFill>
                          <a:schemeClr val="dk2"/>
                        </a:solidFill>
                        <a:latin typeface="Verdana"/>
                        <a:ea typeface="Verdana"/>
                        <a:cs typeface="Verdana"/>
                        <a:sym typeface="Verdana"/>
                      </a:endParaRPr>
                    </a:p>
                  </a:txBody>
                  <a:tcPr marL="114300" marR="114300" marT="76200" marB="76200"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12"/>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43"/>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Data Type ─ Object</a:t>
            </a:r>
            <a:endParaRPr/>
          </a:p>
        </p:txBody>
      </p:sp>
      <p:sp>
        <p:nvSpPr>
          <p:cNvPr id="306" name="Google Shape;306;p4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32</a:t>
            </a:fld>
            <a:endParaRPr>
              <a:solidFill>
                <a:schemeClr val="lt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4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Javascript Object</a:t>
            </a:r>
            <a:endParaRPr/>
          </a:p>
        </p:txBody>
      </p:sp>
      <p:sp>
        <p:nvSpPr>
          <p:cNvPr id="312" name="Google Shape;312;p44"/>
          <p:cNvSpPr txBox="1">
            <a:spLocks noGrp="1"/>
          </p:cNvSpPr>
          <p:nvPr>
            <p:ph type="body" idx="1"/>
          </p:nvPr>
        </p:nvSpPr>
        <p:spPr>
          <a:xfrm>
            <a:off x="311700" y="1152475"/>
            <a:ext cx="8520600" cy="18792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JavaScript is designed on an object-based paradigm. </a:t>
            </a:r>
            <a:endParaRPr/>
          </a:p>
          <a:p>
            <a:pPr marL="457200" lvl="0" indent="-342900" algn="l" rtl="0">
              <a:spcBef>
                <a:spcPts val="0"/>
              </a:spcBef>
              <a:spcAft>
                <a:spcPts val="0"/>
              </a:spcAft>
              <a:buSzPts val="1800"/>
              <a:buChar char="●"/>
            </a:pPr>
            <a:r>
              <a:rPr lang="en"/>
              <a:t>An object is a collection of properties. </a:t>
            </a:r>
            <a:endParaRPr/>
          </a:p>
          <a:p>
            <a:pPr marL="457200" lvl="0" indent="-342900" algn="l" rtl="0">
              <a:spcBef>
                <a:spcPts val="0"/>
              </a:spcBef>
              <a:spcAft>
                <a:spcPts val="0"/>
              </a:spcAft>
              <a:buSzPts val="1800"/>
              <a:buChar char="●"/>
            </a:pPr>
            <a:r>
              <a:rPr lang="en"/>
              <a:t>A property is an association between a name (or key) and a value. </a:t>
            </a:r>
            <a:endParaRPr/>
          </a:p>
          <a:p>
            <a:pPr marL="457200" lvl="0" indent="-342900" algn="l" rtl="0">
              <a:spcBef>
                <a:spcPts val="0"/>
              </a:spcBef>
              <a:spcAft>
                <a:spcPts val="0"/>
              </a:spcAft>
              <a:buSzPts val="1800"/>
              <a:buChar char="●"/>
            </a:pPr>
            <a:r>
              <a:rPr lang="en"/>
              <a:t>A property's value can be a function, in which case the property is known as a method.</a:t>
            </a:r>
            <a:endParaRPr/>
          </a:p>
        </p:txBody>
      </p:sp>
      <p:sp>
        <p:nvSpPr>
          <p:cNvPr id="313" name="Google Shape;313;p44"/>
          <p:cNvSpPr txBox="1"/>
          <p:nvPr/>
        </p:nvSpPr>
        <p:spPr>
          <a:xfrm>
            <a:off x="823675" y="3031675"/>
            <a:ext cx="3881700" cy="13545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myCar</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color</a:t>
            </a:r>
            <a:r>
              <a:rPr lang="en" sz="1200">
                <a:solidFill>
                  <a:srgbClr val="9CDCFE"/>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 </a:t>
            </a:r>
            <a:r>
              <a:rPr lang="en" sz="1200">
                <a:solidFill>
                  <a:srgbClr val="A5D6FF"/>
                </a:solidFill>
                <a:highlight>
                  <a:srgbClr val="121314"/>
                </a:highlight>
                <a:latin typeface="Courier New"/>
                <a:ea typeface="Courier New"/>
                <a:cs typeface="Courier New"/>
                <a:sym typeface="Courier New"/>
              </a:rPr>
              <a:t>"red"</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wheels</a:t>
            </a:r>
            <a:r>
              <a:rPr lang="en" sz="1200">
                <a:solidFill>
                  <a:srgbClr val="9CDCFE"/>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4</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engine</a:t>
            </a:r>
            <a:r>
              <a:rPr lang="en" sz="1200">
                <a:solidFill>
                  <a:srgbClr val="9CDCFE"/>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 { cylinders</a:t>
            </a:r>
            <a:r>
              <a:rPr lang="en" sz="1200">
                <a:solidFill>
                  <a:srgbClr val="9CDCFE"/>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4</a:t>
            </a:r>
            <a:r>
              <a:rPr lang="en" sz="1200">
                <a:solidFill>
                  <a:srgbClr val="C9D1D9"/>
                </a:solidFill>
                <a:highlight>
                  <a:srgbClr val="121314"/>
                </a:highlight>
                <a:latin typeface="Courier New"/>
                <a:ea typeface="Courier New"/>
                <a:cs typeface="Courier New"/>
                <a:sym typeface="Courier New"/>
              </a:rPr>
              <a:t>, size</a:t>
            </a:r>
            <a:r>
              <a:rPr lang="en" sz="1200">
                <a:solidFill>
                  <a:srgbClr val="9CDCFE"/>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2.2</a:t>
            </a:r>
            <a:r>
              <a:rPr lang="en" sz="1200">
                <a:solidFill>
                  <a:srgbClr val="C9D1D9"/>
                </a:solidFill>
                <a:highlight>
                  <a:srgbClr val="121314"/>
                </a:highlight>
                <a:latin typeface="Courier New"/>
                <a:ea typeface="Courier New"/>
                <a:cs typeface="Courier New"/>
                <a:sym typeface="Courier New"/>
              </a:rPr>
              <a:t> }</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p:txBody>
      </p:sp>
      <p:sp>
        <p:nvSpPr>
          <p:cNvPr id="314" name="Google Shape;314;p4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4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t>Creating new objects ─ Using object initializers</a:t>
            </a:r>
            <a:endParaRPr sz="2800" dirty="0"/>
          </a:p>
        </p:txBody>
      </p:sp>
      <p:sp>
        <p:nvSpPr>
          <p:cNvPr id="320" name="Google Shape;320;p45"/>
          <p:cNvSpPr txBox="1">
            <a:spLocks noGrp="1"/>
          </p:cNvSpPr>
          <p:nvPr>
            <p:ph type="body" idx="1"/>
          </p:nvPr>
        </p:nvSpPr>
        <p:spPr>
          <a:xfrm>
            <a:off x="311700" y="1152475"/>
            <a:ext cx="8520600" cy="20547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dirty="0"/>
              <a:t>Object initializers are also called object literals. "Object initializer" is consistent with the terminology used by C++.</a:t>
            </a:r>
            <a:endParaRPr dirty="0"/>
          </a:p>
          <a:p>
            <a:pPr marL="457200" lvl="0" indent="-342900" algn="l" rtl="0">
              <a:spcBef>
                <a:spcPts val="0"/>
              </a:spcBef>
              <a:spcAft>
                <a:spcPts val="0"/>
              </a:spcAft>
              <a:buSzPts val="1800"/>
              <a:buChar char="●"/>
            </a:pPr>
            <a:r>
              <a:rPr lang="en" dirty="0"/>
              <a:t>In the example, newly created object is assigned to a variable obj — this is optional.</a:t>
            </a:r>
            <a:endParaRPr dirty="0"/>
          </a:p>
          <a:p>
            <a:pPr marL="914400" lvl="1" indent="-317500" algn="l" rtl="0">
              <a:spcBef>
                <a:spcPts val="0"/>
              </a:spcBef>
              <a:spcAft>
                <a:spcPts val="0"/>
              </a:spcAft>
              <a:buSzPts val="1400"/>
              <a:buChar char="○"/>
            </a:pPr>
            <a:r>
              <a:rPr lang="en" dirty="0"/>
              <a:t>Usage: function arguments, chaining / immediate method call, array elements, immediate destructuring, instantiation for side-effects.</a:t>
            </a:r>
            <a:endParaRPr dirty="0"/>
          </a:p>
          <a:p>
            <a:pPr marL="914400" lvl="1" indent="-317500" algn="l" rtl="0">
              <a:spcBef>
                <a:spcPts val="0"/>
              </a:spcBef>
              <a:spcAft>
                <a:spcPts val="0"/>
              </a:spcAft>
              <a:buSzPts val="1400"/>
              <a:buChar char="○"/>
            </a:pPr>
            <a:r>
              <a:rPr lang="en" dirty="0"/>
              <a:t>Disposable, Clean Scope, Garbage Collection</a:t>
            </a:r>
            <a:endParaRPr dirty="0"/>
          </a:p>
        </p:txBody>
      </p:sp>
      <p:sp>
        <p:nvSpPr>
          <p:cNvPr id="321" name="Google Shape;321;p45"/>
          <p:cNvSpPr txBox="1"/>
          <p:nvPr/>
        </p:nvSpPr>
        <p:spPr>
          <a:xfrm>
            <a:off x="849625" y="3207175"/>
            <a:ext cx="5664529" cy="1412536"/>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dirty="0">
                <a:solidFill>
                  <a:srgbClr val="FF7B72"/>
                </a:solidFill>
                <a:highlight>
                  <a:srgbClr val="121314"/>
                </a:highlight>
                <a:latin typeface="Courier New"/>
                <a:ea typeface="Courier New"/>
                <a:cs typeface="Courier New"/>
                <a:sym typeface="Courier New"/>
              </a:rPr>
              <a:t>const</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79C0FF"/>
                </a:solidFill>
                <a:highlight>
                  <a:srgbClr val="121314"/>
                </a:highlight>
                <a:latin typeface="Courier New"/>
                <a:ea typeface="Courier New"/>
                <a:cs typeface="Courier New"/>
                <a:sym typeface="Courier New"/>
              </a:rPr>
              <a:t>obj</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D4D4D4"/>
                </a:solidFill>
                <a:highlight>
                  <a:srgbClr val="121314"/>
                </a:highlight>
                <a:latin typeface="Courier New"/>
                <a:ea typeface="Courier New"/>
                <a:cs typeface="Courier New"/>
                <a:sym typeface="Courier New"/>
              </a:rPr>
              <a:t>=</a:t>
            </a:r>
            <a:r>
              <a:rPr lang="en" sz="1200" dirty="0">
                <a:solidFill>
                  <a:srgbClr val="BBBEBF"/>
                </a:solidFill>
                <a:highlight>
                  <a:srgbClr val="121314"/>
                </a:highlight>
                <a:latin typeface="Courier New"/>
                <a:ea typeface="Courier New"/>
                <a:cs typeface="Courier New"/>
                <a:sym typeface="Courier New"/>
              </a:rPr>
              <a:t> {</a:t>
            </a:r>
            <a:endParaRPr sz="12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BBBEBF"/>
                </a:solidFill>
                <a:highlight>
                  <a:srgbClr val="121314"/>
                </a:highlight>
                <a:latin typeface="Courier New"/>
                <a:ea typeface="Courier New"/>
                <a:cs typeface="Courier New"/>
                <a:sym typeface="Courier New"/>
              </a:rPr>
              <a:t> </a:t>
            </a:r>
            <a:r>
              <a:rPr lang="en" sz="1200" dirty="0">
                <a:solidFill>
                  <a:srgbClr val="C9D1D9"/>
                </a:solidFill>
                <a:highlight>
                  <a:srgbClr val="121314"/>
                </a:highlight>
                <a:latin typeface="Courier New"/>
                <a:ea typeface="Courier New"/>
                <a:cs typeface="Courier New"/>
                <a:sym typeface="Courier New"/>
              </a:rPr>
              <a:t>property1</a:t>
            </a:r>
            <a:r>
              <a:rPr lang="en" sz="1200" dirty="0">
                <a:solidFill>
                  <a:srgbClr val="9CDCFE"/>
                </a:solidFill>
                <a:highlight>
                  <a:srgbClr val="121314"/>
                </a:highlight>
                <a:latin typeface="Courier New"/>
                <a:ea typeface="Courier New"/>
                <a:cs typeface="Courier New"/>
                <a:sym typeface="Courier New"/>
              </a:rPr>
              <a:t>:</a:t>
            </a:r>
            <a:r>
              <a:rPr lang="en" sz="1200" dirty="0">
                <a:solidFill>
                  <a:srgbClr val="C9D1D9"/>
                </a:solidFill>
                <a:highlight>
                  <a:srgbClr val="121314"/>
                </a:highlight>
                <a:latin typeface="Courier New"/>
                <a:ea typeface="Courier New"/>
                <a:cs typeface="Courier New"/>
                <a:sym typeface="Courier New"/>
              </a:rPr>
              <a:t> value1</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8B949E"/>
                </a:solidFill>
                <a:highlight>
                  <a:srgbClr val="121314"/>
                </a:highlight>
                <a:latin typeface="Courier New"/>
                <a:ea typeface="Courier New"/>
                <a:cs typeface="Courier New"/>
                <a:sym typeface="Courier New"/>
              </a:rPr>
              <a:t>// property name may be an identifier</a:t>
            </a:r>
            <a:endParaRPr sz="1200" dirty="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BBBEBF"/>
                </a:solidFill>
                <a:highlight>
                  <a:srgbClr val="121314"/>
                </a:highlight>
                <a:latin typeface="Courier New"/>
                <a:ea typeface="Courier New"/>
                <a:cs typeface="Courier New"/>
                <a:sym typeface="Courier New"/>
              </a:rPr>
              <a:t> </a:t>
            </a:r>
            <a:r>
              <a:rPr lang="en" sz="1200" dirty="0">
                <a:solidFill>
                  <a:srgbClr val="B5CEA8"/>
                </a:solidFill>
                <a:highlight>
                  <a:srgbClr val="121314"/>
                </a:highlight>
                <a:latin typeface="Courier New"/>
                <a:ea typeface="Courier New"/>
                <a:cs typeface="Courier New"/>
                <a:sym typeface="Courier New"/>
              </a:rPr>
              <a:t>2</a:t>
            </a:r>
            <a:r>
              <a:rPr lang="en" sz="1200" dirty="0">
                <a:solidFill>
                  <a:srgbClr val="9CDCFE"/>
                </a:solidFill>
                <a:highlight>
                  <a:srgbClr val="121314"/>
                </a:highlight>
                <a:latin typeface="Courier New"/>
                <a:ea typeface="Courier New"/>
                <a:cs typeface="Courier New"/>
                <a:sym typeface="Courier New"/>
              </a:rPr>
              <a:t>:</a:t>
            </a:r>
            <a:r>
              <a:rPr lang="en" sz="1200" dirty="0">
                <a:solidFill>
                  <a:srgbClr val="C9D1D9"/>
                </a:solidFill>
                <a:highlight>
                  <a:srgbClr val="121314"/>
                </a:highlight>
                <a:latin typeface="Courier New"/>
                <a:ea typeface="Courier New"/>
                <a:cs typeface="Courier New"/>
                <a:sym typeface="Courier New"/>
              </a:rPr>
              <a:t> value2</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8B949E"/>
                </a:solidFill>
                <a:highlight>
                  <a:srgbClr val="121314"/>
                </a:highlight>
                <a:latin typeface="Courier New"/>
                <a:ea typeface="Courier New"/>
                <a:cs typeface="Courier New"/>
                <a:sym typeface="Courier New"/>
              </a:rPr>
              <a:t>// or a number</a:t>
            </a:r>
            <a:endParaRPr sz="1200" dirty="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BBBEBF"/>
                </a:solidFill>
                <a:highlight>
                  <a:srgbClr val="121314"/>
                </a:highlight>
                <a:latin typeface="Courier New"/>
                <a:ea typeface="Courier New"/>
                <a:cs typeface="Courier New"/>
                <a:sym typeface="Courier New"/>
              </a:rPr>
              <a:t> </a:t>
            </a:r>
            <a:r>
              <a:rPr lang="en" sz="1200" dirty="0">
                <a:solidFill>
                  <a:srgbClr val="A5D6FF"/>
                </a:solidFill>
                <a:highlight>
                  <a:srgbClr val="121314"/>
                </a:highlight>
                <a:latin typeface="Courier New"/>
                <a:ea typeface="Courier New"/>
                <a:cs typeface="Courier New"/>
                <a:sym typeface="Courier New"/>
              </a:rPr>
              <a:t>"property n"</a:t>
            </a:r>
            <a:r>
              <a:rPr lang="en" sz="1200" dirty="0">
                <a:solidFill>
                  <a:srgbClr val="9CDCFE"/>
                </a:solidFill>
                <a:highlight>
                  <a:srgbClr val="121314"/>
                </a:highlight>
                <a:latin typeface="Courier New"/>
                <a:ea typeface="Courier New"/>
                <a:cs typeface="Courier New"/>
                <a:sym typeface="Courier New"/>
              </a:rPr>
              <a:t>:</a:t>
            </a:r>
            <a:r>
              <a:rPr lang="en" sz="1200" dirty="0">
                <a:solidFill>
                  <a:srgbClr val="C9D1D9"/>
                </a:solidFill>
                <a:highlight>
                  <a:srgbClr val="121314"/>
                </a:highlight>
                <a:latin typeface="Courier New"/>
                <a:ea typeface="Courier New"/>
                <a:cs typeface="Courier New"/>
                <a:sym typeface="Courier New"/>
              </a:rPr>
              <a:t> value3</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8B949E"/>
                </a:solidFill>
                <a:highlight>
                  <a:srgbClr val="121314"/>
                </a:highlight>
                <a:latin typeface="Courier New"/>
                <a:ea typeface="Courier New"/>
                <a:cs typeface="Courier New"/>
                <a:sym typeface="Courier New"/>
              </a:rPr>
              <a:t>// or a string</a:t>
            </a:r>
            <a:endParaRPr sz="1200" dirty="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dirty="0">
                <a:solidFill>
                  <a:srgbClr val="BBBEBF"/>
                </a:solidFill>
                <a:highlight>
                  <a:srgbClr val="121314"/>
                </a:highlight>
                <a:latin typeface="Courier New"/>
                <a:ea typeface="Courier New"/>
                <a:cs typeface="Courier New"/>
                <a:sym typeface="Courier New"/>
              </a:rPr>
              <a:t>};</a:t>
            </a:r>
            <a:endParaRPr sz="1200" dirty="0">
              <a:solidFill>
                <a:srgbClr val="BBBEBF"/>
              </a:solidFill>
              <a:highlight>
                <a:srgbClr val="121314"/>
              </a:highlight>
              <a:latin typeface="Courier New"/>
              <a:ea typeface="Courier New"/>
              <a:cs typeface="Courier New"/>
              <a:sym typeface="Courier New"/>
            </a:endParaRPr>
          </a:p>
        </p:txBody>
      </p:sp>
      <p:sp>
        <p:nvSpPr>
          <p:cNvPr id="322" name="Google Shape;322;p4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4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Creating new objects ─ Using a constructor function</a:t>
            </a:r>
            <a:endParaRPr sz="2400" dirty="0"/>
          </a:p>
        </p:txBody>
      </p:sp>
      <p:sp>
        <p:nvSpPr>
          <p:cNvPr id="328" name="Google Shape;328;p46"/>
          <p:cNvSpPr txBox="1">
            <a:spLocks noGrp="1"/>
          </p:cNvSpPr>
          <p:nvPr>
            <p:ph type="body" idx="1"/>
          </p:nvPr>
        </p:nvSpPr>
        <p:spPr>
          <a:xfrm>
            <a:off x="311700" y="1152475"/>
            <a:ext cx="8520600" cy="17565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pPr>
            <a:r>
              <a:rPr lang="en"/>
              <a:t>Define the object type by writing a constructor function. There is a strong convention, with good reason, to use a capital initial letter.</a:t>
            </a:r>
            <a:endParaRPr/>
          </a:p>
          <a:p>
            <a:pPr marL="914400" lvl="1" indent="-317500" algn="l" rtl="0">
              <a:spcBef>
                <a:spcPts val="0"/>
              </a:spcBef>
              <a:spcAft>
                <a:spcPts val="0"/>
              </a:spcAft>
              <a:buSzPts val="1400"/>
              <a:buChar char="○"/>
            </a:pPr>
            <a:r>
              <a:rPr lang="en"/>
              <a:t>To define an object type, create a function for the object type that specifies its name, properties, and methods.</a:t>
            </a:r>
            <a:endParaRPr/>
          </a:p>
          <a:p>
            <a:pPr marL="457200" lvl="0" indent="-342900" algn="l" rtl="0">
              <a:spcBef>
                <a:spcPts val="0"/>
              </a:spcBef>
              <a:spcAft>
                <a:spcPts val="0"/>
              </a:spcAft>
              <a:buSzPts val="1800"/>
              <a:buAutoNum type="arabicPeriod"/>
            </a:pPr>
            <a:r>
              <a:rPr lang="en"/>
              <a:t>Create an instance of the object with new.</a:t>
            </a:r>
            <a:endParaRPr/>
          </a:p>
        </p:txBody>
      </p:sp>
      <p:sp>
        <p:nvSpPr>
          <p:cNvPr id="329" name="Google Shape;329;p46"/>
          <p:cNvSpPr txBox="1"/>
          <p:nvPr/>
        </p:nvSpPr>
        <p:spPr>
          <a:xfrm>
            <a:off x="578293" y="2821500"/>
            <a:ext cx="3426000" cy="13545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function</a:t>
            </a:r>
            <a:r>
              <a:rPr lang="en" sz="1200">
                <a:solidFill>
                  <a:srgbClr val="BBBEBF"/>
                </a:solidFill>
                <a:highlight>
                  <a:srgbClr val="121314"/>
                </a:highlight>
                <a:latin typeface="Courier New"/>
                <a:ea typeface="Courier New"/>
                <a:cs typeface="Courier New"/>
                <a:sym typeface="Courier New"/>
              </a:rPr>
              <a:t> </a:t>
            </a:r>
            <a:r>
              <a:rPr lang="en" sz="1200">
                <a:solidFill>
                  <a:srgbClr val="4EC9B0"/>
                </a:solidFill>
                <a:highlight>
                  <a:srgbClr val="121314"/>
                </a:highlight>
                <a:latin typeface="Courier New"/>
                <a:ea typeface="Courier New"/>
                <a:cs typeface="Courier New"/>
                <a:sym typeface="Courier New"/>
              </a:rPr>
              <a:t>Car</a:t>
            </a:r>
            <a:r>
              <a:rPr lang="en" sz="1200">
                <a:solidFill>
                  <a:srgbClr val="BBBEBF"/>
                </a:solidFill>
                <a:highlight>
                  <a:srgbClr val="121314"/>
                </a:highlight>
                <a:latin typeface="Courier New"/>
                <a:ea typeface="Courier New"/>
                <a:cs typeface="Courier New"/>
                <a:sym typeface="Courier New"/>
              </a:rPr>
              <a:t>(</a:t>
            </a:r>
            <a:r>
              <a:rPr lang="en" sz="1200">
                <a:solidFill>
                  <a:srgbClr val="FFA657"/>
                </a:solidFill>
                <a:highlight>
                  <a:srgbClr val="121314"/>
                </a:highlight>
                <a:latin typeface="Courier New"/>
                <a:ea typeface="Courier New"/>
                <a:cs typeface="Courier New"/>
                <a:sym typeface="Courier New"/>
              </a:rPr>
              <a:t>make</a:t>
            </a:r>
            <a:r>
              <a:rPr lang="en" sz="1200">
                <a:solidFill>
                  <a:srgbClr val="BBBEBF"/>
                </a:solidFill>
                <a:highlight>
                  <a:srgbClr val="121314"/>
                </a:highlight>
                <a:latin typeface="Courier New"/>
                <a:ea typeface="Courier New"/>
                <a:cs typeface="Courier New"/>
                <a:sym typeface="Courier New"/>
              </a:rPr>
              <a:t>, </a:t>
            </a:r>
            <a:r>
              <a:rPr lang="en" sz="1200">
                <a:solidFill>
                  <a:srgbClr val="FFA657"/>
                </a:solidFill>
                <a:highlight>
                  <a:srgbClr val="121314"/>
                </a:highlight>
                <a:latin typeface="Courier New"/>
                <a:ea typeface="Courier New"/>
                <a:cs typeface="Courier New"/>
                <a:sym typeface="Courier New"/>
              </a:rPr>
              <a:t>model</a:t>
            </a:r>
            <a:r>
              <a:rPr lang="en" sz="1200">
                <a:solidFill>
                  <a:srgbClr val="BBBEBF"/>
                </a:solidFill>
                <a:highlight>
                  <a:srgbClr val="121314"/>
                </a:highlight>
                <a:latin typeface="Courier New"/>
                <a:ea typeface="Courier New"/>
                <a:cs typeface="Courier New"/>
                <a:sym typeface="Courier New"/>
              </a:rPr>
              <a:t>, </a:t>
            </a:r>
            <a:r>
              <a:rPr lang="en" sz="1200">
                <a:solidFill>
                  <a:srgbClr val="FFA657"/>
                </a:solidFill>
                <a:highlight>
                  <a:srgbClr val="121314"/>
                </a:highlight>
                <a:latin typeface="Courier New"/>
                <a:ea typeface="Courier New"/>
                <a:cs typeface="Courier New"/>
                <a:sym typeface="Courier New"/>
              </a:rPr>
              <a:t>year</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this</a:t>
            </a:r>
            <a:r>
              <a:rPr lang="en" sz="1200">
                <a:solidFill>
                  <a:srgbClr val="C9D1D9"/>
                </a:solidFill>
                <a:highlight>
                  <a:srgbClr val="121314"/>
                </a:highlight>
                <a:latin typeface="Courier New"/>
                <a:ea typeface="Courier New"/>
                <a:cs typeface="Courier New"/>
                <a:sym typeface="Courier New"/>
              </a:rPr>
              <a:t>.make </a:t>
            </a:r>
            <a:r>
              <a:rPr lang="en" sz="1200">
                <a:solidFill>
                  <a:srgbClr val="D4D4D4"/>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 </a:t>
            </a:r>
            <a:r>
              <a:rPr lang="en" sz="1200">
                <a:solidFill>
                  <a:srgbClr val="FFA657"/>
                </a:solidFill>
                <a:highlight>
                  <a:srgbClr val="121314"/>
                </a:highlight>
                <a:latin typeface="Courier New"/>
                <a:ea typeface="Courier New"/>
                <a:cs typeface="Courier New"/>
                <a:sym typeface="Courier New"/>
              </a:rPr>
              <a:t>make</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this</a:t>
            </a:r>
            <a:r>
              <a:rPr lang="en" sz="1200">
                <a:solidFill>
                  <a:srgbClr val="C9D1D9"/>
                </a:solidFill>
                <a:highlight>
                  <a:srgbClr val="121314"/>
                </a:highlight>
                <a:latin typeface="Courier New"/>
                <a:ea typeface="Courier New"/>
                <a:cs typeface="Courier New"/>
                <a:sym typeface="Courier New"/>
              </a:rPr>
              <a:t>.model </a:t>
            </a:r>
            <a:r>
              <a:rPr lang="en" sz="1200">
                <a:solidFill>
                  <a:srgbClr val="D4D4D4"/>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 </a:t>
            </a:r>
            <a:r>
              <a:rPr lang="en" sz="1200">
                <a:solidFill>
                  <a:srgbClr val="FFA657"/>
                </a:solidFill>
                <a:highlight>
                  <a:srgbClr val="121314"/>
                </a:highlight>
                <a:latin typeface="Courier New"/>
                <a:ea typeface="Courier New"/>
                <a:cs typeface="Courier New"/>
                <a:sym typeface="Courier New"/>
              </a:rPr>
              <a:t>model</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this</a:t>
            </a:r>
            <a:r>
              <a:rPr lang="en" sz="1200">
                <a:solidFill>
                  <a:srgbClr val="C9D1D9"/>
                </a:solidFill>
                <a:highlight>
                  <a:srgbClr val="121314"/>
                </a:highlight>
                <a:latin typeface="Courier New"/>
                <a:ea typeface="Courier New"/>
                <a:cs typeface="Courier New"/>
                <a:sym typeface="Courier New"/>
              </a:rPr>
              <a:t>.year </a:t>
            </a:r>
            <a:r>
              <a:rPr lang="en" sz="1200">
                <a:solidFill>
                  <a:srgbClr val="D4D4D4"/>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 </a:t>
            </a:r>
            <a:r>
              <a:rPr lang="en" sz="1200">
                <a:solidFill>
                  <a:srgbClr val="FFA657"/>
                </a:solidFill>
                <a:highlight>
                  <a:srgbClr val="121314"/>
                </a:highlight>
                <a:latin typeface="Courier New"/>
                <a:ea typeface="Courier New"/>
                <a:cs typeface="Courier New"/>
                <a:sym typeface="Courier New"/>
              </a:rPr>
              <a:t>year</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p:txBody>
      </p:sp>
      <p:sp>
        <p:nvSpPr>
          <p:cNvPr id="330" name="Google Shape;330;p4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35</a:t>
            </a:fld>
            <a:endParaRPr/>
          </a:p>
        </p:txBody>
      </p:sp>
      <p:sp>
        <p:nvSpPr>
          <p:cNvPr id="331" name="Google Shape;331;p46"/>
          <p:cNvSpPr txBox="1"/>
          <p:nvPr/>
        </p:nvSpPr>
        <p:spPr>
          <a:xfrm>
            <a:off x="4146693" y="2821500"/>
            <a:ext cx="4900006" cy="430216"/>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dirty="0">
                <a:solidFill>
                  <a:srgbClr val="FF7B72"/>
                </a:solidFill>
                <a:highlight>
                  <a:srgbClr val="121314"/>
                </a:highlight>
                <a:latin typeface="Courier New"/>
                <a:ea typeface="Courier New"/>
                <a:cs typeface="Courier New"/>
                <a:sym typeface="Courier New"/>
              </a:rPr>
              <a:t>const</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79C0FF"/>
                </a:solidFill>
                <a:highlight>
                  <a:srgbClr val="121314"/>
                </a:highlight>
                <a:latin typeface="Courier New"/>
                <a:ea typeface="Courier New"/>
                <a:cs typeface="Courier New"/>
                <a:sym typeface="Courier New"/>
              </a:rPr>
              <a:t>myCar</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D4D4D4"/>
                </a:solidFill>
                <a:highlight>
                  <a:srgbClr val="121314"/>
                </a:highlight>
                <a:latin typeface="Courier New"/>
                <a:ea typeface="Courier New"/>
                <a:cs typeface="Courier New"/>
                <a:sym typeface="Courier New"/>
              </a:rPr>
              <a:t>=</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569CD6"/>
                </a:solidFill>
                <a:highlight>
                  <a:srgbClr val="121314"/>
                </a:highlight>
                <a:latin typeface="Courier New"/>
                <a:ea typeface="Courier New"/>
                <a:cs typeface="Courier New"/>
                <a:sym typeface="Courier New"/>
              </a:rPr>
              <a:t>new</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4EC9B0"/>
                </a:solidFill>
                <a:highlight>
                  <a:srgbClr val="121314"/>
                </a:highlight>
                <a:latin typeface="Courier New"/>
                <a:ea typeface="Courier New"/>
                <a:cs typeface="Courier New"/>
                <a:sym typeface="Courier New"/>
              </a:rPr>
              <a:t>Car</a:t>
            </a:r>
            <a:r>
              <a:rPr lang="en" sz="1200" dirty="0">
                <a:solidFill>
                  <a:srgbClr val="BBBEBF"/>
                </a:solidFill>
                <a:highlight>
                  <a:srgbClr val="121314"/>
                </a:highlight>
                <a:latin typeface="Courier New"/>
                <a:ea typeface="Courier New"/>
                <a:cs typeface="Courier New"/>
                <a:sym typeface="Courier New"/>
              </a:rPr>
              <a:t>(</a:t>
            </a:r>
            <a:r>
              <a:rPr lang="en" sz="1200" dirty="0">
                <a:solidFill>
                  <a:srgbClr val="A5D6FF"/>
                </a:solidFill>
                <a:highlight>
                  <a:srgbClr val="121314"/>
                </a:highlight>
                <a:latin typeface="Courier New"/>
                <a:ea typeface="Courier New"/>
                <a:cs typeface="Courier New"/>
                <a:sym typeface="Courier New"/>
              </a:rPr>
              <a:t>"Eagle"</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A5D6FF"/>
                </a:solidFill>
                <a:highlight>
                  <a:srgbClr val="121314"/>
                </a:highlight>
                <a:latin typeface="Courier New"/>
                <a:ea typeface="Courier New"/>
                <a:cs typeface="Courier New"/>
                <a:sym typeface="Courier New"/>
              </a:rPr>
              <a:t>"Talon TSi"</a:t>
            </a:r>
            <a:r>
              <a:rPr lang="en" sz="1200" dirty="0">
                <a:solidFill>
                  <a:srgbClr val="BBBEBF"/>
                </a:solidFill>
                <a:highlight>
                  <a:srgbClr val="121314"/>
                </a:highlight>
                <a:latin typeface="Courier New"/>
                <a:ea typeface="Courier New"/>
                <a:cs typeface="Courier New"/>
                <a:sym typeface="Courier New"/>
              </a:rPr>
              <a:t>, </a:t>
            </a:r>
            <a:r>
              <a:rPr lang="en" sz="1200" dirty="0">
                <a:solidFill>
                  <a:srgbClr val="B5CEA8"/>
                </a:solidFill>
                <a:highlight>
                  <a:srgbClr val="121314"/>
                </a:highlight>
                <a:latin typeface="Courier New"/>
                <a:ea typeface="Courier New"/>
                <a:cs typeface="Courier New"/>
                <a:sym typeface="Courier New"/>
              </a:rPr>
              <a:t>1993</a:t>
            </a:r>
            <a:r>
              <a:rPr lang="en" sz="1200" dirty="0">
                <a:solidFill>
                  <a:srgbClr val="BBBEBF"/>
                </a:solidFill>
                <a:highlight>
                  <a:srgbClr val="121314"/>
                </a:highlight>
                <a:latin typeface="Courier New"/>
                <a:ea typeface="Courier New"/>
                <a:cs typeface="Courier New"/>
                <a:sym typeface="Courier New"/>
              </a:rPr>
              <a:t>);</a:t>
            </a:r>
            <a:endParaRPr sz="1200" dirty="0">
              <a:solidFill>
                <a:srgbClr val="BBBEBF"/>
              </a:solidFill>
              <a:highlight>
                <a:srgbClr val="121314"/>
              </a:highlight>
              <a:latin typeface="Courier New"/>
              <a:ea typeface="Courier New"/>
              <a:cs typeface="Courier New"/>
              <a:sym typeface="Courier New"/>
            </a:endParaRPr>
          </a:p>
        </p:txBody>
      </p:sp>
      <p:sp>
        <p:nvSpPr>
          <p:cNvPr id="332" name="Google Shape;332;p46"/>
          <p:cNvSpPr txBox="1"/>
          <p:nvPr/>
        </p:nvSpPr>
        <p:spPr>
          <a:xfrm>
            <a:off x="4146693" y="3412365"/>
            <a:ext cx="3000000" cy="3693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79C0FF"/>
                </a:solidFill>
                <a:highlight>
                  <a:srgbClr val="121314"/>
                </a:highlight>
                <a:latin typeface="Courier New"/>
                <a:ea typeface="Courier New"/>
                <a:cs typeface="Courier New"/>
                <a:sym typeface="Courier New"/>
              </a:rPr>
              <a:t>myCar</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color</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A5D6FF"/>
                </a:solidFill>
                <a:highlight>
                  <a:srgbClr val="121314"/>
                </a:highlight>
                <a:latin typeface="Courier New"/>
                <a:ea typeface="Courier New"/>
                <a:cs typeface="Courier New"/>
                <a:sym typeface="Courier New"/>
              </a:rPr>
              <a:t>"Silver"</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4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Creating new objects ─ Using Object.create()</a:t>
            </a:r>
            <a:endParaRPr/>
          </a:p>
        </p:txBody>
      </p:sp>
      <p:sp>
        <p:nvSpPr>
          <p:cNvPr id="338" name="Google Shape;338;p47"/>
          <p:cNvSpPr txBox="1">
            <a:spLocks noGrp="1"/>
          </p:cNvSpPr>
          <p:nvPr>
            <p:ph type="body" idx="1"/>
          </p:nvPr>
        </p:nvSpPr>
        <p:spPr>
          <a:xfrm>
            <a:off x="311700" y="1152475"/>
            <a:ext cx="8520600" cy="14193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a:t>Objects can also be created using the Object.create() method. </a:t>
            </a:r>
            <a:endParaRPr/>
          </a:p>
          <a:p>
            <a:pPr marL="457200" lvl="0" indent="-342900" algn="l" rtl="0">
              <a:spcBef>
                <a:spcPts val="0"/>
              </a:spcBef>
              <a:spcAft>
                <a:spcPts val="0"/>
              </a:spcAft>
              <a:buSzPts val="1800"/>
              <a:buChar char="●"/>
            </a:pPr>
            <a:r>
              <a:rPr lang="en"/>
              <a:t>This method can be very useful, because it allows you to choose the prototype object for the object you want to create, without having to define a constructor function.</a:t>
            </a:r>
            <a:endParaRPr/>
          </a:p>
        </p:txBody>
      </p:sp>
      <p:sp>
        <p:nvSpPr>
          <p:cNvPr id="339" name="Google Shape;339;p4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36</a:t>
            </a:fld>
            <a:endParaRPr/>
          </a:p>
        </p:txBody>
      </p:sp>
      <p:sp>
        <p:nvSpPr>
          <p:cNvPr id="340" name="Google Shape;340;p47"/>
          <p:cNvSpPr txBox="1"/>
          <p:nvPr/>
        </p:nvSpPr>
        <p:spPr>
          <a:xfrm>
            <a:off x="87625" y="2505125"/>
            <a:ext cx="4013100" cy="19806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1. Define a prototype object (parent)</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personPrototype</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 </a:t>
            </a:r>
            <a:r>
              <a:rPr lang="en" sz="1000">
                <a:solidFill>
                  <a:srgbClr val="D2A8FF"/>
                </a:solidFill>
                <a:highlight>
                  <a:srgbClr val="121314"/>
                </a:highlight>
                <a:latin typeface="Courier New"/>
                <a:ea typeface="Courier New"/>
                <a:cs typeface="Courier New"/>
                <a:sym typeface="Courier New"/>
              </a:rPr>
              <a:t>greet</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console</a:t>
            </a:r>
            <a:r>
              <a:rPr lang="en" sz="1000">
                <a:solidFill>
                  <a:srgbClr val="C9D1D9"/>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C9D1D9"/>
                </a:solidFill>
                <a:highlight>
                  <a:srgbClr val="121314"/>
                </a:highlight>
                <a:latin typeface="Courier New"/>
                <a:ea typeface="Courier New"/>
                <a:cs typeface="Courier New"/>
                <a:sym typeface="Courier New"/>
              </a:rPr>
              <a:t>(</a:t>
            </a:r>
            <a:r>
              <a:rPr lang="en" sz="1000">
                <a:solidFill>
                  <a:srgbClr val="A5D6FF"/>
                </a:solidFill>
                <a:highlight>
                  <a:srgbClr val="121314"/>
                </a:highlight>
                <a:latin typeface="Courier New"/>
                <a:ea typeface="Courier New"/>
                <a:cs typeface="Courier New"/>
                <a:sym typeface="Courier New"/>
              </a:rPr>
              <a:t>`Hello, my name is </a:t>
            </a:r>
            <a:r>
              <a:rPr lang="en" sz="1000">
                <a:solidFill>
                  <a:srgbClr val="569CD6"/>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this</a:t>
            </a:r>
            <a:r>
              <a:rPr lang="en" sz="1000">
                <a:solidFill>
                  <a:srgbClr val="D4D4D4"/>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name</a:t>
            </a:r>
            <a:r>
              <a:rPr lang="en" sz="1000">
                <a:solidFill>
                  <a:srgbClr val="569CD6"/>
                </a:solidFill>
                <a:highlight>
                  <a:srgbClr val="121314"/>
                </a:highlight>
                <a:latin typeface="Courier New"/>
                <a:ea typeface="Courier New"/>
                <a:cs typeface="Courier New"/>
                <a:sym typeface="Courier New"/>
              </a:rPr>
              <a:t>}</a:t>
            </a:r>
            <a:r>
              <a:rPr lang="en" sz="1000">
                <a:solidFill>
                  <a:srgbClr val="A5D6F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 }</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 </a:t>
            </a:r>
            <a:r>
              <a:rPr lang="en" sz="1000">
                <a:solidFill>
                  <a:srgbClr val="D2A8FF"/>
                </a:solidFill>
                <a:highlight>
                  <a:srgbClr val="121314"/>
                </a:highlight>
                <a:latin typeface="Courier New"/>
                <a:ea typeface="Courier New"/>
                <a:cs typeface="Courier New"/>
                <a:sym typeface="Courier New"/>
              </a:rPr>
              <a:t>isAdult</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   </a:t>
            </a:r>
            <a:r>
              <a:rPr lang="en" sz="1000">
                <a:solidFill>
                  <a:srgbClr val="C586C0"/>
                </a:solidFill>
                <a:highlight>
                  <a:srgbClr val="121314"/>
                </a:highlight>
                <a:latin typeface="Courier New"/>
                <a:ea typeface="Courier New"/>
                <a:cs typeface="Courier New"/>
                <a:sym typeface="Courier New"/>
              </a:rPr>
              <a:t>return</a:t>
            </a:r>
            <a:r>
              <a:rPr lang="en" sz="1000">
                <a:solidFill>
                  <a:srgbClr val="C9D1D9"/>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this</a:t>
            </a:r>
            <a:r>
              <a:rPr lang="en" sz="1000">
                <a:solidFill>
                  <a:srgbClr val="C9D1D9"/>
                </a:solidFill>
                <a:highlight>
                  <a:srgbClr val="121314"/>
                </a:highlight>
                <a:latin typeface="Courier New"/>
                <a:ea typeface="Courier New"/>
                <a:cs typeface="Courier New"/>
                <a:sym typeface="Courier New"/>
              </a:rPr>
              <a:t>.age </a:t>
            </a:r>
            <a:r>
              <a:rPr lang="en" sz="1000">
                <a:solidFill>
                  <a:srgbClr val="D4D4D4"/>
                </a:solidFill>
                <a:highlight>
                  <a:srgbClr val="121314"/>
                </a:highlight>
                <a:latin typeface="Courier New"/>
                <a:ea typeface="Courier New"/>
                <a:cs typeface="Courier New"/>
                <a:sym typeface="Courier New"/>
              </a:rPr>
              <a:t>&gt;=</a:t>
            </a:r>
            <a:r>
              <a:rPr lang="en" sz="1000">
                <a:solidFill>
                  <a:srgbClr val="C9D1D9"/>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18</a:t>
            </a: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 }</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p:txBody>
      </p:sp>
      <p:sp>
        <p:nvSpPr>
          <p:cNvPr id="341" name="Google Shape;341;p47"/>
          <p:cNvSpPr txBox="1"/>
          <p:nvPr/>
        </p:nvSpPr>
        <p:spPr>
          <a:xfrm>
            <a:off x="4311100" y="2505125"/>
            <a:ext cx="4735500" cy="23910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2. Create a new object that inherits from personPrototype</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user</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4EC9B0"/>
                </a:solidFill>
                <a:highlight>
                  <a:srgbClr val="121314"/>
                </a:highlight>
                <a:latin typeface="Courier New"/>
                <a:ea typeface="Courier New"/>
                <a:cs typeface="Courier New"/>
                <a:sym typeface="Courier New"/>
              </a:rPr>
              <a:t>Object</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create</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personPrototype</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3. Add own properties to the newly created object</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user</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name</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"Alex"</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user</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age</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28</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4. Use inherited methods</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user</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greet</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Output: Hello, my name is Alex!</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user</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isAdult</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Output: true</a:t>
            </a:r>
            <a:endParaRPr sz="1000">
              <a:solidFill>
                <a:srgbClr val="8B949E"/>
              </a:solidFill>
              <a:highlight>
                <a:srgbClr val="121314"/>
              </a:highlight>
              <a:latin typeface="Courier New"/>
              <a:ea typeface="Courier New"/>
              <a:cs typeface="Courier New"/>
              <a:sym typeface="Courier New"/>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Javascript Object ─ Accessing properties</a:t>
            </a:r>
            <a:endParaRPr/>
          </a:p>
        </p:txBody>
      </p:sp>
      <p:sp>
        <p:nvSpPr>
          <p:cNvPr id="347" name="Google Shape;347;p48"/>
          <p:cNvSpPr txBox="1">
            <a:spLocks noGrp="1"/>
          </p:cNvSpPr>
          <p:nvPr>
            <p:ph type="body" idx="1"/>
          </p:nvPr>
        </p:nvSpPr>
        <p:spPr>
          <a:xfrm>
            <a:off x="311700" y="1152475"/>
            <a:ext cx="8520600" cy="982800"/>
          </a:xfrm>
          <a:prstGeom prst="rect">
            <a:avLst/>
          </a:prstGeom>
        </p:spPr>
        <p:txBody>
          <a:bodyPr spcFirstLastPara="1" wrap="square" lIns="91425" tIns="91425" rIns="91425" bIns="91425" anchor="t" anchorCtr="0">
            <a:normAutofit fontScale="85000" lnSpcReduction="10000"/>
          </a:bodyPr>
          <a:lstStyle/>
          <a:p>
            <a:pPr marL="457200" lvl="0" indent="-325755" algn="l" rtl="0">
              <a:spcBef>
                <a:spcPts val="0"/>
              </a:spcBef>
              <a:spcAft>
                <a:spcPts val="0"/>
              </a:spcAft>
              <a:buSzPct val="100000"/>
              <a:buChar char="●"/>
            </a:pPr>
            <a:r>
              <a:rPr lang="en"/>
              <a:t>Two syntaxes: dot notation and bracket notation.</a:t>
            </a:r>
            <a:endParaRPr/>
          </a:p>
          <a:p>
            <a:pPr marL="457200" lvl="0" indent="-325755" algn="l" rtl="0">
              <a:spcBef>
                <a:spcPts val="0"/>
              </a:spcBef>
              <a:spcAft>
                <a:spcPts val="0"/>
              </a:spcAft>
              <a:buSzPct val="100000"/>
              <a:buChar char="●"/>
            </a:pPr>
            <a:r>
              <a:rPr lang="en"/>
              <a:t>More advanced cases on accessing by dot or bracket:</a:t>
            </a:r>
            <a:endParaRPr/>
          </a:p>
          <a:p>
            <a:pPr marL="914400" lvl="1" indent="-304165" algn="l" rtl="0">
              <a:spcBef>
                <a:spcPts val="0"/>
              </a:spcBef>
              <a:spcAft>
                <a:spcPts val="0"/>
              </a:spcAft>
              <a:buSzPct val="100000"/>
              <a:buChar char="○"/>
            </a:pPr>
            <a:r>
              <a:rPr lang="en" u="sng">
                <a:solidFill>
                  <a:schemeClr val="hlink"/>
                </a:solidFill>
                <a:hlinkClick r:id="rId3"/>
              </a:rPr>
              <a:t>https://developer.mozilla.org/en-US/docs/Web/JavaScript/Guide/Working_with_objects#accessing_properties</a:t>
            </a:r>
            <a:r>
              <a:rPr lang="en"/>
              <a:t> </a:t>
            </a:r>
            <a:endParaRPr/>
          </a:p>
        </p:txBody>
      </p:sp>
      <p:sp>
        <p:nvSpPr>
          <p:cNvPr id="348" name="Google Shape;348;p4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37</a:t>
            </a:fld>
            <a:endParaRPr/>
          </a:p>
        </p:txBody>
      </p:sp>
      <p:sp>
        <p:nvSpPr>
          <p:cNvPr id="349" name="Google Shape;349;p48"/>
          <p:cNvSpPr txBox="1"/>
          <p:nvPr/>
        </p:nvSpPr>
        <p:spPr>
          <a:xfrm>
            <a:off x="525775" y="2144691"/>
            <a:ext cx="3820500" cy="29091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900" dirty="0">
                <a:solidFill>
                  <a:srgbClr val="FF7B72"/>
                </a:solidFill>
                <a:highlight>
                  <a:srgbClr val="121314"/>
                </a:highlight>
                <a:latin typeface="Courier New"/>
                <a:ea typeface="Courier New"/>
                <a:cs typeface="Courier New"/>
                <a:sym typeface="Courier New"/>
              </a:rPr>
              <a:t>const</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79C0FF"/>
                </a:solidFill>
                <a:highlight>
                  <a:srgbClr val="121314"/>
                </a:highlight>
                <a:latin typeface="Courier New"/>
                <a:ea typeface="Courier New"/>
                <a:cs typeface="Courier New"/>
                <a:sym typeface="Courier New"/>
              </a:rPr>
              <a:t>myObj</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D4D4D4"/>
                </a:solidFill>
                <a:highlight>
                  <a:srgbClr val="121314"/>
                </a:highlight>
                <a:latin typeface="Courier New"/>
                <a:ea typeface="Courier New"/>
                <a:cs typeface="Courier New"/>
                <a:sym typeface="Courier New"/>
              </a:rPr>
              <a:t>=</a:t>
            </a:r>
            <a:r>
              <a:rPr lang="en" sz="900" dirty="0">
                <a:solidFill>
                  <a:srgbClr val="BBBEBF"/>
                </a:solidFill>
                <a:highlight>
                  <a:srgbClr val="121314"/>
                </a:highlight>
                <a:latin typeface="Courier New"/>
                <a:ea typeface="Courier New"/>
                <a:cs typeface="Courier New"/>
                <a:sym typeface="Courier New"/>
              </a:rPr>
              <a:t> {};</a:t>
            </a: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FF7B72"/>
                </a:solidFill>
                <a:highlight>
                  <a:srgbClr val="121314"/>
                </a:highlight>
                <a:latin typeface="Courier New"/>
                <a:ea typeface="Courier New"/>
                <a:cs typeface="Courier New"/>
                <a:sym typeface="Courier New"/>
              </a:rPr>
              <a:t>const</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79C0FF"/>
                </a:solidFill>
                <a:highlight>
                  <a:srgbClr val="121314"/>
                </a:highlight>
                <a:latin typeface="Courier New"/>
                <a:ea typeface="Courier New"/>
                <a:cs typeface="Courier New"/>
                <a:sym typeface="Courier New"/>
              </a:rPr>
              <a:t>str</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D4D4D4"/>
                </a:solidFill>
                <a:highlight>
                  <a:srgbClr val="121314"/>
                </a:highlight>
                <a:latin typeface="Courier New"/>
                <a:ea typeface="Courier New"/>
                <a:cs typeface="Courier New"/>
                <a:sym typeface="Courier New"/>
              </a:rPr>
              <a:t>=</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A5D6FF"/>
                </a:solidFill>
                <a:highlight>
                  <a:srgbClr val="121314"/>
                </a:highlight>
                <a:latin typeface="Courier New"/>
                <a:ea typeface="Courier New"/>
                <a:cs typeface="Courier New"/>
                <a:sym typeface="Courier New"/>
              </a:rPr>
              <a:t>"myString"</a:t>
            </a:r>
            <a:r>
              <a:rPr lang="en" sz="900" dirty="0">
                <a:solidFill>
                  <a:srgbClr val="BBBEBF"/>
                </a:solidFill>
                <a:highlight>
                  <a:srgbClr val="121314"/>
                </a:highlight>
                <a:latin typeface="Courier New"/>
                <a:ea typeface="Courier New"/>
                <a:cs typeface="Courier New"/>
                <a:sym typeface="Courier New"/>
              </a:rPr>
              <a:t>;</a:t>
            </a: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FF7B72"/>
                </a:solidFill>
                <a:highlight>
                  <a:srgbClr val="121314"/>
                </a:highlight>
                <a:latin typeface="Courier New"/>
                <a:ea typeface="Courier New"/>
                <a:cs typeface="Courier New"/>
                <a:sym typeface="Courier New"/>
              </a:rPr>
              <a:t>const</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79C0FF"/>
                </a:solidFill>
                <a:highlight>
                  <a:srgbClr val="121314"/>
                </a:highlight>
                <a:latin typeface="Courier New"/>
                <a:ea typeface="Courier New"/>
                <a:cs typeface="Courier New"/>
                <a:sym typeface="Courier New"/>
              </a:rPr>
              <a:t>rand</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D4D4D4"/>
                </a:solidFill>
                <a:highlight>
                  <a:srgbClr val="121314"/>
                </a:highlight>
                <a:latin typeface="Courier New"/>
                <a:ea typeface="Courier New"/>
                <a:cs typeface="Courier New"/>
                <a:sym typeface="Courier New"/>
              </a:rPr>
              <a:t>=</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C9D1D9"/>
                </a:solidFill>
                <a:highlight>
                  <a:srgbClr val="121314"/>
                </a:highlight>
                <a:latin typeface="Courier New"/>
                <a:ea typeface="Courier New"/>
                <a:cs typeface="Courier New"/>
                <a:sym typeface="Courier New"/>
              </a:rPr>
              <a:t>Math</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D2A8FF"/>
                </a:solidFill>
                <a:highlight>
                  <a:srgbClr val="121314"/>
                </a:highlight>
                <a:latin typeface="Courier New"/>
                <a:ea typeface="Courier New"/>
                <a:cs typeface="Courier New"/>
                <a:sym typeface="Courier New"/>
              </a:rPr>
              <a:t>random</a:t>
            </a:r>
            <a:r>
              <a:rPr lang="en" sz="900" dirty="0">
                <a:solidFill>
                  <a:srgbClr val="BBBEBF"/>
                </a:solidFill>
                <a:highlight>
                  <a:srgbClr val="121314"/>
                </a:highlight>
                <a:latin typeface="Courier New"/>
                <a:ea typeface="Courier New"/>
                <a:cs typeface="Courier New"/>
                <a:sym typeface="Courier New"/>
              </a:rPr>
              <a:t>();</a:t>
            </a: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FF7B72"/>
                </a:solidFill>
                <a:highlight>
                  <a:srgbClr val="121314"/>
                </a:highlight>
                <a:latin typeface="Courier New"/>
                <a:ea typeface="Courier New"/>
                <a:cs typeface="Courier New"/>
                <a:sym typeface="Courier New"/>
              </a:rPr>
              <a:t>const</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79C0FF"/>
                </a:solidFill>
                <a:highlight>
                  <a:srgbClr val="121314"/>
                </a:highlight>
                <a:latin typeface="Courier New"/>
                <a:ea typeface="Courier New"/>
                <a:cs typeface="Courier New"/>
                <a:sym typeface="Courier New"/>
              </a:rPr>
              <a:t>anotherObj</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D4D4D4"/>
                </a:solidFill>
                <a:highlight>
                  <a:srgbClr val="121314"/>
                </a:highlight>
                <a:latin typeface="Courier New"/>
                <a:ea typeface="Courier New"/>
                <a:cs typeface="Courier New"/>
                <a:sym typeface="Courier New"/>
              </a:rPr>
              <a:t>=</a:t>
            </a:r>
            <a:r>
              <a:rPr lang="en" sz="900" dirty="0">
                <a:solidFill>
                  <a:srgbClr val="BBBEBF"/>
                </a:solidFill>
                <a:highlight>
                  <a:srgbClr val="121314"/>
                </a:highlight>
                <a:latin typeface="Courier New"/>
                <a:ea typeface="Courier New"/>
                <a:cs typeface="Courier New"/>
                <a:sym typeface="Courier New"/>
              </a:rPr>
              <a:t> {};</a:t>
            </a: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8B949E"/>
                </a:solidFill>
                <a:highlight>
                  <a:srgbClr val="121314"/>
                </a:highlight>
                <a:latin typeface="Courier New"/>
                <a:ea typeface="Courier New"/>
                <a:cs typeface="Courier New"/>
                <a:sym typeface="Courier New"/>
              </a:rPr>
              <a:t>// Create additional properties on myObj</a:t>
            </a:r>
            <a:endParaRPr sz="900" dirty="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C9D1D9"/>
                </a:solidFill>
                <a:highlight>
                  <a:srgbClr val="121314"/>
                </a:highlight>
                <a:latin typeface="Courier New"/>
                <a:ea typeface="Courier New"/>
                <a:cs typeface="Courier New"/>
                <a:sym typeface="Courier New"/>
              </a:rPr>
              <a:t>myObj</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C9D1D9"/>
                </a:solidFill>
                <a:highlight>
                  <a:srgbClr val="121314"/>
                </a:highlight>
                <a:latin typeface="Courier New"/>
                <a:ea typeface="Courier New"/>
                <a:cs typeface="Courier New"/>
                <a:sym typeface="Courier New"/>
              </a:rPr>
              <a:t>type</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D4D4D4"/>
                </a:solidFill>
                <a:highlight>
                  <a:srgbClr val="121314"/>
                </a:highlight>
                <a:latin typeface="Courier New"/>
                <a:ea typeface="Courier New"/>
                <a:cs typeface="Courier New"/>
                <a:sym typeface="Courier New"/>
              </a:rPr>
              <a:t>=</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A5D6FF"/>
                </a:solidFill>
                <a:highlight>
                  <a:srgbClr val="121314"/>
                </a:highlight>
                <a:latin typeface="Courier New"/>
                <a:ea typeface="Courier New"/>
                <a:cs typeface="Courier New"/>
                <a:sym typeface="Courier New"/>
              </a:rPr>
              <a:t>"Dot syntax for a key named type"</a:t>
            </a:r>
            <a:r>
              <a:rPr lang="en" sz="900" dirty="0">
                <a:solidFill>
                  <a:srgbClr val="BBBEBF"/>
                </a:solidFill>
                <a:highlight>
                  <a:srgbClr val="121314"/>
                </a:highlight>
                <a:latin typeface="Courier New"/>
                <a:ea typeface="Courier New"/>
                <a:cs typeface="Courier New"/>
                <a:sym typeface="Courier New"/>
              </a:rPr>
              <a:t>;</a:t>
            </a: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C9D1D9"/>
                </a:solidFill>
                <a:highlight>
                  <a:srgbClr val="121314"/>
                </a:highlight>
                <a:latin typeface="Courier New"/>
                <a:ea typeface="Courier New"/>
                <a:cs typeface="Courier New"/>
                <a:sym typeface="Courier New"/>
              </a:rPr>
              <a:t>myObj</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A5D6FF"/>
                </a:solidFill>
                <a:highlight>
                  <a:srgbClr val="121314"/>
                </a:highlight>
                <a:latin typeface="Courier New"/>
                <a:ea typeface="Courier New"/>
                <a:cs typeface="Courier New"/>
                <a:sym typeface="Courier New"/>
              </a:rPr>
              <a:t>"date created"</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D4D4D4"/>
                </a:solidFill>
                <a:highlight>
                  <a:srgbClr val="121314"/>
                </a:highlight>
                <a:latin typeface="Courier New"/>
                <a:ea typeface="Courier New"/>
                <a:cs typeface="Courier New"/>
                <a:sym typeface="Courier New"/>
              </a:rPr>
              <a:t>=</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A5D6FF"/>
                </a:solidFill>
                <a:highlight>
                  <a:srgbClr val="121314"/>
                </a:highlight>
                <a:latin typeface="Courier New"/>
                <a:ea typeface="Courier New"/>
                <a:cs typeface="Courier New"/>
                <a:sym typeface="Courier New"/>
              </a:rPr>
              <a:t>"This key has a space"</a:t>
            </a:r>
            <a:r>
              <a:rPr lang="en" sz="900" dirty="0">
                <a:solidFill>
                  <a:srgbClr val="BBBEBF"/>
                </a:solidFill>
                <a:highlight>
                  <a:srgbClr val="121314"/>
                </a:highlight>
                <a:latin typeface="Courier New"/>
                <a:ea typeface="Courier New"/>
                <a:cs typeface="Courier New"/>
                <a:sym typeface="Courier New"/>
              </a:rPr>
              <a:t>;</a:t>
            </a: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C9D1D9"/>
                </a:solidFill>
                <a:highlight>
                  <a:srgbClr val="121314"/>
                </a:highlight>
                <a:latin typeface="Courier New"/>
                <a:ea typeface="Courier New"/>
                <a:cs typeface="Courier New"/>
                <a:sym typeface="Courier New"/>
              </a:rPr>
              <a:t>myObj</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C9D1D9"/>
                </a:solidFill>
                <a:highlight>
                  <a:srgbClr val="121314"/>
                </a:highlight>
                <a:latin typeface="Courier New"/>
                <a:ea typeface="Courier New"/>
                <a:cs typeface="Courier New"/>
                <a:sym typeface="Courier New"/>
              </a:rPr>
              <a:t>str</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D4D4D4"/>
                </a:solidFill>
                <a:highlight>
                  <a:srgbClr val="121314"/>
                </a:highlight>
                <a:latin typeface="Courier New"/>
                <a:ea typeface="Courier New"/>
                <a:cs typeface="Courier New"/>
                <a:sym typeface="Courier New"/>
              </a:rPr>
              <a:t>=</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A5D6FF"/>
                </a:solidFill>
                <a:highlight>
                  <a:srgbClr val="121314"/>
                </a:highlight>
                <a:latin typeface="Courier New"/>
                <a:ea typeface="Courier New"/>
                <a:cs typeface="Courier New"/>
                <a:sym typeface="Courier New"/>
              </a:rPr>
              <a:t>"This key is in variable str"</a:t>
            </a:r>
            <a:r>
              <a:rPr lang="en" sz="900" dirty="0">
                <a:solidFill>
                  <a:srgbClr val="BBBEBF"/>
                </a:solidFill>
                <a:highlight>
                  <a:srgbClr val="121314"/>
                </a:highlight>
                <a:latin typeface="Courier New"/>
                <a:ea typeface="Courier New"/>
                <a:cs typeface="Courier New"/>
                <a:sym typeface="Courier New"/>
              </a:rPr>
              <a:t>;</a:t>
            </a: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C9D1D9"/>
                </a:solidFill>
                <a:highlight>
                  <a:srgbClr val="121314"/>
                </a:highlight>
                <a:latin typeface="Courier New"/>
                <a:ea typeface="Courier New"/>
                <a:cs typeface="Courier New"/>
                <a:sym typeface="Courier New"/>
              </a:rPr>
              <a:t>myObj</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C9D1D9"/>
                </a:solidFill>
                <a:highlight>
                  <a:srgbClr val="121314"/>
                </a:highlight>
                <a:latin typeface="Courier New"/>
                <a:ea typeface="Courier New"/>
                <a:cs typeface="Courier New"/>
                <a:sym typeface="Courier New"/>
              </a:rPr>
              <a:t>rand</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D4D4D4"/>
                </a:solidFill>
                <a:highlight>
                  <a:srgbClr val="121314"/>
                </a:highlight>
                <a:latin typeface="Courier New"/>
                <a:ea typeface="Courier New"/>
                <a:cs typeface="Courier New"/>
                <a:sym typeface="Courier New"/>
              </a:rPr>
              <a:t>=</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A5D6FF"/>
                </a:solidFill>
                <a:highlight>
                  <a:srgbClr val="121314"/>
                </a:highlight>
                <a:latin typeface="Courier New"/>
                <a:ea typeface="Courier New"/>
                <a:cs typeface="Courier New"/>
                <a:sym typeface="Courier New"/>
              </a:rPr>
              <a:t>"A random number is the key here"</a:t>
            </a:r>
            <a:r>
              <a:rPr lang="en" sz="900" dirty="0">
                <a:solidFill>
                  <a:srgbClr val="BBBEBF"/>
                </a:solidFill>
                <a:highlight>
                  <a:srgbClr val="121314"/>
                </a:highlight>
                <a:latin typeface="Courier New"/>
                <a:ea typeface="Courier New"/>
                <a:cs typeface="Courier New"/>
                <a:sym typeface="Courier New"/>
              </a:rPr>
              <a:t>;</a:t>
            </a: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C9D1D9"/>
                </a:solidFill>
                <a:highlight>
                  <a:srgbClr val="121314"/>
                </a:highlight>
                <a:latin typeface="Courier New"/>
                <a:ea typeface="Courier New"/>
                <a:cs typeface="Courier New"/>
                <a:sym typeface="Courier New"/>
              </a:rPr>
              <a:t>myObj</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C9D1D9"/>
                </a:solidFill>
                <a:highlight>
                  <a:srgbClr val="121314"/>
                </a:highlight>
                <a:latin typeface="Courier New"/>
                <a:ea typeface="Courier New"/>
                <a:cs typeface="Courier New"/>
                <a:sym typeface="Courier New"/>
              </a:rPr>
              <a:t>anotherObj</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D4D4D4"/>
                </a:solidFill>
                <a:highlight>
                  <a:srgbClr val="121314"/>
                </a:highlight>
                <a:latin typeface="Courier New"/>
                <a:ea typeface="Courier New"/>
                <a:cs typeface="Courier New"/>
                <a:sym typeface="Courier New"/>
              </a:rPr>
              <a:t>=</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A5D6FF"/>
                </a:solidFill>
                <a:highlight>
                  <a:srgbClr val="121314"/>
                </a:highlight>
                <a:latin typeface="Courier New"/>
                <a:ea typeface="Courier New"/>
                <a:cs typeface="Courier New"/>
                <a:sym typeface="Courier New"/>
              </a:rPr>
              <a:t>"This key is object anotherObj"</a:t>
            </a:r>
            <a:r>
              <a:rPr lang="en" sz="900" dirty="0">
                <a:solidFill>
                  <a:srgbClr val="BBBEBF"/>
                </a:solidFill>
                <a:highlight>
                  <a:srgbClr val="121314"/>
                </a:highlight>
                <a:latin typeface="Courier New"/>
                <a:ea typeface="Courier New"/>
                <a:cs typeface="Courier New"/>
                <a:sym typeface="Courier New"/>
              </a:rPr>
              <a:t>;</a:t>
            </a: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C9D1D9"/>
                </a:solidFill>
                <a:highlight>
                  <a:srgbClr val="121314"/>
                </a:highlight>
                <a:latin typeface="Courier New"/>
                <a:ea typeface="Courier New"/>
                <a:cs typeface="Courier New"/>
                <a:sym typeface="Courier New"/>
              </a:rPr>
              <a:t>myObj</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A5D6FF"/>
                </a:solidFill>
                <a:highlight>
                  <a:srgbClr val="121314"/>
                </a:highlight>
                <a:latin typeface="Courier New"/>
                <a:ea typeface="Courier New"/>
                <a:cs typeface="Courier New"/>
                <a:sym typeface="Courier New"/>
              </a:rPr>
              <a:t>""</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D4D4D4"/>
                </a:solidFill>
                <a:highlight>
                  <a:srgbClr val="121314"/>
                </a:highlight>
                <a:latin typeface="Courier New"/>
                <a:ea typeface="Courier New"/>
                <a:cs typeface="Courier New"/>
                <a:sym typeface="Courier New"/>
              </a:rPr>
              <a:t>=</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A5D6FF"/>
                </a:solidFill>
                <a:highlight>
                  <a:srgbClr val="121314"/>
                </a:highlight>
                <a:latin typeface="Courier New"/>
                <a:ea typeface="Courier New"/>
                <a:cs typeface="Courier New"/>
                <a:sym typeface="Courier New"/>
              </a:rPr>
              <a:t>"This key is an empty string"</a:t>
            </a:r>
            <a:r>
              <a:rPr lang="en" sz="900" dirty="0">
                <a:solidFill>
                  <a:srgbClr val="BBBEBF"/>
                </a:solidFill>
                <a:highlight>
                  <a:srgbClr val="121314"/>
                </a:highlight>
                <a:latin typeface="Courier New"/>
                <a:ea typeface="Courier New"/>
                <a:cs typeface="Courier New"/>
                <a:sym typeface="Courier New"/>
              </a:rPr>
              <a:t>;</a:t>
            </a: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C9D1D9"/>
                </a:solidFill>
                <a:highlight>
                  <a:srgbClr val="121314"/>
                </a:highlight>
                <a:latin typeface="Courier New"/>
                <a:ea typeface="Courier New"/>
                <a:cs typeface="Courier New"/>
                <a:sym typeface="Courier New"/>
              </a:rPr>
              <a:t>console</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D2A8FF"/>
                </a:solidFill>
                <a:highlight>
                  <a:srgbClr val="121314"/>
                </a:highlight>
                <a:latin typeface="Courier New"/>
                <a:ea typeface="Courier New"/>
                <a:cs typeface="Courier New"/>
                <a:sym typeface="Courier New"/>
              </a:rPr>
              <a:t>log</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C9D1D9"/>
                </a:solidFill>
                <a:highlight>
                  <a:srgbClr val="121314"/>
                </a:highlight>
                <a:latin typeface="Courier New"/>
                <a:ea typeface="Courier New"/>
                <a:cs typeface="Courier New"/>
                <a:sym typeface="Courier New"/>
              </a:rPr>
              <a:t>myObj</a:t>
            </a:r>
            <a:r>
              <a:rPr lang="en" sz="900" dirty="0">
                <a:solidFill>
                  <a:srgbClr val="BBBEBF"/>
                </a:solidFill>
                <a:highlight>
                  <a:srgbClr val="121314"/>
                </a:highlight>
                <a:latin typeface="Courier New"/>
                <a:ea typeface="Courier New"/>
                <a:cs typeface="Courier New"/>
                <a:sym typeface="Courier New"/>
              </a:rPr>
              <a:t>);</a:t>
            </a: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C9D1D9"/>
                </a:solidFill>
                <a:highlight>
                  <a:srgbClr val="121314"/>
                </a:highlight>
                <a:latin typeface="Courier New"/>
                <a:ea typeface="Courier New"/>
                <a:cs typeface="Courier New"/>
                <a:sym typeface="Courier New"/>
              </a:rPr>
              <a:t>console</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D2A8FF"/>
                </a:solidFill>
                <a:highlight>
                  <a:srgbClr val="121314"/>
                </a:highlight>
                <a:latin typeface="Courier New"/>
                <a:ea typeface="Courier New"/>
                <a:cs typeface="Courier New"/>
                <a:sym typeface="Courier New"/>
              </a:rPr>
              <a:t>log</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C9D1D9"/>
                </a:solidFill>
                <a:highlight>
                  <a:srgbClr val="121314"/>
                </a:highlight>
                <a:latin typeface="Courier New"/>
                <a:ea typeface="Courier New"/>
                <a:cs typeface="Courier New"/>
                <a:sym typeface="Courier New"/>
              </a:rPr>
              <a:t>myObj</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C9D1D9"/>
                </a:solidFill>
                <a:highlight>
                  <a:srgbClr val="121314"/>
                </a:highlight>
                <a:latin typeface="Courier New"/>
                <a:ea typeface="Courier New"/>
                <a:cs typeface="Courier New"/>
                <a:sym typeface="Courier New"/>
              </a:rPr>
              <a:t>str</a:t>
            </a:r>
            <a:r>
              <a:rPr lang="en" sz="900" dirty="0">
                <a:solidFill>
                  <a:srgbClr val="BBBEBF"/>
                </a:solidFill>
                <a:highlight>
                  <a:srgbClr val="121314"/>
                </a:highlight>
                <a:latin typeface="Courier New"/>
                <a:ea typeface="Courier New"/>
                <a:cs typeface="Courier New"/>
                <a:sym typeface="Courier New"/>
              </a:rPr>
              <a:t>);</a:t>
            </a:r>
            <a:endParaRPr sz="900" dirty="0">
              <a:solidFill>
                <a:srgbClr val="BBBEBF"/>
              </a:solidFill>
              <a:highlight>
                <a:srgbClr val="121314"/>
              </a:highlight>
              <a:latin typeface="Courier New"/>
              <a:ea typeface="Courier New"/>
              <a:cs typeface="Courier New"/>
              <a:sym typeface="Courier New"/>
            </a:endParaRPr>
          </a:p>
        </p:txBody>
      </p:sp>
      <p:sp>
        <p:nvSpPr>
          <p:cNvPr id="350" name="Google Shape;350;p48"/>
          <p:cNvSpPr txBox="1"/>
          <p:nvPr/>
        </p:nvSpPr>
        <p:spPr>
          <a:xfrm>
            <a:off x="4572000" y="2144688"/>
            <a:ext cx="4260300" cy="184259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900" dirty="0">
                <a:solidFill>
                  <a:srgbClr val="FF7B72"/>
                </a:solidFill>
                <a:highlight>
                  <a:srgbClr val="121314"/>
                </a:highlight>
                <a:latin typeface="Courier New"/>
                <a:ea typeface="Courier New"/>
                <a:cs typeface="Courier New"/>
                <a:sym typeface="Courier New"/>
              </a:rPr>
              <a:t>let</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C9D1D9"/>
                </a:solidFill>
                <a:highlight>
                  <a:srgbClr val="121314"/>
                </a:highlight>
                <a:latin typeface="Courier New"/>
                <a:ea typeface="Courier New"/>
                <a:cs typeface="Courier New"/>
                <a:sym typeface="Courier New"/>
              </a:rPr>
              <a:t>propertyName</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D4D4D4"/>
                </a:solidFill>
                <a:highlight>
                  <a:srgbClr val="121314"/>
                </a:highlight>
                <a:latin typeface="Courier New"/>
                <a:ea typeface="Courier New"/>
                <a:cs typeface="Courier New"/>
                <a:sym typeface="Courier New"/>
              </a:rPr>
              <a:t>=</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A5D6FF"/>
                </a:solidFill>
                <a:highlight>
                  <a:srgbClr val="121314"/>
                </a:highlight>
                <a:latin typeface="Courier New"/>
                <a:ea typeface="Courier New"/>
                <a:cs typeface="Courier New"/>
                <a:sym typeface="Courier New"/>
              </a:rPr>
              <a:t>"make"</a:t>
            </a:r>
            <a:r>
              <a:rPr lang="en" sz="900" dirty="0">
                <a:solidFill>
                  <a:srgbClr val="BBBEBF"/>
                </a:solidFill>
                <a:highlight>
                  <a:srgbClr val="121314"/>
                </a:highlight>
                <a:latin typeface="Courier New"/>
                <a:ea typeface="Courier New"/>
                <a:cs typeface="Courier New"/>
                <a:sym typeface="Courier New"/>
              </a:rPr>
              <a:t>;</a:t>
            </a: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C9D1D9"/>
                </a:solidFill>
                <a:highlight>
                  <a:srgbClr val="121314"/>
                </a:highlight>
                <a:latin typeface="Courier New"/>
                <a:ea typeface="Courier New"/>
                <a:cs typeface="Courier New"/>
                <a:sym typeface="Courier New"/>
              </a:rPr>
              <a:t>myCar</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C9D1D9"/>
                </a:solidFill>
                <a:highlight>
                  <a:srgbClr val="121314"/>
                </a:highlight>
                <a:latin typeface="Courier New"/>
                <a:ea typeface="Courier New"/>
                <a:cs typeface="Courier New"/>
                <a:sym typeface="Courier New"/>
              </a:rPr>
              <a:t>propertyName</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D4D4D4"/>
                </a:solidFill>
                <a:highlight>
                  <a:srgbClr val="121314"/>
                </a:highlight>
                <a:latin typeface="Courier New"/>
                <a:ea typeface="Courier New"/>
                <a:cs typeface="Courier New"/>
                <a:sym typeface="Courier New"/>
              </a:rPr>
              <a:t>=</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A5D6FF"/>
                </a:solidFill>
                <a:highlight>
                  <a:srgbClr val="121314"/>
                </a:highlight>
                <a:latin typeface="Courier New"/>
                <a:ea typeface="Courier New"/>
                <a:cs typeface="Courier New"/>
                <a:sym typeface="Courier New"/>
              </a:rPr>
              <a:t>"Ford"</a:t>
            </a:r>
            <a:r>
              <a:rPr lang="en" sz="900" dirty="0">
                <a:solidFill>
                  <a:srgbClr val="BBBEBF"/>
                </a:solidFill>
                <a:highlight>
                  <a:srgbClr val="121314"/>
                </a:highlight>
                <a:latin typeface="Courier New"/>
                <a:ea typeface="Courier New"/>
                <a:cs typeface="Courier New"/>
                <a:sym typeface="Courier New"/>
              </a:rPr>
              <a:t>;</a:t>
            </a: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8B949E"/>
                </a:solidFill>
                <a:highlight>
                  <a:srgbClr val="121314"/>
                </a:highlight>
                <a:latin typeface="Courier New"/>
                <a:ea typeface="Courier New"/>
                <a:cs typeface="Courier New"/>
                <a:sym typeface="Courier New"/>
              </a:rPr>
              <a:t>// access different properties by changing the contents of the variable</a:t>
            </a:r>
            <a:endParaRPr sz="900" dirty="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C9D1D9"/>
                </a:solidFill>
                <a:highlight>
                  <a:srgbClr val="121314"/>
                </a:highlight>
                <a:latin typeface="Courier New"/>
                <a:ea typeface="Courier New"/>
                <a:cs typeface="Courier New"/>
                <a:sym typeface="Courier New"/>
              </a:rPr>
              <a:t>propertyName</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D4D4D4"/>
                </a:solidFill>
                <a:highlight>
                  <a:srgbClr val="121314"/>
                </a:highlight>
                <a:latin typeface="Courier New"/>
                <a:ea typeface="Courier New"/>
                <a:cs typeface="Courier New"/>
                <a:sym typeface="Courier New"/>
              </a:rPr>
              <a:t>=</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A5D6FF"/>
                </a:solidFill>
                <a:highlight>
                  <a:srgbClr val="121314"/>
                </a:highlight>
                <a:latin typeface="Courier New"/>
                <a:ea typeface="Courier New"/>
                <a:cs typeface="Courier New"/>
                <a:sym typeface="Courier New"/>
              </a:rPr>
              <a:t>"model"</a:t>
            </a:r>
            <a:r>
              <a:rPr lang="en" sz="900" dirty="0">
                <a:solidFill>
                  <a:srgbClr val="BBBEBF"/>
                </a:solidFill>
                <a:highlight>
                  <a:srgbClr val="121314"/>
                </a:highlight>
                <a:latin typeface="Courier New"/>
                <a:ea typeface="Courier New"/>
                <a:cs typeface="Courier New"/>
                <a:sym typeface="Courier New"/>
              </a:rPr>
              <a:t>;</a:t>
            </a: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C9D1D9"/>
                </a:solidFill>
                <a:highlight>
                  <a:srgbClr val="121314"/>
                </a:highlight>
                <a:latin typeface="Courier New"/>
                <a:ea typeface="Courier New"/>
                <a:cs typeface="Courier New"/>
                <a:sym typeface="Courier New"/>
              </a:rPr>
              <a:t>myCar</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C9D1D9"/>
                </a:solidFill>
                <a:highlight>
                  <a:srgbClr val="121314"/>
                </a:highlight>
                <a:latin typeface="Courier New"/>
                <a:ea typeface="Courier New"/>
                <a:cs typeface="Courier New"/>
                <a:sym typeface="Courier New"/>
              </a:rPr>
              <a:t>propertyName</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D4D4D4"/>
                </a:solidFill>
                <a:highlight>
                  <a:srgbClr val="121314"/>
                </a:highlight>
                <a:latin typeface="Courier New"/>
                <a:ea typeface="Courier New"/>
                <a:cs typeface="Courier New"/>
                <a:sym typeface="Courier New"/>
              </a:rPr>
              <a:t>=</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A5D6FF"/>
                </a:solidFill>
                <a:highlight>
                  <a:srgbClr val="121314"/>
                </a:highlight>
                <a:latin typeface="Courier New"/>
                <a:ea typeface="Courier New"/>
                <a:cs typeface="Courier New"/>
                <a:sym typeface="Courier New"/>
              </a:rPr>
              <a:t>"Mustang"</a:t>
            </a:r>
            <a:r>
              <a:rPr lang="en" sz="900" dirty="0">
                <a:solidFill>
                  <a:srgbClr val="BBBEBF"/>
                </a:solidFill>
                <a:highlight>
                  <a:srgbClr val="121314"/>
                </a:highlight>
                <a:latin typeface="Courier New"/>
                <a:ea typeface="Courier New"/>
                <a:cs typeface="Courier New"/>
                <a:sym typeface="Courier New"/>
              </a:rPr>
              <a:t>;</a:t>
            </a: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C9D1D9"/>
                </a:solidFill>
                <a:highlight>
                  <a:srgbClr val="121314"/>
                </a:highlight>
                <a:latin typeface="Courier New"/>
                <a:ea typeface="Courier New"/>
                <a:cs typeface="Courier New"/>
                <a:sym typeface="Courier New"/>
              </a:rPr>
              <a:t>console</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D2A8FF"/>
                </a:solidFill>
                <a:highlight>
                  <a:srgbClr val="121314"/>
                </a:highlight>
                <a:latin typeface="Courier New"/>
                <a:ea typeface="Courier New"/>
                <a:cs typeface="Courier New"/>
                <a:sym typeface="Courier New"/>
              </a:rPr>
              <a:t>log</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C9D1D9"/>
                </a:solidFill>
                <a:highlight>
                  <a:srgbClr val="121314"/>
                </a:highlight>
                <a:latin typeface="Courier New"/>
                <a:ea typeface="Courier New"/>
                <a:cs typeface="Courier New"/>
                <a:sym typeface="Courier New"/>
              </a:rPr>
              <a:t>myCar</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8B949E"/>
                </a:solidFill>
                <a:highlight>
                  <a:srgbClr val="121314"/>
                </a:highlight>
                <a:latin typeface="Courier New"/>
                <a:ea typeface="Courier New"/>
                <a:cs typeface="Courier New"/>
                <a:sym typeface="Courier New"/>
              </a:rPr>
              <a:t>// { make: 'Ford', model: 'Mustang' }</a:t>
            </a:r>
            <a:endParaRPr sz="900" dirty="0">
              <a:solidFill>
                <a:srgbClr val="8B949E"/>
              </a:solidFill>
              <a:highlight>
                <a:srgbClr val="121314"/>
              </a:highlight>
              <a:latin typeface="Courier New"/>
              <a:ea typeface="Courier New"/>
              <a:cs typeface="Courier New"/>
              <a:sym typeface="Courier New"/>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4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Javascript Object ─ Deleting properties</a:t>
            </a:r>
            <a:endParaRPr dirty="0"/>
          </a:p>
          <a:p>
            <a:pPr marL="0" lvl="0" indent="0" algn="l" rtl="0">
              <a:spcBef>
                <a:spcPts val="0"/>
              </a:spcBef>
              <a:spcAft>
                <a:spcPts val="0"/>
              </a:spcAft>
              <a:buNone/>
            </a:pPr>
            <a:endParaRPr dirty="0"/>
          </a:p>
        </p:txBody>
      </p:sp>
      <p:sp>
        <p:nvSpPr>
          <p:cNvPr id="356" name="Google Shape;356;p49"/>
          <p:cNvSpPr txBox="1">
            <a:spLocks noGrp="1"/>
          </p:cNvSpPr>
          <p:nvPr>
            <p:ph type="body" idx="1"/>
          </p:nvPr>
        </p:nvSpPr>
        <p:spPr>
          <a:xfrm>
            <a:off x="311700" y="1152475"/>
            <a:ext cx="8520600" cy="9855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You can remove a non-inherited property using the delete operator. The following code shows how to remove a property.</a:t>
            </a:r>
            <a:endParaRPr/>
          </a:p>
        </p:txBody>
      </p:sp>
      <p:sp>
        <p:nvSpPr>
          <p:cNvPr id="357" name="Google Shape;357;p4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38</a:t>
            </a:fld>
            <a:endParaRPr/>
          </a:p>
        </p:txBody>
      </p:sp>
      <p:sp>
        <p:nvSpPr>
          <p:cNvPr id="358" name="Google Shape;358;p49"/>
          <p:cNvSpPr txBox="1"/>
          <p:nvPr/>
        </p:nvSpPr>
        <p:spPr>
          <a:xfrm>
            <a:off x="823675" y="2222025"/>
            <a:ext cx="7158900" cy="16008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8B949E"/>
                </a:solidFill>
                <a:highlight>
                  <a:srgbClr val="121314"/>
                </a:highlight>
                <a:latin typeface="Courier New"/>
                <a:ea typeface="Courier New"/>
                <a:cs typeface="Courier New"/>
                <a:sym typeface="Courier New"/>
              </a:rPr>
              <a:t>// Creates a new object, myObj, with two properties, a and b.</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myObj</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 </a:t>
            </a:r>
            <a:r>
              <a:rPr lang="en" sz="1200">
                <a:solidFill>
                  <a:srgbClr val="C9D1D9"/>
                </a:solidFill>
                <a:highlight>
                  <a:srgbClr val="121314"/>
                </a:highlight>
                <a:latin typeface="Courier New"/>
                <a:ea typeface="Courier New"/>
                <a:cs typeface="Courier New"/>
                <a:sym typeface="Courier New"/>
              </a:rPr>
              <a:t>a</a:t>
            </a:r>
            <a:r>
              <a:rPr lang="en" sz="1200">
                <a:solidFill>
                  <a:srgbClr val="9CDCFE"/>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5</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b</a:t>
            </a:r>
            <a:r>
              <a:rPr lang="en" sz="1200">
                <a:solidFill>
                  <a:srgbClr val="9CDCFE"/>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12</a:t>
            </a:r>
            <a:r>
              <a:rPr lang="en" sz="1200">
                <a:solidFill>
                  <a:srgbClr val="C9D1D9"/>
                </a:solidFill>
                <a:highlight>
                  <a:srgbClr val="121314"/>
                </a:highlight>
                <a:latin typeface="Courier New"/>
                <a:ea typeface="Courier New"/>
                <a:cs typeface="Courier New"/>
                <a:sym typeface="Courier New"/>
              </a:rPr>
              <a:t> </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8B949E"/>
                </a:solidFill>
                <a:highlight>
                  <a:srgbClr val="121314"/>
                </a:highlight>
                <a:latin typeface="Courier New"/>
                <a:ea typeface="Courier New"/>
                <a:cs typeface="Courier New"/>
                <a:sym typeface="Courier New"/>
              </a:rPr>
              <a:t>// Removes the a property, leaving myObj with only the b property.</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569CD6"/>
                </a:solidFill>
                <a:highlight>
                  <a:srgbClr val="121314"/>
                </a:highlight>
                <a:latin typeface="Courier New"/>
                <a:ea typeface="Courier New"/>
                <a:cs typeface="Courier New"/>
                <a:sym typeface="Courier New"/>
              </a:rPr>
              <a:t>delete</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myObj</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a</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79C0FF"/>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"a"</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in</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myObj</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false</a:t>
            </a:r>
            <a:endParaRPr sz="1200">
              <a:solidFill>
                <a:srgbClr val="8B949E"/>
              </a:solidFill>
              <a:highlight>
                <a:srgbClr val="121314"/>
              </a:highlight>
              <a:latin typeface="Courier New"/>
              <a:ea typeface="Courier New"/>
              <a:cs typeface="Courier New"/>
              <a:sym typeface="Courier New"/>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5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Object Inheritance</a:t>
            </a:r>
            <a:endParaRPr/>
          </a:p>
        </p:txBody>
      </p:sp>
      <p:sp>
        <p:nvSpPr>
          <p:cNvPr id="364" name="Google Shape;364;p5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10000"/>
          </a:bodyPr>
          <a:lstStyle/>
          <a:p>
            <a:pPr marL="457200" lvl="0" indent="-334328" algn="l" rtl="0">
              <a:spcBef>
                <a:spcPts val="0"/>
              </a:spcBef>
              <a:spcAft>
                <a:spcPts val="0"/>
              </a:spcAft>
              <a:buSzPct val="100000"/>
              <a:buChar char="●"/>
            </a:pPr>
            <a:r>
              <a:rPr lang="en" dirty="0"/>
              <a:t>All objects in JavaScript inherit from at least one other object.</a:t>
            </a:r>
            <a:endParaRPr dirty="0"/>
          </a:p>
          <a:p>
            <a:pPr marL="914400" lvl="1" indent="-310832" algn="l" rtl="0">
              <a:spcBef>
                <a:spcPts val="0"/>
              </a:spcBef>
              <a:spcAft>
                <a:spcPts val="0"/>
              </a:spcAft>
              <a:buSzPct val="100000"/>
              <a:buChar char="○"/>
            </a:pPr>
            <a:r>
              <a:rPr lang="en" dirty="0"/>
              <a:t>Inheritance is automatic</a:t>
            </a:r>
            <a:endParaRPr dirty="0"/>
          </a:p>
          <a:p>
            <a:pPr marL="457200" lvl="0" indent="-334328" algn="l" rtl="0">
              <a:spcBef>
                <a:spcPts val="0"/>
              </a:spcBef>
              <a:spcAft>
                <a:spcPts val="0"/>
              </a:spcAft>
              <a:buSzPct val="100000"/>
              <a:buChar char="●"/>
            </a:pPr>
            <a:r>
              <a:rPr lang="en" dirty="0"/>
              <a:t>The object being inherited from is known as the prototype, and the inherited properties can be found in the prototype object of the constructor.</a:t>
            </a:r>
            <a:endParaRPr dirty="0"/>
          </a:p>
          <a:p>
            <a:pPr marL="914400" lvl="1" indent="-310832" algn="l" rtl="0">
              <a:spcBef>
                <a:spcPts val="0"/>
              </a:spcBef>
              <a:spcAft>
                <a:spcPts val="0"/>
              </a:spcAft>
              <a:buSzPct val="100000"/>
              <a:buChar char="○"/>
            </a:pPr>
            <a:r>
              <a:rPr lang="en" dirty="0">
                <a:solidFill>
                  <a:srgbClr val="2502F8"/>
                </a:solidFill>
              </a:rPr>
              <a:t>When you create an object using a constructor function, JavaScript automatically attaches a hidden link </a:t>
            </a:r>
            <a:r>
              <a:rPr lang="en" b="1" dirty="0">
                <a:solidFill>
                  <a:srgbClr val="2502F8"/>
                </a:solidFill>
              </a:rPr>
              <a:t>(__proto__) </a:t>
            </a:r>
            <a:r>
              <a:rPr lang="en" dirty="0">
                <a:solidFill>
                  <a:srgbClr val="2502F8"/>
                </a:solidFill>
              </a:rPr>
              <a:t>from the new object to the constructor’s prototype object</a:t>
            </a:r>
            <a:r>
              <a:rPr lang="en" dirty="0"/>
              <a:t>. This automatic linkage is why all objects inherit properties and methods, even though the word prototype does not explicitly appear in your code.</a:t>
            </a:r>
            <a:endParaRPr dirty="0"/>
          </a:p>
          <a:p>
            <a:pPr marL="457200" lvl="0" indent="-334328" algn="l" rtl="0">
              <a:spcBef>
                <a:spcPts val="0"/>
              </a:spcBef>
              <a:spcAft>
                <a:spcPts val="0"/>
              </a:spcAft>
              <a:buSzPct val="100000"/>
              <a:buChar char="●"/>
            </a:pPr>
            <a:r>
              <a:rPr lang="en" b="1" dirty="0">
                <a:solidFill>
                  <a:srgbClr val="2502F8"/>
                </a:solidFill>
              </a:rPr>
              <a:t>prototype</a:t>
            </a:r>
            <a:r>
              <a:rPr lang="en" dirty="0"/>
              <a:t>: An </a:t>
            </a:r>
            <a:r>
              <a:rPr lang="en" b="1" dirty="0">
                <a:solidFill>
                  <a:srgbClr val="2502F8"/>
                </a:solidFill>
              </a:rPr>
              <a:t>object</a:t>
            </a:r>
            <a:r>
              <a:rPr lang="en" dirty="0"/>
              <a:t> automatically created for every constructor function. Any key–value properties or function properties added to this prototype are shared by all instances created with new Constructor(), because they all link to the same prototype object.</a:t>
            </a:r>
            <a:endParaRPr dirty="0"/>
          </a:p>
          <a:p>
            <a:pPr marL="457200" lvl="0" indent="-334328" algn="l" rtl="0">
              <a:spcBef>
                <a:spcPts val="0"/>
              </a:spcBef>
              <a:spcAft>
                <a:spcPts val="0"/>
              </a:spcAft>
              <a:buSzPct val="100000"/>
              <a:buChar char="●"/>
            </a:pPr>
            <a:r>
              <a:rPr lang="en" b="1" dirty="0">
                <a:solidFill>
                  <a:srgbClr val="2502F8"/>
                </a:solidFill>
              </a:rPr>
              <a:t>__proto__: </a:t>
            </a:r>
            <a:r>
              <a:rPr lang="en" dirty="0"/>
              <a:t>A </a:t>
            </a:r>
            <a:r>
              <a:rPr lang="en" b="1" dirty="0">
                <a:solidFill>
                  <a:srgbClr val="2502F8"/>
                </a:solidFill>
              </a:rPr>
              <a:t>property</a:t>
            </a:r>
            <a:r>
              <a:rPr lang="en" dirty="0"/>
              <a:t> on every object whose value is a reference to another object — specifically, the constructor’s prototype. This hidden link forms the </a:t>
            </a:r>
            <a:r>
              <a:rPr lang="en" b="1" dirty="0">
                <a:solidFill>
                  <a:srgbClr val="2502F8"/>
                </a:solidFill>
              </a:rPr>
              <a:t>prototype chain</a:t>
            </a:r>
            <a:r>
              <a:rPr lang="en" dirty="0"/>
              <a:t>, enabling inheritance of shared properties and methods.</a:t>
            </a:r>
            <a:endParaRPr dirty="0"/>
          </a:p>
        </p:txBody>
      </p:sp>
      <p:sp>
        <p:nvSpPr>
          <p:cNvPr id="365" name="Google Shape;365;p5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5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Object Inheritance</a:t>
            </a:r>
            <a:endParaRPr/>
          </a:p>
          <a:p>
            <a:pPr marL="0" lvl="0" indent="0" algn="l" rtl="0">
              <a:spcBef>
                <a:spcPts val="0"/>
              </a:spcBef>
              <a:spcAft>
                <a:spcPts val="0"/>
              </a:spcAft>
              <a:buNone/>
            </a:pPr>
            <a:endParaRPr/>
          </a:p>
        </p:txBody>
      </p:sp>
      <p:sp>
        <p:nvSpPr>
          <p:cNvPr id="371" name="Google Shape;371;p5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40</a:t>
            </a:fld>
            <a:endParaRPr/>
          </a:p>
        </p:txBody>
      </p:sp>
      <p:sp>
        <p:nvSpPr>
          <p:cNvPr id="372" name="Google Shape;372;p51"/>
          <p:cNvSpPr txBox="1"/>
          <p:nvPr/>
        </p:nvSpPr>
        <p:spPr>
          <a:xfrm>
            <a:off x="843600" y="1217975"/>
            <a:ext cx="7456800" cy="36480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900" dirty="0">
                <a:solidFill>
                  <a:srgbClr val="8B949E"/>
                </a:solidFill>
                <a:highlight>
                  <a:srgbClr val="121314"/>
                </a:highlight>
                <a:latin typeface="Courier New"/>
                <a:ea typeface="Courier New"/>
                <a:cs typeface="Courier New"/>
                <a:sym typeface="Courier New"/>
              </a:rPr>
              <a:t>// Constructor function</a:t>
            </a:r>
            <a:endParaRPr sz="900" dirty="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FF7B72"/>
                </a:solidFill>
                <a:highlight>
                  <a:srgbClr val="121314"/>
                </a:highlight>
                <a:latin typeface="Courier New"/>
                <a:ea typeface="Courier New"/>
                <a:cs typeface="Courier New"/>
                <a:sym typeface="Courier New"/>
              </a:rPr>
              <a:t>function</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4EC9B0"/>
                </a:solidFill>
                <a:highlight>
                  <a:srgbClr val="121314"/>
                </a:highlight>
                <a:latin typeface="Courier New"/>
                <a:ea typeface="Courier New"/>
                <a:cs typeface="Courier New"/>
                <a:sym typeface="Courier New"/>
              </a:rPr>
              <a:t>Person</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FFA657"/>
                </a:solidFill>
                <a:highlight>
                  <a:srgbClr val="121314"/>
                </a:highlight>
                <a:latin typeface="Courier New"/>
                <a:ea typeface="Courier New"/>
                <a:cs typeface="Courier New"/>
                <a:sym typeface="Courier New"/>
              </a:rPr>
              <a:t>name</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C9D1D9"/>
                </a:solidFill>
                <a:highlight>
                  <a:srgbClr val="121314"/>
                </a:highlight>
                <a:latin typeface="Courier New"/>
                <a:ea typeface="Courier New"/>
                <a:cs typeface="Courier New"/>
                <a:sym typeface="Courier New"/>
              </a:rPr>
              <a:t>{</a:t>
            </a:r>
            <a:endParaRPr sz="900" dirty="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C9D1D9"/>
                </a:solidFill>
                <a:highlight>
                  <a:srgbClr val="121314"/>
                </a:highlight>
                <a:latin typeface="Courier New"/>
                <a:ea typeface="Courier New"/>
                <a:cs typeface="Courier New"/>
                <a:sym typeface="Courier New"/>
              </a:rPr>
              <a:t> </a:t>
            </a:r>
            <a:r>
              <a:rPr lang="en" sz="900" dirty="0">
                <a:solidFill>
                  <a:srgbClr val="79C0FF"/>
                </a:solidFill>
                <a:highlight>
                  <a:srgbClr val="121314"/>
                </a:highlight>
                <a:latin typeface="Courier New"/>
                <a:ea typeface="Courier New"/>
                <a:cs typeface="Courier New"/>
                <a:sym typeface="Courier New"/>
              </a:rPr>
              <a:t>this</a:t>
            </a:r>
            <a:r>
              <a:rPr lang="en" sz="900" dirty="0">
                <a:solidFill>
                  <a:srgbClr val="C9D1D9"/>
                </a:solidFill>
                <a:highlight>
                  <a:srgbClr val="121314"/>
                </a:highlight>
                <a:latin typeface="Courier New"/>
                <a:ea typeface="Courier New"/>
                <a:cs typeface="Courier New"/>
                <a:sym typeface="Courier New"/>
              </a:rPr>
              <a:t>.name </a:t>
            </a:r>
            <a:r>
              <a:rPr lang="en" sz="900" dirty="0">
                <a:solidFill>
                  <a:srgbClr val="D4D4D4"/>
                </a:solidFill>
                <a:highlight>
                  <a:srgbClr val="121314"/>
                </a:highlight>
                <a:latin typeface="Courier New"/>
                <a:ea typeface="Courier New"/>
                <a:cs typeface="Courier New"/>
                <a:sym typeface="Courier New"/>
              </a:rPr>
              <a:t>=</a:t>
            </a:r>
            <a:r>
              <a:rPr lang="en" sz="900" dirty="0">
                <a:solidFill>
                  <a:srgbClr val="C9D1D9"/>
                </a:solidFill>
                <a:highlight>
                  <a:srgbClr val="121314"/>
                </a:highlight>
                <a:latin typeface="Courier New"/>
                <a:ea typeface="Courier New"/>
                <a:cs typeface="Courier New"/>
                <a:sym typeface="Courier New"/>
              </a:rPr>
              <a:t> </a:t>
            </a:r>
            <a:r>
              <a:rPr lang="en" sz="900" dirty="0">
                <a:solidFill>
                  <a:srgbClr val="FFA657"/>
                </a:solidFill>
                <a:highlight>
                  <a:srgbClr val="121314"/>
                </a:highlight>
                <a:latin typeface="Courier New"/>
                <a:ea typeface="Courier New"/>
                <a:cs typeface="Courier New"/>
                <a:sym typeface="Courier New"/>
              </a:rPr>
              <a:t>name</a:t>
            </a:r>
            <a:r>
              <a:rPr lang="en" sz="900" dirty="0">
                <a:solidFill>
                  <a:srgbClr val="C9D1D9"/>
                </a:solidFill>
                <a:highlight>
                  <a:srgbClr val="121314"/>
                </a:highlight>
                <a:latin typeface="Courier New"/>
                <a:ea typeface="Courier New"/>
                <a:cs typeface="Courier New"/>
                <a:sym typeface="Courier New"/>
              </a:rPr>
              <a:t>;</a:t>
            </a:r>
            <a:endParaRPr sz="900" dirty="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C9D1D9"/>
                </a:solidFill>
                <a:highlight>
                  <a:srgbClr val="121314"/>
                </a:highlight>
                <a:latin typeface="Courier New"/>
                <a:ea typeface="Courier New"/>
                <a:cs typeface="Courier New"/>
                <a:sym typeface="Courier New"/>
              </a:rPr>
              <a:t>}</a:t>
            </a:r>
            <a:endParaRPr sz="900" dirty="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8B949E"/>
                </a:solidFill>
                <a:highlight>
                  <a:srgbClr val="121314"/>
                </a:highlight>
                <a:latin typeface="Courier New"/>
                <a:ea typeface="Courier New"/>
                <a:cs typeface="Courier New"/>
                <a:sym typeface="Courier New"/>
              </a:rPr>
              <a:t>// Add a method to the prototype</a:t>
            </a:r>
            <a:endParaRPr sz="900" dirty="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4EC9B0"/>
                </a:solidFill>
                <a:highlight>
                  <a:srgbClr val="121314"/>
                </a:highlight>
                <a:latin typeface="Courier New"/>
                <a:ea typeface="Courier New"/>
                <a:cs typeface="Courier New"/>
                <a:sym typeface="Courier New"/>
              </a:rPr>
              <a:t>Person</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79C0FF"/>
                </a:solidFill>
                <a:highlight>
                  <a:srgbClr val="121314"/>
                </a:highlight>
                <a:latin typeface="Courier New"/>
                <a:ea typeface="Courier New"/>
                <a:cs typeface="Courier New"/>
                <a:sym typeface="Courier New"/>
              </a:rPr>
              <a:t>prototype</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D2A8FF"/>
                </a:solidFill>
                <a:highlight>
                  <a:srgbClr val="121314"/>
                </a:highlight>
                <a:latin typeface="Courier New"/>
                <a:ea typeface="Courier New"/>
                <a:cs typeface="Courier New"/>
                <a:sym typeface="Courier New"/>
              </a:rPr>
              <a:t>greet</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D4D4D4"/>
                </a:solidFill>
                <a:highlight>
                  <a:srgbClr val="121314"/>
                </a:highlight>
                <a:latin typeface="Courier New"/>
                <a:ea typeface="Courier New"/>
                <a:cs typeface="Courier New"/>
                <a:sym typeface="Courier New"/>
              </a:rPr>
              <a:t>=</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FF7B72"/>
                </a:solidFill>
                <a:highlight>
                  <a:srgbClr val="121314"/>
                </a:highlight>
                <a:latin typeface="Courier New"/>
                <a:ea typeface="Courier New"/>
                <a:cs typeface="Courier New"/>
                <a:sym typeface="Courier New"/>
              </a:rPr>
              <a:t>function</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C9D1D9"/>
                </a:solidFill>
                <a:highlight>
                  <a:srgbClr val="121314"/>
                </a:highlight>
                <a:latin typeface="Courier New"/>
                <a:ea typeface="Courier New"/>
                <a:cs typeface="Courier New"/>
                <a:sym typeface="Courier New"/>
              </a:rPr>
              <a:t>{</a:t>
            </a:r>
            <a:endParaRPr sz="900" dirty="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C9D1D9"/>
                </a:solidFill>
                <a:highlight>
                  <a:srgbClr val="121314"/>
                </a:highlight>
                <a:latin typeface="Courier New"/>
                <a:ea typeface="Courier New"/>
                <a:cs typeface="Courier New"/>
                <a:sym typeface="Courier New"/>
              </a:rPr>
              <a:t> </a:t>
            </a:r>
            <a:r>
              <a:rPr lang="en" sz="900" dirty="0">
                <a:solidFill>
                  <a:srgbClr val="79C0FF"/>
                </a:solidFill>
                <a:highlight>
                  <a:srgbClr val="121314"/>
                </a:highlight>
                <a:latin typeface="Courier New"/>
                <a:ea typeface="Courier New"/>
                <a:cs typeface="Courier New"/>
                <a:sym typeface="Courier New"/>
              </a:rPr>
              <a:t>console</a:t>
            </a:r>
            <a:r>
              <a:rPr lang="en" sz="900" dirty="0">
                <a:solidFill>
                  <a:srgbClr val="C9D1D9"/>
                </a:solidFill>
                <a:highlight>
                  <a:srgbClr val="121314"/>
                </a:highlight>
                <a:latin typeface="Courier New"/>
                <a:ea typeface="Courier New"/>
                <a:cs typeface="Courier New"/>
                <a:sym typeface="Courier New"/>
              </a:rPr>
              <a:t>.</a:t>
            </a:r>
            <a:r>
              <a:rPr lang="en" sz="900" dirty="0">
                <a:solidFill>
                  <a:srgbClr val="D2A8FF"/>
                </a:solidFill>
                <a:highlight>
                  <a:srgbClr val="121314"/>
                </a:highlight>
                <a:latin typeface="Courier New"/>
                <a:ea typeface="Courier New"/>
                <a:cs typeface="Courier New"/>
                <a:sym typeface="Courier New"/>
              </a:rPr>
              <a:t>log</a:t>
            </a:r>
            <a:r>
              <a:rPr lang="en" sz="900" dirty="0">
                <a:solidFill>
                  <a:srgbClr val="C9D1D9"/>
                </a:solidFill>
                <a:highlight>
                  <a:srgbClr val="121314"/>
                </a:highlight>
                <a:latin typeface="Courier New"/>
                <a:ea typeface="Courier New"/>
                <a:cs typeface="Courier New"/>
                <a:sym typeface="Courier New"/>
              </a:rPr>
              <a:t>(</a:t>
            </a:r>
            <a:r>
              <a:rPr lang="en" sz="900" dirty="0">
                <a:solidFill>
                  <a:srgbClr val="A5D6FF"/>
                </a:solidFill>
                <a:highlight>
                  <a:srgbClr val="121314"/>
                </a:highlight>
                <a:latin typeface="Courier New"/>
                <a:ea typeface="Courier New"/>
                <a:cs typeface="Courier New"/>
                <a:sym typeface="Courier New"/>
              </a:rPr>
              <a:t>`Hi, I'm </a:t>
            </a:r>
            <a:r>
              <a:rPr lang="en" sz="900" dirty="0">
                <a:solidFill>
                  <a:srgbClr val="569CD6"/>
                </a:solidFill>
                <a:highlight>
                  <a:srgbClr val="121314"/>
                </a:highlight>
                <a:latin typeface="Courier New"/>
                <a:ea typeface="Courier New"/>
                <a:cs typeface="Courier New"/>
                <a:sym typeface="Courier New"/>
              </a:rPr>
              <a:t>${</a:t>
            </a:r>
            <a:r>
              <a:rPr lang="en" sz="900" dirty="0">
                <a:solidFill>
                  <a:srgbClr val="79C0FF"/>
                </a:solidFill>
                <a:highlight>
                  <a:srgbClr val="121314"/>
                </a:highlight>
                <a:latin typeface="Courier New"/>
                <a:ea typeface="Courier New"/>
                <a:cs typeface="Courier New"/>
                <a:sym typeface="Courier New"/>
              </a:rPr>
              <a:t>this</a:t>
            </a:r>
            <a:r>
              <a:rPr lang="en" sz="900" dirty="0">
                <a:solidFill>
                  <a:srgbClr val="D4D4D4"/>
                </a:solidFill>
                <a:highlight>
                  <a:srgbClr val="121314"/>
                </a:highlight>
                <a:latin typeface="Courier New"/>
                <a:ea typeface="Courier New"/>
                <a:cs typeface="Courier New"/>
                <a:sym typeface="Courier New"/>
              </a:rPr>
              <a:t>.</a:t>
            </a:r>
            <a:r>
              <a:rPr lang="en" sz="900" dirty="0">
                <a:solidFill>
                  <a:srgbClr val="C9D1D9"/>
                </a:solidFill>
                <a:highlight>
                  <a:srgbClr val="121314"/>
                </a:highlight>
                <a:latin typeface="Courier New"/>
                <a:ea typeface="Courier New"/>
                <a:cs typeface="Courier New"/>
                <a:sym typeface="Courier New"/>
              </a:rPr>
              <a:t>name</a:t>
            </a:r>
            <a:r>
              <a:rPr lang="en" sz="900" dirty="0">
                <a:solidFill>
                  <a:srgbClr val="569CD6"/>
                </a:solidFill>
                <a:highlight>
                  <a:srgbClr val="121314"/>
                </a:highlight>
                <a:latin typeface="Courier New"/>
                <a:ea typeface="Courier New"/>
                <a:cs typeface="Courier New"/>
                <a:sym typeface="Courier New"/>
              </a:rPr>
              <a:t>}</a:t>
            </a:r>
            <a:r>
              <a:rPr lang="en" sz="900" dirty="0">
                <a:solidFill>
                  <a:srgbClr val="A5D6FF"/>
                </a:solidFill>
                <a:highlight>
                  <a:srgbClr val="121314"/>
                </a:highlight>
                <a:latin typeface="Courier New"/>
                <a:ea typeface="Courier New"/>
                <a:cs typeface="Courier New"/>
                <a:sym typeface="Courier New"/>
              </a:rPr>
              <a:t>`</a:t>
            </a:r>
            <a:r>
              <a:rPr lang="en" sz="900" dirty="0">
                <a:solidFill>
                  <a:srgbClr val="C9D1D9"/>
                </a:solidFill>
                <a:highlight>
                  <a:srgbClr val="121314"/>
                </a:highlight>
                <a:latin typeface="Courier New"/>
                <a:ea typeface="Courier New"/>
                <a:cs typeface="Courier New"/>
                <a:sym typeface="Courier New"/>
              </a:rPr>
              <a:t>);</a:t>
            </a:r>
            <a:endParaRPr sz="900" dirty="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C9D1D9"/>
                </a:solidFill>
                <a:highlight>
                  <a:srgbClr val="121314"/>
                </a:highlight>
                <a:latin typeface="Courier New"/>
                <a:ea typeface="Courier New"/>
                <a:cs typeface="Courier New"/>
                <a:sym typeface="Courier New"/>
              </a:rPr>
              <a:t>}</a:t>
            </a:r>
            <a:r>
              <a:rPr lang="en" sz="900" dirty="0">
                <a:solidFill>
                  <a:srgbClr val="BBBEBF"/>
                </a:solidFill>
                <a:highlight>
                  <a:srgbClr val="121314"/>
                </a:highlight>
                <a:latin typeface="Courier New"/>
                <a:ea typeface="Courier New"/>
                <a:cs typeface="Courier New"/>
                <a:sym typeface="Courier New"/>
              </a:rPr>
              <a:t>;</a:t>
            </a: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8B949E"/>
                </a:solidFill>
                <a:highlight>
                  <a:srgbClr val="121314"/>
                </a:highlight>
                <a:latin typeface="Courier New"/>
                <a:ea typeface="Courier New"/>
                <a:cs typeface="Courier New"/>
                <a:sym typeface="Courier New"/>
              </a:rPr>
              <a:t>// Create an instance</a:t>
            </a:r>
            <a:endParaRPr sz="900" dirty="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FF7B72"/>
                </a:solidFill>
                <a:highlight>
                  <a:srgbClr val="121314"/>
                </a:highlight>
                <a:latin typeface="Courier New"/>
                <a:ea typeface="Courier New"/>
                <a:cs typeface="Courier New"/>
                <a:sym typeface="Courier New"/>
              </a:rPr>
              <a:t>const</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79C0FF"/>
                </a:solidFill>
                <a:highlight>
                  <a:srgbClr val="121314"/>
                </a:highlight>
                <a:latin typeface="Courier New"/>
                <a:ea typeface="Courier New"/>
                <a:cs typeface="Courier New"/>
                <a:sym typeface="Courier New"/>
              </a:rPr>
              <a:t>alice</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D4D4D4"/>
                </a:solidFill>
                <a:highlight>
                  <a:srgbClr val="121314"/>
                </a:highlight>
                <a:latin typeface="Courier New"/>
                <a:ea typeface="Courier New"/>
                <a:cs typeface="Courier New"/>
                <a:sym typeface="Courier New"/>
              </a:rPr>
              <a:t>=</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569CD6"/>
                </a:solidFill>
                <a:highlight>
                  <a:srgbClr val="121314"/>
                </a:highlight>
                <a:latin typeface="Courier New"/>
                <a:ea typeface="Courier New"/>
                <a:cs typeface="Courier New"/>
                <a:sym typeface="Courier New"/>
              </a:rPr>
              <a:t>new</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4EC9B0"/>
                </a:solidFill>
                <a:highlight>
                  <a:srgbClr val="121314"/>
                </a:highlight>
                <a:latin typeface="Courier New"/>
                <a:ea typeface="Courier New"/>
                <a:cs typeface="Courier New"/>
                <a:sym typeface="Courier New"/>
              </a:rPr>
              <a:t>Person</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A5D6FF"/>
                </a:solidFill>
                <a:highlight>
                  <a:srgbClr val="121314"/>
                </a:highlight>
                <a:latin typeface="Courier New"/>
                <a:ea typeface="Courier New"/>
                <a:cs typeface="Courier New"/>
                <a:sym typeface="Courier New"/>
              </a:rPr>
              <a:t>"Alice"</a:t>
            </a:r>
            <a:r>
              <a:rPr lang="en" sz="900" dirty="0">
                <a:solidFill>
                  <a:srgbClr val="BBBEBF"/>
                </a:solidFill>
                <a:highlight>
                  <a:srgbClr val="121314"/>
                </a:highlight>
                <a:latin typeface="Courier New"/>
                <a:ea typeface="Courier New"/>
                <a:cs typeface="Courier New"/>
                <a:sym typeface="Courier New"/>
              </a:rPr>
              <a:t>);</a:t>
            </a: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8B949E"/>
                </a:solidFill>
                <a:highlight>
                  <a:srgbClr val="121314"/>
                </a:highlight>
                <a:latin typeface="Courier New"/>
                <a:ea typeface="Courier New"/>
                <a:cs typeface="Courier New"/>
                <a:sym typeface="Courier New"/>
              </a:rPr>
              <a:t>// Even though we never wrote "prototype" in the new statement,</a:t>
            </a:r>
            <a:endParaRPr sz="900" dirty="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8B949E"/>
                </a:solidFill>
                <a:highlight>
                  <a:srgbClr val="121314"/>
                </a:highlight>
                <a:latin typeface="Courier New"/>
                <a:ea typeface="Courier New"/>
                <a:cs typeface="Courier New"/>
                <a:sym typeface="Courier New"/>
              </a:rPr>
              <a:t>// the system automatically linked alice.__proto__ to Person.prototype</a:t>
            </a:r>
            <a:endParaRPr sz="900" dirty="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79C0FF"/>
                </a:solidFill>
                <a:highlight>
                  <a:srgbClr val="121314"/>
                </a:highlight>
                <a:latin typeface="Courier New"/>
                <a:ea typeface="Courier New"/>
                <a:cs typeface="Courier New"/>
                <a:sym typeface="Courier New"/>
              </a:rPr>
              <a:t>console</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D2A8FF"/>
                </a:solidFill>
                <a:highlight>
                  <a:srgbClr val="121314"/>
                </a:highlight>
                <a:latin typeface="Courier New"/>
                <a:ea typeface="Courier New"/>
                <a:cs typeface="Courier New"/>
                <a:sym typeface="Courier New"/>
              </a:rPr>
              <a:t>log</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79C0FF"/>
                </a:solidFill>
                <a:highlight>
                  <a:srgbClr val="121314"/>
                </a:highlight>
                <a:latin typeface="Courier New"/>
                <a:ea typeface="Courier New"/>
                <a:cs typeface="Courier New"/>
                <a:sym typeface="Courier New"/>
              </a:rPr>
              <a:t>alice</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79C0FF"/>
                </a:solidFill>
                <a:highlight>
                  <a:srgbClr val="121314"/>
                </a:highlight>
                <a:latin typeface="Courier New"/>
                <a:ea typeface="Courier New"/>
                <a:cs typeface="Courier New"/>
                <a:sym typeface="Courier New"/>
              </a:rPr>
              <a:t>__proto__</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D4D4D4"/>
                </a:solidFill>
                <a:highlight>
                  <a:srgbClr val="121314"/>
                </a:highlight>
                <a:latin typeface="Courier New"/>
                <a:ea typeface="Courier New"/>
                <a:cs typeface="Courier New"/>
                <a:sym typeface="Courier New"/>
              </a:rPr>
              <a:t>===</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4EC9B0"/>
                </a:solidFill>
                <a:highlight>
                  <a:srgbClr val="121314"/>
                </a:highlight>
                <a:latin typeface="Courier New"/>
                <a:ea typeface="Courier New"/>
                <a:cs typeface="Courier New"/>
                <a:sym typeface="Courier New"/>
              </a:rPr>
              <a:t>Person</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79C0FF"/>
                </a:solidFill>
                <a:highlight>
                  <a:srgbClr val="121314"/>
                </a:highlight>
                <a:latin typeface="Courier New"/>
                <a:ea typeface="Courier New"/>
                <a:cs typeface="Courier New"/>
                <a:sym typeface="Courier New"/>
              </a:rPr>
              <a:t>prototype</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8B949E"/>
                </a:solidFill>
                <a:highlight>
                  <a:srgbClr val="121314"/>
                </a:highlight>
                <a:latin typeface="Courier New"/>
                <a:ea typeface="Courier New"/>
                <a:cs typeface="Courier New"/>
                <a:sym typeface="Courier New"/>
              </a:rPr>
              <a:t>// true</a:t>
            </a:r>
            <a:endParaRPr sz="900" dirty="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900" dirty="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8B949E"/>
                </a:solidFill>
                <a:highlight>
                  <a:srgbClr val="121314"/>
                </a:highlight>
                <a:latin typeface="Courier New"/>
                <a:ea typeface="Courier New"/>
                <a:cs typeface="Courier New"/>
                <a:sym typeface="Courier New"/>
              </a:rPr>
              <a:t>// alice can use greet because it's found in Person.prototype</a:t>
            </a:r>
            <a:endParaRPr sz="900" dirty="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dirty="0">
                <a:solidFill>
                  <a:srgbClr val="79C0FF"/>
                </a:solidFill>
                <a:highlight>
                  <a:srgbClr val="121314"/>
                </a:highlight>
                <a:latin typeface="Courier New"/>
                <a:ea typeface="Courier New"/>
                <a:cs typeface="Courier New"/>
                <a:sym typeface="Courier New"/>
              </a:rPr>
              <a:t>alice</a:t>
            </a:r>
            <a:r>
              <a:rPr lang="en" sz="900" dirty="0">
                <a:solidFill>
                  <a:srgbClr val="BBBEBF"/>
                </a:solidFill>
                <a:highlight>
                  <a:srgbClr val="121314"/>
                </a:highlight>
                <a:latin typeface="Courier New"/>
                <a:ea typeface="Courier New"/>
                <a:cs typeface="Courier New"/>
                <a:sym typeface="Courier New"/>
              </a:rPr>
              <a:t>.</a:t>
            </a:r>
            <a:r>
              <a:rPr lang="en" sz="900" dirty="0">
                <a:solidFill>
                  <a:srgbClr val="D2A8FF"/>
                </a:solidFill>
                <a:highlight>
                  <a:srgbClr val="121314"/>
                </a:highlight>
                <a:latin typeface="Courier New"/>
                <a:ea typeface="Courier New"/>
                <a:cs typeface="Courier New"/>
                <a:sym typeface="Courier New"/>
              </a:rPr>
              <a:t>greet</a:t>
            </a:r>
            <a:r>
              <a:rPr lang="en" sz="900" dirty="0">
                <a:solidFill>
                  <a:srgbClr val="BBBEBF"/>
                </a:solidFill>
                <a:highlight>
                  <a:srgbClr val="121314"/>
                </a:highlight>
                <a:latin typeface="Courier New"/>
                <a:ea typeface="Courier New"/>
                <a:cs typeface="Courier New"/>
                <a:sym typeface="Courier New"/>
              </a:rPr>
              <a:t>(); </a:t>
            </a:r>
            <a:r>
              <a:rPr lang="en" sz="900" dirty="0">
                <a:solidFill>
                  <a:srgbClr val="8B949E"/>
                </a:solidFill>
                <a:highlight>
                  <a:srgbClr val="121314"/>
                </a:highlight>
                <a:latin typeface="Courier New"/>
                <a:ea typeface="Courier New"/>
                <a:cs typeface="Courier New"/>
                <a:sym typeface="Courier New"/>
              </a:rPr>
              <a:t>// "Hi, I'm Alice"</a:t>
            </a:r>
            <a:endParaRPr sz="900" dirty="0">
              <a:solidFill>
                <a:srgbClr val="8B949E"/>
              </a:solidFill>
              <a:highlight>
                <a:srgbClr val="121314"/>
              </a:highlight>
              <a:latin typeface="Courier New"/>
              <a:ea typeface="Courier New"/>
              <a:cs typeface="Courier New"/>
              <a:sym typeface="Courier New"/>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5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Object getters and setters Functions</a:t>
            </a:r>
            <a:r>
              <a:rPr lang="en" altLang="zh-TW" sz="2400" dirty="0"/>
              <a:t> ─</a:t>
            </a:r>
            <a:r>
              <a:rPr lang="zh-TW" altLang="en-US" sz="2400" dirty="0"/>
              <a:t> </a:t>
            </a:r>
            <a:r>
              <a:rPr lang="en-US" altLang="zh-TW" sz="2400" dirty="0"/>
              <a:t>Object literal</a:t>
            </a:r>
            <a:endParaRPr sz="2400" dirty="0"/>
          </a:p>
        </p:txBody>
      </p:sp>
      <p:sp>
        <p:nvSpPr>
          <p:cNvPr id="378" name="Google Shape;378;p5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41</a:t>
            </a:fld>
            <a:endParaRPr/>
          </a:p>
        </p:txBody>
      </p:sp>
      <p:sp>
        <p:nvSpPr>
          <p:cNvPr id="379" name="Google Shape;379;p52"/>
          <p:cNvSpPr txBox="1">
            <a:spLocks noGrp="1"/>
          </p:cNvSpPr>
          <p:nvPr>
            <p:ph type="body" idx="1"/>
          </p:nvPr>
        </p:nvSpPr>
        <p:spPr>
          <a:xfrm>
            <a:off x="311700" y="1152475"/>
            <a:ext cx="8520600" cy="20106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A </a:t>
            </a:r>
            <a:r>
              <a:rPr lang="en" dirty="0">
                <a:solidFill>
                  <a:srgbClr val="2502F8"/>
                </a:solidFill>
              </a:rPr>
              <a:t>getter</a:t>
            </a:r>
            <a:r>
              <a:rPr lang="en" dirty="0"/>
              <a:t> is a function associated with a property that gets the value of a specific property. </a:t>
            </a:r>
            <a:endParaRPr dirty="0"/>
          </a:p>
          <a:p>
            <a:pPr marL="914400" lvl="1" indent="-317500" algn="l" rtl="0">
              <a:spcBef>
                <a:spcPts val="0"/>
              </a:spcBef>
              <a:spcAft>
                <a:spcPts val="0"/>
              </a:spcAft>
              <a:buSzPts val="1400"/>
              <a:buChar char="○"/>
            </a:pPr>
            <a:r>
              <a:rPr lang="en" dirty="0">
                <a:solidFill>
                  <a:srgbClr val="FF0000"/>
                </a:solidFill>
              </a:rPr>
              <a:t>must not expect a parameter</a:t>
            </a:r>
            <a:endParaRPr dirty="0">
              <a:solidFill>
                <a:srgbClr val="FF0000"/>
              </a:solidFill>
            </a:endParaRPr>
          </a:p>
          <a:p>
            <a:pPr marL="457200" lvl="0" indent="-342900" algn="l" rtl="0">
              <a:spcBef>
                <a:spcPts val="0"/>
              </a:spcBef>
              <a:spcAft>
                <a:spcPts val="0"/>
              </a:spcAft>
              <a:buSzPts val="1800"/>
              <a:buChar char="●"/>
            </a:pPr>
            <a:r>
              <a:rPr lang="en" dirty="0"/>
              <a:t>A </a:t>
            </a:r>
            <a:r>
              <a:rPr lang="en" dirty="0">
                <a:solidFill>
                  <a:srgbClr val="2502F8"/>
                </a:solidFill>
              </a:rPr>
              <a:t>setter</a:t>
            </a:r>
            <a:r>
              <a:rPr lang="en" dirty="0"/>
              <a:t> is a function associated with a property that sets the value of a specific property.</a:t>
            </a:r>
            <a:endParaRPr dirty="0"/>
          </a:p>
          <a:p>
            <a:pPr marL="914400" lvl="1" indent="-317500" algn="l" rtl="0">
              <a:spcBef>
                <a:spcPts val="0"/>
              </a:spcBef>
              <a:spcAft>
                <a:spcPts val="0"/>
              </a:spcAft>
              <a:buSzPts val="1400"/>
              <a:buChar char="○"/>
            </a:pPr>
            <a:r>
              <a:rPr lang="en" dirty="0">
                <a:solidFill>
                  <a:srgbClr val="2502F8"/>
                </a:solidFill>
              </a:rPr>
              <a:t>expects exactly one parameter (the new value to set)</a:t>
            </a:r>
            <a:endParaRPr dirty="0">
              <a:solidFill>
                <a:srgbClr val="2502F8"/>
              </a:solidFill>
            </a:endParaRPr>
          </a:p>
        </p:txBody>
      </p:sp>
      <p:sp>
        <p:nvSpPr>
          <p:cNvPr id="380" name="Google Shape;380;p52"/>
          <p:cNvSpPr txBox="1"/>
          <p:nvPr/>
        </p:nvSpPr>
        <p:spPr>
          <a:xfrm>
            <a:off x="249382" y="3073511"/>
            <a:ext cx="4017981" cy="1708130"/>
          </a:xfrm>
          <a:prstGeom prst="rect">
            <a:avLst/>
          </a:prstGeom>
          <a:solidFill>
            <a:schemeClr val="dk2"/>
          </a:solidFill>
          <a:ln>
            <a:noFill/>
          </a:ln>
        </p:spPr>
        <p:txBody>
          <a:bodyPr spcFirstLastPara="1" wrap="square" lIns="91425" tIns="91425" rIns="91425" bIns="91425" anchor="t" anchorCtr="0">
            <a:spAutoFit/>
          </a:bodyPr>
          <a:lstStyle/>
          <a:p>
            <a:r>
              <a:rPr lang="en-US" altLang="zh-TW" sz="1100" b="0" dirty="0">
                <a:solidFill>
                  <a:srgbClr val="FF7B72"/>
                </a:solidFill>
                <a:effectLst/>
                <a:latin typeface="Consolas" panose="020B0609020204030204" pitchFamily="49" charset="0"/>
              </a:rPr>
              <a:t>const</a:t>
            </a:r>
            <a:r>
              <a:rPr lang="en-US" altLang="zh-TW" sz="1100" b="0" dirty="0">
                <a:solidFill>
                  <a:srgbClr val="BBBEBF"/>
                </a:solidFill>
                <a:effectLst/>
                <a:latin typeface="Consolas" panose="020B0609020204030204" pitchFamily="49" charset="0"/>
              </a:rPr>
              <a:t> </a:t>
            </a:r>
            <a:r>
              <a:rPr lang="en-US" altLang="zh-TW" sz="1100" b="0" dirty="0" err="1">
                <a:solidFill>
                  <a:srgbClr val="79C0FF"/>
                </a:solidFill>
                <a:effectLst/>
                <a:latin typeface="Consolas" panose="020B0609020204030204" pitchFamily="49" charset="0"/>
              </a:rPr>
              <a:t>myObj</a:t>
            </a:r>
            <a:r>
              <a:rPr lang="en-US" altLang="zh-TW" sz="1100" b="0" dirty="0">
                <a:solidFill>
                  <a:srgbClr val="BBBEBF"/>
                </a:solidFill>
                <a:effectLst/>
                <a:latin typeface="Consolas" panose="020B0609020204030204" pitchFamily="49" charset="0"/>
              </a:rPr>
              <a:t> </a:t>
            </a:r>
            <a:r>
              <a:rPr lang="en-US" altLang="zh-TW" sz="1100" b="0" dirty="0">
                <a:solidFill>
                  <a:srgbClr val="D4D4D4"/>
                </a:solidFill>
                <a:effectLst/>
                <a:latin typeface="Consolas" panose="020B0609020204030204" pitchFamily="49" charset="0"/>
              </a:rPr>
              <a:t>=</a:t>
            </a:r>
            <a:r>
              <a:rPr lang="en-US" altLang="zh-TW" sz="1100" b="0" dirty="0">
                <a:solidFill>
                  <a:srgbClr val="BBBEBF"/>
                </a:solidFill>
                <a:effectLst/>
                <a:latin typeface="Consolas" panose="020B0609020204030204" pitchFamily="49" charset="0"/>
              </a:rPr>
              <a:t> {</a:t>
            </a:r>
          </a:p>
          <a:p>
            <a:r>
              <a:rPr lang="en-US" altLang="zh-TW" sz="1100" b="0" dirty="0">
                <a:solidFill>
                  <a:srgbClr val="BBBEBF"/>
                </a:solidFill>
                <a:effectLst/>
                <a:latin typeface="Consolas" panose="020B0609020204030204" pitchFamily="49" charset="0"/>
              </a:rPr>
              <a:t>  </a:t>
            </a:r>
            <a:r>
              <a:rPr lang="en-US" altLang="zh-TW" sz="1100" b="0" dirty="0">
                <a:solidFill>
                  <a:srgbClr val="C9D1D9"/>
                </a:solidFill>
                <a:effectLst/>
                <a:latin typeface="Consolas" panose="020B0609020204030204" pitchFamily="49" charset="0"/>
              </a:rPr>
              <a:t>a</a:t>
            </a:r>
            <a:r>
              <a:rPr lang="en-US" altLang="zh-TW" sz="1100" b="0" dirty="0">
                <a:solidFill>
                  <a:srgbClr val="9CDCFE"/>
                </a:solidFill>
                <a:effectLst/>
                <a:latin typeface="Consolas" panose="020B0609020204030204" pitchFamily="49" charset="0"/>
              </a:rPr>
              <a:t>:</a:t>
            </a:r>
            <a:r>
              <a:rPr lang="en-US" altLang="zh-TW" sz="1100" b="0" dirty="0">
                <a:solidFill>
                  <a:srgbClr val="C9D1D9"/>
                </a:solidFill>
                <a:effectLst/>
                <a:latin typeface="Consolas" panose="020B0609020204030204" pitchFamily="49" charset="0"/>
              </a:rPr>
              <a:t> </a:t>
            </a:r>
            <a:r>
              <a:rPr lang="en-US" altLang="zh-TW" sz="1100" b="0" dirty="0">
                <a:solidFill>
                  <a:srgbClr val="B5CEA8"/>
                </a:solidFill>
                <a:effectLst/>
                <a:latin typeface="Consolas" panose="020B0609020204030204" pitchFamily="49" charset="0"/>
              </a:rPr>
              <a:t>7</a:t>
            </a:r>
            <a:r>
              <a:rPr lang="en-US" altLang="zh-TW" sz="1100" b="0" dirty="0">
                <a:solidFill>
                  <a:srgbClr val="BBBEBF"/>
                </a:solidFill>
                <a:effectLst/>
                <a:latin typeface="Consolas" panose="020B0609020204030204" pitchFamily="49" charset="0"/>
              </a:rPr>
              <a:t>,                </a:t>
            </a:r>
            <a:r>
              <a:rPr lang="en-US" altLang="zh-TW" sz="1100" b="0" dirty="0">
                <a:solidFill>
                  <a:srgbClr val="8B949E"/>
                </a:solidFill>
                <a:effectLst/>
                <a:latin typeface="Consolas" panose="020B0609020204030204" pitchFamily="49" charset="0"/>
              </a:rPr>
              <a:t>// </a:t>
            </a:r>
            <a:r>
              <a:rPr lang="zh-TW" altLang="en-US" sz="1100" b="0" dirty="0">
                <a:solidFill>
                  <a:srgbClr val="8B949E"/>
                </a:solidFill>
                <a:effectLst/>
                <a:latin typeface="Consolas" panose="020B0609020204030204" pitchFamily="49" charset="0"/>
              </a:rPr>
              <a:t>一般屬性（資料屬性）</a:t>
            </a:r>
            <a:endParaRPr lang="zh-TW" altLang="en-US" sz="1100" b="0" dirty="0">
              <a:solidFill>
                <a:srgbClr val="BBBEBF"/>
              </a:solidFill>
              <a:effectLst/>
              <a:latin typeface="Consolas" panose="020B0609020204030204" pitchFamily="49" charset="0"/>
            </a:endParaRPr>
          </a:p>
          <a:p>
            <a:r>
              <a:rPr lang="zh-TW" altLang="en-US" sz="1100" b="0" dirty="0">
                <a:solidFill>
                  <a:srgbClr val="BBBEBF"/>
                </a:solidFill>
                <a:effectLst/>
                <a:latin typeface="Consolas" panose="020B0609020204030204" pitchFamily="49" charset="0"/>
              </a:rPr>
              <a:t>  </a:t>
            </a:r>
            <a:r>
              <a:rPr lang="en-US" altLang="zh-TW" sz="1100" b="0" dirty="0">
                <a:solidFill>
                  <a:srgbClr val="FF7B72"/>
                </a:solidFill>
                <a:effectLst/>
                <a:latin typeface="Consolas" panose="020B0609020204030204" pitchFamily="49" charset="0"/>
              </a:rPr>
              <a:t>get</a:t>
            </a:r>
            <a:r>
              <a:rPr lang="en-US" altLang="zh-TW" sz="1100" b="0" dirty="0">
                <a:solidFill>
                  <a:srgbClr val="BBBEBF"/>
                </a:solidFill>
                <a:effectLst/>
                <a:latin typeface="Consolas" panose="020B0609020204030204" pitchFamily="49" charset="0"/>
              </a:rPr>
              <a:t> </a:t>
            </a:r>
            <a:r>
              <a:rPr lang="en-US" altLang="zh-TW" sz="1100" b="0" dirty="0">
                <a:solidFill>
                  <a:srgbClr val="C9D1D9"/>
                </a:solidFill>
                <a:effectLst/>
                <a:latin typeface="Consolas" panose="020B0609020204030204" pitchFamily="49" charset="0"/>
              </a:rPr>
              <a:t>b</a:t>
            </a:r>
            <a:r>
              <a:rPr lang="en-US" altLang="zh-TW" sz="1100" b="0" dirty="0">
                <a:solidFill>
                  <a:srgbClr val="BBBEBF"/>
                </a:solidFill>
                <a:effectLst/>
                <a:latin typeface="Consolas" panose="020B0609020204030204" pitchFamily="49" charset="0"/>
              </a:rPr>
              <a:t>() </a:t>
            </a:r>
            <a:r>
              <a:rPr lang="en-US" altLang="zh-TW" sz="1100" b="0" dirty="0">
                <a:solidFill>
                  <a:srgbClr val="C9D1D9"/>
                </a:solidFill>
                <a:effectLst/>
                <a:latin typeface="Consolas" panose="020B0609020204030204" pitchFamily="49" charset="0"/>
              </a:rPr>
              <a:t>{            </a:t>
            </a:r>
            <a:r>
              <a:rPr lang="en-US" altLang="zh-TW" sz="1100" b="0" dirty="0">
                <a:solidFill>
                  <a:srgbClr val="8B949E"/>
                </a:solidFill>
                <a:effectLst/>
                <a:latin typeface="Consolas" panose="020B0609020204030204" pitchFamily="49" charset="0"/>
              </a:rPr>
              <a:t>// </a:t>
            </a:r>
            <a:r>
              <a:rPr lang="zh-TW" altLang="en-US" sz="1100" b="0" dirty="0">
                <a:solidFill>
                  <a:srgbClr val="8B949E"/>
                </a:solidFill>
                <a:effectLst/>
                <a:latin typeface="Consolas" panose="020B0609020204030204" pitchFamily="49" charset="0"/>
              </a:rPr>
              <a:t>讀取 </a:t>
            </a:r>
            <a:r>
              <a:rPr lang="en-US" altLang="zh-TW" sz="1100" b="0" dirty="0" err="1">
                <a:solidFill>
                  <a:srgbClr val="8B949E"/>
                </a:solidFill>
                <a:effectLst/>
                <a:latin typeface="Consolas" panose="020B0609020204030204" pitchFamily="49" charset="0"/>
              </a:rPr>
              <a:t>myObj.b</a:t>
            </a:r>
            <a:r>
              <a:rPr lang="en-US" altLang="zh-TW" sz="1100" b="0" dirty="0">
                <a:solidFill>
                  <a:srgbClr val="8B949E"/>
                </a:solidFill>
                <a:effectLst/>
                <a:latin typeface="Consolas" panose="020B0609020204030204" pitchFamily="49" charset="0"/>
              </a:rPr>
              <a:t> </a:t>
            </a:r>
            <a:r>
              <a:rPr lang="zh-TW" altLang="en-US" sz="1100" b="0" dirty="0">
                <a:solidFill>
                  <a:srgbClr val="8B949E"/>
                </a:solidFill>
                <a:effectLst/>
                <a:latin typeface="Consolas" panose="020B0609020204030204" pitchFamily="49" charset="0"/>
              </a:rPr>
              <a:t>時執行</a:t>
            </a:r>
            <a:endParaRPr lang="zh-TW" altLang="en-US" sz="1100" b="0" dirty="0">
              <a:solidFill>
                <a:srgbClr val="BBBEBF"/>
              </a:solidFill>
              <a:effectLst/>
              <a:latin typeface="Consolas" panose="020B0609020204030204" pitchFamily="49" charset="0"/>
            </a:endParaRPr>
          </a:p>
          <a:p>
            <a:r>
              <a:rPr lang="zh-TW" altLang="en-US" sz="1100" b="0" dirty="0">
                <a:solidFill>
                  <a:srgbClr val="C9D1D9"/>
                </a:solidFill>
                <a:effectLst/>
                <a:latin typeface="Consolas" panose="020B0609020204030204" pitchFamily="49" charset="0"/>
              </a:rPr>
              <a:t>    </a:t>
            </a:r>
            <a:r>
              <a:rPr lang="en-US" altLang="zh-TW" sz="1100" b="0" dirty="0">
                <a:solidFill>
                  <a:srgbClr val="C586C0"/>
                </a:solidFill>
                <a:effectLst/>
                <a:latin typeface="Consolas" panose="020B0609020204030204" pitchFamily="49" charset="0"/>
              </a:rPr>
              <a:t>return</a:t>
            </a:r>
            <a:r>
              <a:rPr lang="en-US" altLang="zh-TW" sz="1100" b="0" dirty="0">
                <a:solidFill>
                  <a:srgbClr val="C9D1D9"/>
                </a:solidFill>
                <a:effectLst/>
                <a:latin typeface="Consolas" panose="020B0609020204030204" pitchFamily="49" charset="0"/>
              </a:rPr>
              <a:t> </a:t>
            </a:r>
            <a:r>
              <a:rPr lang="en-US" altLang="zh-TW" sz="1100" b="0" dirty="0" err="1">
                <a:solidFill>
                  <a:srgbClr val="79C0FF"/>
                </a:solidFill>
                <a:effectLst/>
                <a:latin typeface="Consolas" panose="020B0609020204030204" pitchFamily="49" charset="0"/>
              </a:rPr>
              <a:t>this</a:t>
            </a:r>
            <a:r>
              <a:rPr lang="en-US" altLang="zh-TW" sz="1100" b="0" dirty="0" err="1">
                <a:solidFill>
                  <a:srgbClr val="C9D1D9"/>
                </a:solidFill>
                <a:effectLst/>
                <a:latin typeface="Consolas" panose="020B0609020204030204" pitchFamily="49" charset="0"/>
              </a:rPr>
              <a:t>.a</a:t>
            </a:r>
            <a:r>
              <a:rPr lang="en-US" altLang="zh-TW" sz="1100" b="0" dirty="0">
                <a:solidFill>
                  <a:srgbClr val="C9D1D9"/>
                </a:solidFill>
                <a:effectLst/>
                <a:latin typeface="Consolas" panose="020B0609020204030204" pitchFamily="49" charset="0"/>
              </a:rPr>
              <a:t> </a:t>
            </a:r>
            <a:r>
              <a:rPr lang="en-US" altLang="zh-TW" sz="1100" b="0" dirty="0">
                <a:solidFill>
                  <a:srgbClr val="D4D4D4"/>
                </a:solidFill>
                <a:effectLst/>
                <a:latin typeface="Consolas" panose="020B0609020204030204" pitchFamily="49" charset="0"/>
              </a:rPr>
              <a:t>+</a:t>
            </a:r>
            <a:r>
              <a:rPr lang="en-US" altLang="zh-TW" sz="1100" b="0" dirty="0">
                <a:solidFill>
                  <a:srgbClr val="C9D1D9"/>
                </a:solidFill>
                <a:effectLst/>
                <a:latin typeface="Consolas" panose="020B0609020204030204" pitchFamily="49" charset="0"/>
              </a:rPr>
              <a:t> </a:t>
            </a:r>
            <a:r>
              <a:rPr lang="en-US" altLang="zh-TW" sz="1100" b="0" dirty="0">
                <a:solidFill>
                  <a:srgbClr val="B5CEA8"/>
                </a:solidFill>
                <a:effectLst/>
                <a:latin typeface="Consolas" panose="020B0609020204030204" pitchFamily="49" charset="0"/>
              </a:rPr>
              <a:t>1</a:t>
            </a:r>
            <a:r>
              <a:rPr lang="en-US" altLang="zh-TW" sz="1100" b="0" dirty="0">
                <a:solidFill>
                  <a:srgbClr val="C9D1D9"/>
                </a:solidFill>
                <a:effectLst/>
                <a:latin typeface="Consolas" panose="020B0609020204030204" pitchFamily="49" charset="0"/>
              </a:rPr>
              <a:t>;</a:t>
            </a:r>
            <a:endParaRPr lang="en-US" altLang="zh-TW" sz="1100" b="0" dirty="0">
              <a:solidFill>
                <a:srgbClr val="BBBEBF"/>
              </a:solidFill>
              <a:effectLst/>
              <a:latin typeface="Consolas" panose="020B0609020204030204" pitchFamily="49" charset="0"/>
            </a:endParaRPr>
          </a:p>
          <a:p>
            <a:r>
              <a:rPr lang="en-US" altLang="zh-TW" sz="1100" b="0" dirty="0">
                <a:solidFill>
                  <a:srgbClr val="C9D1D9"/>
                </a:solidFill>
                <a:effectLst/>
                <a:latin typeface="Consolas" panose="020B0609020204030204" pitchFamily="49" charset="0"/>
              </a:rPr>
              <a:t>  }</a:t>
            </a:r>
            <a:r>
              <a:rPr lang="en-US" altLang="zh-TW" sz="1100" b="0" dirty="0">
                <a:solidFill>
                  <a:srgbClr val="BBBEBF"/>
                </a:solidFill>
                <a:effectLst/>
                <a:latin typeface="Consolas" panose="020B0609020204030204" pitchFamily="49" charset="0"/>
              </a:rPr>
              <a:t>,</a:t>
            </a:r>
          </a:p>
          <a:p>
            <a:r>
              <a:rPr lang="en-US" altLang="zh-TW" sz="1100" b="0" dirty="0">
                <a:solidFill>
                  <a:srgbClr val="BBBEBF"/>
                </a:solidFill>
                <a:effectLst/>
                <a:latin typeface="Consolas" panose="020B0609020204030204" pitchFamily="49" charset="0"/>
              </a:rPr>
              <a:t>  </a:t>
            </a:r>
            <a:r>
              <a:rPr lang="en-US" altLang="zh-TW" sz="1100" b="0" dirty="0">
                <a:solidFill>
                  <a:srgbClr val="FF7B72"/>
                </a:solidFill>
                <a:effectLst/>
                <a:latin typeface="Consolas" panose="020B0609020204030204" pitchFamily="49" charset="0"/>
              </a:rPr>
              <a:t>set</a:t>
            </a:r>
            <a:r>
              <a:rPr lang="en-US" altLang="zh-TW" sz="1100" b="0" dirty="0">
                <a:solidFill>
                  <a:srgbClr val="BBBEBF"/>
                </a:solidFill>
                <a:effectLst/>
                <a:latin typeface="Consolas" panose="020B0609020204030204" pitchFamily="49" charset="0"/>
              </a:rPr>
              <a:t> </a:t>
            </a:r>
            <a:r>
              <a:rPr lang="en-US" altLang="zh-TW" sz="1100" b="0" dirty="0">
                <a:solidFill>
                  <a:srgbClr val="C9D1D9"/>
                </a:solidFill>
                <a:effectLst/>
                <a:latin typeface="Consolas" panose="020B0609020204030204" pitchFamily="49" charset="0"/>
              </a:rPr>
              <a:t>c</a:t>
            </a:r>
            <a:r>
              <a:rPr lang="en-US" altLang="zh-TW" sz="1100" b="0" dirty="0">
                <a:solidFill>
                  <a:srgbClr val="BBBEBF"/>
                </a:solidFill>
                <a:effectLst/>
                <a:latin typeface="Consolas" panose="020B0609020204030204" pitchFamily="49" charset="0"/>
              </a:rPr>
              <a:t>(</a:t>
            </a:r>
            <a:r>
              <a:rPr lang="en-US" altLang="zh-TW" sz="1100" b="0" dirty="0">
                <a:solidFill>
                  <a:srgbClr val="FFA657"/>
                </a:solidFill>
                <a:effectLst/>
                <a:latin typeface="Consolas" panose="020B0609020204030204" pitchFamily="49" charset="0"/>
              </a:rPr>
              <a:t>x</a:t>
            </a:r>
            <a:r>
              <a:rPr lang="en-US" altLang="zh-TW" sz="1100" b="0" dirty="0">
                <a:solidFill>
                  <a:srgbClr val="BBBEBF"/>
                </a:solidFill>
                <a:effectLst/>
                <a:latin typeface="Consolas" panose="020B0609020204030204" pitchFamily="49" charset="0"/>
              </a:rPr>
              <a:t>) </a:t>
            </a:r>
            <a:r>
              <a:rPr lang="en-US" altLang="zh-TW" sz="1100" b="0" dirty="0">
                <a:solidFill>
                  <a:srgbClr val="C9D1D9"/>
                </a:solidFill>
                <a:effectLst/>
                <a:latin typeface="Consolas" panose="020B0609020204030204" pitchFamily="49" charset="0"/>
              </a:rPr>
              <a:t>{           </a:t>
            </a:r>
            <a:r>
              <a:rPr lang="en-US" altLang="zh-TW" sz="1100" b="0" dirty="0">
                <a:solidFill>
                  <a:srgbClr val="8B949E"/>
                </a:solidFill>
                <a:effectLst/>
                <a:latin typeface="Consolas" panose="020B0609020204030204" pitchFamily="49" charset="0"/>
              </a:rPr>
              <a:t>// </a:t>
            </a:r>
            <a:r>
              <a:rPr lang="zh-TW" altLang="en-US" sz="1100" b="0" dirty="0">
                <a:solidFill>
                  <a:srgbClr val="8B949E"/>
                </a:solidFill>
                <a:effectLst/>
                <a:latin typeface="Consolas" panose="020B0609020204030204" pitchFamily="49" charset="0"/>
              </a:rPr>
              <a:t>寫入 </a:t>
            </a:r>
            <a:r>
              <a:rPr lang="en-US" altLang="zh-TW" sz="1100" b="0" dirty="0" err="1">
                <a:solidFill>
                  <a:srgbClr val="8B949E"/>
                </a:solidFill>
                <a:effectLst/>
                <a:latin typeface="Consolas" panose="020B0609020204030204" pitchFamily="49" charset="0"/>
              </a:rPr>
              <a:t>myObj.c</a:t>
            </a:r>
            <a:r>
              <a:rPr lang="en-US" altLang="zh-TW" sz="1100" b="0" dirty="0">
                <a:solidFill>
                  <a:srgbClr val="8B949E"/>
                </a:solidFill>
                <a:effectLst/>
                <a:latin typeface="Consolas" panose="020B0609020204030204" pitchFamily="49" charset="0"/>
              </a:rPr>
              <a:t> = ... </a:t>
            </a:r>
            <a:r>
              <a:rPr lang="zh-TW" altLang="en-US" sz="1100" b="0" dirty="0">
                <a:solidFill>
                  <a:srgbClr val="8B949E"/>
                </a:solidFill>
                <a:effectLst/>
                <a:latin typeface="Consolas" panose="020B0609020204030204" pitchFamily="49" charset="0"/>
              </a:rPr>
              <a:t>時執行</a:t>
            </a:r>
            <a:endParaRPr lang="zh-TW" altLang="en-US" sz="1100" b="0" dirty="0">
              <a:solidFill>
                <a:srgbClr val="BBBEBF"/>
              </a:solidFill>
              <a:effectLst/>
              <a:latin typeface="Consolas" panose="020B0609020204030204" pitchFamily="49" charset="0"/>
            </a:endParaRPr>
          </a:p>
          <a:p>
            <a:r>
              <a:rPr lang="zh-TW" altLang="en-US" sz="1100" b="0" dirty="0">
                <a:solidFill>
                  <a:srgbClr val="C9D1D9"/>
                </a:solidFill>
                <a:effectLst/>
                <a:latin typeface="Consolas" panose="020B0609020204030204" pitchFamily="49" charset="0"/>
              </a:rPr>
              <a:t>    </a:t>
            </a:r>
            <a:r>
              <a:rPr lang="en-US" altLang="zh-TW" sz="1100" b="0" dirty="0" err="1">
                <a:solidFill>
                  <a:srgbClr val="79C0FF"/>
                </a:solidFill>
                <a:effectLst/>
                <a:latin typeface="Consolas" panose="020B0609020204030204" pitchFamily="49" charset="0"/>
              </a:rPr>
              <a:t>this</a:t>
            </a:r>
            <a:r>
              <a:rPr lang="en-US" altLang="zh-TW" sz="1100" b="0" dirty="0" err="1">
                <a:solidFill>
                  <a:srgbClr val="C9D1D9"/>
                </a:solidFill>
                <a:effectLst/>
                <a:latin typeface="Consolas" panose="020B0609020204030204" pitchFamily="49" charset="0"/>
              </a:rPr>
              <a:t>.a</a:t>
            </a:r>
            <a:r>
              <a:rPr lang="en-US" altLang="zh-TW" sz="1100" b="0" dirty="0">
                <a:solidFill>
                  <a:srgbClr val="C9D1D9"/>
                </a:solidFill>
                <a:effectLst/>
                <a:latin typeface="Consolas" panose="020B0609020204030204" pitchFamily="49" charset="0"/>
              </a:rPr>
              <a:t> </a:t>
            </a:r>
            <a:r>
              <a:rPr lang="en-US" altLang="zh-TW" sz="1100" b="0" dirty="0">
                <a:solidFill>
                  <a:srgbClr val="D4D4D4"/>
                </a:solidFill>
                <a:effectLst/>
                <a:latin typeface="Consolas" panose="020B0609020204030204" pitchFamily="49" charset="0"/>
              </a:rPr>
              <a:t>=</a:t>
            </a:r>
            <a:r>
              <a:rPr lang="en-US" altLang="zh-TW" sz="1100" b="0" dirty="0">
                <a:solidFill>
                  <a:srgbClr val="C9D1D9"/>
                </a:solidFill>
                <a:effectLst/>
                <a:latin typeface="Consolas" panose="020B0609020204030204" pitchFamily="49" charset="0"/>
              </a:rPr>
              <a:t> </a:t>
            </a:r>
            <a:r>
              <a:rPr lang="en-US" altLang="zh-TW" sz="1100" b="0" dirty="0">
                <a:solidFill>
                  <a:srgbClr val="FFA657"/>
                </a:solidFill>
                <a:effectLst/>
                <a:latin typeface="Consolas" panose="020B0609020204030204" pitchFamily="49" charset="0"/>
              </a:rPr>
              <a:t>x</a:t>
            </a:r>
            <a:r>
              <a:rPr lang="en-US" altLang="zh-TW" sz="1100" b="0" dirty="0">
                <a:solidFill>
                  <a:srgbClr val="C9D1D9"/>
                </a:solidFill>
                <a:effectLst/>
                <a:latin typeface="Consolas" panose="020B0609020204030204" pitchFamily="49" charset="0"/>
              </a:rPr>
              <a:t> </a:t>
            </a:r>
            <a:r>
              <a:rPr lang="en-US" altLang="zh-TW" sz="1100" b="0" dirty="0">
                <a:solidFill>
                  <a:srgbClr val="D4D4D4"/>
                </a:solidFill>
                <a:effectLst/>
                <a:latin typeface="Consolas" panose="020B0609020204030204" pitchFamily="49" charset="0"/>
              </a:rPr>
              <a:t>/</a:t>
            </a:r>
            <a:r>
              <a:rPr lang="en-US" altLang="zh-TW" sz="1100" b="0" dirty="0">
                <a:solidFill>
                  <a:srgbClr val="C9D1D9"/>
                </a:solidFill>
                <a:effectLst/>
                <a:latin typeface="Consolas" panose="020B0609020204030204" pitchFamily="49" charset="0"/>
              </a:rPr>
              <a:t> </a:t>
            </a:r>
            <a:r>
              <a:rPr lang="en-US" altLang="zh-TW" sz="1100" b="0" dirty="0">
                <a:solidFill>
                  <a:srgbClr val="B5CEA8"/>
                </a:solidFill>
                <a:effectLst/>
                <a:latin typeface="Consolas" panose="020B0609020204030204" pitchFamily="49" charset="0"/>
              </a:rPr>
              <a:t>2</a:t>
            </a:r>
            <a:r>
              <a:rPr lang="en-US" altLang="zh-TW" sz="1100" b="0" dirty="0">
                <a:solidFill>
                  <a:srgbClr val="C9D1D9"/>
                </a:solidFill>
                <a:effectLst/>
                <a:latin typeface="Consolas" panose="020B0609020204030204" pitchFamily="49" charset="0"/>
              </a:rPr>
              <a:t>;</a:t>
            </a:r>
            <a:endParaRPr lang="en-US" altLang="zh-TW" sz="1100" b="0" dirty="0">
              <a:solidFill>
                <a:srgbClr val="BBBEBF"/>
              </a:solidFill>
              <a:effectLst/>
              <a:latin typeface="Consolas" panose="020B0609020204030204" pitchFamily="49" charset="0"/>
            </a:endParaRPr>
          </a:p>
          <a:p>
            <a:r>
              <a:rPr lang="en-US" altLang="zh-TW" sz="1100" b="0" dirty="0">
                <a:solidFill>
                  <a:srgbClr val="C9D1D9"/>
                </a:solidFill>
                <a:effectLst/>
                <a:latin typeface="Consolas" panose="020B0609020204030204" pitchFamily="49" charset="0"/>
              </a:rPr>
              <a:t>  }</a:t>
            </a:r>
            <a:r>
              <a:rPr lang="en-US" altLang="zh-TW" sz="1100" b="0" dirty="0">
                <a:solidFill>
                  <a:srgbClr val="BBBEBF"/>
                </a:solidFill>
                <a:effectLst/>
                <a:latin typeface="Consolas" panose="020B0609020204030204" pitchFamily="49" charset="0"/>
              </a:rPr>
              <a:t>,</a:t>
            </a:r>
          </a:p>
          <a:p>
            <a:r>
              <a:rPr lang="en-US" altLang="zh-TW" sz="1100" b="0" dirty="0">
                <a:solidFill>
                  <a:srgbClr val="BBBEBF"/>
                </a:solidFill>
                <a:effectLst/>
                <a:latin typeface="Consolas" panose="020B0609020204030204" pitchFamily="49" charset="0"/>
              </a:rPr>
              <a:t>};</a:t>
            </a:r>
          </a:p>
        </p:txBody>
      </p:sp>
      <p:sp>
        <p:nvSpPr>
          <p:cNvPr id="8" name="文字方塊 7">
            <a:extLst>
              <a:ext uri="{FF2B5EF4-FFF2-40B4-BE49-F238E27FC236}">
                <a16:creationId xmlns:a16="http://schemas.microsoft.com/office/drawing/2014/main" id="{95CFB652-3D43-4952-9426-30957234412B}"/>
              </a:ext>
            </a:extLst>
          </p:cNvPr>
          <p:cNvSpPr txBox="1"/>
          <p:nvPr/>
        </p:nvSpPr>
        <p:spPr>
          <a:xfrm>
            <a:off x="4364182" y="3070193"/>
            <a:ext cx="4779818" cy="784830"/>
          </a:xfrm>
          <a:prstGeom prst="rect">
            <a:avLst/>
          </a:prstGeom>
          <a:solidFill>
            <a:schemeClr val="bg2"/>
          </a:solidFill>
        </p:spPr>
        <p:txBody>
          <a:bodyPr wrap="square">
            <a:spAutoFit/>
          </a:bodyPr>
          <a:lstStyle/>
          <a:p>
            <a:r>
              <a:rPr lang="en-US" altLang="zh-TW" sz="900" b="0" dirty="0">
                <a:solidFill>
                  <a:srgbClr val="79C0FF"/>
                </a:solidFill>
                <a:effectLst/>
                <a:latin typeface="Courier New" panose="02070309020205020404" pitchFamily="49" charset="0"/>
                <a:cs typeface="Courier New" panose="02070309020205020404" pitchFamily="49" charset="0"/>
              </a:rPr>
              <a:t>console</a:t>
            </a:r>
            <a:r>
              <a:rPr lang="en-US" altLang="zh-TW" sz="900" b="0" dirty="0">
                <a:solidFill>
                  <a:srgbClr val="BBBEBF"/>
                </a:solidFill>
                <a:effectLst/>
                <a:latin typeface="Courier New" panose="02070309020205020404" pitchFamily="49" charset="0"/>
                <a:cs typeface="Courier New" panose="02070309020205020404" pitchFamily="49" charset="0"/>
              </a:rPr>
              <a:t>.</a:t>
            </a:r>
            <a:r>
              <a:rPr lang="en-US" altLang="zh-TW" sz="900" b="0" dirty="0">
                <a:solidFill>
                  <a:srgbClr val="D2A8FF"/>
                </a:solidFill>
                <a:effectLst/>
                <a:latin typeface="Courier New" panose="02070309020205020404" pitchFamily="49" charset="0"/>
                <a:cs typeface="Courier New" panose="02070309020205020404" pitchFamily="49" charset="0"/>
              </a:rPr>
              <a:t>log</a:t>
            </a:r>
            <a:r>
              <a:rPr lang="en-US" altLang="zh-TW" sz="900" b="0" dirty="0">
                <a:solidFill>
                  <a:srgbClr val="BBBEBF"/>
                </a:solidFill>
                <a:effectLst/>
                <a:latin typeface="Courier New" panose="02070309020205020404" pitchFamily="49" charset="0"/>
                <a:cs typeface="Courier New" panose="02070309020205020404" pitchFamily="49" charset="0"/>
              </a:rPr>
              <a:t>(</a:t>
            </a:r>
            <a:r>
              <a:rPr lang="en-US" altLang="zh-TW" sz="900" b="0" dirty="0" err="1">
                <a:solidFill>
                  <a:srgbClr val="79C0FF"/>
                </a:solidFill>
                <a:effectLst/>
                <a:latin typeface="Courier New" panose="02070309020205020404" pitchFamily="49" charset="0"/>
                <a:cs typeface="Courier New" panose="02070309020205020404" pitchFamily="49" charset="0"/>
              </a:rPr>
              <a:t>myObj</a:t>
            </a:r>
            <a:r>
              <a:rPr lang="en-US" altLang="zh-TW" sz="900" b="0" dirty="0" err="1">
                <a:solidFill>
                  <a:srgbClr val="BBBEBF"/>
                </a:solidFill>
                <a:effectLst/>
                <a:latin typeface="Courier New" panose="02070309020205020404" pitchFamily="49" charset="0"/>
                <a:cs typeface="Courier New" panose="02070309020205020404" pitchFamily="49" charset="0"/>
              </a:rPr>
              <a:t>.</a:t>
            </a:r>
            <a:r>
              <a:rPr lang="en-US" altLang="zh-TW" sz="900" b="0" dirty="0" err="1">
                <a:solidFill>
                  <a:srgbClr val="C9D1D9"/>
                </a:solidFill>
                <a:effectLst/>
                <a:latin typeface="Courier New" panose="02070309020205020404" pitchFamily="49" charset="0"/>
                <a:cs typeface="Courier New" panose="02070309020205020404" pitchFamily="49" charset="0"/>
              </a:rPr>
              <a:t>a</a:t>
            </a:r>
            <a:r>
              <a:rPr lang="en-US" altLang="zh-TW" sz="900" b="0" dirty="0">
                <a:solidFill>
                  <a:srgbClr val="BBBEBF"/>
                </a:solidFill>
                <a:effectLst/>
                <a:latin typeface="Courier New" panose="02070309020205020404" pitchFamily="49" charset="0"/>
                <a:cs typeface="Courier New" panose="02070309020205020404" pitchFamily="49" charset="0"/>
              </a:rPr>
              <a:t>);  </a:t>
            </a:r>
            <a:r>
              <a:rPr lang="en-US" altLang="zh-TW" sz="900" b="0" dirty="0">
                <a:solidFill>
                  <a:srgbClr val="8B949E"/>
                </a:solidFill>
                <a:effectLst/>
                <a:latin typeface="Courier New" panose="02070309020205020404" pitchFamily="49" charset="0"/>
                <a:cs typeface="Courier New" panose="02070309020205020404" pitchFamily="49" charset="0"/>
              </a:rPr>
              <a:t>// 7</a:t>
            </a:r>
            <a:endParaRPr lang="en-US" altLang="zh-TW" sz="900" b="0" dirty="0">
              <a:solidFill>
                <a:srgbClr val="BBBEBF"/>
              </a:solidFill>
              <a:effectLst/>
              <a:latin typeface="Courier New" panose="02070309020205020404" pitchFamily="49" charset="0"/>
              <a:cs typeface="Courier New" panose="02070309020205020404" pitchFamily="49" charset="0"/>
            </a:endParaRPr>
          </a:p>
          <a:p>
            <a:r>
              <a:rPr lang="en-US" altLang="zh-TW" sz="900" b="0" dirty="0">
                <a:solidFill>
                  <a:srgbClr val="79C0FF"/>
                </a:solidFill>
                <a:effectLst/>
                <a:latin typeface="Courier New" panose="02070309020205020404" pitchFamily="49" charset="0"/>
                <a:cs typeface="Courier New" panose="02070309020205020404" pitchFamily="49" charset="0"/>
              </a:rPr>
              <a:t>console</a:t>
            </a:r>
            <a:r>
              <a:rPr lang="en-US" altLang="zh-TW" sz="900" b="0" dirty="0">
                <a:solidFill>
                  <a:srgbClr val="BBBEBF"/>
                </a:solidFill>
                <a:effectLst/>
                <a:latin typeface="Courier New" panose="02070309020205020404" pitchFamily="49" charset="0"/>
                <a:cs typeface="Courier New" panose="02070309020205020404" pitchFamily="49" charset="0"/>
              </a:rPr>
              <a:t>.</a:t>
            </a:r>
            <a:r>
              <a:rPr lang="en-US" altLang="zh-TW" sz="900" b="0" dirty="0">
                <a:solidFill>
                  <a:srgbClr val="D2A8FF"/>
                </a:solidFill>
                <a:effectLst/>
                <a:latin typeface="Courier New" panose="02070309020205020404" pitchFamily="49" charset="0"/>
                <a:cs typeface="Courier New" panose="02070309020205020404" pitchFamily="49" charset="0"/>
              </a:rPr>
              <a:t>log</a:t>
            </a:r>
            <a:r>
              <a:rPr lang="en-US" altLang="zh-TW" sz="900" b="0" dirty="0">
                <a:solidFill>
                  <a:srgbClr val="BBBEBF"/>
                </a:solidFill>
                <a:effectLst/>
                <a:latin typeface="Courier New" panose="02070309020205020404" pitchFamily="49" charset="0"/>
                <a:cs typeface="Courier New" panose="02070309020205020404" pitchFamily="49" charset="0"/>
              </a:rPr>
              <a:t>(</a:t>
            </a:r>
            <a:r>
              <a:rPr lang="en-US" altLang="zh-TW" sz="900" b="0" dirty="0" err="1">
                <a:solidFill>
                  <a:srgbClr val="79C0FF"/>
                </a:solidFill>
                <a:effectLst/>
                <a:latin typeface="Courier New" panose="02070309020205020404" pitchFamily="49" charset="0"/>
                <a:cs typeface="Courier New" panose="02070309020205020404" pitchFamily="49" charset="0"/>
              </a:rPr>
              <a:t>myObj</a:t>
            </a:r>
            <a:r>
              <a:rPr lang="en-US" altLang="zh-TW" sz="900" b="0" dirty="0" err="1">
                <a:solidFill>
                  <a:srgbClr val="BBBEBF"/>
                </a:solidFill>
                <a:effectLst/>
                <a:latin typeface="Courier New" panose="02070309020205020404" pitchFamily="49" charset="0"/>
                <a:cs typeface="Courier New" panose="02070309020205020404" pitchFamily="49" charset="0"/>
              </a:rPr>
              <a:t>.</a:t>
            </a:r>
            <a:r>
              <a:rPr lang="en-US" altLang="zh-TW" sz="900" b="0" dirty="0" err="1">
                <a:solidFill>
                  <a:srgbClr val="C9D1D9"/>
                </a:solidFill>
                <a:effectLst/>
                <a:latin typeface="Courier New" panose="02070309020205020404" pitchFamily="49" charset="0"/>
                <a:cs typeface="Courier New" panose="02070309020205020404" pitchFamily="49" charset="0"/>
              </a:rPr>
              <a:t>b</a:t>
            </a:r>
            <a:r>
              <a:rPr lang="en-US" altLang="zh-TW" sz="900" b="0" dirty="0">
                <a:solidFill>
                  <a:srgbClr val="BBBEBF"/>
                </a:solidFill>
                <a:effectLst/>
                <a:latin typeface="Courier New" panose="02070309020205020404" pitchFamily="49" charset="0"/>
                <a:cs typeface="Courier New" panose="02070309020205020404" pitchFamily="49" charset="0"/>
              </a:rPr>
              <a:t>);  </a:t>
            </a:r>
            <a:r>
              <a:rPr lang="en-US" altLang="zh-TW" sz="900" b="0" dirty="0">
                <a:solidFill>
                  <a:srgbClr val="8B949E"/>
                </a:solidFill>
                <a:effectLst/>
                <a:latin typeface="Courier New" panose="02070309020205020404" pitchFamily="49" charset="0"/>
                <a:cs typeface="Courier New" panose="02070309020205020404" pitchFamily="49" charset="0"/>
              </a:rPr>
              <a:t>// 8</a:t>
            </a:r>
            <a:r>
              <a:rPr lang="zh-TW" altLang="en-US" sz="900" b="0" dirty="0">
                <a:solidFill>
                  <a:srgbClr val="8B949E"/>
                </a:solidFill>
                <a:effectLst/>
                <a:latin typeface="Courier New" panose="02070309020205020404" pitchFamily="49" charset="0"/>
                <a:cs typeface="Courier New" panose="02070309020205020404" pitchFamily="49" charset="0"/>
              </a:rPr>
              <a:t>，不是呼叫函式，但自動執行 </a:t>
            </a:r>
            <a:r>
              <a:rPr lang="en-US" altLang="zh-TW" sz="900" b="0" dirty="0">
                <a:solidFill>
                  <a:srgbClr val="8B949E"/>
                </a:solidFill>
                <a:effectLst/>
                <a:latin typeface="Courier New" panose="02070309020205020404" pitchFamily="49" charset="0"/>
                <a:cs typeface="Courier New" panose="02070309020205020404" pitchFamily="49" charset="0"/>
              </a:rPr>
              <a:t>getter</a:t>
            </a:r>
            <a:r>
              <a:rPr lang="zh-TW" altLang="en-US" sz="900" b="0" dirty="0">
                <a:solidFill>
                  <a:srgbClr val="8B949E"/>
                </a:solidFill>
                <a:effectLst/>
                <a:latin typeface="Courier New" panose="02070309020205020404" pitchFamily="49" charset="0"/>
                <a:cs typeface="Courier New" panose="02070309020205020404" pitchFamily="49" charset="0"/>
              </a:rPr>
              <a:t>：</a:t>
            </a:r>
            <a:r>
              <a:rPr lang="en-US" altLang="zh-TW" sz="900" b="0" dirty="0">
                <a:solidFill>
                  <a:srgbClr val="8B949E"/>
                </a:solidFill>
                <a:effectLst/>
                <a:latin typeface="Courier New" panose="02070309020205020404" pitchFamily="49" charset="0"/>
                <a:cs typeface="Courier New" panose="02070309020205020404" pitchFamily="49" charset="0"/>
              </a:rPr>
              <a:t>7 + 1</a:t>
            </a:r>
            <a:endParaRPr lang="en-US" altLang="zh-TW" sz="900" b="0" dirty="0">
              <a:solidFill>
                <a:srgbClr val="BBBEBF"/>
              </a:solidFill>
              <a:effectLst/>
              <a:latin typeface="Courier New" panose="02070309020205020404" pitchFamily="49" charset="0"/>
              <a:cs typeface="Courier New" panose="02070309020205020404" pitchFamily="49" charset="0"/>
            </a:endParaRPr>
          </a:p>
          <a:p>
            <a:r>
              <a:rPr lang="en-US" altLang="zh-TW" sz="900" b="0" dirty="0" err="1">
                <a:solidFill>
                  <a:srgbClr val="79C0FF"/>
                </a:solidFill>
                <a:effectLst/>
                <a:latin typeface="Courier New" panose="02070309020205020404" pitchFamily="49" charset="0"/>
                <a:cs typeface="Courier New" panose="02070309020205020404" pitchFamily="49" charset="0"/>
              </a:rPr>
              <a:t>myObj</a:t>
            </a:r>
            <a:r>
              <a:rPr lang="en-US" altLang="zh-TW" sz="900" b="0" dirty="0" err="1">
                <a:solidFill>
                  <a:srgbClr val="BBBEBF"/>
                </a:solidFill>
                <a:effectLst/>
                <a:latin typeface="Courier New" panose="02070309020205020404" pitchFamily="49" charset="0"/>
                <a:cs typeface="Courier New" panose="02070309020205020404" pitchFamily="49" charset="0"/>
              </a:rPr>
              <a:t>.</a:t>
            </a:r>
            <a:r>
              <a:rPr lang="en-US" altLang="zh-TW" sz="900" b="0" dirty="0" err="1">
                <a:solidFill>
                  <a:srgbClr val="C9D1D9"/>
                </a:solidFill>
                <a:effectLst/>
                <a:latin typeface="Courier New" panose="02070309020205020404" pitchFamily="49" charset="0"/>
                <a:cs typeface="Courier New" panose="02070309020205020404" pitchFamily="49" charset="0"/>
              </a:rPr>
              <a:t>c</a:t>
            </a:r>
            <a:r>
              <a:rPr lang="en-US" altLang="zh-TW" sz="900" b="0" dirty="0">
                <a:solidFill>
                  <a:srgbClr val="BBBEBF"/>
                </a:solidFill>
                <a:effectLst/>
                <a:latin typeface="Courier New" panose="02070309020205020404" pitchFamily="49" charset="0"/>
                <a:cs typeface="Courier New" panose="02070309020205020404" pitchFamily="49" charset="0"/>
              </a:rPr>
              <a:t> </a:t>
            </a:r>
            <a:r>
              <a:rPr lang="en-US" altLang="zh-TW" sz="900" b="0" dirty="0">
                <a:solidFill>
                  <a:srgbClr val="D4D4D4"/>
                </a:solidFill>
                <a:effectLst/>
                <a:latin typeface="Courier New" panose="02070309020205020404" pitchFamily="49" charset="0"/>
                <a:cs typeface="Courier New" panose="02070309020205020404" pitchFamily="49" charset="0"/>
              </a:rPr>
              <a:t>=</a:t>
            </a:r>
            <a:r>
              <a:rPr lang="en-US" altLang="zh-TW" sz="900" b="0" dirty="0">
                <a:solidFill>
                  <a:srgbClr val="BBBEBF"/>
                </a:solidFill>
                <a:effectLst/>
                <a:latin typeface="Courier New" panose="02070309020205020404" pitchFamily="49" charset="0"/>
                <a:cs typeface="Courier New" panose="02070309020205020404" pitchFamily="49" charset="0"/>
              </a:rPr>
              <a:t> </a:t>
            </a:r>
            <a:r>
              <a:rPr lang="en-US" altLang="zh-TW" sz="900" b="0" dirty="0">
                <a:solidFill>
                  <a:srgbClr val="B5CEA8"/>
                </a:solidFill>
                <a:effectLst/>
                <a:latin typeface="Courier New" panose="02070309020205020404" pitchFamily="49" charset="0"/>
                <a:cs typeface="Courier New" panose="02070309020205020404" pitchFamily="49" charset="0"/>
              </a:rPr>
              <a:t>50</a:t>
            </a:r>
            <a:r>
              <a:rPr lang="en-US" altLang="zh-TW" sz="900" b="0" dirty="0">
                <a:solidFill>
                  <a:srgbClr val="BBBEBF"/>
                </a:solidFill>
                <a:effectLst/>
                <a:latin typeface="Courier New" panose="02070309020205020404" pitchFamily="49" charset="0"/>
                <a:cs typeface="Courier New" panose="02070309020205020404" pitchFamily="49" charset="0"/>
              </a:rPr>
              <a:t>;          </a:t>
            </a:r>
            <a:r>
              <a:rPr lang="en-US" altLang="zh-TW" sz="900" b="0" dirty="0">
                <a:solidFill>
                  <a:srgbClr val="8B949E"/>
                </a:solidFill>
                <a:effectLst/>
                <a:latin typeface="Courier New" panose="02070309020205020404" pitchFamily="49" charset="0"/>
                <a:cs typeface="Courier New" panose="02070309020205020404" pitchFamily="49" charset="0"/>
              </a:rPr>
              <a:t>// </a:t>
            </a:r>
            <a:r>
              <a:rPr lang="zh-TW" altLang="en-US" sz="900" b="0" dirty="0">
                <a:solidFill>
                  <a:srgbClr val="8B949E"/>
                </a:solidFill>
                <a:effectLst/>
                <a:latin typeface="Courier New" panose="02070309020205020404" pitchFamily="49" charset="0"/>
                <a:cs typeface="Courier New" panose="02070309020205020404" pitchFamily="49" charset="0"/>
              </a:rPr>
              <a:t>不是存到 </a:t>
            </a:r>
            <a:r>
              <a:rPr lang="en-US" altLang="zh-TW" sz="900" b="0" dirty="0">
                <a:solidFill>
                  <a:srgbClr val="8B949E"/>
                </a:solidFill>
                <a:effectLst/>
                <a:latin typeface="Courier New" panose="02070309020205020404" pitchFamily="49" charset="0"/>
                <a:cs typeface="Courier New" panose="02070309020205020404" pitchFamily="49" charset="0"/>
              </a:rPr>
              <a:t>c</a:t>
            </a:r>
            <a:r>
              <a:rPr lang="zh-TW" altLang="en-US" sz="900" b="0" dirty="0">
                <a:solidFill>
                  <a:srgbClr val="8B949E"/>
                </a:solidFill>
                <a:effectLst/>
                <a:latin typeface="Courier New" panose="02070309020205020404" pitchFamily="49" charset="0"/>
                <a:cs typeface="Courier New" panose="02070309020205020404" pitchFamily="49" charset="0"/>
              </a:rPr>
              <a:t>，而是執行 </a:t>
            </a:r>
            <a:r>
              <a:rPr lang="en-US" altLang="zh-TW" sz="900" b="0" dirty="0">
                <a:solidFill>
                  <a:srgbClr val="8B949E"/>
                </a:solidFill>
                <a:effectLst/>
                <a:latin typeface="Courier New" panose="02070309020205020404" pitchFamily="49" charset="0"/>
                <a:cs typeface="Courier New" panose="02070309020205020404" pitchFamily="49" charset="0"/>
              </a:rPr>
              <a:t>setter</a:t>
            </a:r>
            <a:r>
              <a:rPr lang="zh-TW" altLang="en-US" sz="900" b="0" dirty="0">
                <a:solidFill>
                  <a:srgbClr val="8B949E"/>
                </a:solidFill>
                <a:effectLst/>
                <a:latin typeface="Courier New" panose="02070309020205020404" pitchFamily="49" charset="0"/>
                <a:cs typeface="Courier New" panose="02070309020205020404" pitchFamily="49" charset="0"/>
              </a:rPr>
              <a:t>：</a:t>
            </a:r>
            <a:r>
              <a:rPr lang="en-US" altLang="zh-TW" sz="900" b="0" dirty="0">
                <a:solidFill>
                  <a:srgbClr val="8B949E"/>
                </a:solidFill>
                <a:effectLst/>
                <a:latin typeface="Courier New" panose="02070309020205020404" pitchFamily="49" charset="0"/>
                <a:cs typeface="Courier New" panose="02070309020205020404" pitchFamily="49" charset="0"/>
              </a:rPr>
              <a:t>a = 50 / 2 = 25</a:t>
            </a:r>
            <a:endParaRPr lang="en-US" altLang="zh-TW" sz="900" b="0" dirty="0">
              <a:solidFill>
                <a:srgbClr val="BBBEBF"/>
              </a:solidFill>
              <a:effectLst/>
              <a:latin typeface="Courier New" panose="02070309020205020404" pitchFamily="49" charset="0"/>
              <a:cs typeface="Courier New" panose="02070309020205020404" pitchFamily="49" charset="0"/>
            </a:endParaRPr>
          </a:p>
          <a:p>
            <a:r>
              <a:rPr lang="en-US" altLang="zh-TW" sz="900" b="0" dirty="0">
                <a:solidFill>
                  <a:srgbClr val="79C0FF"/>
                </a:solidFill>
                <a:effectLst/>
                <a:latin typeface="Courier New" panose="02070309020205020404" pitchFamily="49" charset="0"/>
                <a:cs typeface="Courier New" panose="02070309020205020404" pitchFamily="49" charset="0"/>
              </a:rPr>
              <a:t>console</a:t>
            </a:r>
            <a:r>
              <a:rPr lang="en-US" altLang="zh-TW" sz="900" b="0" dirty="0">
                <a:solidFill>
                  <a:srgbClr val="BBBEBF"/>
                </a:solidFill>
                <a:effectLst/>
                <a:latin typeface="Courier New" panose="02070309020205020404" pitchFamily="49" charset="0"/>
                <a:cs typeface="Courier New" panose="02070309020205020404" pitchFamily="49" charset="0"/>
              </a:rPr>
              <a:t>.</a:t>
            </a:r>
            <a:r>
              <a:rPr lang="en-US" altLang="zh-TW" sz="900" b="0" dirty="0">
                <a:solidFill>
                  <a:srgbClr val="D2A8FF"/>
                </a:solidFill>
                <a:effectLst/>
                <a:latin typeface="Courier New" panose="02070309020205020404" pitchFamily="49" charset="0"/>
                <a:cs typeface="Courier New" panose="02070309020205020404" pitchFamily="49" charset="0"/>
              </a:rPr>
              <a:t>log</a:t>
            </a:r>
            <a:r>
              <a:rPr lang="en-US" altLang="zh-TW" sz="900" b="0" dirty="0">
                <a:solidFill>
                  <a:srgbClr val="BBBEBF"/>
                </a:solidFill>
                <a:effectLst/>
                <a:latin typeface="Courier New" panose="02070309020205020404" pitchFamily="49" charset="0"/>
                <a:cs typeface="Courier New" panose="02070309020205020404" pitchFamily="49" charset="0"/>
              </a:rPr>
              <a:t>(</a:t>
            </a:r>
            <a:r>
              <a:rPr lang="en-US" altLang="zh-TW" sz="900" b="0" dirty="0" err="1">
                <a:solidFill>
                  <a:srgbClr val="79C0FF"/>
                </a:solidFill>
                <a:effectLst/>
                <a:latin typeface="Courier New" panose="02070309020205020404" pitchFamily="49" charset="0"/>
                <a:cs typeface="Courier New" panose="02070309020205020404" pitchFamily="49" charset="0"/>
              </a:rPr>
              <a:t>myObj</a:t>
            </a:r>
            <a:r>
              <a:rPr lang="en-US" altLang="zh-TW" sz="900" b="0" dirty="0" err="1">
                <a:solidFill>
                  <a:srgbClr val="BBBEBF"/>
                </a:solidFill>
                <a:effectLst/>
                <a:latin typeface="Courier New" panose="02070309020205020404" pitchFamily="49" charset="0"/>
                <a:cs typeface="Courier New" panose="02070309020205020404" pitchFamily="49" charset="0"/>
              </a:rPr>
              <a:t>.</a:t>
            </a:r>
            <a:r>
              <a:rPr lang="en-US" altLang="zh-TW" sz="900" b="0" dirty="0" err="1">
                <a:solidFill>
                  <a:srgbClr val="C9D1D9"/>
                </a:solidFill>
                <a:effectLst/>
                <a:latin typeface="Courier New" panose="02070309020205020404" pitchFamily="49" charset="0"/>
                <a:cs typeface="Courier New" panose="02070309020205020404" pitchFamily="49" charset="0"/>
              </a:rPr>
              <a:t>a</a:t>
            </a:r>
            <a:r>
              <a:rPr lang="en-US" altLang="zh-TW" sz="900" b="0" dirty="0">
                <a:solidFill>
                  <a:srgbClr val="BBBEBF"/>
                </a:solidFill>
                <a:effectLst/>
                <a:latin typeface="Courier New" panose="02070309020205020404" pitchFamily="49" charset="0"/>
                <a:cs typeface="Courier New" panose="02070309020205020404" pitchFamily="49" charset="0"/>
              </a:rPr>
              <a:t>);  </a:t>
            </a:r>
            <a:r>
              <a:rPr lang="en-US" altLang="zh-TW" sz="900" b="0" dirty="0">
                <a:solidFill>
                  <a:srgbClr val="8B949E"/>
                </a:solidFill>
                <a:effectLst/>
                <a:latin typeface="Courier New" panose="02070309020205020404" pitchFamily="49" charset="0"/>
                <a:cs typeface="Courier New" panose="02070309020205020404" pitchFamily="49" charset="0"/>
              </a:rPr>
              <a:t>// 25</a:t>
            </a:r>
            <a:endParaRPr lang="en-US" altLang="zh-TW" sz="900" b="0" dirty="0">
              <a:solidFill>
                <a:srgbClr val="BBBEBF"/>
              </a:solidFill>
              <a:effectLst/>
              <a:latin typeface="Courier New" panose="02070309020205020404" pitchFamily="49" charset="0"/>
              <a:cs typeface="Courier New" panose="02070309020205020404" pitchFamily="49" charset="0"/>
            </a:endParaRPr>
          </a:p>
          <a:p>
            <a:r>
              <a:rPr lang="en-US" altLang="zh-TW" sz="900" b="0" dirty="0">
                <a:solidFill>
                  <a:srgbClr val="79C0FF"/>
                </a:solidFill>
                <a:effectLst/>
                <a:latin typeface="Courier New" panose="02070309020205020404" pitchFamily="49" charset="0"/>
                <a:cs typeface="Courier New" panose="02070309020205020404" pitchFamily="49" charset="0"/>
              </a:rPr>
              <a:t>console</a:t>
            </a:r>
            <a:r>
              <a:rPr lang="en-US" altLang="zh-TW" sz="900" b="0" dirty="0">
                <a:solidFill>
                  <a:srgbClr val="BBBEBF"/>
                </a:solidFill>
                <a:effectLst/>
                <a:latin typeface="Courier New" panose="02070309020205020404" pitchFamily="49" charset="0"/>
                <a:cs typeface="Courier New" panose="02070309020205020404" pitchFamily="49" charset="0"/>
              </a:rPr>
              <a:t>.</a:t>
            </a:r>
            <a:r>
              <a:rPr lang="en-US" altLang="zh-TW" sz="900" b="0" dirty="0">
                <a:solidFill>
                  <a:srgbClr val="D2A8FF"/>
                </a:solidFill>
                <a:effectLst/>
                <a:latin typeface="Courier New" panose="02070309020205020404" pitchFamily="49" charset="0"/>
                <a:cs typeface="Courier New" panose="02070309020205020404" pitchFamily="49" charset="0"/>
              </a:rPr>
              <a:t>log</a:t>
            </a:r>
            <a:r>
              <a:rPr lang="en-US" altLang="zh-TW" sz="900" b="0" dirty="0">
                <a:solidFill>
                  <a:srgbClr val="BBBEBF"/>
                </a:solidFill>
                <a:effectLst/>
                <a:latin typeface="Courier New" panose="02070309020205020404" pitchFamily="49" charset="0"/>
                <a:cs typeface="Courier New" panose="02070309020205020404" pitchFamily="49" charset="0"/>
              </a:rPr>
              <a:t>(</a:t>
            </a:r>
            <a:r>
              <a:rPr lang="en-US" altLang="zh-TW" sz="900" b="0" dirty="0" err="1">
                <a:solidFill>
                  <a:srgbClr val="79C0FF"/>
                </a:solidFill>
                <a:effectLst/>
                <a:latin typeface="Courier New" panose="02070309020205020404" pitchFamily="49" charset="0"/>
                <a:cs typeface="Courier New" panose="02070309020205020404" pitchFamily="49" charset="0"/>
              </a:rPr>
              <a:t>myObj</a:t>
            </a:r>
            <a:r>
              <a:rPr lang="en-US" altLang="zh-TW" sz="900" b="0" dirty="0" err="1">
                <a:solidFill>
                  <a:srgbClr val="BBBEBF"/>
                </a:solidFill>
                <a:effectLst/>
                <a:latin typeface="Courier New" panose="02070309020205020404" pitchFamily="49" charset="0"/>
                <a:cs typeface="Courier New" panose="02070309020205020404" pitchFamily="49" charset="0"/>
              </a:rPr>
              <a:t>.</a:t>
            </a:r>
            <a:r>
              <a:rPr lang="en-US" altLang="zh-TW" sz="900" b="0" dirty="0" err="1">
                <a:solidFill>
                  <a:srgbClr val="C9D1D9"/>
                </a:solidFill>
                <a:effectLst/>
                <a:latin typeface="Courier New" panose="02070309020205020404" pitchFamily="49" charset="0"/>
                <a:cs typeface="Courier New" panose="02070309020205020404" pitchFamily="49" charset="0"/>
              </a:rPr>
              <a:t>b</a:t>
            </a:r>
            <a:r>
              <a:rPr lang="en-US" altLang="zh-TW" sz="900" b="0" dirty="0">
                <a:solidFill>
                  <a:srgbClr val="BBBEBF"/>
                </a:solidFill>
                <a:effectLst/>
                <a:latin typeface="Courier New" panose="02070309020205020404" pitchFamily="49" charset="0"/>
                <a:cs typeface="Courier New" panose="02070309020205020404" pitchFamily="49" charset="0"/>
              </a:rPr>
              <a:t>);  </a:t>
            </a:r>
            <a:r>
              <a:rPr lang="en-US" altLang="zh-TW" sz="900" b="0" dirty="0">
                <a:solidFill>
                  <a:srgbClr val="8B949E"/>
                </a:solidFill>
                <a:effectLst/>
                <a:latin typeface="Courier New" panose="02070309020205020404" pitchFamily="49" charset="0"/>
                <a:cs typeface="Courier New" panose="02070309020205020404" pitchFamily="49" charset="0"/>
              </a:rPr>
              <a:t>// 26</a:t>
            </a:r>
            <a:r>
              <a:rPr lang="zh-TW" altLang="en-US" sz="900" b="0" dirty="0">
                <a:solidFill>
                  <a:srgbClr val="8B949E"/>
                </a:solidFill>
                <a:effectLst/>
                <a:latin typeface="Courier New" panose="02070309020205020404" pitchFamily="49" charset="0"/>
                <a:cs typeface="Courier New" panose="02070309020205020404" pitchFamily="49" charset="0"/>
              </a:rPr>
              <a:t>，</a:t>
            </a:r>
            <a:r>
              <a:rPr lang="en-US" altLang="zh-TW" sz="900" b="0" dirty="0">
                <a:solidFill>
                  <a:srgbClr val="8B949E"/>
                </a:solidFill>
                <a:effectLst/>
                <a:latin typeface="Courier New" panose="02070309020205020404" pitchFamily="49" charset="0"/>
                <a:cs typeface="Courier New" panose="02070309020205020404" pitchFamily="49" charset="0"/>
              </a:rPr>
              <a:t>b </a:t>
            </a:r>
            <a:r>
              <a:rPr lang="zh-TW" altLang="en-US" sz="900" b="0" dirty="0">
                <a:solidFill>
                  <a:srgbClr val="8B949E"/>
                </a:solidFill>
                <a:effectLst/>
                <a:latin typeface="Courier New" panose="02070309020205020404" pitchFamily="49" charset="0"/>
                <a:cs typeface="Courier New" panose="02070309020205020404" pitchFamily="49" charset="0"/>
              </a:rPr>
              <a:t>跟著 </a:t>
            </a:r>
            <a:r>
              <a:rPr lang="en-US" altLang="zh-TW" sz="900" b="0" dirty="0">
                <a:solidFill>
                  <a:srgbClr val="8B949E"/>
                </a:solidFill>
                <a:effectLst/>
                <a:latin typeface="Courier New" panose="02070309020205020404" pitchFamily="49" charset="0"/>
                <a:cs typeface="Courier New" panose="02070309020205020404" pitchFamily="49" charset="0"/>
              </a:rPr>
              <a:t>a </a:t>
            </a:r>
            <a:r>
              <a:rPr lang="zh-TW" altLang="en-US" sz="900" b="0" dirty="0">
                <a:solidFill>
                  <a:srgbClr val="8B949E"/>
                </a:solidFill>
                <a:effectLst/>
                <a:latin typeface="Courier New" panose="02070309020205020404" pitchFamily="49" charset="0"/>
                <a:cs typeface="Courier New" panose="02070309020205020404" pitchFamily="49" charset="0"/>
              </a:rPr>
              <a:t>變</a:t>
            </a:r>
            <a:endParaRPr lang="zh-TW" altLang="en-US" sz="900" b="0" dirty="0">
              <a:solidFill>
                <a:srgbClr val="BBBEBF"/>
              </a:solidFill>
              <a:effectLst/>
              <a:latin typeface="Courier New" panose="02070309020205020404" pitchFamily="49" charset="0"/>
              <a:cs typeface="Courier New" panose="02070309020205020404" pitchFamily="49"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5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Object getters and setters Functions</a:t>
            </a:r>
            <a:r>
              <a:rPr lang="en" altLang="zh-TW" sz="2400" dirty="0"/>
              <a:t> ─</a:t>
            </a:r>
            <a:r>
              <a:rPr lang="zh-TW" altLang="en-US" sz="2400" dirty="0"/>
              <a:t> </a:t>
            </a:r>
            <a:r>
              <a:rPr lang="en-US" altLang="zh-TW" sz="2400" dirty="0" err="1"/>
              <a:t>defineProperties</a:t>
            </a:r>
            <a:endParaRPr sz="2400" dirty="0"/>
          </a:p>
        </p:txBody>
      </p:sp>
      <p:sp>
        <p:nvSpPr>
          <p:cNvPr id="378" name="Google Shape;378;p5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42</a:t>
            </a:fld>
            <a:endParaRPr/>
          </a:p>
        </p:txBody>
      </p:sp>
      <p:sp>
        <p:nvSpPr>
          <p:cNvPr id="9" name="文字方塊 8">
            <a:extLst>
              <a:ext uri="{FF2B5EF4-FFF2-40B4-BE49-F238E27FC236}">
                <a16:creationId xmlns:a16="http://schemas.microsoft.com/office/drawing/2014/main" id="{A50F4539-FB6C-45D3-92BC-658E8EAE6DAF}"/>
              </a:ext>
            </a:extLst>
          </p:cNvPr>
          <p:cNvSpPr txBox="1"/>
          <p:nvPr/>
        </p:nvSpPr>
        <p:spPr>
          <a:xfrm>
            <a:off x="676354" y="1324320"/>
            <a:ext cx="4572000" cy="3108543"/>
          </a:xfrm>
          <a:prstGeom prst="rect">
            <a:avLst/>
          </a:prstGeom>
          <a:solidFill>
            <a:schemeClr val="bg2"/>
          </a:solidFill>
        </p:spPr>
        <p:txBody>
          <a:bodyPr wrap="square">
            <a:spAutoFit/>
          </a:bodyPr>
          <a:lstStyle/>
          <a:p>
            <a:r>
              <a:rPr lang="en-US" altLang="zh-TW" b="0" dirty="0">
                <a:solidFill>
                  <a:srgbClr val="FF7B72"/>
                </a:solidFill>
                <a:effectLst/>
                <a:latin typeface="Consolas" panose="020B0609020204030204" pitchFamily="49" charset="0"/>
              </a:rPr>
              <a:t>const</a:t>
            </a:r>
            <a:r>
              <a:rPr lang="en-US" altLang="zh-TW" b="0" dirty="0">
                <a:solidFill>
                  <a:srgbClr val="BBBEBF"/>
                </a:solidFill>
                <a:effectLst/>
                <a:latin typeface="Consolas" panose="020B0609020204030204" pitchFamily="49" charset="0"/>
              </a:rPr>
              <a:t> </a:t>
            </a:r>
            <a:r>
              <a:rPr lang="en-US" altLang="zh-TW" b="0" dirty="0" err="1">
                <a:solidFill>
                  <a:srgbClr val="79C0FF"/>
                </a:solidFill>
                <a:effectLst/>
                <a:latin typeface="Consolas" panose="020B0609020204030204" pitchFamily="49" charset="0"/>
              </a:rPr>
              <a:t>myObj</a:t>
            </a:r>
            <a:r>
              <a:rPr lang="en-US" altLang="zh-TW" b="0" dirty="0">
                <a:solidFill>
                  <a:srgbClr val="BBBEBF"/>
                </a:solidFill>
                <a:effectLst/>
                <a:latin typeface="Consolas" panose="020B0609020204030204" pitchFamily="49" charset="0"/>
              </a:rPr>
              <a:t> </a:t>
            </a:r>
            <a:r>
              <a:rPr lang="en-US" altLang="zh-TW" b="0" dirty="0">
                <a:solidFill>
                  <a:srgbClr val="D4D4D4"/>
                </a:solidFill>
                <a:effectLst/>
                <a:latin typeface="Consolas" panose="020B0609020204030204" pitchFamily="49" charset="0"/>
              </a:rPr>
              <a:t>=</a:t>
            </a:r>
            <a:r>
              <a:rPr lang="en-US" altLang="zh-TW" b="0" dirty="0">
                <a:solidFill>
                  <a:srgbClr val="BBBEBF"/>
                </a:solidFill>
                <a:effectLst/>
                <a:latin typeface="Consolas" panose="020B0609020204030204" pitchFamily="49" charset="0"/>
              </a:rPr>
              <a:t> { </a:t>
            </a:r>
            <a:r>
              <a:rPr lang="en-US" altLang="zh-TW" b="0" dirty="0">
                <a:solidFill>
                  <a:srgbClr val="C9D1D9"/>
                </a:solidFill>
                <a:effectLst/>
                <a:latin typeface="Consolas" panose="020B0609020204030204" pitchFamily="49" charset="0"/>
              </a:rPr>
              <a:t>a</a:t>
            </a:r>
            <a:r>
              <a:rPr lang="en-US" altLang="zh-TW" b="0" dirty="0">
                <a:solidFill>
                  <a:srgbClr val="9CDCFE"/>
                </a:solidFill>
                <a:effectLst/>
                <a:latin typeface="Consolas" panose="020B0609020204030204" pitchFamily="49" charset="0"/>
              </a:rPr>
              <a:t>:</a:t>
            </a:r>
            <a:r>
              <a:rPr lang="en-US" altLang="zh-TW" b="0" dirty="0">
                <a:solidFill>
                  <a:srgbClr val="C9D1D9"/>
                </a:solidFill>
                <a:effectLst/>
                <a:latin typeface="Consolas" panose="020B0609020204030204" pitchFamily="49" charset="0"/>
              </a:rPr>
              <a:t> </a:t>
            </a:r>
            <a:r>
              <a:rPr lang="en-US" altLang="zh-TW" b="0" dirty="0">
                <a:solidFill>
                  <a:srgbClr val="B5CEA8"/>
                </a:solidFill>
                <a:effectLst/>
                <a:latin typeface="Consolas" panose="020B0609020204030204" pitchFamily="49" charset="0"/>
              </a:rPr>
              <a:t>0</a:t>
            </a:r>
            <a:r>
              <a:rPr lang="en-US" altLang="zh-TW" b="0" dirty="0">
                <a:solidFill>
                  <a:srgbClr val="C9D1D9"/>
                </a:solidFill>
                <a:effectLst/>
                <a:latin typeface="Consolas" panose="020B0609020204030204" pitchFamily="49" charset="0"/>
              </a:rPr>
              <a:t> </a:t>
            </a:r>
            <a:r>
              <a:rPr lang="en-US" altLang="zh-TW" b="0" dirty="0">
                <a:solidFill>
                  <a:srgbClr val="BBBEBF"/>
                </a:solidFill>
                <a:effectLst/>
                <a:latin typeface="Consolas" panose="020B0609020204030204" pitchFamily="49" charset="0"/>
              </a:rPr>
              <a:t>};</a:t>
            </a:r>
          </a:p>
          <a:p>
            <a:br>
              <a:rPr lang="en-US" altLang="zh-TW" b="0" dirty="0">
                <a:solidFill>
                  <a:srgbClr val="BBBEBF"/>
                </a:solidFill>
                <a:effectLst/>
                <a:latin typeface="Consolas" panose="020B0609020204030204" pitchFamily="49" charset="0"/>
              </a:rPr>
            </a:br>
            <a:r>
              <a:rPr lang="en-US" altLang="zh-TW" b="0" dirty="0" err="1">
                <a:solidFill>
                  <a:srgbClr val="4EC9B0"/>
                </a:solidFill>
                <a:effectLst/>
                <a:latin typeface="Consolas" panose="020B0609020204030204" pitchFamily="49" charset="0"/>
              </a:rPr>
              <a:t>Object</a:t>
            </a:r>
            <a:r>
              <a:rPr lang="en-US" altLang="zh-TW" b="0" dirty="0" err="1">
                <a:solidFill>
                  <a:srgbClr val="BBBEBF"/>
                </a:solidFill>
                <a:effectLst/>
                <a:latin typeface="Consolas" panose="020B0609020204030204" pitchFamily="49" charset="0"/>
              </a:rPr>
              <a:t>.</a:t>
            </a:r>
            <a:r>
              <a:rPr lang="en-US" altLang="zh-TW" b="0" dirty="0" err="1">
                <a:solidFill>
                  <a:srgbClr val="D2A8FF"/>
                </a:solidFill>
                <a:effectLst/>
                <a:latin typeface="Consolas" panose="020B0609020204030204" pitchFamily="49" charset="0"/>
              </a:rPr>
              <a:t>defineProperties</a:t>
            </a:r>
            <a:r>
              <a:rPr lang="en-US" altLang="zh-TW" b="0" dirty="0">
                <a:solidFill>
                  <a:srgbClr val="BBBEBF"/>
                </a:solidFill>
                <a:effectLst/>
                <a:latin typeface="Consolas" panose="020B0609020204030204" pitchFamily="49" charset="0"/>
              </a:rPr>
              <a:t>(</a:t>
            </a:r>
            <a:r>
              <a:rPr lang="en-US" altLang="zh-TW" b="0" dirty="0" err="1">
                <a:solidFill>
                  <a:srgbClr val="79C0FF"/>
                </a:solidFill>
                <a:effectLst/>
                <a:latin typeface="Consolas" panose="020B0609020204030204" pitchFamily="49" charset="0"/>
              </a:rPr>
              <a:t>myObj</a:t>
            </a:r>
            <a:r>
              <a:rPr lang="en-US" altLang="zh-TW" b="0" dirty="0">
                <a:solidFill>
                  <a:srgbClr val="BBBEBF"/>
                </a:solidFill>
                <a:effectLst/>
                <a:latin typeface="Consolas" panose="020B0609020204030204" pitchFamily="49" charset="0"/>
              </a:rPr>
              <a:t>, {</a:t>
            </a:r>
          </a:p>
          <a:p>
            <a:r>
              <a:rPr lang="en-US" altLang="zh-TW" b="0" dirty="0">
                <a:solidFill>
                  <a:srgbClr val="BBBEBF"/>
                </a:solidFill>
                <a:effectLst/>
                <a:latin typeface="Consolas" panose="020B0609020204030204" pitchFamily="49" charset="0"/>
              </a:rPr>
              <a:t>  </a:t>
            </a:r>
            <a:r>
              <a:rPr lang="en-US" altLang="zh-TW" b="0" dirty="0">
                <a:solidFill>
                  <a:srgbClr val="C9D1D9"/>
                </a:solidFill>
                <a:effectLst/>
                <a:latin typeface="Consolas" panose="020B0609020204030204" pitchFamily="49" charset="0"/>
              </a:rPr>
              <a:t>b</a:t>
            </a:r>
            <a:r>
              <a:rPr lang="en-US" altLang="zh-TW" b="0" dirty="0">
                <a:solidFill>
                  <a:srgbClr val="9CDCFE"/>
                </a:solidFill>
                <a:effectLst/>
                <a:latin typeface="Consolas" panose="020B0609020204030204" pitchFamily="49" charset="0"/>
              </a:rPr>
              <a:t>:</a:t>
            </a:r>
            <a:r>
              <a:rPr lang="en-US" altLang="zh-TW" b="0" dirty="0">
                <a:solidFill>
                  <a:srgbClr val="C9D1D9"/>
                </a:solidFill>
                <a:effectLst/>
                <a:latin typeface="Consolas" panose="020B0609020204030204" pitchFamily="49" charset="0"/>
              </a:rPr>
              <a:t> {</a:t>
            </a:r>
            <a:endParaRPr lang="en-US" altLang="zh-TW" b="0" dirty="0">
              <a:solidFill>
                <a:srgbClr val="BBBEBF"/>
              </a:solidFill>
              <a:effectLst/>
              <a:latin typeface="Consolas" panose="020B0609020204030204" pitchFamily="49" charset="0"/>
            </a:endParaRPr>
          </a:p>
          <a:p>
            <a:r>
              <a:rPr lang="en-US" altLang="zh-TW" b="0" dirty="0">
                <a:solidFill>
                  <a:srgbClr val="C9D1D9"/>
                </a:solidFill>
                <a:effectLst/>
                <a:latin typeface="Consolas" panose="020B0609020204030204" pitchFamily="49" charset="0"/>
              </a:rPr>
              <a:t>    </a:t>
            </a:r>
            <a:r>
              <a:rPr lang="en-US" altLang="zh-TW" b="0" dirty="0">
                <a:solidFill>
                  <a:srgbClr val="D2A8FF"/>
                </a:solidFill>
                <a:effectLst/>
                <a:latin typeface="Consolas" panose="020B0609020204030204" pitchFamily="49" charset="0"/>
              </a:rPr>
              <a:t>get</a:t>
            </a:r>
            <a:r>
              <a:rPr lang="en-US" altLang="zh-TW" b="0" dirty="0">
                <a:solidFill>
                  <a:srgbClr val="C9D1D9"/>
                </a:solidFill>
                <a:effectLst/>
                <a:latin typeface="Consolas" panose="020B0609020204030204" pitchFamily="49" charset="0"/>
              </a:rPr>
              <a:t>() {</a:t>
            </a:r>
            <a:endParaRPr lang="en-US" altLang="zh-TW" b="0" dirty="0">
              <a:solidFill>
                <a:srgbClr val="BBBEBF"/>
              </a:solidFill>
              <a:effectLst/>
              <a:latin typeface="Consolas" panose="020B0609020204030204" pitchFamily="49" charset="0"/>
            </a:endParaRPr>
          </a:p>
          <a:p>
            <a:r>
              <a:rPr lang="en-US" altLang="zh-TW" b="0" dirty="0">
                <a:solidFill>
                  <a:srgbClr val="C9D1D9"/>
                </a:solidFill>
                <a:effectLst/>
                <a:latin typeface="Consolas" panose="020B0609020204030204" pitchFamily="49" charset="0"/>
              </a:rPr>
              <a:t>      </a:t>
            </a:r>
            <a:r>
              <a:rPr lang="en-US" altLang="zh-TW" b="0" dirty="0">
                <a:solidFill>
                  <a:srgbClr val="C586C0"/>
                </a:solidFill>
                <a:effectLst/>
                <a:latin typeface="Consolas" panose="020B0609020204030204" pitchFamily="49" charset="0"/>
              </a:rPr>
              <a:t>return</a:t>
            </a:r>
            <a:r>
              <a:rPr lang="en-US" altLang="zh-TW" b="0" dirty="0">
                <a:solidFill>
                  <a:srgbClr val="C9D1D9"/>
                </a:solidFill>
                <a:effectLst/>
                <a:latin typeface="Consolas" panose="020B0609020204030204" pitchFamily="49" charset="0"/>
              </a:rPr>
              <a:t> </a:t>
            </a:r>
            <a:r>
              <a:rPr lang="en-US" altLang="zh-TW" b="0" dirty="0" err="1">
                <a:solidFill>
                  <a:srgbClr val="79C0FF"/>
                </a:solidFill>
                <a:effectLst/>
                <a:latin typeface="Consolas" panose="020B0609020204030204" pitchFamily="49" charset="0"/>
              </a:rPr>
              <a:t>this</a:t>
            </a:r>
            <a:r>
              <a:rPr lang="en-US" altLang="zh-TW" b="0" dirty="0" err="1">
                <a:solidFill>
                  <a:srgbClr val="C9D1D9"/>
                </a:solidFill>
                <a:effectLst/>
                <a:latin typeface="Consolas" panose="020B0609020204030204" pitchFamily="49" charset="0"/>
              </a:rPr>
              <a:t>.a</a:t>
            </a:r>
            <a:r>
              <a:rPr lang="en-US" altLang="zh-TW" b="0" dirty="0">
                <a:solidFill>
                  <a:srgbClr val="C9D1D9"/>
                </a:solidFill>
                <a:effectLst/>
                <a:latin typeface="Consolas" panose="020B0609020204030204" pitchFamily="49" charset="0"/>
              </a:rPr>
              <a:t> </a:t>
            </a:r>
            <a:r>
              <a:rPr lang="en-US" altLang="zh-TW" b="0" dirty="0">
                <a:solidFill>
                  <a:srgbClr val="D4D4D4"/>
                </a:solidFill>
                <a:effectLst/>
                <a:latin typeface="Consolas" panose="020B0609020204030204" pitchFamily="49" charset="0"/>
              </a:rPr>
              <a:t>+</a:t>
            </a:r>
            <a:r>
              <a:rPr lang="en-US" altLang="zh-TW" b="0" dirty="0">
                <a:solidFill>
                  <a:srgbClr val="C9D1D9"/>
                </a:solidFill>
                <a:effectLst/>
                <a:latin typeface="Consolas" panose="020B0609020204030204" pitchFamily="49" charset="0"/>
              </a:rPr>
              <a:t> </a:t>
            </a:r>
            <a:r>
              <a:rPr lang="en-US" altLang="zh-TW" b="0" dirty="0">
                <a:solidFill>
                  <a:srgbClr val="B5CEA8"/>
                </a:solidFill>
                <a:effectLst/>
                <a:latin typeface="Consolas" panose="020B0609020204030204" pitchFamily="49" charset="0"/>
              </a:rPr>
              <a:t>1</a:t>
            </a:r>
            <a:r>
              <a:rPr lang="en-US" altLang="zh-TW" b="0" dirty="0">
                <a:solidFill>
                  <a:srgbClr val="C9D1D9"/>
                </a:solidFill>
                <a:effectLst/>
                <a:latin typeface="Consolas" panose="020B0609020204030204" pitchFamily="49" charset="0"/>
              </a:rPr>
              <a:t>;</a:t>
            </a:r>
            <a:endParaRPr lang="en-US" altLang="zh-TW" b="0" dirty="0">
              <a:solidFill>
                <a:srgbClr val="BBBEBF"/>
              </a:solidFill>
              <a:effectLst/>
              <a:latin typeface="Consolas" panose="020B0609020204030204" pitchFamily="49" charset="0"/>
            </a:endParaRPr>
          </a:p>
          <a:p>
            <a:r>
              <a:rPr lang="en-US" altLang="zh-TW" b="0" dirty="0">
                <a:solidFill>
                  <a:srgbClr val="C9D1D9"/>
                </a:solidFill>
                <a:effectLst/>
                <a:latin typeface="Consolas" panose="020B0609020204030204" pitchFamily="49" charset="0"/>
              </a:rPr>
              <a:t>    },</a:t>
            </a:r>
            <a:endParaRPr lang="en-US" altLang="zh-TW" b="0" dirty="0">
              <a:solidFill>
                <a:srgbClr val="BBBEBF"/>
              </a:solidFill>
              <a:effectLst/>
              <a:latin typeface="Consolas" panose="020B0609020204030204" pitchFamily="49" charset="0"/>
            </a:endParaRPr>
          </a:p>
          <a:p>
            <a:r>
              <a:rPr lang="en-US" altLang="zh-TW" b="0" dirty="0">
                <a:solidFill>
                  <a:srgbClr val="C9D1D9"/>
                </a:solidFill>
                <a:effectLst/>
                <a:latin typeface="Consolas" panose="020B0609020204030204" pitchFamily="49" charset="0"/>
              </a:rPr>
              <a:t>  }</a:t>
            </a:r>
            <a:r>
              <a:rPr lang="en-US" altLang="zh-TW" b="0" dirty="0">
                <a:solidFill>
                  <a:srgbClr val="BBBEBF"/>
                </a:solidFill>
                <a:effectLst/>
                <a:latin typeface="Consolas" panose="020B0609020204030204" pitchFamily="49" charset="0"/>
              </a:rPr>
              <a:t>,</a:t>
            </a:r>
          </a:p>
          <a:p>
            <a:r>
              <a:rPr lang="en-US" altLang="zh-TW" b="0" dirty="0">
                <a:solidFill>
                  <a:srgbClr val="BBBEBF"/>
                </a:solidFill>
                <a:effectLst/>
                <a:latin typeface="Consolas" panose="020B0609020204030204" pitchFamily="49" charset="0"/>
              </a:rPr>
              <a:t>  </a:t>
            </a:r>
            <a:r>
              <a:rPr lang="en-US" altLang="zh-TW" b="0" dirty="0">
                <a:solidFill>
                  <a:srgbClr val="C9D1D9"/>
                </a:solidFill>
                <a:effectLst/>
                <a:latin typeface="Consolas" panose="020B0609020204030204" pitchFamily="49" charset="0"/>
              </a:rPr>
              <a:t>c</a:t>
            </a:r>
            <a:r>
              <a:rPr lang="en-US" altLang="zh-TW" b="0" dirty="0">
                <a:solidFill>
                  <a:srgbClr val="9CDCFE"/>
                </a:solidFill>
                <a:effectLst/>
                <a:latin typeface="Consolas" panose="020B0609020204030204" pitchFamily="49" charset="0"/>
              </a:rPr>
              <a:t>:</a:t>
            </a:r>
            <a:r>
              <a:rPr lang="en-US" altLang="zh-TW" b="0" dirty="0">
                <a:solidFill>
                  <a:srgbClr val="C9D1D9"/>
                </a:solidFill>
                <a:effectLst/>
                <a:latin typeface="Consolas" panose="020B0609020204030204" pitchFamily="49" charset="0"/>
              </a:rPr>
              <a:t> {</a:t>
            </a:r>
            <a:endParaRPr lang="en-US" altLang="zh-TW" b="0" dirty="0">
              <a:solidFill>
                <a:srgbClr val="BBBEBF"/>
              </a:solidFill>
              <a:effectLst/>
              <a:latin typeface="Consolas" panose="020B0609020204030204" pitchFamily="49" charset="0"/>
            </a:endParaRPr>
          </a:p>
          <a:p>
            <a:r>
              <a:rPr lang="en-US" altLang="zh-TW" b="0" dirty="0">
                <a:solidFill>
                  <a:srgbClr val="C9D1D9"/>
                </a:solidFill>
                <a:effectLst/>
                <a:latin typeface="Consolas" panose="020B0609020204030204" pitchFamily="49" charset="0"/>
              </a:rPr>
              <a:t>    </a:t>
            </a:r>
            <a:r>
              <a:rPr lang="en-US" altLang="zh-TW" b="0" dirty="0">
                <a:solidFill>
                  <a:srgbClr val="D2A8FF"/>
                </a:solidFill>
                <a:effectLst/>
                <a:latin typeface="Consolas" panose="020B0609020204030204" pitchFamily="49" charset="0"/>
              </a:rPr>
              <a:t>set</a:t>
            </a:r>
            <a:r>
              <a:rPr lang="en-US" altLang="zh-TW" b="0" dirty="0">
                <a:solidFill>
                  <a:srgbClr val="C9D1D9"/>
                </a:solidFill>
                <a:effectLst/>
                <a:latin typeface="Consolas" panose="020B0609020204030204" pitchFamily="49" charset="0"/>
              </a:rPr>
              <a:t>(</a:t>
            </a:r>
            <a:r>
              <a:rPr lang="en-US" altLang="zh-TW" b="0" dirty="0">
                <a:solidFill>
                  <a:srgbClr val="FFA657"/>
                </a:solidFill>
                <a:effectLst/>
                <a:latin typeface="Consolas" panose="020B0609020204030204" pitchFamily="49" charset="0"/>
              </a:rPr>
              <a:t>x</a:t>
            </a:r>
            <a:r>
              <a:rPr lang="en-US" altLang="zh-TW" b="0" dirty="0">
                <a:solidFill>
                  <a:srgbClr val="C9D1D9"/>
                </a:solidFill>
                <a:effectLst/>
                <a:latin typeface="Consolas" panose="020B0609020204030204" pitchFamily="49" charset="0"/>
              </a:rPr>
              <a:t>) {</a:t>
            </a:r>
            <a:endParaRPr lang="en-US" altLang="zh-TW" b="0" dirty="0">
              <a:solidFill>
                <a:srgbClr val="BBBEBF"/>
              </a:solidFill>
              <a:effectLst/>
              <a:latin typeface="Consolas" panose="020B0609020204030204" pitchFamily="49" charset="0"/>
            </a:endParaRPr>
          </a:p>
          <a:p>
            <a:r>
              <a:rPr lang="en-US" altLang="zh-TW" b="0" dirty="0">
                <a:solidFill>
                  <a:srgbClr val="C9D1D9"/>
                </a:solidFill>
                <a:effectLst/>
                <a:latin typeface="Consolas" panose="020B0609020204030204" pitchFamily="49" charset="0"/>
              </a:rPr>
              <a:t>      </a:t>
            </a:r>
            <a:r>
              <a:rPr lang="en-US" altLang="zh-TW" b="0" dirty="0" err="1">
                <a:solidFill>
                  <a:srgbClr val="79C0FF"/>
                </a:solidFill>
                <a:effectLst/>
                <a:latin typeface="Consolas" panose="020B0609020204030204" pitchFamily="49" charset="0"/>
              </a:rPr>
              <a:t>this</a:t>
            </a:r>
            <a:r>
              <a:rPr lang="en-US" altLang="zh-TW" b="0" dirty="0" err="1">
                <a:solidFill>
                  <a:srgbClr val="C9D1D9"/>
                </a:solidFill>
                <a:effectLst/>
                <a:latin typeface="Consolas" panose="020B0609020204030204" pitchFamily="49" charset="0"/>
              </a:rPr>
              <a:t>.a</a:t>
            </a:r>
            <a:r>
              <a:rPr lang="en-US" altLang="zh-TW" b="0" dirty="0">
                <a:solidFill>
                  <a:srgbClr val="C9D1D9"/>
                </a:solidFill>
                <a:effectLst/>
                <a:latin typeface="Consolas" panose="020B0609020204030204" pitchFamily="49" charset="0"/>
              </a:rPr>
              <a:t> </a:t>
            </a:r>
            <a:r>
              <a:rPr lang="en-US" altLang="zh-TW" b="0" dirty="0">
                <a:solidFill>
                  <a:srgbClr val="D4D4D4"/>
                </a:solidFill>
                <a:effectLst/>
                <a:latin typeface="Consolas" panose="020B0609020204030204" pitchFamily="49" charset="0"/>
              </a:rPr>
              <a:t>=</a:t>
            </a:r>
            <a:r>
              <a:rPr lang="en-US" altLang="zh-TW" b="0" dirty="0">
                <a:solidFill>
                  <a:srgbClr val="C9D1D9"/>
                </a:solidFill>
                <a:effectLst/>
                <a:latin typeface="Consolas" panose="020B0609020204030204" pitchFamily="49" charset="0"/>
              </a:rPr>
              <a:t> </a:t>
            </a:r>
            <a:r>
              <a:rPr lang="en-US" altLang="zh-TW" b="0" dirty="0">
                <a:solidFill>
                  <a:srgbClr val="FFA657"/>
                </a:solidFill>
                <a:effectLst/>
                <a:latin typeface="Consolas" panose="020B0609020204030204" pitchFamily="49" charset="0"/>
              </a:rPr>
              <a:t>x</a:t>
            </a:r>
            <a:r>
              <a:rPr lang="en-US" altLang="zh-TW" b="0" dirty="0">
                <a:solidFill>
                  <a:srgbClr val="C9D1D9"/>
                </a:solidFill>
                <a:effectLst/>
                <a:latin typeface="Consolas" panose="020B0609020204030204" pitchFamily="49" charset="0"/>
              </a:rPr>
              <a:t> </a:t>
            </a:r>
            <a:r>
              <a:rPr lang="en-US" altLang="zh-TW" b="0" dirty="0">
                <a:solidFill>
                  <a:srgbClr val="D4D4D4"/>
                </a:solidFill>
                <a:effectLst/>
                <a:latin typeface="Consolas" panose="020B0609020204030204" pitchFamily="49" charset="0"/>
              </a:rPr>
              <a:t>/</a:t>
            </a:r>
            <a:r>
              <a:rPr lang="en-US" altLang="zh-TW" b="0" dirty="0">
                <a:solidFill>
                  <a:srgbClr val="C9D1D9"/>
                </a:solidFill>
                <a:effectLst/>
                <a:latin typeface="Consolas" panose="020B0609020204030204" pitchFamily="49" charset="0"/>
              </a:rPr>
              <a:t> </a:t>
            </a:r>
            <a:r>
              <a:rPr lang="en-US" altLang="zh-TW" b="0" dirty="0">
                <a:solidFill>
                  <a:srgbClr val="B5CEA8"/>
                </a:solidFill>
                <a:effectLst/>
                <a:latin typeface="Consolas" panose="020B0609020204030204" pitchFamily="49" charset="0"/>
              </a:rPr>
              <a:t>2</a:t>
            </a:r>
            <a:r>
              <a:rPr lang="en-US" altLang="zh-TW" b="0" dirty="0">
                <a:solidFill>
                  <a:srgbClr val="C9D1D9"/>
                </a:solidFill>
                <a:effectLst/>
                <a:latin typeface="Consolas" panose="020B0609020204030204" pitchFamily="49" charset="0"/>
              </a:rPr>
              <a:t>;</a:t>
            </a:r>
            <a:endParaRPr lang="en-US" altLang="zh-TW" b="0" dirty="0">
              <a:solidFill>
                <a:srgbClr val="BBBEBF"/>
              </a:solidFill>
              <a:effectLst/>
              <a:latin typeface="Consolas" panose="020B0609020204030204" pitchFamily="49" charset="0"/>
            </a:endParaRPr>
          </a:p>
          <a:p>
            <a:r>
              <a:rPr lang="en-US" altLang="zh-TW" b="0" dirty="0">
                <a:solidFill>
                  <a:srgbClr val="C9D1D9"/>
                </a:solidFill>
                <a:effectLst/>
                <a:latin typeface="Consolas" panose="020B0609020204030204" pitchFamily="49" charset="0"/>
              </a:rPr>
              <a:t>    },</a:t>
            </a:r>
            <a:endParaRPr lang="en-US" altLang="zh-TW" b="0" dirty="0">
              <a:solidFill>
                <a:srgbClr val="BBBEBF"/>
              </a:solidFill>
              <a:effectLst/>
              <a:latin typeface="Consolas" panose="020B0609020204030204" pitchFamily="49" charset="0"/>
            </a:endParaRPr>
          </a:p>
          <a:p>
            <a:r>
              <a:rPr lang="en-US" altLang="zh-TW" b="0" dirty="0">
                <a:solidFill>
                  <a:srgbClr val="C9D1D9"/>
                </a:solidFill>
                <a:effectLst/>
                <a:latin typeface="Consolas" panose="020B0609020204030204" pitchFamily="49" charset="0"/>
              </a:rPr>
              <a:t>  }</a:t>
            </a:r>
            <a:r>
              <a:rPr lang="en-US" altLang="zh-TW" b="0" dirty="0">
                <a:solidFill>
                  <a:srgbClr val="BBBEBF"/>
                </a:solidFill>
                <a:effectLst/>
                <a:latin typeface="Consolas" panose="020B0609020204030204" pitchFamily="49" charset="0"/>
              </a:rPr>
              <a:t>,</a:t>
            </a:r>
          </a:p>
          <a:p>
            <a:r>
              <a:rPr lang="en-US" altLang="zh-TW" b="0" dirty="0">
                <a:solidFill>
                  <a:srgbClr val="BBBEBF"/>
                </a:solidFill>
                <a:effectLst/>
                <a:latin typeface="Consolas" panose="020B0609020204030204" pitchFamily="49" charset="0"/>
              </a:rPr>
              <a:t>});</a:t>
            </a:r>
          </a:p>
        </p:txBody>
      </p:sp>
    </p:spTree>
    <p:extLst>
      <p:ext uri="{BB962C8B-B14F-4D97-AF65-F5344CB8AC3E}">
        <p14:creationId xmlns:p14="http://schemas.microsoft.com/office/powerpoint/2010/main" val="35210873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54"/>
          <p:cNvSpPr txBox="1">
            <a:spLocks noGrp="1"/>
          </p:cNvSpPr>
          <p:nvPr>
            <p:ph type="title"/>
          </p:nvPr>
        </p:nvSpPr>
        <p:spPr>
          <a:xfrm>
            <a:off x="485875" y="1215000"/>
            <a:ext cx="8183700" cy="128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Standard Built-in Objects and Global Properties</a:t>
            </a:r>
            <a:endParaRPr/>
          </a:p>
        </p:txBody>
      </p:sp>
      <p:sp>
        <p:nvSpPr>
          <p:cNvPr id="395" name="Google Shape;395;p5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43</a:t>
            </a:fld>
            <a:endParaRPr>
              <a:solidFill>
                <a:schemeClr val="lt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5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Global Properties</a:t>
            </a:r>
            <a:endParaRPr/>
          </a:p>
        </p:txBody>
      </p:sp>
      <p:sp>
        <p:nvSpPr>
          <p:cNvPr id="401" name="Google Shape;401;p5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44</a:t>
            </a:fld>
            <a:endParaRPr>
              <a:solidFill>
                <a:schemeClr val="lt2"/>
              </a:solidFill>
            </a:endParaRPr>
          </a:p>
        </p:txBody>
      </p:sp>
      <p:sp>
        <p:nvSpPr>
          <p:cNvPr id="402" name="Google Shape;402;p5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NaN property</a:t>
            </a:r>
            <a:endParaRPr/>
          </a:p>
          <a:p>
            <a:pPr marL="914400" lvl="1" indent="-317500" algn="l" rtl="0">
              <a:spcBef>
                <a:spcPts val="0"/>
              </a:spcBef>
              <a:spcAft>
                <a:spcPts val="0"/>
              </a:spcAft>
              <a:buSzPts val="1400"/>
              <a:buChar char="○"/>
            </a:pPr>
            <a:r>
              <a:rPr lang="en"/>
              <a:t>represents "Not-a-Number" value</a:t>
            </a:r>
            <a:endParaRPr/>
          </a:p>
          <a:p>
            <a:pPr marL="914400" lvl="1" indent="-317500" algn="l" rtl="0">
              <a:spcBef>
                <a:spcPts val="0"/>
              </a:spcBef>
              <a:spcAft>
                <a:spcPts val="0"/>
              </a:spcAft>
              <a:buSzPts val="1400"/>
              <a:buChar char="○"/>
            </a:pPr>
            <a:r>
              <a:rPr lang="en" u="sng">
                <a:solidFill>
                  <a:schemeClr val="hlink"/>
                </a:solidFill>
                <a:hlinkClick r:id="rId3"/>
              </a:rPr>
              <a:t>https://developer.mozilla.org/en-US/docs/Web/JavaScript/Reference/Global_Objects/NaN</a:t>
            </a:r>
            <a:endParaRPr/>
          </a:p>
          <a:p>
            <a:pPr marL="457200" lvl="0" indent="-342900" algn="l" rtl="0">
              <a:spcBef>
                <a:spcPts val="0"/>
              </a:spcBef>
              <a:spcAft>
                <a:spcPts val="0"/>
              </a:spcAft>
              <a:buSzPts val="1800"/>
              <a:buChar char="●"/>
            </a:pPr>
            <a:r>
              <a:rPr lang="en"/>
              <a:t>Infinity property</a:t>
            </a:r>
            <a:endParaRPr/>
          </a:p>
          <a:p>
            <a:pPr marL="914400" lvl="1" indent="-317500" algn="l" rtl="0">
              <a:spcBef>
                <a:spcPts val="0"/>
              </a:spcBef>
              <a:spcAft>
                <a:spcPts val="0"/>
              </a:spcAft>
              <a:buSzPts val="1400"/>
              <a:buChar char="○"/>
            </a:pPr>
            <a:r>
              <a:rPr lang="en"/>
              <a:t>The Infinity global property is a numeric value representing infinity.</a:t>
            </a:r>
            <a:endParaRPr/>
          </a:p>
          <a:p>
            <a:pPr marL="914400" lvl="1" indent="-317500" algn="l" rtl="0">
              <a:spcBef>
                <a:spcPts val="0"/>
              </a:spcBef>
              <a:spcAft>
                <a:spcPts val="0"/>
              </a:spcAft>
              <a:buSzPts val="1400"/>
              <a:buChar char="○"/>
            </a:pPr>
            <a:r>
              <a:rPr lang="en" u="sng">
                <a:solidFill>
                  <a:schemeClr val="hlink"/>
                </a:solidFill>
                <a:hlinkClick r:id="rId4"/>
              </a:rPr>
              <a:t>https://developer.mozilla.org/en-US/docs/Web/JavaScript/Reference/Global_Objects/Infinity</a:t>
            </a:r>
            <a:r>
              <a:rPr lang="en"/>
              <a:t> </a:t>
            </a:r>
            <a:endParaRPr/>
          </a:p>
          <a:p>
            <a:pPr marL="457200" lvl="0" indent="-342900" algn="l" rtl="0">
              <a:spcBef>
                <a:spcPts val="0"/>
              </a:spcBef>
              <a:spcAft>
                <a:spcPts val="0"/>
              </a:spcAft>
              <a:buSzPts val="1800"/>
              <a:buChar char="●"/>
            </a:pPr>
            <a:r>
              <a:rPr lang="en"/>
              <a:t>undefined property</a:t>
            </a:r>
            <a:endParaRPr/>
          </a:p>
          <a:p>
            <a:pPr marL="914400" lvl="1" indent="-317500" algn="l" rtl="0">
              <a:spcBef>
                <a:spcPts val="0"/>
              </a:spcBef>
              <a:spcAft>
                <a:spcPts val="0"/>
              </a:spcAft>
              <a:buSzPts val="1400"/>
              <a:buChar char="○"/>
            </a:pPr>
            <a:r>
              <a:rPr lang="en"/>
              <a:t>The undefined global property represents the primitive value undefined. It is one of JavaScript's primitive types.</a:t>
            </a:r>
            <a:endParaRPr/>
          </a:p>
          <a:p>
            <a:pPr marL="914400" lvl="1" indent="-317500" algn="l" rtl="0">
              <a:spcBef>
                <a:spcPts val="0"/>
              </a:spcBef>
              <a:spcAft>
                <a:spcPts val="0"/>
              </a:spcAft>
              <a:buSzPts val="1400"/>
              <a:buChar char="○"/>
            </a:pPr>
            <a:r>
              <a:rPr lang="en" u="sng">
                <a:solidFill>
                  <a:schemeClr val="hlink"/>
                </a:solidFill>
                <a:hlinkClick r:id="rId5"/>
              </a:rPr>
              <a:t>https://developer.mozilla.org/en-US/docs/Web/JavaScript/Reference/Global_Objects/undefined</a:t>
            </a:r>
            <a:r>
              <a:rPr lang="en"/>
              <a:t>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5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Math Object</a:t>
            </a:r>
            <a:endParaRPr/>
          </a:p>
        </p:txBody>
      </p:sp>
      <p:sp>
        <p:nvSpPr>
          <p:cNvPr id="408" name="Google Shape;408;p5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Math object methods enable you to conveniently perform many common mathematical calculations.</a:t>
            </a:r>
            <a:endParaRPr/>
          </a:p>
          <a:p>
            <a:pPr marL="457200" lvl="0" indent="-342900" algn="l" rtl="0">
              <a:spcBef>
                <a:spcPts val="0"/>
              </a:spcBef>
              <a:spcAft>
                <a:spcPts val="0"/>
              </a:spcAft>
              <a:buSzPts val="1800"/>
              <a:buChar char="●"/>
            </a:pPr>
            <a:r>
              <a:rPr lang="en"/>
              <a:t>An object’s methods are called by writing the name of the object followed by a dot operator (.) and the name of the method.</a:t>
            </a:r>
            <a:endParaRPr/>
          </a:p>
          <a:p>
            <a:pPr marL="457200" lvl="0" indent="-342900" algn="l" rtl="0">
              <a:spcBef>
                <a:spcPts val="0"/>
              </a:spcBef>
              <a:spcAft>
                <a:spcPts val="0"/>
              </a:spcAft>
              <a:buSzPts val="1800"/>
              <a:buChar char="●"/>
            </a:pPr>
            <a:r>
              <a:rPr lang="en"/>
              <a:t>In parentheses following the method name are arguments to the method.</a:t>
            </a:r>
            <a:endParaRPr/>
          </a:p>
          <a:p>
            <a:pPr marL="457200" lvl="0" indent="-342900" algn="l" rtl="0">
              <a:spcBef>
                <a:spcPts val="0"/>
              </a:spcBef>
              <a:spcAft>
                <a:spcPts val="0"/>
              </a:spcAft>
              <a:buSzPts val="1800"/>
              <a:buChar char="●"/>
            </a:pPr>
            <a:r>
              <a:rPr lang="en" u="sng">
                <a:solidFill>
                  <a:schemeClr val="hlink"/>
                </a:solidFill>
                <a:hlinkClick r:id="rId3"/>
              </a:rPr>
              <a:t>https://developer.mozilla.org/en-US/docs/Web/JavaScript/Reference/Global_Objects/Math</a:t>
            </a:r>
            <a:r>
              <a:rPr lang="en"/>
              <a:t> </a:t>
            </a:r>
            <a:endParaRPr/>
          </a:p>
        </p:txBody>
      </p:sp>
      <p:sp>
        <p:nvSpPr>
          <p:cNvPr id="409" name="Google Shape;409;p5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5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Math Object Methods</a:t>
            </a:r>
            <a:endParaRPr/>
          </a:p>
        </p:txBody>
      </p:sp>
      <p:sp>
        <p:nvSpPr>
          <p:cNvPr id="415" name="Google Shape;415;p5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46</a:t>
            </a:fld>
            <a:endParaRPr/>
          </a:p>
        </p:txBody>
      </p:sp>
      <p:pic>
        <p:nvPicPr>
          <p:cNvPr id="416" name="Google Shape;416;p57"/>
          <p:cNvPicPr preferRelativeResize="0"/>
          <p:nvPr/>
        </p:nvPicPr>
        <p:blipFill>
          <a:blip r:embed="rId3">
            <a:alphaModFix/>
          </a:blip>
          <a:stretch>
            <a:fillRect/>
          </a:stretch>
        </p:blipFill>
        <p:spPr>
          <a:xfrm>
            <a:off x="1343100" y="1204625"/>
            <a:ext cx="5082053" cy="37702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5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Math Object Methods (Cont.)</a:t>
            </a:r>
            <a:endParaRPr/>
          </a:p>
        </p:txBody>
      </p:sp>
      <p:sp>
        <p:nvSpPr>
          <p:cNvPr id="422" name="Google Shape;422;p5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47</a:t>
            </a:fld>
            <a:endParaRPr/>
          </a:p>
        </p:txBody>
      </p:sp>
      <p:pic>
        <p:nvPicPr>
          <p:cNvPr id="423" name="Google Shape;423;p58"/>
          <p:cNvPicPr preferRelativeResize="0"/>
          <p:nvPr/>
        </p:nvPicPr>
        <p:blipFill>
          <a:blip r:embed="rId3">
            <a:alphaModFix/>
          </a:blip>
          <a:stretch>
            <a:fillRect/>
          </a:stretch>
        </p:blipFill>
        <p:spPr>
          <a:xfrm>
            <a:off x="1148700" y="1172225"/>
            <a:ext cx="5591175" cy="34575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5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Math Static properties</a:t>
            </a:r>
            <a:endParaRPr/>
          </a:p>
        </p:txBody>
      </p:sp>
      <p:sp>
        <p:nvSpPr>
          <p:cNvPr id="429" name="Google Shape;429;p5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48</a:t>
            </a:fld>
            <a:endParaRPr/>
          </a:p>
        </p:txBody>
      </p:sp>
      <p:pic>
        <p:nvPicPr>
          <p:cNvPr id="430" name="Google Shape;430;p59"/>
          <p:cNvPicPr preferRelativeResize="0"/>
          <p:nvPr/>
        </p:nvPicPr>
        <p:blipFill>
          <a:blip r:embed="rId3">
            <a:alphaModFix/>
          </a:blip>
          <a:stretch>
            <a:fillRect/>
          </a:stretch>
        </p:blipFill>
        <p:spPr>
          <a:xfrm>
            <a:off x="816600" y="1228925"/>
            <a:ext cx="5619750" cy="30956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6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String Object</a:t>
            </a:r>
            <a:endParaRPr/>
          </a:p>
        </p:txBody>
      </p:sp>
      <p:sp>
        <p:nvSpPr>
          <p:cNvPr id="436" name="Google Shape;436;p6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49</a:t>
            </a:fld>
            <a:endParaRPr/>
          </a:p>
        </p:txBody>
      </p:sp>
      <p:sp>
        <p:nvSpPr>
          <p:cNvPr id="437" name="Google Shape;437;p6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10000"/>
          </a:bodyPr>
          <a:lstStyle/>
          <a:p>
            <a:pPr marL="457200" lvl="0" indent="-342900" algn="l" rtl="0">
              <a:spcBef>
                <a:spcPts val="0"/>
              </a:spcBef>
              <a:spcAft>
                <a:spcPts val="0"/>
              </a:spcAft>
              <a:buSzPts val="1800"/>
              <a:buChar char="●"/>
            </a:pPr>
            <a:r>
              <a:rPr lang="en"/>
              <a:t>Characters are the building blocks of JavaScript programs.</a:t>
            </a:r>
            <a:endParaRPr/>
          </a:p>
          <a:p>
            <a:pPr marL="914400" lvl="1" indent="-317500" algn="l" rtl="0">
              <a:spcBef>
                <a:spcPts val="0"/>
              </a:spcBef>
              <a:spcAft>
                <a:spcPts val="0"/>
              </a:spcAft>
              <a:buSzPts val="1400"/>
              <a:buChar char="○"/>
            </a:pPr>
            <a:r>
              <a:rPr lang="en"/>
              <a:t>Every program is composed of a sequence of characters grouped together that is interpreted by the computer as a series of instructions used to accomplish a task.</a:t>
            </a:r>
            <a:endParaRPr/>
          </a:p>
          <a:p>
            <a:pPr marL="457200" lvl="0" indent="-342900" algn="l" rtl="0">
              <a:spcBef>
                <a:spcPts val="0"/>
              </a:spcBef>
              <a:spcAft>
                <a:spcPts val="0"/>
              </a:spcAft>
              <a:buSzPts val="1800"/>
              <a:buChar char="●"/>
            </a:pPr>
            <a:r>
              <a:rPr lang="en"/>
              <a:t>A string is a series of characters treated as a single unit.</a:t>
            </a:r>
            <a:endParaRPr/>
          </a:p>
          <a:p>
            <a:pPr marL="457200" lvl="0" indent="-342900" algn="l" rtl="0">
              <a:spcBef>
                <a:spcPts val="0"/>
              </a:spcBef>
              <a:spcAft>
                <a:spcPts val="0"/>
              </a:spcAft>
              <a:buSzPts val="1800"/>
              <a:buChar char="●"/>
            </a:pPr>
            <a:r>
              <a:rPr lang="en"/>
              <a:t>A string may include letters, digits and various special characters, such as +, -, *, /, and $.</a:t>
            </a:r>
            <a:endParaRPr/>
          </a:p>
          <a:p>
            <a:pPr marL="457200" lvl="0" indent="-342900" algn="l" rtl="0">
              <a:spcBef>
                <a:spcPts val="0"/>
              </a:spcBef>
              <a:spcAft>
                <a:spcPts val="0"/>
              </a:spcAft>
              <a:buSzPts val="1800"/>
              <a:buChar char="●"/>
            </a:pPr>
            <a:r>
              <a:rPr lang="en"/>
              <a:t>JavaScript supports Unicode, which represents a large portion of the world’s languages.</a:t>
            </a:r>
            <a:endParaRPr/>
          </a:p>
          <a:p>
            <a:pPr marL="457200" lvl="0" indent="-342900" algn="l" rtl="0">
              <a:spcBef>
                <a:spcPts val="0"/>
              </a:spcBef>
              <a:spcAft>
                <a:spcPts val="0"/>
              </a:spcAft>
              <a:buSzPts val="1800"/>
              <a:buChar char="●"/>
            </a:pPr>
            <a:r>
              <a:rPr lang="en"/>
              <a:t>String literals or string constants are written as a sequence of characters in double or single quotation marks.</a:t>
            </a:r>
            <a:endParaRPr/>
          </a:p>
          <a:p>
            <a:pPr marL="457200" lvl="0" indent="-342900" algn="l" rtl="0">
              <a:spcBef>
                <a:spcPts val="0"/>
              </a:spcBef>
              <a:spcAft>
                <a:spcPts val="0"/>
              </a:spcAft>
              <a:buSzPts val="1800"/>
              <a:buChar char="●"/>
            </a:pPr>
            <a:r>
              <a:rPr lang="en" u="sng">
                <a:solidFill>
                  <a:schemeClr val="hlink"/>
                </a:solidFill>
                <a:hlinkClick r:id="rId3"/>
              </a:rPr>
              <a:t>https://developer.mozilla.org/en-US/docs/Web/JavaScript/Reference/Global_Objects/String</a:t>
            </a:r>
            <a:r>
              <a:rPr lang="en"/>
              <a:t>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6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String Object Methods</a:t>
            </a:r>
            <a:endParaRPr/>
          </a:p>
        </p:txBody>
      </p:sp>
      <p:sp>
        <p:nvSpPr>
          <p:cNvPr id="443" name="Google Shape;443;p6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50</a:t>
            </a:fld>
            <a:endParaRPr/>
          </a:p>
        </p:txBody>
      </p:sp>
      <p:pic>
        <p:nvPicPr>
          <p:cNvPr id="444" name="Google Shape;444;p61"/>
          <p:cNvPicPr preferRelativeResize="0"/>
          <p:nvPr/>
        </p:nvPicPr>
        <p:blipFill>
          <a:blip r:embed="rId3">
            <a:alphaModFix/>
          </a:blip>
          <a:stretch>
            <a:fillRect/>
          </a:stretch>
        </p:blipFill>
        <p:spPr>
          <a:xfrm>
            <a:off x="816600" y="1107425"/>
            <a:ext cx="5573450" cy="37702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6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String Object Methods (Cont.)</a:t>
            </a:r>
            <a:endParaRPr/>
          </a:p>
        </p:txBody>
      </p:sp>
      <p:sp>
        <p:nvSpPr>
          <p:cNvPr id="450" name="Google Shape;450;p6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51</a:t>
            </a:fld>
            <a:endParaRPr/>
          </a:p>
        </p:txBody>
      </p:sp>
      <p:pic>
        <p:nvPicPr>
          <p:cNvPr id="451" name="Google Shape;451;p62"/>
          <p:cNvPicPr preferRelativeResize="0"/>
          <p:nvPr/>
        </p:nvPicPr>
        <p:blipFill>
          <a:blip r:embed="rId3">
            <a:alphaModFix/>
          </a:blip>
          <a:stretch>
            <a:fillRect/>
          </a:stretch>
        </p:blipFill>
        <p:spPr>
          <a:xfrm>
            <a:off x="857100" y="1115525"/>
            <a:ext cx="6192723" cy="37702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6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String Object Methods (Cont.)</a:t>
            </a:r>
            <a:endParaRPr/>
          </a:p>
        </p:txBody>
      </p:sp>
      <p:sp>
        <p:nvSpPr>
          <p:cNvPr id="457" name="Google Shape;457;p6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52</a:t>
            </a:fld>
            <a:endParaRPr/>
          </a:p>
        </p:txBody>
      </p:sp>
      <p:pic>
        <p:nvPicPr>
          <p:cNvPr id="458" name="Google Shape;458;p63"/>
          <p:cNvPicPr preferRelativeResize="0"/>
          <p:nvPr/>
        </p:nvPicPr>
        <p:blipFill>
          <a:blip r:embed="rId3">
            <a:alphaModFix/>
          </a:blip>
          <a:stretch>
            <a:fillRect/>
          </a:stretch>
        </p:blipFill>
        <p:spPr>
          <a:xfrm>
            <a:off x="638400" y="1126400"/>
            <a:ext cx="6496050" cy="35623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6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Character Processing Methods</a:t>
            </a:r>
            <a:endParaRPr/>
          </a:p>
        </p:txBody>
      </p:sp>
      <p:sp>
        <p:nvSpPr>
          <p:cNvPr id="464" name="Google Shape;464;p6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53</a:t>
            </a:fld>
            <a:endParaRPr/>
          </a:p>
        </p:txBody>
      </p:sp>
      <p:sp>
        <p:nvSpPr>
          <p:cNvPr id="465" name="Google Shape;465;p6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10000"/>
          </a:bodyPr>
          <a:lstStyle/>
          <a:p>
            <a:pPr marL="457200" lvl="0" indent="-342900" algn="l" rtl="0">
              <a:spcBef>
                <a:spcPts val="0"/>
              </a:spcBef>
              <a:spcAft>
                <a:spcPts val="0"/>
              </a:spcAft>
              <a:buSzPts val="1800"/>
              <a:buChar char="●"/>
            </a:pPr>
            <a:r>
              <a:rPr lang="en"/>
              <a:t>String method charAt</a:t>
            </a:r>
            <a:endParaRPr/>
          </a:p>
          <a:p>
            <a:pPr marL="914400" lvl="1" indent="-317500" algn="l" rtl="0">
              <a:spcBef>
                <a:spcPts val="0"/>
              </a:spcBef>
              <a:spcAft>
                <a:spcPts val="0"/>
              </a:spcAft>
              <a:buSzPts val="1400"/>
              <a:buChar char="○"/>
            </a:pPr>
            <a:r>
              <a:rPr lang="en"/>
              <a:t>Returns the character at a specific position.</a:t>
            </a:r>
            <a:endParaRPr/>
          </a:p>
          <a:p>
            <a:pPr marL="914400" lvl="1" indent="-317500" algn="l" rtl="0">
              <a:spcBef>
                <a:spcPts val="0"/>
              </a:spcBef>
              <a:spcAft>
                <a:spcPts val="0"/>
              </a:spcAft>
              <a:buSzPts val="1400"/>
              <a:buChar char="○"/>
            </a:pPr>
            <a:r>
              <a:rPr lang="en"/>
              <a:t>Indices for the characters in a string start at 0 (the first character) and go up to (but do not include) the string’s length.</a:t>
            </a:r>
            <a:endParaRPr/>
          </a:p>
          <a:p>
            <a:pPr marL="914400" lvl="1" indent="-317500" algn="l" rtl="0">
              <a:spcBef>
                <a:spcPts val="0"/>
              </a:spcBef>
              <a:spcAft>
                <a:spcPts val="0"/>
              </a:spcAft>
              <a:buSzPts val="1400"/>
              <a:buChar char="○"/>
            </a:pPr>
            <a:r>
              <a:rPr lang="en"/>
              <a:t>If the index is outside the bounds of the string, the method returns an empty string.</a:t>
            </a:r>
            <a:endParaRPr/>
          </a:p>
          <a:p>
            <a:pPr marL="457200" lvl="0" indent="-342900" algn="l" rtl="0">
              <a:spcBef>
                <a:spcPts val="0"/>
              </a:spcBef>
              <a:spcAft>
                <a:spcPts val="0"/>
              </a:spcAft>
              <a:buSzPts val="1800"/>
              <a:buChar char="●"/>
            </a:pPr>
            <a:r>
              <a:rPr lang="en"/>
              <a:t>String method charCodeAt</a:t>
            </a:r>
            <a:endParaRPr/>
          </a:p>
          <a:p>
            <a:pPr marL="914400" lvl="1" indent="-317500" algn="l" rtl="0">
              <a:spcBef>
                <a:spcPts val="0"/>
              </a:spcBef>
              <a:spcAft>
                <a:spcPts val="0"/>
              </a:spcAft>
              <a:buSzPts val="1400"/>
              <a:buChar char="○"/>
            </a:pPr>
            <a:r>
              <a:rPr lang="en"/>
              <a:t>Returns the Unicode value of the character at a specific position.</a:t>
            </a:r>
            <a:endParaRPr/>
          </a:p>
          <a:p>
            <a:pPr marL="914400" lvl="1" indent="-317500" algn="l" rtl="0">
              <a:spcBef>
                <a:spcPts val="0"/>
              </a:spcBef>
              <a:spcAft>
                <a:spcPts val="0"/>
              </a:spcAft>
              <a:buSzPts val="1400"/>
              <a:buChar char="○"/>
            </a:pPr>
            <a:r>
              <a:rPr lang="en"/>
              <a:t>If the index is outside the bounds of the string, the method returns NaN.</a:t>
            </a:r>
            <a:endParaRPr/>
          </a:p>
          <a:p>
            <a:pPr marL="457200" lvl="0" indent="-342900" algn="l" rtl="0">
              <a:spcBef>
                <a:spcPts val="0"/>
              </a:spcBef>
              <a:spcAft>
                <a:spcPts val="0"/>
              </a:spcAft>
              <a:buSzPts val="1800"/>
              <a:buChar char="●"/>
            </a:pPr>
            <a:r>
              <a:rPr lang="en"/>
              <a:t>String method fromCharCode</a:t>
            </a:r>
            <a:endParaRPr/>
          </a:p>
          <a:p>
            <a:pPr marL="914400" lvl="1" indent="-317500" algn="l" rtl="0">
              <a:spcBef>
                <a:spcPts val="0"/>
              </a:spcBef>
              <a:spcAft>
                <a:spcPts val="0"/>
              </a:spcAft>
              <a:buSzPts val="1400"/>
              <a:buChar char="○"/>
            </a:pPr>
            <a:r>
              <a:rPr lang="en"/>
              <a:t>Returns a string created from a series of Unicode values.</a:t>
            </a:r>
            <a:endParaRPr/>
          </a:p>
          <a:p>
            <a:pPr marL="457200" lvl="0" indent="-342900" algn="l" rtl="0">
              <a:spcBef>
                <a:spcPts val="0"/>
              </a:spcBef>
              <a:spcAft>
                <a:spcPts val="0"/>
              </a:spcAft>
              <a:buSzPts val="1800"/>
              <a:buChar char="●"/>
            </a:pPr>
            <a:r>
              <a:rPr lang="en"/>
              <a:t>String method toLowerCase</a:t>
            </a:r>
            <a:endParaRPr/>
          </a:p>
          <a:p>
            <a:pPr marL="914400" lvl="1" indent="-317500" algn="l" rtl="0">
              <a:spcBef>
                <a:spcPts val="0"/>
              </a:spcBef>
              <a:spcAft>
                <a:spcPts val="0"/>
              </a:spcAft>
              <a:buSzPts val="1400"/>
              <a:buChar char="○"/>
            </a:pPr>
            <a:r>
              <a:rPr lang="en"/>
              <a:t>Returns the lowercase version of a string.</a:t>
            </a:r>
            <a:endParaRPr/>
          </a:p>
          <a:p>
            <a:pPr marL="457200" lvl="0" indent="-342900" algn="l" rtl="0">
              <a:spcBef>
                <a:spcPts val="0"/>
              </a:spcBef>
              <a:spcAft>
                <a:spcPts val="0"/>
              </a:spcAft>
              <a:buSzPts val="1800"/>
              <a:buChar char="●"/>
            </a:pPr>
            <a:r>
              <a:rPr lang="en"/>
              <a:t>String method toUpperCase</a:t>
            </a:r>
            <a:endParaRPr/>
          </a:p>
          <a:p>
            <a:pPr marL="914400" lvl="1" indent="-317500" algn="l" rtl="0">
              <a:spcBef>
                <a:spcPts val="0"/>
              </a:spcBef>
              <a:spcAft>
                <a:spcPts val="0"/>
              </a:spcAft>
              <a:buSzPts val="1400"/>
              <a:buChar char="○"/>
            </a:pPr>
            <a:r>
              <a:rPr lang="en"/>
              <a:t>Returns the uppercase version of a string.</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6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String Search Methods</a:t>
            </a:r>
            <a:endParaRPr/>
          </a:p>
        </p:txBody>
      </p:sp>
      <p:sp>
        <p:nvSpPr>
          <p:cNvPr id="471" name="Google Shape;471;p6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String method indexOf</a:t>
            </a:r>
            <a:endParaRPr/>
          </a:p>
          <a:p>
            <a:pPr marL="914400" lvl="1" indent="-317500" algn="l" rtl="0">
              <a:spcBef>
                <a:spcPts val="0"/>
              </a:spcBef>
              <a:spcAft>
                <a:spcPts val="0"/>
              </a:spcAft>
              <a:buSzPts val="1400"/>
              <a:buChar char="○"/>
            </a:pPr>
            <a:r>
              <a:rPr lang="en"/>
              <a:t>Determines the location of the first occurrence of its argument in the string used to call the method.</a:t>
            </a:r>
            <a:endParaRPr/>
          </a:p>
          <a:p>
            <a:pPr marL="914400" lvl="1" indent="-317500" algn="l" rtl="0">
              <a:spcBef>
                <a:spcPts val="0"/>
              </a:spcBef>
              <a:spcAft>
                <a:spcPts val="0"/>
              </a:spcAft>
              <a:buSzPts val="1400"/>
              <a:buChar char="○"/>
            </a:pPr>
            <a:r>
              <a:rPr lang="en"/>
              <a:t>If the substring is found, the index at which the first occurrence of the substring begins is returned; otherwise, -1 is returned.</a:t>
            </a:r>
            <a:endParaRPr/>
          </a:p>
          <a:p>
            <a:pPr marL="914400" lvl="1" indent="-317500" algn="l" rtl="0">
              <a:spcBef>
                <a:spcPts val="0"/>
              </a:spcBef>
              <a:spcAft>
                <a:spcPts val="0"/>
              </a:spcAft>
              <a:buSzPts val="1400"/>
              <a:buChar char="○"/>
            </a:pPr>
            <a:r>
              <a:rPr lang="en"/>
              <a:t>Receives an optional second argument specifying the index from which to begin the search.</a:t>
            </a:r>
            <a:endParaRPr/>
          </a:p>
          <a:p>
            <a:pPr marL="457200" lvl="0" indent="-342900" algn="l" rtl="0">
              <a:spcBef>
                <a:spcPts val="0"/>
              </a:spcBef>
              <a:spcAft>
                <a:spcPts val="0"/>
              </a:spcAft>
              <a:buSzPts val="1800"/>
              <a:buChar char="●"/>
            </a:pPr>
            <a:r>
              <a:rPr lang="en"/>
              <a:t>String method lastIndexOf</a:t>
            </a:r>
            <a:endParaRPr/>
          </a:p>
          <a:p>
            <a:pPr marL="914400" lvl="1" indent="-317500" algn="l" rtl="0">
              <a:spcBef>
                <a:spcPts val="0"/>
              </a:spcBef>
              <a:spcAft>
                <a:spcPts val="0"/>
              </a:spcAft>
              <a:buSzPts val="1400"/>
              <a:buChar char="○"/>
            </a:pPr>
            <a:r>
              <a:rPr lang="en"/>
              <a:t>Determines the location of the last occurrence of its argument in the string used to call the method.</a:t>
            </a:r>
            <a:endParaRPr/>
          </a:p>
          <a:p>
            <a:pPr marL="914400" lvl="1" indent="-317500" algn="l" rtl="0">
              <a:spcBef>
                <a:spcPts val="0"/>
              </a:spcBef>
              <a:spcAft>
                <a:spcPts val="0"/>
              </a:spcAft>
              <a:buSzPts val="1400"/>
              <a:buChar char="○"/>
            </a:pPr>
            <a:r>
              <a:rPr lang="en"/>
              <a:t>If the substring is found, the index at which the last occurrence of the substring begins is returned; otherwise, -1 is returned.</a:t>
            </a:r>
            <a:endParaRPr/>
          </a:p>
          <a:p>
            <a:pPr marL="914400" lvl="1" indent="-317500" algn="l" rtl="0">
              <a:spcBef>
                <a:spcPts val="0"/>
              </a:spcBef>
              <a:spcAft>
                <a:spcPts val="0"/>
              </a:spcAft>
              <a:buSzPts val="1400"/>
              <a:buChar char="○"/>
            </a:pPr>
            <a:r>
              <a:rPr lang="en"/>
              <a:t>Receives an optional second argument specifying the index from which to begin the search.</a:t>
            </a:r>
            <a:endParaRPr/>
          </a:p>
        </p:txBody>
      </p:sp>
      <p:sp>
        <p:nvSpPr>
          <p:cNvPr id="472" name="Google Shape;472;p6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54</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6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String Split and Substring</a:t>
            </a:r>
            <a:endParaRPr/>
          </a:p>
        </p:txBody>
      </p:sp>
      <p:sp>
        <p:nvSpPr>
          <p:cNvPr id="478" name="Google Shape;478;p6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Breaking a string into tokens is called tokenization.</a:t>
            </a:r>
            <a:endParaRPr/>
          </a:p>
          <a:p>
            <a:pPr marL="457200" lvl="0" indent="-342900" algn="l" rtl="0">
              <a:spcBef>
                <a:spcPts val="0"/>
              </a:spcBef>
              <a:spcAft>
                <a:spcPts val="0"/>
              </a:spcAft>
              <a:buSzPts val="1800"/>
              <a:buChar char="●"/>
            </a:pPr>
            <a:r>
              <a:rPr lang="en"/>
              <a:t>Tokens are separated from one another by delimiters, typically white-space characters such as blank, tab, newline and carriage return.</a:t>
            </a:r>
            <a:endParaRPr/>
          </a:p>
          <a:p>
            <a:pPr marL="914400" lvl="1" indent="-317500" algn="l" rtl="0">
              <a:spcBef>
                <a:spcPts val="0"/>
              </a:spcBef>
              <a:spcAft>
                <a:spcPts val="0"/>
              </a:spcAft>
              <a:buSzPts val="1400"/>
              <a:buChar char="○"/>
            </a:pPr>
            <a:r>
              <a:rPr lang="en"/>
              <a:t>Other characters may also be used as delimiters to separate tokens.</a:t>
            </a:r>
            <a:endParaRPr/>
          </a:p>
          <a:p>
            <a:pPr marL="457200" lvl="0" indent="-342900" algn="l" rtl="0">
              <a:spcBef>
                <a:spcPts val="0"/>
              </a:spcBef>
              <a:spcAft>
                <a:spcPts val="0"/>
              </a:spcAft>
              <a:buSzPts val="1800"/>
              <a:buChar char="●"/>
            </a:pPr>
            <a:r>
              <a:rPr lang="en"/>
              <a:t>String method split</a:t>
            </a:r>
            <a:endParaRPr/>
          </a:p>
          <a:p>
            <a:pPr marL="914400" lvl="1" indent="-317500" algn="l" rtl="0">
              <a:spcBef>
                <a:spcPts val="0"/>
              </a:spcBef>
              <a:spcAft>
                <a:spcPts val="0"/>
              </a:spcAft>
              <a:buSzPts val="1400"/>
              <a:buChar char="○"/>
            </a:pPr>
            <a:r>
              <a:rPr lang="en"/>
              <a:t>Breaks a string into its component tokens.</a:t>
            </a:r>
            <a:endParaRPr/>
          </a:p>
          <a:p>
            <a:pPr marL="914400" lvl="1" indent="-317500" algn="l" rtl="0">
              <a:spcBef>
                <a:spcPts val="0"/>
              </a:spcBef>
              <a:spcAft>
                <a:spcPts val="0"/>
              </a:spcAft>
              <a:buSzPts val="1400"/>
              <a:buChar char="○"/>
            </a:pPr>
            <a:r>
              <a:rPr lang="en"/>
              <a:t>Argument is the delimiter string.</a:t>
            </a:r>
            <a:endParaRPr/>
          </a:p>
          <a:p>
            <a:pPr marL="914400" lvl="1" indent="-317500" algn="l" rtl="0">
              <a:spcBef>
                <a:spcPts val="0"/>
              </a:spcBef>
              <a:spcAft>
                <a:spcPts val="0"/>
              </a:spcAft>
              <a:buSzPts val="1400"/>
              <a:buChar char="○"/>
            </a:pPr>
            <a:r>
              <a:rPr lang="en"/>
              <a:t>Returns an array of strings containing the tokens.</a:t>
            </a:r>
            <a:endParaRPr/>
          </a:p>
          <a:p>
            <a:pPr marL="457200" lvl="0" indent="-342900" algn="l" rtl="0">
              <a:spcBef>
                <a:spcPts val="0"/>
              </a:spcBef>
              <a:spcAft>
                <a:spcPts val="0"/>
              </a:spcAft>
              <a:buSzPts val="1800"/>
              <a:buChar char="●"/>
            </a:pPr>
            <a:r>
              <a:rPr lang="en"/>
              <a:t>String method substring</a:t>
            </a:r>
            <a:endParaRPr/>
          </a:p>
          <a:p>
            <a:pPr marL="914400" lvl="1" indent="-317500" algn="l" rtl="0">
              <a:spcBef>
                <a:spcPts val="0"/>
              </a:spcBef>
              <a:spcAft>
                <a:spcPts val="0"/>
              </a:spcAft>
              <a:buSzPts val="1400"/>
              <a:buChar char="○"/>
            </a:pPr>
            <a:r>
              <a:rPr lang="en"/>
              <a:t>Returns the substring from the starting index (its first argument) up to but not including the ending index (its second argument).</a:t>
            </a:r>
            <a:endParaRPr/>
          </a:p>
        </p:txBody>
      </p:sp>
      <p:sp>
        <p:nvSpPr>
          <p:cNvPr id="479" name="Google Shape;479;p6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55</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6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Date Object</a:t>
            </a:r>
            <a:endParaRPr/>
          </a:p>
        </p:txBody>
      </p:sp>
      <p:sp>
        <p:nvSpPr>
          <p:cNvPr id="485" name="Google Shape;485;p6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Date object provides methods for date and time manipulations.</a:t>
            </a:r>
            <a:endParaRPr/>
          </a:p>
          <a:p>
            <a:pPr marL="457200" lvl="0" indent="-342900" algn="l" rtl="0">
              <a:spcBef>
                <a:spcPts val="0"/>
              </a:spcBef>
              <a:spcAft>
                <a:spcPts val="0"/>
              </a:spcAft>
              <a:buSzPts val="1800"/>
              <a:buChar char="●"/>
            </a:pPr>
            <a:r>
              <a:rPr lang="en"/>
              <a:t>Based either on the computer’s local time zone or on World Time Standard’s Coordinated Universal Time (abbreviated UTC).</a:t>
            </a:r>
            <a:endParaRPr/>
          </a:p>
          <a:p>
            <a:pPr marL="457200" lvl="0" indent="-342900" algn="l" rtl="0">
              <a:spcBef>
                <a:spcPts val="0"/>
              </a:spcBef>
              <a:spcAft>
                <a:spcPts val="0"/>
              </a:spcAft>
              <a:buSzPts val="1800"/>
              <a:buChar char="●"/>
            </a:pPr>
            <a:r>
              <a:rPr lang="en" u="sng">
                <a:solidFill>
                  <a:schemeClr val="hlink"/>
                </a:solidFill>
                <a:hlinkClick r:id="rId3"/>
              </a:rPr>
              <a:t>https://developer.mozilla.org/en-US/docs/Web/JavaScript/Reference/Global_Objects/Date</a:t>
            </a:r>
            <a:r>
              <a:rPr lang="en"/>
              <a:t> </a:t>
            </a:r>
            <a:endParaRPr/>
          </a:p>
        </p:txBody>
      </p:sp>
      <p:sp>
        <p:nvSpPr>
          <p:cNvPr id="486" name="Google Shape;486;p6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6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Date Object (Cont.)</a:t>
            </a:r>
            <a:endParaRPr/>
          </a:p>
        </p:txBody>
      </p:sp>
      <p:sp>
        <p:nvSpPr>
          <p:cNvPr id="492" name="Google Shape;492;p6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a:t>Empty parentheses after an object name indicate a call to the object’s constructor with no arguments.</a:t>
            </a:r>
            <a:endParaRPr/>
          </a:p>
          <a:p>
            <a:pPr marL="914400" lvl="1" indent="-317500" algn="l" rtl="0">
              <a:spcBef>
                <a:spcPts val="0"/>
              </a:spcBef>
              <a:spcAft>
                <a:spcPts val="0"/>
              </a:spcAft>
              <a:buSzPts val="1400"/>
              <a:buChar char="○"/>
            </a:pPr>
            <a:r>
              <a:rPr lang="en"/>
              <a:t>A constructor is an initializer method for an object.</a:t>
            </a:r>
            <a:endParaRPr/>
          </a:p>
          <a:p>
            <a:pPr marL="914400" lvl="1" indent="-317500" algn="l" rtl="0">
              <a:spcBef>
                <a:spcPts val="0"/>
              </a:spcBef>
              <a:spcAft>
                <a:spcPts val="0"/>
              </a:spcAft>
              <a:buSzPts val="1400"/>
              <a:buChar char="○"/>
            </a:pPr>
            <a:r>
              <a:rPr lang="en"/>
              <a:t>Called automatically when an object is allocated with new.</a:t>
            </a:r>
            <a:endParaRPr/>
          </a:p>
          <a:p>
            <a:pPr marL="914400" lvl="1" indent="-317500" algn="l" rtl="0">
              <a:spcBef>
                <a:spcPts val="0"/>
              </a:spcBef>
              <a:spcAft>
                <a:spcPts val="0"/>
              </a:spcAft>
              <a:buSzPts val="1400"/>
              <a:buChar char="○"/>
            </a:pPr>
            <a:r>
              <a:rPr lang="en"/>
              <a:t>The Date constructor with no arguments initializes the Date object with the local computer’s current date and time.</a:t>
            </a:r>
            <a:endParaRPr/>
          </a:p>
          <a:p>
            <a:pPr marL="914400" lvl="1" indent="-317500" algn="l" rtl="0">
              <a:spcBef>
                <a:spcPts val="0"/>
              </a:spcBef>
              <a:spcAft>
                <a:spcPts val="0"/>
              </a:spcAft>
              <a:buSzPts val="1400"/>
              <a:buChar char="○"/>
            </a:pPr>
            <a:r>
              <a:rPr lang="en"/>
              <a:t>A new Date object can be initialized by passing the number of milliseconds since midnight, January 1, 1970, to the Date constructor.</a:t>
            </a:r>
            <a:endParaRPr/>
          </a:p>
          <a:p>
            <a:pPr marL="457200" lvl="0" indent="-342900" algn="l" rtl="0">
              <a:spcBef>
                <a:spcPts val="0"/>
              </a:spcBef>
              <a:spcAft>
                <a:spcPts val="0"/>
              </a:spcAft>
              <a:buSzPts val="1800"/>
              <a:buChar char="●"/>
            </a:pPr>
            <a:r>
              <a:rPr lang="en"/>
              <a:t>Can also create a new Date object by supplying arguments to the Date constructor for year, month, date, hours, minutes, seconds and milliseconds.</a:t>
            </a:r>
            <a:endParaRPr/>
          </a:p>
          <a:p>
            <a:pPr marL="914400" lvl="1" indent="-317500" algn="l" rtl="0">
              <a:spcBef>
                <a:spcPts val="0"/>
              </a:spcBef>
              <a:spcAft>
                <a:spcPts val="0"/>
              </a:spcAft>
              <a:buSzPts val="1400"/>
              <a:buChar char="○"/>
            </a:pPr>
            <a:r>
              <a:rPr lang="en"/>
              <a:t>Hours, minutes, seconds and milliseconds arguments are all optional.</a:t>
            </a:r>
            <a:endParaRPr/>
          </a:p>
          <a:p>
            <a:pPr marL="914400" lvl="1" indent="-317500" algn="l" rtl="0">
              <a:spcBef>
                <a:spcPts val="0"/>
              </a:spcBef>
              <a:spcAft>
                <a:spcPts val="0"/>
              </a:spcAft>
              <a:buSzPts val="1400"/>
              <a:buChar char="○"/>
            </a:pPr>
            <a:r>
              <a:rPr lang="en"/>
              <a:t>If any one of these arguments is not specified, a zero is supplied in its place.</a:t>
            </a:r>
            <a:endParaRPr/>
          </a:p>
          <a:p>
            <a:pPr marL="914400" lvl="1" indent="-317500" algn="l" rtl="0">
              <a:spcBef>
                <a:spcPts val="0"/>
              </a:spcBef>
              <a:spcAft>
                <a:spcPts val="0"/>
              </a:spcAft>
              <a:buSzPts val="1400"/>
              <a:buChar char="○"/>
            </a:pPr>
            <a:r>
              <a:rPr lang="en"/>
              <a:t>If an argument is specified, all arguments to its left must be specified.</a:t>
            </a:r>
            <a:endParaRPr/>
          </a:p>
        </p:txBody>
      </p:sp>
      <p:sp>
        <p:nvSpPr>
          <p:cNvPr id="493" name="Google Shape;493;p6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57</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6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Date Object Methods</a:t>
            </a:r>
            <a:endParaRPr/>
          </a:p>
        </p:txBody>
      </p:sp>
      <p:sp>
        <p:nvSpPr>
          <p:cNvPr id="499" name="Google Shape;499;p6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58</a:t>
            </a:fld>
            <a:endParaRPr/>
          </a:p>
        </p:txBody>
      </p:sp>
      <p:pic>
        <p:nvPicPr>
          <p:cNvPr id="500" name="Google Shape;500;p69"/>
          <p:cNvPicPr preferRelativeResize="0"/>
          <p:nvPr/>
        </p:nvPicPr>
        <p:blipFill>
          <a:blip r:embed="rId3">
            <a:alphaModFix/>
          </a:blip>
          <a:stretch>
            <a:fillRect/>
          </a:stretch>
        </p:blipFill>
        <p:spPr>
          <a:xfrm>
            <a:off x="1569900" y="1068425"/>
            <a:ext cx="5377149" cy="37702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7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Date Object Methods (Cont.)</a:t>
            </a:r>
            <a:endParaRPr/>
          </a:p>
        </p:txBody>
      </p:sp>
      <p:sp>
        <p:nvSpPr>
          <p:cNvPr id="506" name="Google Shape;506;p7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59</a:t>
            </a:fld>
            <a:endParaRPr/>
          </a:p>
        </p:txBody>
      </p:sp>
      <p:pic>
        <p:nvPicPr>
          <p:cNvPr id="507" name="Google Shape;507;p70"/>
          <p:cNvPicPr preferRelativeResize="0"/>
          <p:nvPr/>
        </p:nvPicPr>
        <p:blipFill>
          <a:blip r:embed="rId3">
            <a:alphaModFix/>
          </a:blip>
          <a:stretch>
            <a:fillRect/>
          </a:stretch>
        </p:blipFill>
        <p:spPr>
          <a:xfrm>
            <a:off x="784200" y="1068425"/>
            <a:ext cx="5505412" cy="377027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7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Date Object Methods (Cont.)</a:t>
            </a:r>
            <a:endParaRPr/>
          </a:p>
        </p:txBody>
      </p:sp>
      <p:sp>
        <p:nvSpPr>
          <p:cNvPr id="513" name="Google Shape;513;p7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60</a:t>
            </a:fld>
            <a:endParaRPr/>
          </a:p>
        </p:txBody>
      </p:sp>
      <p:pic>
        <p:nvPicPr>
          <p:cNvPr id="514" name="Google Shape;514;p71"/>
          <p:cNvPicPr preferRelativeResize="0"/>
          <p:nvPr/>
        </p:nvPicPr>
        <p:blipFill>
          <a:blip r:embed="rId3">
            <a:alphaModFix/>
          </a:blip>
          <a:stretch>
            <a:fillRect/>
          </a:stretch>
        </p:blipFill>
        <p:spPr>
          <a:xfrm>
            <a:off x="905700" y="1068425"/>
            <a:ext cx="5505412" cy="37702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7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Date Object Methods (Cont.)</a:t>
            </a:r>
            <a:endParaRPr/>
          </a:p>
        </p:txBody>
      </p:sp>
      <p:sp>
        <p:nvSpPr>
          <p:cNvPr id="520" name="Google Shape;520;p7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61</a:t>
            </a:fld>
            <a:endParaRPr/>
          </a:p>
        </p:txBody>
      </p:sp>
      <p:pic>
        <p:nvPicPr>
          <p:cNvPr id="521" name="Google Shape;521;p72"/>
          <p:cNvPicPr preferRelativeResize="0"/>
          <p:nvPr/>
        </p:nvPicPr>
        <p:blipFill>
          <a:blip r:embed="rId3">
            <a:alphaModFix/>
          </a:blip>
          <a:stretch>
            <a:fillRect/>
          </a:stretch>
        </p:blipFill>
        <p:spPr>
          <a:xfrm>
            <a:off x="553101" y="1312052"/>
            <a:ext cx="6505575" cy="219075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73"/>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Object Type ─ Arrays Data Structure</a:t>
            </a:r>
            <a:endParaRPr/>
          </a:p>
        </p:txBody>
      </p:sp>
      <p:sp>
        <p:nvSpPr>
          <p:cNvPr id="527" name="Google Shape;527;p7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62</a:t>
            </a:fld>
            <a:endParaRPr>
              <a:solidFill>
                <a:schemeClr val="lt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7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Array Object</a:t>
            </a:r>
            <a:endParaRPr/>
          </a:p>
        </p:txBody>
      </p:sp>
      <p:sp>
        <p:nvSpPr>
          <p:cNvPr id="533" name="Google Shape;533;p7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63</a:t>
            </a:fld>
            <a:endParaRPr>
              <a:solidFill>
                <a:schemeClr val="lt2"/>
              </a:solidFill>
            </a:endParaRPr>
          </a:p>
        </p:txBody>
      </p:sp>
      <p:sp>
        <p:nvSpPr>
          <p:cNvPr id="534" name="Google Shape;534;p7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457200" lvl="0" indent="-342900" algn="l" rtl="0">
              <a:spcBef>
                <a:spcPts val="0"/>
              </a:spcBef>
              <a:spcAft>
                <a:spcPts val="0"/>
              </a:spcAft>
              <a:buSzPts val="1800"/>
              <a:buChar char="●"/>
            </a:pPr>
            <a:r>
              <a:rPr lang="en"/>
              <a:t>The Array object, as with arrays in other programming languages, enables storing a collection of multiple items under a single variable name, and has members for performing common array operations.</a:t>
            </a:r>
            <a:endParaRPr/>
          </a:p>
          <a:p>
            <a:pPr marL="914400" lvl="1" indent="-317500" algn="l" rtl="0">
              <a:spcBef>
                <a:spcPts val="0"/>
              </a:spcBef>
              <a:spcAft>
                <a:spcPts val="0"/>
              </a:spcAft>
              <a:buSzPts val="1400"/>
              <a:buChar char="○"/>
            </a:pPr>
            <a:r>
              <a:rPr lang="en"/>
              <a:t>Built-in methods: map(), filter(), reduce(), push(), and pop() etc.</a:t>
            </a:r>
            <a:endParaRPr/>
          </a:p>
          <a:p>
            <a:pPr marL="457200" lvl="0" indent="-342900" algn="l" rtl="0">
              <a:spcBef>
                <a:spcPts val="0"/>
              </a:spcBef>
              <a:spcAft>
                <a:spcPts val="0"/>
              </a:spcAft>
              <a:buSzPts val="1800"/>
              <a:buChar char="●"/>
            </a:pPr>
            <a:r>
              <a:rPr lang="en"/>
              <a:t>JavaScript arrays are resizable and can contain a mix of different data types.</a:t>
            </a:r>
            <a:endParaRPr/>
          </a:p>
          <a:p>
            <a:pPr marL="457200" lvl="0" indent="-342900" algn="l" rtl="0">
              <a:spcBef>
                <a:spcPts val="0"/>
              </a:spcBef>
              <a:spcAft>
                <a:spcPts val="0"/>
              </a:spcAft>
              <a:buSzPts val="1800"/>
              <a:buChar char="●"/>
            </a:pPr>
            <a:r>
              <a:rPr lang="en"/>
              <a:t>Not associative arrays and so, array elements cannot be accessed using arbitrary strings as indexes, but must be accessed using nonnegative integers (or their respective string form) as indexes.</a:t>
            </a:r>
            <a:endParaRPr/>
          </a:p>
          <a:p>
            <a:pPr marL="457200" lvl="0" indent="-342900" algn="l" rtl="0">
              <a:spcBef>
                <a:spcPts val="0"/>
              </a:spcBef>
              <a:spcAft>
                <a:spcPts val="0"/>
              </a:spcAft>
              <a:buSzPts val="1800"/>
              <a:buChar char="●"/>
            </a:pPr>
            <a:r>
              <a:rPr lang="en"/>
              <a:t>Zero-indexed.</a:t>
            </a:r>
            <a:endParaRPr/>
          </a:p>
          <a:p>
            <a:pPr marL="457200" lvl="0" indent="-342900" algn="l" rtl="0">
              <a:spcBef>
                <a:spcPts val="0"/>
              </a:spcBef>
              <a:spcAft>
                <a:spcPts val="0"/>
              </a:spcAft>
              <a:buSzPts val="1800"/>
              <a:buChar char="●"/>
            </a:pPr>
            <a:r>
              <a:rPr lang="en"/>
              <a:t>JavaScript array-copy operations create shallow copies.</a:t>
            </a:r>
            <a:endParaRPr/>
          </a:p>
          <a:p>
            <a:pPr marL="914400" lvl="1" indent="-317500" algn="l" rtl="0">
              <a:spcBef>
                <a:spcPts val="0"/>
              </a:spcBef>
              <a:spcAft>
                <a:spcPts val="0"/>
              </a:spcAft>
              <a:buSzPts val="1400"/>
              <a:buChar char="○"/>
            </a:pPr>
            <a:r>
              <a:rPr lang="en"/>
              <a:t>Only the top-level properties are copied, not the values of nested objects. </a:t>
            </a:r>
            <a:endParaRPr/>
          </a:p>
          <a:p>
            <a:pPr marL="1371600" lvl="2" indent="-317500" algn="l" rtl="0">
              <a:spcBef>
                <a:spcPts val="0"/>
              </a:spcBef>
              <a:spcAft>
                <a:spcPts val="0"/>
              </a:spcAft>
              <a:buSzPts val="1400"/>
              <a:buChar char="■"/>
            </a:pPr>
            <a:r>
              <a:rPr lang="en"/>
              <a:t>Re-assigning top-level properties of the copy does not affect the source object.</a:t>
            </a:r>
            <a:endParaRPr/>
          </a:p>
          <a:p>
            <a:pPr marL="1371600" lvl="2" indent="-317500" algn="l" rtl="0">
              <a:spcBef>
                <a:spcPts val="0"/>
              </a:spcBef>
              <a:spcAft>
                <a:spcPts val="0"/>
              </a:spcAft>
              <a:buSzPts val="1400"/>
              <a:buChar char="■"/>
            </a:pPr>
            <a:r>
              <a:rPr lang="en"/>
              <a:t>Re-assigning nested object properties of the copy does affect the source object.</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7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Array Examples</a:t>
            </a:r>
            <a:endParaRPr/>
          </a:p>
        </p:txBody>
      </p:sp>
      <p:sp>
        <p:nvSpPr>
          <p:cNvPr id="540" name="Google Shape;540;p7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64</a:t>
            </a:fld>
            <a:endParaRPr/>
          </a:p>
        </p:txBody>
      </p:sp>
      <p:sp>
        <p:nvSpPr>
          <p:cNvPr id="541" name="Google Shape;541;p75"/>
          <p:cNvSpPr txBox="1"/>
          <p:nvPr/>
        </p:nvSpPr>
        <p:spPr>
          <a:xfrm>
            <a:off x="92641" y="1358125"/>
            <a:ext cx="2902200" cy="15699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fruits</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'Apple'</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'Banana'</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fruits</a:t>
            </a:r>
            <a:r>
              <a:rPr lang="en" sz="1000">
                <a:solidFill>
                  <a:srgbClr val="BBBEBF"/>
                </a:solidFill>
                <a:highlight>
                  <a:srgbClr val="121314"/>
                </a:highlight>
                <a:latin typeface="Courier New"/>
                <a:ea typeface="Courier New"/>
                <a:cs typeface="Courier New"/>
                <a:sym typeface="Courier New"/>
              </a:rPr>
              <a:t>[</a:t>
            </a:r>
            <a:r>
              <a:rPr lang="en" sz="1000">
                <a:solidFill>
                  <a:srgbClr val="A5D6FF"/>
                </a:solidFill>
                <a:highlight>
                  <a:srgbClr val="121314"/>
                </a:highlight>
                <a:latin typeface="Courier New"/>
                <a:ea typeface="Courier New"/>
                <a:cs typeface="Courier New"/>
                <a:sym typeface="Courier New"/>
              </a:rPr>
              <a:t>"favorite"</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'Mango'</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fruits</a:t>
            </a:r>
            <a:r>
              <a:rPr lang="en" sz="1000">
                <a:solidFill>
                  <a:srgbClr val="BBBEBF"/>
                </a:solidFill>
                <a:highlight>
                  <a:srgbClr val="121314"/>
                </a:highlight>
                <a:latin typeface="Courier New"/>
                <a:ea typeface="Courier New"/>
                <a:cs typeface="Courier New"/>
                <a:sym typeface="Courier New"/>
              </a:rPr>
              <a:t>[</a:t>
            </a:r>
            <a:r>
              <a:rPr lang="en" sz="1000">
                <a:solidFill>
                  <a:srgbClr val="A5D6FF"/>
                </a:solidFill>
                <a:highlight>
                  <a:srgbClr val="121314"/>
                </a:highlight>
                <a:latin typeface="Courier New"/>
                <a:ea typeface="Courier New"/>
                <a:cs typeface="Courier New"/>
                <a:sym typeface="Courier New"/>
              </a:rPr>
              <a:t>"favorite"</a:t>
            </a:r>
            <a:r>
              <a:rPr lang="en" sz="1000">
                <a:solidFill>
                  <a:srgbClr val="BBBEBF"/>
                </a:solidFill>
                <a:highlight>
                  <a:srgbClr val="121314"/>
                </a:highlight>
                <a:latin typeface="Courier New"/>
                <a:ea typeface="Courier New"/>
                <a:cs typeface="Courier New"/>
                <a:sym typeface="Courier New"/>
              </a:rPr>
              <a:t>]); </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"Mango"</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fruits</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length</a:t>
            </a:r>
            <a:r>
              <a:rPr lang="en" sz="1000">
                <a:solidFill>
                  <a:srgbClr val="BBBEBF"/>
                </a:solidFill>
                <a:highlight>
                  <a:srgbClr val="121314"/>
                </a:highlight>
                <a:latin typeface="Courier New"/>
                <a:ea typeface="Courier New"/>
                <a:cs typeface="Courier New"/>
                <a:sym typeface="Courier New"/>
              </a:rPr>
              <a:t>);     </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2</a:t>
            </a:r>
            <a:endParaRPr sz="1000">
              <a:solidFill>
                <a:srgbClr val="8B949E"/>
              </a:solidFill>
              <a:highlight>
                <a:srgbClr val="121314"/>
              </a:highlight>
              <a:latin typeface="Courier New"/>
              <a:ea typeface="Courier New"/>
              <a:cs typeface="Courier New"/>
              <a:sym typeface="Courier New"/>
            </a:endParaRPr>
          </a:p>
        </p:txBody>
      </p:sp>
      <p:sp>
        <p:nvSpPr>
          <p:cNvPr id="542" name="Google Shape;542;p75"/>
          <p:cNvSpPr txBox="1"/>
          <p:nvPr/>
        </p:nvSpPr>
        <p:spPr>
          <a:xfrm>
            <a:off x="3189491" y="1358125"/>
            <a:ext cx="5826900" cy="32118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ingredientsList</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"noodles"</a:t>
            </a:r>
            <a:r>
              <a:rPr lang="en" sz="1000">
                <a:solidFill>
                  <a:srgbClr val="BBBEBF"/>
                </a:solidFill>
                <a:highlight>
                  <a:srgbClr val="121314"/>
                </a:highlight>
                <a:latin typeface="Courier New"/>
                <a:ea typeface="Courier New"/>
                <a:cs typeface="Courier New"/>
                <a:sym typeface="Courier New"/>
              </a:rPr>
              <a:t>, { </a:t>
            </a:r>
            <a:r>
              <a:rPr lang="en" sz="1000">
                <a:solidFill>
                  <a:srgbClr val="C9D1D9"/>
                </a:solidFill>
                <a:highlight>
                  <a:srgbClr val="121314"/>
                </a:highlight>
                <a:latin typeface="Courier New"/>
                <a:ea typeface="Courier New"/>
                <a:cs typeface="Courier New"/>
                <a:sym typeface="Courier New"/>
              </a:rPr>
              <a:t>list</a:t>
            </a:r>
            <a:r>
              <a:rPr lang="en" sz="1000">
                <a:solidFill>
                  <a:srgbClr val="9CDCFE"/>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"eggs"</a:t>
            </a:r>
            <a:r>
              <a:rPr lang="en" sz="1000">
                <a:solidFill>
                  <a:srgbClr val="C9D1D9"/>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"flour"</a:t>
            </a:r>
            <a:r>
              <a:rPr lang="en" sz="1000">
                <a:solidFill>
                  <a:srgbClr val="C9D1D9"/>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"water"</a:t>
            </a:r>
            <a:r>
              <a:rPr lang="en" sz="1000">
                <a:solidFill>
                  <a:srgbClr val="C9D1D9"/>
                </a:solidFill>
                <a:highlight>
                  <a:srgbClr val="121314"/>
                </a:highlight>
                <a:latin typeface="Courier New"/>
                <a:ea typeface="Courier New"/>
                <a:cs typeface="Courier New"/>
                <a:sym typeface="Courier New"/>
              </a:rPr>
              <a:t>] </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ingredientsListCopy</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4EC9B0"/>
                </a:solidFill>
                <a:highlight>
                  <a:srgbClr val="121314"/>
                </a:highlight>
                <a:latin typeface="Courier New"/>
                <a:ea typeface="Courier New"/>
                <a:cs typeface="Courier New"/>
                <a:sym typeface="Courier New"/>
              </a:rPr>
              <a:t>Array</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from</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ingredientsList</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ingredientsListCopy</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["noodles",{"list":["eggs","flour","water"]}]</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ingredientsListCopy</a:t>
            </a:r>
            <a:r>
              <a:rPr lang="en" sz="1000">
                <a:solidFill>
                  <a:srgbClr val="BBBEBF"/>
                </a:solidFill>
                <a:highlight>
                  <a:srgbClr val="121314"/>
                </a:highlight>
                <a:latin typeface="Courier New"/>
                <a:ea typeface="Courier New"/>
                <a:cs typeface="Courier New"/>
                <a:sym typeface="Courier New"/>
              </a:rPr>
              <a:t>[</a:t>
            </a:r>
            <a:r>
              <a:rPr lang="en" sz="1000">
                <a:solidFill>
                  <a:srgbClr val="B5CEA8"/>
                </a:solidFill>
                <a:highlight>
                  <a:srgbClr val="121314"/>
                </a:highlight>
                <a:latin typeface="Courier New"/>
                <a:ea typeface="Courier New"/>
                <a:cs typeface="Courier New"/>
                <a:sym typeface="Courier New"/>
              </a:rPr>
              <a:t>1</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list</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"rice flour"</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"water"</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ingredientsList</a:t>
            </a:r>
            <a:r>
              <a:rPr lang="en" sz="1000">
                <a:solidFill>
                  <a:srgbClr val="BBBEBF"/>
                </a:solidFill>
                <a:highlight>
                  <a:srgbClr val="121314"/>
                </a:highlight>
                <a:latin typeface="Courier New"/>
                <a:ea typeface="Courier New"/>
                <a:cs typeface="Courier New"/>
                <a:sym typeface="Courier New"/>
              </a:rPr>
              <a:t>[</a:t>
            </a:r>
            <a:r>
              <a:rPr lang="en" sz="1000">
                <a:solidFill>
                  <a:srgbClr val="B5CEA8"/>
                </a:solidFill>
                <a:highlight>
                  <a:srgbClr val="121314"/>
                </a:highlight>
                <a:latin typeface="Courier New"/>
                <a:ea typeface="Courier New"/>
                <a:cs typeface="Courier New"/>
                <a:sym typeface="Courier New"/>
              </a:rPr>
              <a:t>1</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list</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Array [ "rice flour", "water" ]</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ingredientsListCopy</a:t>
            </a:r>
            <a:r>
              <a:rPr lang="en" sz="1000">
                <a:solidFill>
                  <a:srgbClr val="BBBEBF"/>
                </a:solidFill>
                <a:highlight>
                  <a:srgbClr val="121314"/>
                </a:highlight>
                <a:latin typeface="Courier New"/>
                <a:ea typeface="Courier New"/>
                <a:cs typeface="Courier New"/>
                <a:sym typeface="Courier New"/>
              </a:rPr>
              <a:t>[</a:t>
            </a:r>
            <a:r>
              <a:rPr lang="en" sz="1000">
                <a:solidFill>
                  <a:srgbClr val="B5CEA8"/>
                </a:solidFill>
                <a:highlight>
                  <a:srgbClr val="121314"/>
                </a:highlight>
                <a:latin typeface="Courier New"/>
                <a:ea typeface="Courier New"/>
                <a:cs typeface="Courier New"/>
                <a:sym typeface="Courier New"/>
              </a:rPr>
              <a:t>0</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"rice noodles"</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ingredientsList</a:t>
            </a:r>
            <a:r>
              <a:rPr lang="en" sz="1000">
                <a:solidFill>
                  <a:srgbClr val="BBBEBF"/>
                </a:solidFill>
                <a:highlight>
                  <a:srgbClr val="121314"/>
                </a:highlight>
                <a:latin typeface="Courier New"/>
                <a:ea typeface="Courier New"/>
                <a:cs typeface="Courier New"/>
                <a:sym typeface="Courier New"/>
              </a:rPr>
              <a:t>[</a:t>
            </a:r>
            <a:r>
              <a:rPr lang="en" sz="1000">
                <a:solidFill>
                  <a:srgbClr val="B5CEA8"/>
                </a:solidFill>
                <a:highlight>
                  <a:srgbClr val="121314"/>
                </a:highlight>
                <a:latin typeface="Courier New"/>
                <a:ea typeface="Courier New"/>
                <a:cs typeface="Courier New"/>
                <a:sym typeface="Courier New"/>
              </a:rPr>
              <a:t>0</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noodles</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JSON</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stringify</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ingredientsListCopy</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["rice noodles",{"list":["rice flour","water"]}]</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JSON</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stringify</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ingredientsList</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["noodles",{"list":["rice flour","water"]}]</a:t>
            </a:r>
            <a:endParaRPr sz="1000">
              <a:solidFill>
                <a:srgbClr val="8B949E"/>
              </a:solidFill>
              <a:highlight>
                <a:srgbClr val="121314"/>
              </a:highlight>
              <a:latin typeface="Courier New"/>
              <a:ea typeface="Courier New"/>
              <a:cs typeface="Courier New"/>
              <a:sym typeface="Courier New"/>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7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Array Element and Element Access</a:t>
            </a:r>
            <a:endParaRPr/>
          </a:p>
        </p:txBody>
      </p:sp>
      <p:sp>
        <p:nvSpPr>
          <p:cNvPr id="548" name="Google Shape;548;p7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65</a:t>
            </a:fld>
            <a:endParaRPr/>
          </a:p>
        </p:txBody>
      </p:sp>
      <p:sp>
        <p:nvSpPr>
          <p:cNvPr id="549" name="Google Shape;549;p7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An array is a group of memory locations</a:t>
            </a:r>
            <a:endParaRPr/>
          </a:p>
          <a:p>
            <a:pPr marL="914400" lvl="1" indent="-317500" algn="l" rtl="0">
              <a:spcBef>
                <a:spcPts val="0"/>
              </a:spcBef>
              <a:spcAft>
                <a:spcPts val="0"/>
              </a:spcAft>
              <a:buSzPts val="1400"/>
              <a:buChar char="○"/>
            </a:pPr>
            <a:r>
              <a:rPr lang="en" sz="1400"/>
              <a:t>All have the same name and normally are of the same type (although this attribute is not required in JavaScript).</a:t>
            </a:r>
            <a:endParaRPr sz="1400"/>
          </a:p>
          <a:p>
            <a:pPr marL="457200" lvl="0" indent="-342900" algn="l" rtl="0">
              <a:spcBef>
                <a:spcPts val="0"/>
              </a:spcBef>
              <a:spcAft>
                <a:spcPts val="0"/>
              </a:spcAft>
              <a:buSzPts val="1800"/>
              <a:buChar char="●"/>
            </a:pPr>
            <a:r>
              <a:rPr lang="en"/>
              <a:t>Each individual location is called an element.</a:t>
            </a:r>
            <a:endParaRPr/>
          </a:p>
          <a:p>
            <a:pPr marL="457200" lvl="0" indent="-342900" algn="l" rtl="0">
              <a:spcBef>
                <a:spcPts val="0"/>
              </a:spcBef>
              <a:spcAft>
                <a:spcPts val="0"/>
              </a:spcAft>
              <a:buSzPts val="1800"/>
              <a:buChar char="●"/>
            </a:pPr>
            <a:r>
              <a:rPr lang="en"/>
              <a:t>We may refer to any one of these elements by giving the array’s name followed by the position number of the element in square brackets ([])</a:t>
            </a:r>
            <a:endParaRPr/>
          </a:p>
          <a:p>
            <a:pPr marL="914400" lvl="1" indent="-317500" algn="l" rtl="0">
              <a:spcBef>
                <a:spcPts val="0"/>
              </a:spcBef>
              <a:spcAft>
                <a:spcPts val="0"/>
              </a:spcAft>
              <a:buSzPts val="1400"/>
              <a:buChar char="○"/>
            </a:pPr>
            <a:r>
              <a:rPr lang="en"/>
              <a:t>The ith element of array fruits is referred to as fruits[i-1].</a:t>
            </a:r>
            <a:endParaRPr/>
          </a:p>
          <a:p>
            <a:pPr marL="457200" lvl="0" indent="-342900" algn="l" rtl="0">
              <a:spcBef>
                <a:spcPts val="0"/>
              </a:spcBef>
              <a:spcAft>
                <a:spcPts val="0"/>
              </a:spcAft>
              <a:buSzPts val="1800"/>
              <a:buChar char="●"/>
            </a:pPr>
            <a:r>
              <a:rPr lang="en"/>
              <a:t>Every array in JavaScript knows its own length, which it stores in its length attribute and can be found with the expression, e.g. fruits.length.</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7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Simple Array Illustration</a:t>
            </a:r>
            <a:endParaRPr/>
          </a:p>
        </p:txBody>
      </p:sp>
      <p:sp>
        <p:nvSpPr>
          <p:cNvPr id="555" name="Google Shape;555;p7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66</a:t>
            </a:fld>
            <a:endParaRPr/>
          </a:p>
        </p:txBody>
      </p:sp>
      <p:pic>
        <p:nvPicPr>
          <p:cNvPr id="556" name="Google Shape;556;p77"/>
          <p:cNvPicPr preferRelativeResize="0"/>
          <p:nvPr/>
        </p:nvPicPr>
        <p:blipFill>
          <a:blip r:embed="rId3">
            <a:alphaModFix/>
          </a:blip>
          <a:stretch>
            <a:fillRect/>
          </a:stretch>
        </p:blipFill>
        <p:spPr>
          <a:xfrm>
            <a:off x="1472700" y="1261325"/>
            <a:ext cx="4905375" cy="32385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7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Array Reallocation</a:t>
            </a:r>
            <a:endParaRPr/>
          </a:p>
        </p:txBody>
      </p:sp>
      <p:sp>
        <p:nvSpPr>
          <p:cNvPr id="562" name="Google Shape;562;p7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67</a:t>
            </a:fld>
            <a:endParaRPr/>
          </a:p>
        </p:txBody>
      </p:sp>
      <p:sp>
        <p:nvSpPr>
          <p:cNvPr id="563" name="Google Shape;563;p78"/>
          <p:cNvSpPr txBox="1">
            <a:spLocks noGrp="1"/>
          </p:cNvSpPr>
          <p:nvPr>
            <p:ph type="body" idx="1"/>
          </p:nvPr>
        </p:nvSpPr>
        <p:spPr>
          <a:xfrm>
            <a:off x="311700" y="1152475"/>
            <a:ext cx="8520600" cy="1178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JavaScript automatically reallocates an Array when a value is assigned to an element that is outside the bounds of the original Array . Elements between the last element of the original Array and the new element are undefined.</a:t>
            </a:r>
            <a:endParaRPr/>
          </a:p>
        </p:txBody>
      </p:sp>
      <p:sp>
        <p:nvSpPr>
          <p:cNvPr id="564" name="Google Shape;564;p78"/>
          <p:cNvSpPr txBox="1"/>
          <p:nvPr/>
        </p:nvSpPr>
        <p:spPr>
          <a:xfrm>
            <a:off x="1253025" y="2280950"/>
            <a:ext cx="6186300" cy="28014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fruits</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'Apple'</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'Banana'</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'Orange'</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fruits</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length</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Output: 3</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 Assigning a value to index "6", which is far beyond the original bounds</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fruits</a:t>
            </a:r>
            <a:r>
              <a:rPr lang="en" sz="1000">
                <a:solidFill>
                  <a:srgbClr val="BBBEBF"/>
                </a:solidFill>
                <a:highlight>
                  <a:srgbClr val="121314"/>
                </a:highlight>
                <a:latin typeface="Courier New"/>
                <a:ea typeface="Courier New"/>
                <a:cs typeface="Courier New"/>
                <a:sym typeface="Courier New"/>
              </a:rPr>
              <a:t>[</a:t>
            </a:r>
            <a:r>
              <a:rPr lang="en" sz="1000">
                <a:solidFill>
                  <a:srgbClr val="B5CEA8"/>
                </a:solidFill>
                <a:highlight>
                  <a:srgbClr val="121314"/>
                </a:highlight>
                <a:latin typeface="Courier New"/>
                <a:ea typeface="Courier New"/>
                <a:cs typeface="Courier New"/>
                <a:sym typeface="Courier New"/>
              </a:rPr>
              <a:t>6</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'Mango'</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fruits</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length</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Output: 7 (automatically reallocated)</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fruits</a:t>
            </a:r>
            <a:r>
              <a:rPr lang="en" sz="1000">
                <a:solidFill>
                  <a:srgbClr val="BBBEBF"/>
                </a:solidFill>
                <a:highlight>
                  <a:srgbClr val="121314"/>
                </a:highlight>
                <a:latin typeface="Courier New"/>
                <a:ea typeface="Courier New"/>
                <a:cs typeface="Courier New"/>
                <a:sym typeface="Courier New"/>
              </a:rPr>
              <a:t>[</a:t>
            </a:r>
            <a:r>
              <a:rPr lang="en" sz="1000">
                <a:solidFill>
                  <a:srgbClr val="B5CEA8"/>
                </a:solidFill>
                <a:highlight>
                  <a:srgbClr val="121314"/>
                </a:highlight>
                <a:latin typeface="Courier New"/>
                <a:ea typeface="Courier New"/>
                <a:cs typeface="Courier New"/>
                <a:sym typeface="Courier New"/>
              </a:rPr>
              <a:t>3</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Output: undefined (automatically filled in between)</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fruits</a:t>
            </a:r>
            <a:r>
              <a:rPr lang="en" sz="1000">
                <a:solidFill>
                  <a:srgbClr val="BBBEBF"/>
                </a:solidFill>
                <a:highlight>
                  <a:srgbClr val="121314"/>
                </a:highlight>
                <a:latin typeface="Courier New"/>
                <a:ea typeface="Courier New"/>
                <a:cs typeface="Courier New"/>
                <a:sym typeface="Courier New"/>
              </a:rPr>
              <a:t>[</a:t>
            </a:r>
            <a:r>
              <a:rPr lang="en" sz="1000">
                <a:solidFill>
                  <a:srgbClr val="B5CEA8"/>
                </a:solidFill>
                <a:highlight>
                  <a:srgbClr val="121314"/>
                </a:highlight>
                <a:latin typeface="Courier New"/>
                <a:ea typeface="Courier New"/>
                <a:cs typeface="Courier New"/>
                <a:sym typeface="Courier New"/>
              </a:rPr>
              <a:t>4</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Output: undefined (automatically filled in between)</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fruits</a:t>
            </a:r>
            <a:r>
              <a:rPr lang="en" sz="1000">
                <a:solidFill>
                  <a:srgbClr val="BBBEBF"/>
                </a:solidFill>
                <a:highlight>
                  <a:srgbClr val="121314"/>
                </a:highlight>
                <a:latin typeface="Courier New"/>
                <a:ea typeface="Courier New"/>
                <a:cs typeface="Courier New"/>
                <a:sym typeface="Courier New"/>
              </a:rPr>
              <a:t>[</a:t>
            </a:r>
            <a:r>
              <a:rPr lang="en" sz="1000">
                <a:solidFill>
                  <a:srgbClr val="B5CEA8"/>
                </a:solidFill>
                <a:highlight>
                  <a:srgbClr val="121314"/>
                </a:highlight>
                <a:latin typeface="Courier New"/>
                <a:ea typeface="Courier New"/>
                <a:cs typeface="Courier New"/>
                <a:sym typeface="Courier New"/>
              </a:rPr>
              <a:t>5</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Output: undefined (automatically filled in between)</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fruits</a:t>
            </a:r>
            <a:r>
              <a:rPr lang="en" sz="1000">
                <a:solidFill>
                  <a:srgbClr val="BBBEBF"/>
                </a:solidFill>
                <a:highlight>
                  <a:srgbClr val="121314"/>
                </a:highlight>
                <a:latin typeface="Courier New"/>
                <a:ea typeface="Courier New"/>
                <a:cs typeface="Courier New"/>
                <a:sym typeface="Courier New"/>
              </a:rPr>
              <a:t>[</a:t>
            </a:r>
            <a:r>
              <a:rPr lang="en" sz="1000">
                <a:solidFill>
                  <a:srgbClr val="B5CEA8"/>
                </a:solidFill>
                <a:highlight>
                  <a:srgbClr val="121314"/>
                </a:highlight>
                <a:latin typeface="Courier New"/>
                <a:ea typeface="Courier New"/>
                <a:cs typeface="Courier New"/>
                <a:sym typeface="Courier New"/>
              </a:rPr>
              <a:t>6</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Output: "Mango" (newly assigned value)</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fruits</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['Apple', 'Banana', 'Orange', empty × 3, 'Mango']</a:t>
            </a:r>
            <a:endParaRPr sz="1000">
              <a:solidFill>
                <a:srgbClr val="8B949E"/>
              </a:solidFill>
              <a:highlight>
                <a:srgbClr val="121314"/>
              </a:highlight>
              <a:latin typeface="Courier New"/>
              <a:ea typeface="Courier New"/>
              <a:cs typeface="Courier New"/>
              <a:sym typeface="Courier New"/>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7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Array Creation Approaches</a:t>
            </a:r>
            <a:endParaRPr/>
          </a:p>
        </p:txBody>
      </p:sp>
      <p:sp>
        <p:nvSpPr>
          <p:cNvPr id="570" name="Google Shape;570;p7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10000"/>
          </a:bodyPr>
          <a:lstStyle/>
          <a:p>
            <a:pPr marL="457200" lvl="0" indent="-334328" algn="l" rtl="0">
              <a:spcBef>
                <a:spcPts val="0"/>
              </a:spcBef>
              <a:spcAft>
                <a:spcPts val="0"/>
              </a:spcAft>
              <a:buSzPct val="100000"/>
              <a:buAutoNum type="arabicPeriod"/>
            </a:pPr>
            <a:r>
              <a:rPr lang="en"/>
              <a:t>Array Literal Notation ([])</a:t>
            </a:r>
            <a:endParaRPr/>
          </a:p>
          <a:p>
            <a:pPr marL="914400" lvl="1" indent="-310832" algn="l" rtl="0">
              <a:spcBef>
                <a:spcPts val="0"/>
              </a:spcBef>
              <a:spcAft>
                <a:spcPts val="0"/>
              </a:spcAft>
              <a:buSzPct val="100000"/>
              <a:buChar char="○"/>
            </a:pPr>
            <a:r>
              <a:rPr lang="en"/>
              <a:t>Syntax: const arr = [element1, element2, ...];</a:t>
            </a:r>
            <a:endParaRPr/>
          </a:p>
          <a:p>
            <a:pPr marL="914400" lvl="1" indent="-310832" algn="l" rtl="0">
              <a:spcBef>
                <a:spcPts val="0"/>
              </a:spcBef>
              <a:spcAft>
                <a:spcPts val="0"/>
              </a:spcAft>
              <a:buSzPct val="100000"/>
              <a:buChar char="○"/>
            </a:pPr>
            <a:r>
              <a:rPr lang="en"/>
              <a:t>Behavior: Directly initializes an array with the specified values.</a:t>
            </a:r>
            <a:endParaRPr/>
          </a:p>
          <a:p>
            <a:pPr marL="914400" lvl="1" indent="-310832" algn="l" rtl="0">
              <a:spcBef>
                <a:spcPts val="0"/>
              </a:spcBef>
              <a:spcAft>
                <a:spcPts val="0"/>
              </a:spcAft>
              <a:buSzPct val="100000"/>
              <a:buChar char="○"/>
            </a:pPr>
            <a:r>
              <a:rPr lang="en"/>
              <a:t>Best Practice: Preferred standard method. It is cleaner, safer, easier to read, and avoids unintended edge cases.</a:t>
            </a:r>
            <a:endParaRPr/>
          </a:p>
          <a:p>
            <a:pPr marL="457200" lvl="0" indent="-334328" algn="l" rtl="0">
              <a:spcBef>
                <a:spcPts val="0"/>
              </a:spcBef>
              <a:spcAft>
                <a:spcPts val="0"/>
              </a:spcAft>
              <a:buSzPct val="100000"/>
              <a:buAutoNum type="arabicPeriod"/>
            </a:pPr>
            <a:r>
              <a:rPr lang="en"/>
              <a:t>Array Constructor (new Array())</a:t>
            </a:r>
            <a:endParaRPr/>
          </a:p>
          <a:p>
            <a:pPr marL="914400" lvl="1" indent="-310832" algn="l" rtl="0">
              <a:spcBef>
                <a:spcPts val="0"/>
              </a:spcBef>
              <a:spcAft>
                <a:spcPts val="0"/>
              </a:spcAft>
              <a:buSzPct val="100000"/>
              <a:buChar char="○"/>
            </a:pPr>
            <a:r>
              <a:rPr lang="en"/>
              <a:t>Syntax: const arr = new Array(args...);</a:t>
            </a:r>
            <a:endParaRPr/>
          </a:p>
          <a:p>
            <a:pPr marL="914400" lvl="1" indent="-310832" algn="l" rtl="0">
              <a:spcBef>
                <a:spcPts val="0"/>
              </a:spcBef>
              <a:spcAft>
                <a:spcPts val="0"/>
              </a:spcAft>
              <a:buSzPct val="100000"/>
              <a:buChar char="○"/>
            </a:pPr>
            <a:r>
              <a:rPr lang="en"/>
              <a:t>Behavior Depends on Arguments:</a:t>
            </a:r>
            <a:endParaRPr/>
          </a:p>
          <a:p>
            <a:pPr marL="1371600" lvl="2" indent="-310832" algn="l" rtl="0">
              <a:spcBef>
                <a:spcPts val="0"/>
              </a:spcBef>
              <a:spcAft>
                <a:spcPts val="0"/>
              </a:spcAft>
              <a:buSzPct val="100000"/>
              <a:buChar char="■"/>
            </a:pPr>
            <a:r>
              <a:rPr lang="en"/>
              <a:t>Multiple Arguments or Non-Number: Creates an array containing those elements.</a:t>
            </a:r>
            <a:endParaRPr/>
          </a:p>
          <a:p>
            <a:pPr marL="1828800" lvl="3" indent="-290274" algn="l" rtl="0">
              <a:lnSpc>
                <a:spcPct val="133333"/>
              </a:lnSpc>
              <a:spcBef>
                <a:spcPts val="0"/>
              </a:spcBef>
              <a:spcAft>
                <a:spcPts val="0"/>
              </a:spcAft>
              <a:buSzPct val="100000"/>
              <a:buChar char="●"/>
            </a:pPr>
            <a:r>
              <a:rPr lang="en" sz="1050">
                <a:solidFill>
                  <a:srgbClr val="569CD6"/>
                </a:solidFill>
                <a:highlight>
                  <a:srgbClr val="121314"/>
                </a:highlight>
                <a:latin typeface="Courier New"/>
                <a:ea typeface="Courier New"/>
                <a:cs typeface="Courier New"/>
                <a:sym typeface="Courier New"/>
              </a:rPr>
              <a:t>new</a:t>
            </a:r>
            <a:r>
              <a:rPr lang="en" sz="1050">
                <a:solidFill>
                  <a:srgbClr val="BBBEBF"/>
                </a:solidFill>
                <a:highlight>
                  <a:srgbClr val="121314"/>
                </a:highlight>
                <a:latin typeface="Courier New"/>
                <a:ea typeface="Courier New"/>
                <a:cs typeface="Courier New"/>
                <a:sym typeface="Courier New"/>
              </a:rPr>
              <a:t> </a:t>
            </a:r>
            <a:r>
              <a:rPr lang="en" sz="1050">
                <a:solidFill>
                  <a:srgbClr val="4EC9B0"/>
                </a:solidFill>
                <a:highlight>
                  <a:srgbClr val="121314"/>
                </a:highlight>
                <a:latin typeface="Courier New"/>
                <a:ea typeface="Courier New"/>
                <a:cs typeface="Courier New"/>
                <a:sym typeface="Courier New"/>
              </a:rPr>
              <a:t>Array</a:t>
            </a:r>
            <a:r>
              <a:rPr lang="en" sz="1050">
                <a:solidFill>
                  <a:srgbClr val="BBBEBF"/>
                </a:solidFill>
                <a:highlight>
                  <a:srgbClr val="121314"/>
                </a:highlight>
                <a:latin typeface="Courier New"/>
                <a:ea typeface="Courier New"/>
                <a:cs typeface="Courier New"/>
                <a:sym typeface="Courier New"/>
              </a:rPr>
              <a:t>(</a:t>
            </a:r>
            <a:r>
              <a:rPr lang="en" sz="1050">
                <a:solidFill>
                  <a:srgbClr val="A5D6FF"/>
                </a:solidFill>
                <a:highlight>
                  <a:srgbClr val="121314"/>
                </a:highlight>
                <a:latin typeface="Courier New"/>
                <a:ea typeface="Courier New"/>
                <a:cs typeface="Courier New"/>
                <a:sym typeface="Courier New"/>
              </a:rPr>
              <a:t>'Apple'</a:t>
            </a:r>
            <a:r>
              <a:rPr lang="en" sz="1050">
                <a:solidFill>
                  <a:srgbClr val="BBBEBF"/>
                </a:solidFill>
                <a:highlight>
                  <a:srgbClr val="121314"/>
                </a:highlight>
                <a:latin typeface="Courier New"/>
                <a:ea typeface="Courier New"/>
                <a:cs typeface="Courier New"/>
                <a:sym typeface="Courier New"/>
              </a:rPr>
              <a:t>, </a:t>
            </a:r>
            <a:r>
              <a:rPr lang="en" sz="1050">
                <a:solidFill>
                  <a:srgbClr val="A5D6FF"/>
                </a:solidFill>
                <a:highlight>
                  <a:srgbClr val="121314"/>
                </a:highlight>
                <a:latin typeface="Courier New"/>
                <a:ea typeface="Courier New"/>
                <a:cs typeface="Courier New"/>
                <a:sym typeface="Courier New"/>
              </a:rPr>
              <a:t>'Banana'</a:t>
            </a:r>
            <a:r>
              <a:rPr lang="en" sz="1050">
                <a:solidFill>
                  <a:srgbClr val="BBBEBF"/>
                </a:solidFill>
                <a:highlight>
                  <a:srgbClr val="121314"/>
                </a:highlight>
                <a:latin typeface="Courier New"/>
                <a:ea typeface="Courier New"/>
                <a:cs typeface="Courier New"/>
                <a:sym typeface="Courier New"/>
              </a:rPr>
              <a:t>) </a:t>
            </a:r>
            <a:r>
              <a:rPr lang="en" sz="1050">
                <a:solidFill>
                  <a:srgbClr val="C9D1D9"/>
                </a:solidFill>
                <a:highlight>
                  <a:srgbClr val="121314"/>
                </a:highlight>
                <a:latin typeface="Courier New"/>
                <a:ea typeface="Courier New"/>
                <a:cs typeface="Courier New"/>
                <a:sym typeface="Courier New"/>
              </a:rPr>
              <a:t>-&gt;</a:t>
            </a:r>
            <a:r>
              <a:rPr lang="en" sz="1050">
                <a:solidFill>
                  <a:srgbClr val="BBBEBF"/>
                </a:solidFill>
                <a:highlight>
                  <a:srgbClr val="121314"/>
                </a:highlight>
                <a:latin typeface="Courier New"/>
                <a:ea typeface="Courier New"/>
                <a:cs typeface="Courier New"/>
                <a:sym typeface="Courier New"/>
              </a:rPr>
              <a:t> [</a:t>
            </a:r>
            <a:r>
              <a:rPr lang="en" sz="1050">
                <a:solidFill>
                  <a:srgbClr val="A5D6FF"/>
                </a:solidFill>
                <a:highlight>
                  <a:srgbClr val="121314"/>
                </a:highlight>
                <a:latin typeface="Courier New"/>
                <a:ea typeface="Courier New"/>
                <a:cs typeface="Courier New"/>
                <a:sym typeface="Courier New"/>
              </a:rPr>
              <a:t>'Apple'</a:t>
            </a:r>
            <a:r>
              <a:rPr lang="en" sz="1050">
                <a:solidFill>
                  <a:srgbClr val="BBBEBF"/>
                </a:solidFill>
                <a:highlight>
                  <a:srgbClr val="121314"/>
                </a:highlight>
                <a:latin typeface="Courier New"/>
                <a:ea typeface="Courier New"/>
                <a:cs typeface="Courier New"/>
                <a:sym typeface="Courier New"/>
              </a:rPr>
              <a:t>, </a:t>
            </a:r>
            <a:r>
              <a:rPr lang="en" sz="1050">
                <a:solidFill>
                  <a:srgbClr val="A5D6FF"/>
                </a:solidFill>
                <a:highlight>
                  <a:srgbClr val="121314"/>
                </a:highlight>
                <a:latin typeface="Courier New"/>
                <a:ea typeface="Courier New"/>
                <a:cs typeface="Courier New"/>
                <a:sym typeface="Courier New"/>
              </a:rPr>
              <a:t>'Banana'</a:t>
            </a:r>
            <a:r>
              <a:rPr lang="en" sz="1050">
                <a:solidFill>
                  <a:srgbClr val="BBBEBF"/>
                </a:solidFill>
                <a:highlight>
                  <a:srgbClr val="121314"/>
                </a:highlight>
                <a:latin typeface="Courier New"/>
                <a:ea typeface="Courier New"/>
                <a:cs typeface="Courier New"/>
                <a:sym typeface="Courier New"/>
              </a:rPr>
              <a:t>]</a:t>
            </a:r>
            <a:endParaRPr sz="1050"/>
          </a:p>
          <a:p>
            <a:pPr marL="1371600" lvl="2" indent="-310832" algn="l" rtl="0">
              <a:spcBef>
                <a:spcPts val="0"/>
              </a:spcBef>
              <a:spcAft>
                <a:spcPts val="0"/>
              </a:spcAft>
              <a:buSzPct val="100000"/>
              <a:buChar char="■"/>
            </a:pPr>
            <a:r>
              <a:rPr lang="en"/>
              <a:t>A Single Number: Creates an empty sparse array with its length property set to that number (it does not create an array with that single number as an element).</a:t>
            </a:r>
            <a:endParaRPr/>
          </a:p>
          <a:p>
            <a:pPr marL="1828800" lvl="3" indent="-290274" algn="l" rtl="0">
              <a:lnSpc>
                <a:spcPct val="133333"/>
              </a:lnSpc>
              <a:spcBef>
                <a:spcPts val="0"/>
              </a:spcBef>
              <a:spcAft>
                <a:spcPts val="0"/>
              </a:spcAft>
              <a:buSzPct val="100000"/>
              <a:buChar char="●"/>
            </a:pPr>
            <a:r>
              <a:rPr lang="en" sz="1050">
                <a:solidFill>
                  <a:srgbClr val="569CD6"/>
                </a:solidFill>
                <a:highlight>
                  <a:srgbClr val="121314"/>
                </a:highlight>
                <a:latin typeface="Courier New"/>
                <a:ea typeface="Courier New"/>
                <a:cs typeface="Courier New"/>
                <a:sym typeface="Courier New"/>
              </a:rPr>
              <a:t>new</a:t>
            </a:r>
            <a:r>
              <a:rPr lang="en" sz="1050">
                <a:solidFill>
                  <a:srgbClr val="BBBEBF"/>
                </a:solidFill>
                <a:highlight>
                  <a:srgbClr val="121314"/>
                </a:highlight>
                <a:latin typeface="Courier New"/>
                <a:ea typeface="Courier New"/>
                <a:cs typeface="Courier New"/>
                <a:sym typeface="Courier New"/>
              </a:rPr>
              <a:t> </a:t>
            </a:r>
            <a:r>
              <a:rPr lang="en" sz="1050">
                <a:solidFill>
                  <a:srgbClr val="4EC9B0"/>
                </a:solidFill>
                <a:highlight>
                  <a:srgbClr val="121314"/>
                </a:highlight>
                <a:latin typeface="Courier New"/>
                <a:ea typeface="Courier New"/>
                <a:cs typeface="Courier New"/>
                <a:sym typeface="Courier New"/>
              </a:rPr>
              <a:t>Array</a:t>
            </a:r>
            <a:r>
              <a:rPr lang="en" sz="1050">
                <a:solidFill>
                  <a:srgbClr val="BBBEBF"/>
                </a:solidFill>
                <a:highlight>
                  <a:srgbClr val="121314"/>
                </a:highlight>
                <a:latin typeface="Courier New"/>
                <a:ea typeface="Courier New"/>
                <a:cs typeface="Courier New"/>
                <a:sym typeface="Courier New"/>
              </a:rPr>
              <a:t>(</a:t>
            </a:r>
            <a:r>
              <a:rPr lang="en" sz="1050">
                <a:solidFill>
                  <a:srgbClr val="B5CEA8"/>
                </a:solidFill>
                <a:highlight>
                  <a:srgbClr val="121314"/>
                </a:highlight>
                <a:latin typeface="Courier New"/>
                <a:ea typeface="Courier New"/>
                <a:cs typeface="Courier New"/>
                <a:sym typeface="Courier New"/>
              </a:rPr>
              <a:t>5</a:t>
            </a:r>
            <a:r>
              <a:rPr lang="en" sz="1050">
                <a:solidFill>
                  <a:srgbClr val="BBBEBF"/>
                </a:solidFill>
                <a:highlight>
                  <a:srgbClr val="121314"/>
                </a:highlight>
                <a:latin typeface="Courier New"/>
                <a:ea typeface="Courier New"/>
                <a:cs typeface="Courier New"/>
                <a:sym typeface="Courier New"/>
              </a:rPr>
              <a:t>) </a:t>
            </a:r>
            <a:r>
              <a:rPr lang="en" sz="1050">
                <a:solidFill>
                  <a:srgbClr val="C9D1D9"/>
                </a:solidFill>
                <a:highlight>
                  <a:srgbClr val="121314"/>
                </a:highlight>
                <a:latin typeface="Courier New"/>
                <a:ea typeface="Courier New"/>
                <a:cs typeface="Courier New"/>
                <a:sym typeface="Courier New"/>
              </a:rPr>
              <a:t>-&gt;</a:t>
            </a:r>
            <a:r>
              <a:rPr lang="en" sz="1050">
                <a:solidFill>
                  <a:srgbClr val="BBBEBF"/>
                </a:solidFill>
                <a:highlight>
                  <a:srgbClr val="121314"/>
                </a:highlight>
                <a:latin typeface="Courier New"/>
                <a:ea typeface="Courier New"/>
                <a:cs typeface="Courier New"/>
                <a:sym typeface="Courier New"/>
              </a:rPr>
              <a:t> </a:t>
            </a:r>
            <a:r>
              <a:rPr lang="en" sz="1050">
                <a:solidFill>
                  <a:srgbClr val="C9D1D9"/>
                </a:solidFill>
                <a:highlight>
                  <a:srgbClr val="121314"/>
                </a:highlight>
                <a:latin typeface="Courier New"/>
                <a:ea typeface="Courier New"/>
                <a:cs typeface="Courier New"/>
                <a:sym typeface="Courier New"/>
              </a:rPr>
              <a:t>Creates</a:t>
            </a:r>
            <a:r>
              <a:rPr lang="en" sz="1050">
                <a:solidFill>
                  <a:srgbClr val="BBBEBF"/>
                </a:solidFill>
                <a:highlight>
                  <a:srgbClr val="121314"/>
                </a:highlight>
                <a:latin typeface="Courier New"/>
                <a:ea typeface="Courier New"/>
                <a:cs typeface="Courier New"/>
                <a:sym typeface="Courier New"/>
              </a:rPr>
              <a:t> </a:t>
            </a:r>
            <a:r>
              <a:rPr lang="en" sz="1050">
                <a:solidFill>
                  <a:srgbClr val="C9D1D9"/>
                </a:solidFill>
                <a:highlight>
                  <a:srgbClr val="121314"/>
                </a:highlight>
                <a:latin typeface="Courier New"/>
                <a:ea typeface="Courier New"/>
                <a:cs typeface="Courier New"/>
                <a:sym typeface="Courier New"/>
              </a:rPr>
              <a:t>an</a:t>
            </a:r>
            <a:r>
              <a:rPr lang="en" sz="1050">
                <a:solidFill>
                  <a:srgbClr val="BBBEBF"/>
                </a:solidFill>
                <a:highlight>
                  <a:srgbClr val="121314"/>
                </a:highlight>
                <a:latin typeface="Courier New"/>
                <a:ea typeface="Courier New"/>
                <a:cs typeface="Courier New"/>
                <a:sym typeface="Courier New"/>
              </a:rPr>
              <a:t> </a:t>
            </a:r>
            <a:r>
              <a:rPr lang="en" sz="1050">
                <a:solidFill>
                  <a:srgbClr val="C9D1D9"/>
                </a:solidFill>
                <a:highlight>
                  <a:srgbClr val="121314"/>
                </a:highlight>
                <a:latin typeface="Courier New"/>
                <a:ea typeface="Courier New"/>
                <a:cs typeface="Courier New"/>
                <a:sym typeface="Courier New"/>
              </a:rPr>
              <a:t>array</a:t>
            </a:r>
            <a:r>
              <a:rPr lang="en" sz="1050">
                <a:solidFill>
                  <a:srgbClr val="BBBEBF"/>
                </a:solidFill>
                <a:highlight>
                  <a:srgbClr val="121314"/>
                </a:highlight>
                <a:latin typeface="Courier New"/>
                <a:ea typeface="Courier New"/>
                <a:cs typeface="Courier New"/>
                <a:sym typeface="Courier New"/>
              </a:rPr>
              <a:t> </a:t>
            </a:r>
            <a:r>
              <a:rPr lang="en" sz="1050">
                <a:solidFill>
                  <a:srgbClr val="569CD6"/>
                </a:solidFill>
                <a:highlight>
                  <a:srgbClr val="121314"/>
                </a:highlight>
                <a:latin typeface="Courier New"/>
                <a:ea typeface="Courier New"/>
                <a:cs typeface="Courier New"/>
                <a:sym typeface="Courier New"/>
              </a:rPr>
              <a:t>of</a:t>
            </a:r>
            <a:r>
              <a:rPr lang="en" sz="1050">
                <a:solidFill>
                  <a:srgbClr val="BBBEBF"/>
                </a:solidFill>
                <a:highlight>
                  <a:srgbClr val="121314"/>
                </a:highlight>
                <a:latin typeface="Courier New"/>
                <a:ea typeface="Courier New"/>
                <a:cs typeface="Courier New"/>
                <a:sym typeface="Courier New"/>
              </a:rPr>
              <a:t> </a:t>
            </a:r>
            <a:r>
              <a:rPr lang="en" sz="1050">
                <a:solidFill>
                  <a:srgbClr val="79C0FF"/>
                </a:solidFill>
                <a:highlight>
                  <a:srgbClr val="121314"/>
                </a:highlight>
                <a:latin typeface="Courier New"/>
                <a:ea typeface="Courier New"/>
                <a:cs typeface="Courier New"/>
                <a:sym typeface="Courier New"/>
              </a:rPr>
              <a:t>length</a:t>
            </a:r>
            <a:r>
              <a:rPr lang="en" sz="1050">
                <a:solidFill>
                  <a:srgbClr val="BBBEBF"/>
                </a:solidFill>
                <a:highlight>
                  <a:srgbClr val="121314"/>
                </a:highlight>
                <a:latin typeface="Courier New"/>
                <a:ea typeface="Courier New"/>
                <a:cs typeface="Courier New"/>
                <a:sym typeface="Courier New"/>
              </a:rPr>
              <a:t> </a:t>
            </a:r>
            <a:r>
              <a:rPr lang="en" sz="1050">
                <a:solidFill>
                  <a:srgbClr val="B5CEA8"/>
                </a:solidFill>
                <a:highlight>
                  <a:srgbClr val="121314"/>
                </a:highlight>
                <a:latin typeface="Courier New"/>
                <a:ea typeface="Courier New"/>
                <a:cs typeface="Courier New"/>
                <a:sym typeface="Courier New"/>
              </a:rPr>
              <a:t>5</a:t>
            </a:r>
            <a:r>
              <a:rPr lang="en" sz="1050">
                <a:solidFill>
                  <a:srgbClr val="BBBEBF"/>
                </a:solidFill>
                <a:highlight>
                  <a:srgbClr val="121314"/>
                </a:highlight>
                <a:latin typeface="Courier New"/>
                <a:ea typeface="Courier New"/>
                <a:cs typeface="Courier New"/>
                <a:sym typeface="Courier New"/>
              </a:rPr>
              <a:t> </a:t>
            </a:r>
            <a:r>
              <a:rPr lang="en" sz="1050">
                <a:solidFill>
                  <a:srgbClr val="C586C0"/>
                </a:solidFill>
                <a:highlight>
                  <a:srgbClr val="121314"/>
                </a:highlight>
                <a:latin typeface="Courier New"/>
                <a:ea typeface="Courier New"/>
                <a:cs typeface="Courier New"/>
                <a:sym typeface="Courier New"/>
              </a:rPr>
              <a:t>with</a:t>
            </a:r>
            <a:r>
              <a:rPr lang="en" sz="1050">
                <a:solidFill>
                  <a:srgbClr val="BBBEBF"/>
                </a:solidFill>
                <a:highlight>
                  <a:srgbClr val="121314"/>
                </a:highlight>
                <a:latin typeface="Courier New"/>
                <a:ea typeface="Courier New"/>
                <a:cs typeface="Courier New"/>
                <a:sym typeface="Courier New"/>
              </a:rPr>
              <a:t> </a:t>
            </a:r>
            <a:r>
              <a:rPr lang="en" sz="1050">
                <a:solidFill>
                  <a:srgbClr val="C9D1D9"/>
                </a:solidFill>
                <a:highlight>
                  <a:srgbClr val="121314"/>
                </a:highlight>
                <a:latin typeface="Courier New"/>
                <a:ea typeface="Courier New"/>
                <a:cs typeface="Courier New"/>
                <a:sym typeface="Courier New"/>
              </a:rPr>
              <a:t>no</a:t>
            </a:r>
            <a:r>
              <a:rPr lang="en" sz="1050">
                <a:solidFill>
                  <a:srgbClr val="BBBEBF"/>
                </a:solidFill>
                <a:highlight>
                  <a:srgbClr val="121314"/>
                </a:highlight>
                <a:latin typeface="Courier New"/>
                <a:ea typeface="Courier New"/>
                <a:cs typeface="Courier New"/>
                <a:sym typeface="Courier New"/>
              </a:rPr>
              <a:t> </a:t>
            </a:r>
            <a:r>
              <a:rPr lang="en" sz="1050">
                <a:solidFill>
                  <a:srgbClr val="C9D1D9"/>
                </a:solidFill>
                <a:highlight>
                  <a:srgbClr val="121314"/>
                </a:highlight>
                <a:latin typeface="Courier New"/>
                <a:ea typeface="Courier New"/>
                <a:cs typeface="Courier New"/>
                <a:sym typeface="Courier New"/>
              </a:rPr>
              <a:t>initialized</a:t>
            </a:r>
            <a:r>
              <a:rPr lang="en" sz="1050">
                <a:solidFill>
                  <a:srgbClr val="BBBEBF"/>
                </a:solidFill>
                <a:highlight>
                  <a:srgbClr val="121314"/>
                </a:highlight>
                <a:latin typeface="Courier New"/>
                <a:ea typeface="Courier New"/>
                <a:cs typeface="Courier New"/>
                <a:sym typeface="Courier New"/>
              </a:rPr>
              <a:t> </a:t>
            </a:r>
            <a:r>
              <a:rPr lang="en" sz="1050">
                <a:solidFill>
                  <a:srgbClr val="D2A8FF"/>
                </a:solidFill>
                <a:highlight>
                  <a:srgbClr val="121314"/>
                </a:highlight>
                <a:latin typeface="Courier New"/>
                <a:ea typeface="Courier New"/>
                <a:cs typeface="Courier New"/>
                <a:sym typeface="Courier New"/>
              </a:rPr>
              <a:t>elements</a:t>
            </a:r>
            <a:r>
              <a:rPr lang="en" sz="1050">
                <a:solidFill>
                  <a:srgbClr val="BBBEBF"/>
                </a:solidFill>
                <a:highlight>
                  <a:srgbClr val="121314"/>
                </a:highlight>
                <a:latin typeface="Courier New"/>
                <a:ea typeface="Courier New"/>
                <a:cs typeface="Courier New"/>
                <a:sym typeface="Courier New"/>
              </a:rPr>
              <a:t> (</a:t>
            </a:r>
            <a:r>
              <a:rPr lang="en" sz="1050">
                <a:solidFill>
                  <a:srgbClr val="C9D1D9"/>
                </a:solidFill>
                <a:highlight>
                  <a:srgbClr val="121314"/>
                </a:highlight>
                <a:latin typeface="Courier New"/>
                <a:ea typeface="Courier New"/>
                <a:cs typeface="Courier New"/>
                <a:sym typeface="Courier New"/>
              </a:rPr>
              <a:t>empty</a:t>
            </a:r>
            <a:r>
              <a:rPr lang="en" sz="1050">
                <a:solidFill>
                  <a:srgbClr val="BBBEBF"/>
                </a:solidFill>
                <a:highlight>
                  <a:srgbClr val="121314"/>
                </a:highlight>
                <a:latin typeface="Courier New"/>
                <a:ea typeface="Courier New"/>
                <a:cs typeface="Courier New"/>
                <a:sym typeface="Courier New"/>
              </a:rPr>
              <a:t> × </a:t>
            </a:r>
            <a:r>
              <a:rPr lang="en" sz="1050">
                <a:solidFill>
                  <a:srgbClr val="B5CEA8"/>
                </a:solidFill>
                <a:highlight>
                  <a:srgbClr val="121314"/>
                </a:highlight>
                <a:latin typeface="Courier New"/>
                <a:ea typeface="Courier New"/>
                <a:cs typeface="Courier New"/>
                <a:sym typeface="Courier New"/>
              </a:rPr>
              <a:t>5</a:t>
            </a:r>
            <a:r>
              <a:rPr lang="en" sz="1050">
                <a:solidFill>
                  <a:srgbClr val="BBBEBF"/>
                </a:solidFill>
                <a:highlight>
                  <a:srgbClr val="121314"/>
                </a:highlight>
                <a:latin typeface="Courier New"/>
                <a:ea typeface="Courier New"/>
                <a:cs typeface="Courier New"/>
                <a:sym typeface="Courier New"/>
              </a:rPr>
              <a:t>).</a:t>
            </a:r>
            <a:endParaRPr sz="1050">
              <a:solidFill>
                <a:srgbClr val="BBBEBF"/>
              </a:solidFill>
              <a:highlight>
                <a:srgbClr val="121314"/>
              </a:highlight>
              <a:latin typeface="Courier New"/>
              <a:ea typeface="Courier New"/>
              <a:cs typeface="Courier New"/>
              <a:sym typeface="Courier New"/>
            </a:endParaRPr>
          </a:p>
          <a:p>
            <a:pPr marL="457200" lvl="0" indent="-334328" algn="l" rtl="0">
              <a:spcBef>
                <a:spcPts val="0"/>
              </a:spcBef>
              <a:spcAft>
                <a:spcPts val="0"/>
              </a:spcAft>
              <a:buSzPct val="100000"/>
              <a:buAutoNum type="arabicPeriod"/>
            </a:pPr>
            <a:r>
              <a:rPr lang="en"/>
              <a:t>[5] vs. new Array(5)</a:t>
            </a:r>
            <a:endParaRPr/>
          </a:p>
          <a:p>
            <a:pPr marL="914400" lvl="1" indent="-310832" algn="l" rtl="0">
              <a:spcBef>
                <a:spcPts val="0"/>
              </a:spcBef>
              <a:spcAft>
                <a:spcPts val="0"/>
              </a:spcAft>
              <a:buSzPct val="100000"/>
              <a:buChar char="○"/>
            </a:pPr>
            <a:r>
              <a:rPr lang="en"/>
              <a:t>creates an empty array with space reserved for 5 elements.</a:t>
            </a:r>
            <a:endParaRPr/>
          </a:p>
          <a:p>
            <a:pPr marL="914400" lvl="1" indent="-310832" algn="l" rtl="0">
              <a:spcBef>
                <a:spcPts val="0"/>
              </a:spcBef>
              <a:spcAft>
                <a:spcPts val="0"/>
              </a:spcAft>
              <a:buSzPct val="100000"/>
              <a:buChar char="○"/>
            </a:pPr>
            <a:r>
              <a:rPr lang="en"/>
              <a:t>creates an array containing the single number 5</a:t>
            </a:r>
            <a:endParaRPr/>
          </a:p>
        </p:txBody>
      </p:sp>
      <p:sp>
        <p:nvSpPr>
          <p:cNvPr id="571" name="Google Shape;571;p7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68</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8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References and Reference Parameters</a:t>
            </a:r>
            <a:endParaRPr/>
          </a:p>
        </p:txBody>
      </p:sp>
      <p:sp>
        <p:nvSpPr>
          <p:cNvPr id="577" name="Google Shape;577;p8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Two ways to pass arguments to functions (or methods)</a:t>
            </a:r>
            <a:endParaRPr/>
          </a:p>
          <a:p>
            <a:pPr marL="914400" lvl="1" indent="-317500" algn="l" rtl="0">
              <a:spcBef>
                <a:spcPts val="0"/>
              </a:spcBef>
              <a:spcAft>
                <a:spcPts val="0"/>
              </a:spcAft>
              <a:buSzPts val="1400"/>
              <a:buChar char="○"/>
            </a:pPr>
            <a:r>
              <a:rPr lang="en"/>
              <a:t>Pass-by-value</a:t>
            </a:r>
            <a:endParaRPr/>
          </a:p>
          <a:p>
            <a:pPr marL="914400" lvl="1" indent="-317500" algn="l" rtl="0">
              <a:spcBef>
                <a:spcPts val="0"/>
              </a:spcBef>
              <a:spcAft>
                <a:spcPts val="0"/>
              </a:spcAft>
              <a:buSzPts val="1400"/>
              <a:buChar char="○"/>
            </a:pPr>
            <a:r>
              <a:rPr lang="en"/>
              <a:t>Pass-by-sharing (or “pass by value of reference”)</a:t>
            </a:r>
            <a:endParaRPr/>
          </a:p>
          <a:p>
            <a:pPr marL="457200" lvl="0" indent="-342900" algn="l" rtl="0">
              <a:spcBef>
                <a:spcPts val="0"/>
              </a:spcBef>
              <a:spcAft>
                <a:spcPts val="0"/>
              </a:spcAft>
              <a:buSzPts val="1800"/>
              <a:buChar char="●"/>
            </a:pPr>
            <a:r>
              <a:rPr lang="en"/>
              <a:t>Pass-by-value</a:t>
            </a:r>
            <a:endParaRPr/>
          </a:p>
          <a:p>
            <a:pPr marL="914400" lvl="1" indent="-317500" algn="l" rtl="0">
              <a:spcBef>
                <a:spcPts val="0"/>
              </a:spcBef>
              <a:spcAft>
                <a:spcPts val="0"/>
              </a:spcAft>
              <a:buSzPts val="1400"/>
              <a:buChar char="○"/>
            </a:pPr>
            <a:r>
              <a:rPr lang="en"/>
              <a:t>A copy of the argument’s value is made and is passed to the called function.</a:t>
            </a:r>
            <a:endParaRPr/>
          </a:p>
          <a:p>
            <a:pPr marL="1371600" lvl="2" indent="-317500" algn="l" rtl="0">
              <a:spcBef>
                <a:spcPts val="0"/>
              </a:spcBef>
              <a:spcAft>
                <a:spcPts val="0"/>
              </a:spcAft>
              <a:buSzPts val="1400"/>
              <a:buChar char="■"/>
            </a:pPr>
            <a:r>
              <a:rPr lang="en"/>
              <a:t>In JavaScript, numbers, boolean values and strings are passed to functions by value.</a:t>
            </a:r>
            <a:endParaRPr/>
          </a:p>
          <a:p>
            <a:pPr marL="457200" lvl="0" indent="-342900" algn="l" rtl="0">
              <a:spcBef>
                <a:spcPts val="0"/>
              </a:spcBef>
              <a:spcAft>
                <a:spcPts val="0"/>
              </a:spcAft>
              <a:buSzPts val="1800"/>
              <a:buChar char="●"/>
            </a:pPr>
            <a:r>
              <a:rPr lang="en"/>
              <a:t>Pass-by-reference</a:t>
            </a:r>
            <a:endParaRPr/>
          </a:p>
          <a:p>
            <a:pPr marL="914400" lvl="1" indent="-317500" algn="l" rtl="0">
              <a:spcBef>
                <a:spcPts val="0"/>
              </a:spcBef>
              <a:spcAft>
                <a:spcPts val="0"/>
              </a:spcAft>
              <a:buSzPts val="1400"/>
              <a:buChar char="○"/>
            </a:pPr>
            <a:r>
              <a:rPr lang="en"/>
              <a:t>The caller gives the called function access to the caller’s data and allows the called function to modify the data if it so chooses.</a:t>
            </a:r>
            <a:endParaRPr/>
          </a:p>
          <a:p>
            <a:pPr marL="914400" lvl="1" indent="-317500" algn="l" rtl="0">
              <a:spcBef>
                <a:spcPts val="0"/>
              </a:spcBef>
              <a:spcAft>
                <a:spcPts val="0"/>
              </a:spcAft>
              <a:buSzPts val="1400"/>
              <a:buChar char="○"/>
            </a:pPr>
            <a:r>
              <a:rPr lang="en"/>
              <a:t>Can improve performance because it can eliminate the overhead of copying large amounts of data, but it can weaken security because the called function can access the caller’s data</a:t>
            </a:r>
            <a:endParaRPr/>
          </a:p>
          <a:p>
            <a:pPr marL="914400" lvl="1" indent="-317500" algn="l" rtl="0">
              <a:spcBef>
                <a:spcPts val="0"/>
              </a:spcBef>
              <a:spcAft>
                <a:spcPts val="0"/>
              </a:spcAft>
              <a:buSzPts val="1400"/>
              <a:buChar char="○"/>
            </a:pPr>
            <a:r>
              <a:rPr lang="en"/>
              <a:t>All objects are passed to functions by reference</a:t>
            </a:r>
            <a:endParaRPr/>
          </a:p>
        </p:txBody>
      </p:sp>
      <p:sp>
        <p:nvSpPr>
          <p:cNvPr id="578" name="Google Shape;578;p8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69</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8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Passing Arrays to Functions</a:t>
            </a:r>
            <a:endParaRPr/>
          </a:p>
        </p:txBody>
      </p:sp>
      <p:sp>
        <p:nvSpPr>
          <p:cNvPr id="584" name="Google Shape;584;p8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Specify the array’s name (a reference to the array) without brackets</a:t>
            </a:r>
            <a:endParaRPr/>
          </a:p>
          <a:p>
            <a:pPr marL="457200" lvl="0" indent="-342900" algn="l" rtl="0">
              <a:spcBef>
                <a:spcPts val="0"/>
              </a:spcBef>
              <a:spcAft>
                <a:spcPts val="0"/>
              </a:spcAft>
              <a:buSzPts val="1800"/>
              <a:buChar char="●"/>
            </a:pPr>
            <a:r>
              <a:rPr lang="en"/>
              <a:t>Although entire arrays are passed by reference, individual numeric and boolean array elements are passed by value exactly as simple numeric and boolean variables are passed</a:t>
            </a:r>
            <a:endParaRPr/>
          </a:p>
          <a:p>
            <a:pPr marL="914400" lvl="1" indent="-317500" algn="l" rtl="0">
              <a:spcBef>
                <a:spcPts val="0"/>
              </a:spcBef>
              <a:spcAft>
                <a:spcPts val="0"/>
              </a:spcAft>
              <a:buSzPts val="1400"/>
              <a:buChar char="○"/>
            </a:pPr>
            <a:r>
              <a:rPr lang="en"/>
              <a:t>Such simple single pieces of data are called scalars, or scalar quantities.</a:t>
            </a:r>
            <a:endParaRPr/>
          </a:p>
          <a:p>
            <a:pPr marL="914400" lvl="1" indent="-317500" algn="l" rtl="0">
              <a:spcBef>
                <a:spcPts val="0"/>
              </a:spcBef>
              <a:spcAft>
                <a:spcPts val="0"/>
              </a:spcAft>
              <a:buSzPts val="1400"/>
              <a:buChar char="○"/>
            </a:pPr>
            <a:r>
              <a:rPr lang="en"/>
              <a:t>To pass an array element to a function, use the indexed name of the element as an argument in the function call.</a:t>
            </a:r>
            <a:endParaRPr/>
          </a:p>
          <a:p>
            <a:pPr marL="457200" lvl="0" indent="-342900" algn="l" rtl="0">
              <a:spcBef>
                <a:spcPts val="0"/>
              </a:spcBef>
              <a:spcAft>
                <a:spcPts val="0"/>
              </a:spcAft>
              <a:buSzPts val="1800"/>
              <a:buChar char="●"/>
            </a:pPr>
            <a:r>
              <a:rPr lang="en"/>
              <a:t>Join method of an Array</a:t>
            </a:r>
            <a:endParaRPr/>
          </a:p>
          <a:p>
            <a:pPr marL="914400" lvl="1" indent="-317500" algn="l" rtl="0">
              <a:spcBef>
                <a:spcPts val="0"/>
              </a:spcBef>
              <a:spcAft>
                <a:spcPts val="0"/>
              </a:spcAft>
              <a:buSzPts val="1400"/>
              <a:buChar char="○"/>
            </a:pPr>
            <a:r>
              <a:rPr lang="en"/>
              <a:t>Returns a string that contains all of the elements of an array, separated by the string supplied in the function’s argument.</a:t>
            </a:r>
            <a:endParaRPr/>
          </a:p>
          <a:p>
            <a:pPr marL="914400" lvl="1" indent="-317500" algn="l" rtl="0">
              <a:spcBef>
                <a:spcPts val="0"/>
              </a:spcBef>
              <a:spcAft>
                <a:spcPts val="0"/>
              </a:spcAft>
              <a:buSzPts val="1400"/>
              <a:buChar char="○"/>
            </a:pPr>
            <a:r>
              <a:rPr lang="en"/>
              <a:t>If an argument is not specified, the empty string is used as the separator.</a:t>
            </a:r>
            <a:endParaRPr/>
          </a:p>
        </p:txBody>
      </p:sp>
      <p:sp>
        <p:nvSpPr>
          <p:cNvPr id="585" name="Google Shape;585;p8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70</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8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References Examples</a:t>
            </a:r>
            <a:endParaRPr/>
          </a:p>
        </p:txBody>
      </p:sp>
      <p:sp>
        <p:nvSpPr>
          <p:cNvPr id="591" name="Google Shape;591;p8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71</a:t>
            </a:fld>
            <a:endParaRPr/>
          </a:p>
        </p:txBody>
      </p:sp>
      <p:sp>
        <p:nvSpPr>
          <p:cNvPr id="592" name="Google Shape;592;p82"/>
          <p:cNvSpPr txBox="1"/>
          <p:nvPr/>
        </p:nvSpPr>
        <p:spPr>
          <a:xfrm>
            <a:off x="254099" y="1261763"/>
            <a:ext cx="4398600" cy="32118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1. Function that accepts an ENTIRE array</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function</a:t>
            </a:r>
            <a:r>
              <a:rPr lang="en" sz="1000">
                <a:solidFill>
                  <a:srgbClr val="BBBEBF"/>
                </a:solidFill>
                <a:highlight>
                  <a:srgbClr val="121314"/>
                </a:highlight>
                <a:latin typeface="Courier New"/>
                <a:ea typeface="Courier New"/>
                <a:cs typeface="Courier New"/>
                <a:sym typeface="Courier New"/>
              </a:rPr>
              <a:t> </a:t>
            </a:r>
            <a:r>
              <a:rPr lang="en" sz="1000">
                <a:solidFill>
                  <a:srgbClr val="D2A8FF"/>
                </a:solidFill>
                <a:highlight>
                  <a:srgbClr val="121314"/>
                </a:highlight>
                <a:latin typeface="Courier New"/>
                <a:ea typeface="Courier New"/>
                <a:cs typeface="Courier New"/>
                <a:sym typeface="Courier New"/>
              </a:rPr>
              <a:t>calculateAverage</a:t>
            </a:r>
            <a:r>
              <a:rPr lang="en" sz="1000">
                <a:solidFill>
                  <a:srgbClr val="BBBEBF"/>
                </a:solidFill>
                <a:highlight>
                  <a:srgbClr val="121314"/>
                </a:highlight>
                <a:latin typeface="Courier New"/>
                <a:ea typeface="Courier New"/>
                <a:cs typeface="Courier New"/>
                <a:sym typeface="Courier New"/>
              </a:rPr>
              <a:t>(</a:t>
            </a:r>
            <a:r>
              <a:rPr lang="en" sz="1000">
                <a:solidFill>
                  <a:srgbClr val="FFA657"/>
                </a:solidFill>
                <a:highlight>
                  <a:srgbClr val="121314"/>
                </a:highlight>
                <a:latin typeface="Courier New"/>
                <a:ea typeface="Courier New"/>
                <a:cs typeface="Courier New"/>
                <a:sym typeface="Courier New"/>
              </a:rPr>
              <a:t>numbers</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 </a:t>
            </a:r>
            <a:r>
              <a:rPr lang="en" sz="1000">
                <a:solidFill>
                  <a:srgbClr val="FF7B72"/>
                </a:solidFill>
                <a:highlight>
                  <a:srgbClr val="121314"/>
                </a:highlight>
                <a:latin typeface="Courier New"/>
                <a:ea typeface="Courier New"/>
                <a:cs typeface="Courier New"/>
                <a:sym typeface="Courier New"/>
              </a:rPr>
              <a:t>let</a:t>
            </a:r>
            <a:r>
              <a:rPr lang="en" sz="1000">
                <a:solidFill>
                  <a:srgbClr val="C9D1D9"/>
                </a:solidFill>
                <a:highlight>
                  <a:srgbClr val="121314"/>
                </a:highlight>
                <a:latin typeface="Courier New"/>
                <a:ea typeface="Courier New"/>
                <a:cs typeface="Courier New"/>
                <a:sym typeface="Courier New"/>
              </a:rPr>
              <a:t> sum </a:t>
            </a:r>
            <a:r>
              <a:rPr lang="en" sz="1000">
                <a:solidFill>
                  <a:srgbClr val="D4D4D4"/>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0</a:t>
            </a: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 </a:t>
            </a:r>
            <a:r>
              <a:rPr lang="en" sz="1000">
                <a:solidFill>
                  <a:srgbClr val="C586C0"/>
                </a:solidFill>
                <a:highlight>
                  <a:srgbClr val="121314"/>
                </a:highlight>
                <a:latin typeface="Courier New"/>
                <a:ea typeface="Courier New"/>
                <a:cs typeface="Courier New"/>
                <a:sym typeface="Courier New"/>
              </a:rPr>
              <a:t>for</a:t>
            </a:r>
            <a:r>
              <a:rPr lang="en" sz="1000">
                <a:solidFill>
                  <a:srgbClr val="C9D1D9"/>
                </a:solidFill>
                <a:highlight>
                  <a:srgbClr val="121314"/>
                </a:highlight>
                <a:latin typeface="Courier New"/>
                <a:ea typeface="Courier New"/>
                <a:cs typeface="Courier New"/>
                <a:sym typeface="Courier New"/>
              </a:rPr>
              <a:t> (</a:t>
            </a:r>
            <a:r>
              <a:rPr lang="en" sz="1000">
                <a:solidFill>
                  <a:srgbClr val="FF7B72"/>
                </a:solidFill>
                <a:highlight>
                  <a:srgbClr val="121314"/>
                </a:highlight>
                <a:latin typeface="Courier New"/>
                <a:ea typeface="Courier New"/>
                <a:cs typeface="Courier New"/>
                <a:sym typeface="Courier New"/>
              </a:rPr>
              <a:t>let</a:t>
            </a:r>
            <a:r>
              <a:rPr lang="en" sz="1000">
                <a:solidFill>
                  <a:srgbClr val="C9D1D9"/>
                </a:solidFill>
                <a:highlight>
                  <a:srgbClr val="121314"/>
                </a:highlight>
                <a:latin typeface="Courier New"/>
                <a:ea typeface="Courier New"/>
                <a:cs typeface="Courier New"/>
                <a:sym typeface="Courier New"/>
              </a:rPr>
              <a:t> num </a:t>
            </a:r>
            <a:r>
              <a:rPr lang="en" sz="1000">
                <a:solidFill>
                  <a:srgbClr val="569CD6"/>
                </a:solidFill>
                <a:highlight>
                  <a:srgbClr val="121314"/>
                </a:highlight>
                <a:latin typeface="Courier New"/>
                <a:ea typeface="Courier New"/>
                <a:cs typeface="Courier New"/>
                <a:sym typeface="Courier New"/>
              </a:rPr>
              <a:t>of</a:t>
            </a:r>
            <a:r>
              <a:rPr lang="en" sz="1000">
                <a:solidFill>
                  <a:srgbClr val="C9D1D9"/>
                </a:solidFill>
                <a:highlight>
                  <a:srgbClr val="121314"/>
                </a:highlight>
                <a:latin typeface="Courier New"/>
                <a:ea typeface="Courier New"/>
                <a:cs typeface="Courier New"/>
                <a:sym typeface="Courier New"/>
              </a:rPr>
              <a:t> </a:t>
            </a:r>
            <a:r>
              <a:rPr lang="en" sz="1000">
                <a:solidFill>
                  <a:srgbClr val="FFA657"/>
                </a:solidFill>
                <a:highlight>
                  <a:srgbClr val="121314"/>
                </a:highlight>
                <a:latin typeface="Courier New"/>
                <a:ea typeface="Courier New"/>
                <a:cs typeface="Courier New"/>
                <a:sym typeface="Courier New"/>
              </a:rPr>
              <a:t>numbers</a:t>
            </a:r>
            <a:r>
              <a:rPr lang="en" sz="1000">
                <a:solidFill>
                  <a:srgbClr val="C9D1D9"/>
                </a:solidFill>
                <a:highlight>
                  <a:srgbClr val="121314"/>
                </a:highlight>
                <a:latin typeface="Courier New"/>
                <a:ea typeface="Courier New"/>
                <a:cs typeface="Courier New"/>
                <a:sym typeface="Courier New"/>
              </a:rPr>
              <a:t>) {</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   sum </a:t>
            </a:r>
            <a:r>
              <a:rPr lang="en" sz="1000">
                <a:solidFill>
                  <a:srgbClr val="D4D4D4"/>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 num;</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 }</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 </a:t>
            </a:r>
            <a:r>
              <a:rPr lang="en" sz="1000">
                <a:solidFill>
                  <a:srgbClr val="C586C0"/>
                </a:solidFill>
                <a:highlight>
                  <a:srgbClr val="121314"/>
                </a:highlight>
                <a:latin typeface="Courier New"/>
                <a:ea typeface="Courier New"/>
                <a:cs typeface="Courier New"/>
                <a:sym typeface="Courier New"/>
              </a:rPr>
              <a:t>return</a:t>
            </a:r>
            <a:r>
              <a:rPr lang="en" sz="1000">
                <a:solidFill>
                  <a:srgbClr val="C9D1D9"/>
                </a:solidFill>
                <a:highlight>
                  <a:srgbClr val="121314"/>
                </a:highlight>
                <a:latin typeface="Courier New"/>
                <a:ea typeface="Courier New"/>
                <a:cs typeface="Courier New"/>
                <a:sym typeface="Courier New"/>
              </a:rPr>
              <a:t> sum </a:t>
            </a:r>
            <a:r>
              <a:rPr lang="en" sz="1000">
                <a:solidFill>
                  <a:srgbClr val="D4D4D4"/>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 </a:t>
            </a:r>
            <a:r>
              <a:rPr lang="en" sz="1000">
                <a:solidFill>
                  <a:srgbClr val="FFA657"/>
                </a:solidFill>
                <a:highlight>
                  <a:srgbClr val="121314"/>
                </a:highlight>
                <a:latin typeface="Courier New"/>
                <a:ea typeface="Courier New"/>
                <a:cs typeface="Courier New"/>
                <a:sym typeface="Courier New"/>
              </a:rPr>
              <a:t>numbers</a:t>
            </a:r>
            <a:r>
              <a:rPr lang="en" sz="1000">
                <a:solidFill>
                  <a:srgbClr val="C9D1D9"/>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length</a:t>
            </a: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Sample Array</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scores</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95</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82</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88</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Pass the array name 'scores' directly</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avg</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D2A8FF"/>
                </a:solidFill>
                <a:highlight>
                  <a:srgbClr val="121314"/>
                </a:highlight>
                <a:latin typeface="Courier New"/>
                <a:ea typeface="Courier New"/>
                <a:cs typeface="Courier New"/>
                <a:sym typeface="Courier New"/>
              </a:rPr>
              <a:t>calculateAverage</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scores</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A5D6FF"/>
                </a:solidFill>
                <a:highlight>
                  <a:srgbClr val="121314"/>
                </a:highlight>
                <a:latin typeface="Courier New"/>
                <a:ea typeface="Courier New"/>
                <a:cs typeface="Courier New"/>
                <a:sym typeface="Courier New"/>
              </a:rPr>
              <a:t>`Average Score: </a:t>
            </a:r>
            <a:r>
              <a:rPr lang="en" sz="1000">
                <a:solidFill>
                  <a:srgbClr val="569CD6"/>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avg</a:t>
            </a:r>
            <a:r>
              <a:rPr lang="en" sz="1000">
                <a:solidFill>
                  <a:srgbClr val="569CD6"/>
                </a:solidFill>
                <a:highlight>
                  <a:srgbClr val="121314"/>
                </a:highlight>
                <a:latin typeface="Courier New"/>
                <a:ea typeface="Courier New"/>
                <a:cs typeface="Courier New"/>
                <a:sym typeface="Courier New"/>
              </a:rPr>
              <a:t>}</a:t>
            </a:r>
            <a:r>
              <a:rPr lang="en" sz="1000">
                <a:solidFill>
                  <a:srgbClr val="A5D6FF"/>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endParaRPr sz="1000">
              <a:solidFill>
                <a:srgbClr val="8B949E"/>
              </a:solidFill>
              <a:highlight>
                <a:srgbClr val="121314"/>
              </a:highlight>
              <a:latin typeface="Courier New"/>
              <a:ea typeface="Courier New"/>
              <a:cs typeface="Courier New"/>
              <a:sym typeface="Courier New"/>
            </a:endParaRPr>
          </a:p>
        </p:txBody>
      </p:sp>
      <p:sp>
        <p:nvSpPr>
          <p:cNvPr id="593" name="Google Shape;593;p82"/>
          <p:cNvSpPr txBox="1"/>
          <p:nvPr/>
        </p:nvSpPr>
        <p:spPr>
          <a:xfrm>
            <a:off x="4766725" y="1261775"/>
            <a:ext cx="4188300" cy="28014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2. Function that accepts a SINGLE value (an individual element)</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function</a:t>
            </a:r>
            <a:r>
              <a:rPr lang="en" sz="1000">
                <a:solidFill>
                  <a:srgbClr val="BBBEBF"/>
                </a:solidFill>
                <a:highlight>
                  <a:srgbClr val="121314"/>
                </a:highlight>
                <a:latin typeface="Courier New"/>
                <a:ea typeface="Courier New"/>
                <a:cs typeface="Courier New"/>
                <a:sym typeface="Courier New"/>
              </a:rPr>
              <a:t> </a:t>
            </a:r>
            <a:r>
              <a:rPr lang="en" sz="1000">
                <a:solidFill>
                  <a:srgbClr val="D2A8FF"/>
                </a:solidFill>
                <a:highlight>
                  <a:srgbClr val="121314"/>
                </a:highlight>
                <a:latin typeface="Courier New"/>
                <a:ea typeface="Courier New"/>
                <a:cs typeface="Courier New"/>
                <a:sym typeface="Courier New"/>
              </a:rPr>
              <a:t>printGrade</a:t>
            </a:r>
            <a:r>
              <a:rPr lang="en" sz="1000">
                <a:solidFill>
                  <a:srgbClr val="BBBEBF"/>
                </a:solidFill>
                <a:highlight>
                  <a:srgbClr val="121314"/>
                </a:highlight>
                <a:latin typeface="Courier New"/>
                <a:ea typeface="Courier New"/>
                <a:cs typeface="Courier New"/>
                <a:sym typeface="Courier New"/>
              </a:rPr>
              <a:t>(</a:t>
            </a:r>
            <a:r>
              <a:rPr lang="en" sz="1000">
                <a:solidFill>
                  <a:srgbClr val="FFA657"/>
                </a:solidFill>
                <a:highlight>
                  <a:srgbClr val="121314"/>
                </a:highlight>
                <a:latin typeface="Courier New"/>
                <a:ea typeface="Courier New"/>
                <a:cs typeface="Courier New"/>
                <a:sym typeface="Courier New"/>
              </a:rPr>
              <a:t>score</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 </a:t>
            </a:r>
            <a:r>
              <a:rPr lang="en" sz="1000">
                <a:solidFill>
                  <a:srgbClr val="C586C0"/>
                </a:solidFill>
                <a:highlight>
                  <a:srgbClr val="121314"/>
                </a:highlight>
                <a:latin typeface="Courier New"/>
                <a:ea typeface="Courier New"/>
                <a:cs typeface="Courier New"/>
                <a:sym typeface="Courier New"/>
              </a:rPr>
              <a:t>if</a:t>
            </a:r>
            <a:r>
              <a:rPr lang="en" sz="1000">
                <a:solidFill>
                  <a:srgbClr val="C9D1D9"/>
                </a:solidFill>
                <a:highlight>
                  <a:srgbClr val="121314"/>
                </a:highlight>
                <a:latin typeface="Courier New"/>
                <a:ea typeface="Courier New"/>
                <a:cs typeface="Courier New"/>
                <a:sym typeface="Courier New"/>
              </a:rPr>
              <a:t> (</a:t>
            </a:r>
            <a:r>
              <a:rPr lang="en" sz="1000">
                <a:solidFill>
                  <a:srgbClr val="FFA657"/>
                </a:solidFill>
                <a:highlight>
                  <a:srgbClr val="121314"/>
                </a:highlight>
                <a:latin typeface="Courier New"/>
                <a:ea typeface="Courier New"/>
                <a:cs typeface="Courier New"/>
                <a:sym typeface="Courier New"/>
              </a:rPr>
              <a:t>score</a:t>
            </a:r>
            <a:r>
              <a:rPr lang="en" sz="1000">
                <a:solidFill>
                  <a:srgbClr val="C9D1D9"/>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&gt;=</a:t>
            </a:r>
            <a:r>
              <a:rPr lang="en" sz="1000">
                <a:solidFill>
                  <a:srgbClr val="C9D1D9"/>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90</a:t>
            </a:r>
            <a:r>
              <a:rPr lang="en" sz="1000">
                <a:solidFill>
                  <a:srgbClr val="C9D1D9"/>
                </a:solidFill>
                <a:highlight>
                  <a:srgbClr val="121314"/>
                </a:highlight>
                <a:latin typeface="Courier New"/>
                <a:ea typeface="Courier New"/>
                <a:cs typeface="Courier New"/>
                <a:sym typeface="Courier New"/>
              </a:rPr>
              <a:t>) {</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console</a:t>
            </a:r>
            <a:r>
              <a:rPr lang="en" sz="1000">
                <a:solidFill>
                  <a:srgbClr val="C9D1D9"/>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C9D1D9"/>
                </a:solidFill>
                <a:highlight>
                  <a:srgbClr val="121314"/>
                </a:highlight>
                <a:latin typeface="Courier New"/>
                <a:ea typeface="Courier New"/>
                <a:cs typeface="Courier New"/>
                <a:sym typeface="Courier New"/>
              </a:rPr>
              <a:t>(</a:t>
            </a:r>
            <a:r>
              <a:rPr lang="en" sz="1000">
                <a:solidFill>
                  <a:srgbClr val="A5D6FF"/>
                </a:solidFill>
                <a:highlight>
                  <a:srgbClr val="121314"/>
                </a:highlight>
                <a:latin typeface="Courier New"/>
                <a:ea typeface="Courier New"/>
                <a:cs typeface="Courier New"/>
                <a:sym typeface="Courier New"/>
              </a:rPr>
              <a:t>`Score </a:t>
            </a:r>
            <a:r>
              <a:rPr lang="en" sz="1000">
                <a:solidFill>
                  <a:srgbClr val="569CD6"/>
                </a:solidFill>
                <a:highlight>
                  <a:srgbClr val="121314"/>
                </a:highlight>
                <a:latin typeface="Courier New"/>
                <a:ea typeface="Courier New"/>
                <a:cs typeface="Courier New"/>
                <a:sym typeface="Courier New"/>
              </a:rPr>
              <a:t>${</a:t>
            </a:r>
            <a:r>
              <a:rPr lang="en" sz="1000">
                <a:solidFill>
                  <a:srgbClr val="FFA657"/>
                </a:solidFill>
                <a:highlight>
                  <a:srgbClr val="121314"/>
                </a:highlight>
                <a:latin typeface="Courier New"/>
                <a:ea typeface="Courier New"/>
                <a:cs typeface="Courier New"/>
                <a:sym typeface="Courier New"/>
              </a:rPr>
              <a:t>score</a:t>
            </a:r>
            <a:r>
              <a:rPr lang="en" sz="1000">
                <a:solidFill>
                  <a:srgbClr val="569CD6"/>
                </a:solidFill>
                <a:highlight>
                  <a:srgbClr val="121314"/>
                </a:highlight>
                <a:latin typeface="Courier New"/>
                <a:ea typeface="Courier New"/>
                <a:cs typeface="Courier New"/>
                <a:sym typeface="Courier New"/>
              </a:rPr>
              <a:t>}</a:t>
            </a:r>
            <a:r>
              <a:rPr lang="en" sz="1000">
                <a:solidFill>
                  <a:srgbClr val="A5D6FF"/>
                </a:solidFill>
                <a:highlight>
                  <a:srgbClr val="121314"/>
                </a:highlight>
                <a:latin typeface="Courier New"/>
                <a:ea typeface="Courier New"/>
                <a:cs typeface="Courier New"/>
                <a:sym typeface="Courier New"/>
              </a:rPr>
              <a:t>: Grade A`</a:t>
            </a: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 } </a:t>
            </a:r>
            <a:r>
              <a:rPr lang="en" sz="1000">
                <a:solidFill>
                  <a:srgbClr val="C586C0"/>
                </a:solidFill>
                <a:highlight>
                  <a:srgbClr val="121314"/>
                </a:highlight>
                <a:latin typeface="Courier New"/>
                <a:ea typeface="Courier New"/>
                <a:cs typeface="Courier New"/>
                <a:sym typeface="Courier New"/>
              </a:rPr>
              <a:t>else</a:t>
            </a:r>
            <a:r>
              <a:rPr lang="en" sz="1000">
                <a:solidFill>
                  <a:srgbClr val="C9D1D9"/>
                </a:solidFill>
                <a:highlight>
                  <a:srgbClr val="121314"/>
                </a:highlight>
                <a:latin typeface="Courier New"/>
                <a:ea typeface="Courier New"/>
                <a:cs typeface="Courier New"/>
                <a:sym typeface="Courier New"/>
              </a:rPr>
              <a:t> {</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console</a:t>
            </a:r>
            <a:r>
              <a:rPr lang="en" sz="1000">
                <a:solidFill>
                  <a:srgbClr val="C9D1D9"/>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C9D1D9"/>
                </a:solidFill>
                <a:highlight>
                  <a:srgbClr val="121314"/>
                </a:highlight>
                <a:latin typeface="Courier New"/>
                <a:ea typeface="Courier New"/>
                <a:cs typeface="Courier New"/>
                <a:sym typeface="Courier New"/>
              </a:rPr>
              <a:t>(</a:t>
            </a:r>
            <a:r>
              <a:rPr lang="en" sz="1000">
                <a:solidFill>
                  <a:srgbClr val="A5D6FF"/>
                </a:solidFill>
                <a:highlight>
                  <a:srgbClr val="121314"/>
                </a:highlight>
                <a:latin typeface="Courier New"/>
                <a:ea typeface="Courier New"/>
                <a:cs typeface="Courier New"/>
                <a:sym typeface="Courier New"/>
              </a:rPr>
              <a:t>`Score </a:t>
            </a:r>
            <a:r>
              <a:rPr lang="en" sz="1000">
                <a:solidFill>
                  <a:srgbClr val="569CD6"/>
                </a:solidFill>
                <a:highlight>
                  <a:srgbClr val="121314"/>
                </a:highlight>
                <a:latin typeface="Courier New"/>
                <a:ea typeface="Courier New"/>
                <a:cs typeface="Courier New"/>
                <a:sym typeface="Courier New"/>
              </a:rPr>
              <a:t>${</a:t>
            </a:r>
            <a:r>
              <a:rPr lang="en" sz="1000">
                <a:solidFill>
                  <a:srgbClr val="FFA657"/>
                </a:solidFill>
                <a:highlight>
                  <a:srgbClr val="121314"/>
                </a:highlight>
                <a:latin typeface="Courier New"/>
                <a:ea typeface="Courier New"/>
                <a:cs typeface="Courier New"/>
                <a:sym typeface="Courier New"/>
              </a:rPr>
              <a:t>score</a:t>
            </a:r>
            <a:r>
              <a:rPr lang="en" sz="1000">
                <a:solidFill>
                  <a:srgbClr val="569CD6"/>
                </a:solidFill>
                <a:highlight>
                  <a:srgbClr val="121314"/>
                </a:highlight>
                <a:latin typeface="Courier New"/>
                <a:ea typeface="Courier New"/>
                <a:cs typeface="Courier New"/>
                <a:sym typeface="Courier New"/>
              </a:rPr>
              <a:t>}</a:t>
            </a:r>
            <a:r>
              <a:rPr lang="en" sz="1000">
                <a:solidFill>
                  <a:srgbClr val="A5D6FF"/>
                </a:solidFill>
                <a:highlight>
                  <a:srgbClr val="121314"/>
                </a:highlight>
                <a:latin typeface="Courier New"/>
                <a:ea typeface="Courier New"/>
                <a:cs typeface="Courier New"/>
                <a:sym typeface="Courier New"/>
              </a:rPr>
              <a:t>: Grade B`</a:t>
            </a: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 }</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Pass a single element using its subscript/index 'scores[0]'</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D2A8FF"/>
                </a:solidFill>
                <a:highlight>
                  <a:srgbClr val="121314"/>
                </a:highlight>
                <a:latin typeface="Courier New"/>
                <a:ea typeface="Courier New"/>
                <a:cs typeface="Courier New"/>
                <a:sym typeface="Courier New"/>
              </a:rPr>
              <a:t>printGrade</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scores</a:t>
            </a:r>
            <a:r>
              <a:rPr lang="en" sz="1000">
                <a:solidFill>
                  <a:srgbClr val="BBBEBF"/>
                </a:solidFill>
                <a:highlight>
                  <a:srgbClr val="121314"/>
                </a:highlight>
                <a:latin typeface="Courier New"/>
                <a:ea typeface="Courier New"/>
                <a:cs typeface="Courier New"/>
                <a:sym typeface="Courier New"/>
              </a:rPr>
              <a:t>[</a:t>
            </a:r>
            <a:r>
              <a:rPr lang="en" sz="1000">
                <a:solidFill>
                  <a:srgbClr val="B5CEA8"/>
                </a:solidFill>
                <a:highlight>
                  <a:srgbClr val="121314"/>
                </a:highlight>
                <a:latin typeface="Courier New"/>
                <a:ea typeface="Courier New"/>
                <a:cs typeface="Courier New"/>
                <a:sym typeface="Courier New"/>
              </a:rPr>
              <a:t>0</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Output: Score 95: Grade A</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D2A8FF"/>
                </a:solidFill>
                <a:highlight>
                  <a:srgbClr val="121314"/>
                </a:highlight>
                <a:latin typeface="Courier New"/>
                <a:ea typeface="Courier New"/>
                <a:cs typeface="Courier New"/>
                <a:sym typeface="Courier New"/>
              </a:rPr>
              <a:t>printGrade</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scores</a:t>
            </a:r>
            <a:r>
              <a:rPr lang="en" sz="1000">
                <a:solidFill>
                  <a:srgbClr val="BBBEBF"/>
                </a:solidFill>
                <a:highlight>
                  <a:srgbClr val="121314"/>
                </a:highlight>
                <a:latin typeface="Courier New"/>
                <a:ea typeface="Courier New"/>
                <a:cs typeface="Courier New"/>
                <a:sym typeface="Courier New"/>
              </a:rPr>
              <a:t>[</a:t>
            </a:r>
            <a:r>
              <a:rPr lang="en" sz="1000">
                <a:solidFill>
                  <a:srgbClr val="B5CEA8"/>
                </a:solidFill>
                <a:highlight>
                  <a:srgbClr val="121314"/>
                </a:highlight>
                <a:latin typeface="Courier New"/>
                <a:ea typeface="Courier New"/>
                <a:cs typeface="Courier New"/>
                <a:sym typeface="Courier New"/>
              </a:rPr>
              <a:t>1</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Output: Score 82: Grade B</a:t>
            </a:r>
            <a:endParaRPr sz="1000">
              <a:solidFill>
                <a:srgbClr val="8B949E"/>
              </a:solidFill>
              <a:highlight>
                <a:srgbClr val="121314"/>
              </a:highlight>
              <a:latin typeface="Courier New"/>
              <a:ea typeface="Courier New"/>
              <a:cs typeface="Courier New"/>
              <a:sym typeface="Courier New"/>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8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Default Sort Mechanics</a:t>
            </a:r>
            <a:endParaRPr/>
          </a:p>
        </p:txBody>
      </p:sp>
      <p:sp>
        <p:nvSpPr>
          <p:cNvPr id="599" name="Google Shape;599;p8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72</a:t>
            </a:fld>
            <a:endParaRPr/>
          </a:p>
        </p:txBody>
      </p:sp>
      <p:sp>
        <p:nvSpPr>
          <p:cNvPr id="600" name="Google Shape;600;p83"/>
          <p:cNvSpPr txBox="1">
            <a:spLocks noGrp="1"/>
          </p:cNvSpPr>
          <p:nvPr>
            <p:ph type="body" idx="1"/>
          </p:nvPr>
        </p:nvSpPr>
        <p:spPr>
          <a:xfrm>
            <a:off x="311700" y="1152475"/>
            <a:ext cx="3999900" cy="16866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a:t>UTF-16 Code Unit Order</a:t>
            </a:r>
            <a:endParaRPr/>
          </a:p>
          <a:p>
            <a:pPr marL="457200" lvl="0" indent="-317500" algn="l" rtl="0">
              <a:spcBef>
                <a:spcPts val="0"/>
              </a:spcBef>
              <a:spcAft>
                <a:spcPts val="0"/>
              </a:spcAft>
              <a:buSzPts val="1400"/>
              <a:buChar char="●"/>
            </a:pPr>
            <a:r>
              <a:rPr lang="en"/>
              <a:t>Array.prototype.sort() converts array elements to strings by default and orders them based on UTF-16 code units. This works seamlessly for alphabetical strings like ['banana', 'apple'].</a:t>
            </a:r>
            <a:endParaRPr/>
          </a:p>
        </p:txBody>
      </p:sp>
      <p:sp>
        <p:nvSpPr>
          <p:cNvPr id="601" name="Google Shape;601;p83"/>
          <p:cNvSpPr txBox="1">
            <a:spLocks noGrp="1"/>
          </p:cNvSpPr>
          <p:nvPr>
            <p:ph type="body" idx="2"/>
          </p:nvPr>
        </p:nvSpPr>
        <p:spPr>
          <a:xfrm>
            <a:off x="4832400" y="1152475"/>
            <a:ext cx="3999900" cy="14676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a:t>The Numeric Paradox</a:t>
            </a:r>
            <a:endParaRPr/>
          </a:p>
          <a:p>
            <a:pPr marL="457200" lvl="0" indent="-317500" algn="l" rtl="0">
              <a:spcBef>
                <a:spcPts val="0"/>
              </a:spcBef>
              <a:spcAft>
                <a:spcPts val="0"/>
              </a:spcAft>
              <a:buSzPts val="1400"/>
              <a:buChar char="●"/>
            </a:pPr>
            <a:r>
              <a:rPr lang="en"/>
              <a:t>Calling [10, 5, 20].sort() results in [10, 20, 5] because string "10" comes before "5". Sorting numbers strictly requires passing a comparator callback function.</a:t>
            </a:r>
            <a:endParaRPr/>
          </a:p>
        </p:txBody>
      </p:sp>
      <p:sp>
        <p:nvSpPr>
          <p:cNvPr id="602" name="Google Shape;602;p83"/>
          <p:cNvSpPr txBox="1"/>
          <p:nvPr/>
        </p:nvSpPr>
        <p:spPr>
          <a:xfrm>
            <a:off x="360600" y="3011925"/>
            <a:ext cx="3902100" cy="11595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fruits</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'Banana'</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'Cherry'</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'Apple'</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fruits</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sort</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fruits</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Output: ['Apple', 'Banana', 'Cherry'] (Alphabetical)</a:t>
            </a:r>
            <a:endParaRPr sz="1000">
              <a:solidFill>
                <a:srgbClr val="8B949E"/>
              </a:solidFill>
              <a:highlight>
                <a:srgbClr val="121314"/>
              </a:highlight>
              <a:latin typeface="Courier New"/>
              <a:ea typeface="Courier New"/>
              <a:cs typeface="Courier New"/>
              <a:sym typeface="Courier New"/>
            </a:endParaRPr>
          </a:p>
        </p:txBody>
      </p:sp>
      <p:sp>
        <p:nvSpPr>
          <p:cNvPr id="603" name="Google Shape;603;p83"/>
          <p:cNvSpPr txBox="1"/>
          <p:nvPr/>
        </p:nvSpPr>
        <p:spPr>
          <a:xfrm>
            <a:off x="5117225" y="2704125"/>
            <a:ext cx="3750300" cy="17751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 Numbers: Surprising default behavior ---</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numbers</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40</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100</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1</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5</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25</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numbers</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sort</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79C0FF"/>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79C0FF"/>
                </a:solidFill>
                <a:highlight>
                  <a:srgbClr val="121314"/>
                </a:highlight>
                <a:latin typeface="Courier New"/>
                <a:ea typeface="Courier New"/>
                <a:cs typeface="Courier New"/>
                <a:sym typeface="Courier New"/>
              </a:rPr>
              <a:t>numbers</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Output: [1, 100, 25, 40, 5]</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 Why? "100" comes before "25" because "1" &lt; "2" in string comparison!</a:t>
            </a:r>
            <a:endParaRPr sz="1000">
              <a:solidFill>
                <a:srgbClr val="8B949E"/>
              </a:solidFill>
              <a:highlight>
                <a:srgbClr val="121314"/>
              </a:highlight>
              <a:latin typeface="Courier New"/>
              <a:ea typeface="Courier New"/>
              <a:cs typeface="Courier New"/>
              <a:sym typeface="Courier New"/>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8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Custom Comparator Rules</a:t>
            </a:r>
            <a:endParaRPr/>
          </a:p>
        </p:txBody>
      </p:sp>
      <p:sp>
        <p:nvSpPr>
          <p:cNvPr id="609" name="Google Shape;609;p8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a:t>Comparator Mechanics</a:t>
            </a:r>
            <a:endParaRPr/>
          </a:p>
          <a:p>
            <a:pPr marL="914400" lvl="1" indent="-317500" algn="l" rtl="0">
              <a:spcBef>
                <a:spcPts val="0"/>
              </a:spcBef>
              <a:spcAft>
                <a:spcPts val="0"/>
              </a:spcAft>
              <a:buSzPts val="1400"/>
              <a:buChar char="○"/>
            </a:pPr>
            <a:r>
              <a:rPr lang="en"/>
              <a:t>Based on return value of comparator:</a:t>
            </a:r>
            <a:endParaRPr/>
          </a:p>
          <a:p>
            <a:pPr marL="1371600" lvl="2" indent="-317500" algn="l" rtl="0">
              <a:spcBef>
                <a:spcPts val="0"/>
              </a:spcBef>
              <a:spcAft>
                <a:spcPts val="0"/>
              </a:spcAft>
              <a:buSzPts val="1400"/>
              <a:buChar char="■"/>
            </a:pPr>
            <a:r>
              <a:rPr lang="en"/>
              <a:t>&gt; 0: sort a after b, e.g., [b, a]</a:t>
            </a:r>
            <a:endParaRPr/>
          </a:p>
          <a:p>
            <a:pPr marL="1371600" lvl="2" indent="-317500" algn="l" rtl="0">
              <a:spcBef>
                <a:spcPts val="0"/>
              </a:spcBef>
              <a:spcAft>
                <a:spcPts val="0"/>
              </a:spcAft>
              <a:buSzPts val="1400"/>
              <a:buChar char="■"/>
            </a:pPr>
            <a:r>
              <a:rPr lang="en"/>
              <a:t>&lt; 0: sort a before b, e.g., [a, b]</a:t>
            </a:r>
            <a:endParaRPr/>
          </a:p>
          <a:p>
            <a:pPr marL="1371600" lvl="2" indent="-317500" algn="l" rtl="0">
              <a:spcBef>
                <a:spcPts val="0"/>
              </a:spcBef>
              <a:spcAft>
                <a:spcPts val="0"/>
              </a:spcAft>
              <a:buSzPts val="1400"/>
              <a:buChar char="■"/>
            </a:pPr>
            <a:r>
              <a:rPr lang="en"/>
              <a:t>=== 0: keep original order of a and b</a:t>
            </a:r>
            <a:endParaRPr/>
          </a:p>
          <a:p>
            <a:pPr marL="914400" lvl="1" indent="-317500" algn="l" rtl="0">
              <a:spcBef>
                <a:spcPts val="0"/>
              </a:spcBef>
              <a:spcAft>
                <a:spcPts val="0"/>
              </a:spcAft>
              <a:buSzPts val="1400"/>
              <a:buChar char="○"/>
            </a:pPr>
            <a:r>
              <a:rPr lang="en"/>
              <a:t>Passing (a, b) =&gt; a - b instructs JavaScript to sort numbers in ascending order. Negative return values place a before b. </a:t>
            </a:r>
            <a:endParaRPr/>
          </a:p>
          <a:p>
            <a:pPr marL="914400" lvl="1" indent="-317500" algn="l" rtl="0">
              <a:spcBef>
                <a:spcPts val="0"/>
              </a:spcBef>
              <a:spcAft>
                <a:spcPts val="0"/>
              </a:spcAft>
              <a:buSzPts val="1400"/>
              <a:buChar char="○"/>
            </a:pPr>
            <a:r>
              <a:rPr lang="en"/>
              <a:t>Reversing the subtraction to (a, b) =&gt; b - a seamlessly produces a descending order array.</a:t>
            </a:r>
            <a:endParaRPr/>
          </a:p>
          <a:p>
            <a:pPr marL="914400" lvl="1" indent="-317500" algn="l" rtl="0">
              <a:spcBef>
                <a:spcPts val="0"/>
              </a:spcBef>
              <a:spcAft>
                <a:spcPts val="0"/>
              </a:spcAft>
              <a:buSzPts val="1400"/>
              <a:buChar char="○"/>
            </a:pPr>
            <a:r>
              <a:rPr lang="en"/>
              <a:t>Numeric</a:t>
            </a:r>
            <a:endParaRPr/>
          </a:p>
          <a:p>
            <a:pPr marL="1371600" lvl="2" indent="-317500" algn="l" rtl="0">
              <a:spcBef>
                <a:spcPts val="0"/>
              </a:spcBef>
              <a:spcAft>
                <a:spcPts val="0"/>
              </a:spcAft>
              <a:buSzPts val="1400"/>
              <a:buChar char="■"/>
            </a:pPr>
            <a:r>
              <a:rPr lang="en"/>
              <a:t>a - b = Ascending (A to Z)</a:t>
            </a:r>
            <a:endParaRPr/>
          </a:p>
          <a:p>
            <a:pPr marL="1371600" lvl="2" indent="-317500" algn="l" rtl="0">
              <a:spcBef>
                <a:spcPts val="0"/>
              </a:spcBef>
              <a:spcAft>
                <a:spcPts val="0"/>
              </a:spcAft>
              <a:buSzPts val="1400"/>
              <a:buChar char="■"/>
            </a:pPr>
            <a:r>
              <a:rPr lang="en"/>
              <a:t>b - a = Descending (Z to A)</a:t>
            </a:r>
            <a:endParaRPr/>
          </a:p>
          <a:p>
            <a:pPr marL="914400" lvl="1" indent="-317500" algn="l" rtl="0">
              <a:spcBef>
                <a:spcPts val="0"/>
              </a:spcBef>
              <a:spcAft>
                <a:spcPts val="0"/>
              </a:spcAft>
              <a:buSzPts val="1400"/>
              <a:buChar char="○"/>
            </a:pPr>
            <a:r>
              <a:rPr lang="en"/>
              <a:t>String</a:t>
            </a:r>
            <a:endParaRPr/>
          </a:p>
          <a:p>
            <a:pPr marL="1371600" lvl="2" indent="-317500" algn="l" rtl="0">
              <a:spcBef>
                <a:spcPts val="0"/>
              </a:spcBef>
              <a:spcAft>
                <a:spcPts val="0"/>
              </a:spcAft>
              <a:buSzPts val="1400"/>
              <a:buChar char="■"/>
            </a:pPr>
            <a:r>
              <a:rPr lang="en"/>
              <a:t>a.localeCompare(b) = Ascending (A to Z)</a:t>
            </a:r>
            <a:endParaRPr/>
          </a:p>
          <a:p>
            <a:pPr marL="1371600" lvl="2" indent="-317500" algn="l" rtl="0">
              <a:spcBef>
                <a:spcPts val="0"/>
              </a:spcBef>
              <a:spcAft>
                <a:spcPts val="0"/>
              </a:spcAft>
              <a:buSzPts val="1400"/>
              <a:buChar char="■"/>
            </a:pPr>
            <a:r>
              <a:rPr lang="en"/>
              <a:t>b.localCompare(a) = Descending (Z to A)</a:t>
            </a:r>
            <a:endParaRPr/>
          </a:p>
        </p:txBody>
      </p:sp>
      <p:sp>
        <p:nvSpPr>
          <p:cNvPr id="610" name="Google Shape;610;p8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73</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8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Custom Comparator Examples</a:t>
            </a:r>
            <a:endParaRPr/>
          </a:p>
        </p:txBody>
      </p:sp>
      <p:sp>
        <p:nvSpPr>
          <p:cNvPr id="616" name="Google Shape;616;p8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74</a:t>
            </a:fld>
            <a:endParaRPr/>
          </a:p>
        </p:txBody>
      </p:sp>
      <p:sp>
        <p:nvSpPr>
          <p:cNvPr id="617" name="Google Shape;617;p85"/>
          <p:cNvSpPr txBox="1"/>
          <p:nvPr/>
        </p:nvSpPr>
        <p:spPr>
          <a:xfrm>
            <a:off x="311700" y="1174175"/>
            <a:ext cx="4451400" cy="38274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Rule: (a, b) =&gt; result</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Return &lt; 0  -&gt;  a comes FIRST</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Return &gt; 0  -&gt;  b comes FIRST</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Return 0   -&gt;  keep original order</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numbers</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40</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100</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1</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5</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25</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1. Ascending Order (Smallest -&gt; Largest)</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numbers</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sort</a:t>
            </a:r>
            <a:r>
              <a:rPr lang="en" sz="1000">
                <a:solidFill>
                  <a:srgbClr val="BBBEBF"/>
                </a:solidFill>
                <a:highlight>
                  <a:srgbClr val="121314"/>
                </a:highlight>
                <a:latin typeface="Courier New"/>
                <a:ea typeface="Courier New"/>
                <a:cs typeface="Courier New"/>
                <a:sym typeface="Courier New"/>
              </a:rPr>
              <a:t>((</a:t>
            </a:r>
            <a:r>
              <a:rPr lang="en" sz="1000">
                <a:solidFill>
                  <a:srgbClr val="FFA657"/>
                </a:solidFill>
                <a:highlight>
                  <a:srgbClr val="121314"/>
                </a:highlight>
                <a:latin typeface="Courier New"/>
                <a:ea typeface="Courier New"/>
                <a:cs typeface="Courier New"/>
                <a:sym typeface="Courier New"/>
              </a:rPr>
              <a:t>a</a:t>
            </a:r>
            <a:r>
              <a:rPr lang="en" sz="1000">
                <a:solidFill>
                  <a:srgbClr val="BBBEBF"/>
                </a:solidFill>
                <a:highlight>
                  <a:srgbClr val="121314"/>
                </a:highlight>
                <a:latin typeface="Courier New"/>
                <a:ea typeface="Courier New"/>
                <a:cs typeface="Courier New"/>
                <a:sym typeface="Courier New"/>
              </a:rPr>
              <a:t>, </a:t>
            </a:r>
            <a:r>
              <a:rPr lang="en" sz="1000">
                <a:solidFill>
                  <a:srgbClr val="FFA657"/>
                </a:solidFill>
                <a:highlight>
                  <a:srgbClr val="121314"/>
                </a:highlight>
                <a:latin typeface="Courier New"/>
                <a:ea typeface="Courier New"/>
                <a:cs typeface="Courier New"/>
                <a:sym typeface="Courier New"/>
              </a:rPr>
              <a:t>b</a:t>
            </a:r>
            <a:r>
              <a:rPr lang="en" sz="1000">
                <a:solidFill>
                  <a:srgbClr val="BBBEBF"/>
                </a:solidFill>
                <a:highlight>
                  <a:srgbClr val="121314"/>
                </a:highlight>
                <a:latin typeface="Courier New"/>
                <a:ea typeface="Courier New"/>
                <a:cs typeface="Courier New"/>
                <a:sym typeface="Courier New"/>
              </a:rPr>
              <a:t>) </a:t>
            </a:r>
            <a:r>
              <a:rPr lang="en" sz="1000">
                <a:solidFill>
                  <a:srgbClr val="FF7B72"/>
                </a:solidFill>
                <a:highlight>
                  <a:srgbClr val="121314"/>
                </a:highlight>
                <a:latin typeface="Courier New"/>
                <a:ea typeface="Courier New"/>
                <a:cs typeface="Courier New"/>
                <a:sym typeface="Courier New"/>
              </a:rPr>
              <a:t>=&gt;</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a</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b</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numbers</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2. Descending Order (Largest -&gt; Smallest)</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numbers</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sort</a:t>
            </a:r>
            <a:r>
              <a:rPr lang="en" sz="1000">
                <a:solidFill>
                  <a:srgbClr val="BBBEBF"/>
                </a:solidFill>
                <a:highlight>
                  <a:srgbClr val="121314"/>
                </a:highlight>
                <a:latin typeface="Courier New"/>
                <a:ea typeface="Courier New"/>
                <a:cs typeface="Courier New"/>
                <a:sym typeface="Courier New"/>
              </a:rPr>
              <a:t>((</a:t>
            </a:r>
            <a:r>
              <a:rPr lang="en" sz="1000">
                <a:solidFill>
                  <a:srgbClr val="FFA657"/>
                </a:solidFill>
                <a:highlight>
                  <a:srgbClr val="121314"/>
                </a:highlight>
                <a:latin typeface="Courier New"/>
                <a:ea typeface="Courier New"/>
                <a:cs typeface="Courier New"/>
                <a:sym typeface="Courier New"/>
              </a:rPr>
              <a:t>a</a:t>
            </a:r>
            <a:r>
              <a:rPr lang="en" sz="1000">
                <a:solidFill>
                  <a:srgbClr val="BBBEBF"/>
                </a:solidFill>
                <a:highlight>
                  <a:srgbClr val="121314"/>
                </a:highlight>
                <a:latin typeface="Courier New"/>
                <a:ea typeface="Courier New"/>
                <a:cs typeface="Courier New"/>
                <a:sym typeface="Courier New"/>
              </a:rPr>
              <a:t>, </a:t>
            </a:r>
            <a:r>
              <a:rPr lang="en" sz="1000">
                <a:solidFill>
                  <a:srgbClr val="FFA657"/>
                </a:solidFill>
                <a:highlight>
                  <a:srgbClr val="121314"/>
                </a:highlight>
                <a:latin typeface="Courier New"/>
                <a:ea typeface="Courier New"/>
                <a:cs typeface="Courier New"/>
                <a:sym typeface="Courier New"/>
              </a:rPr>
              <a:t>b</a:t>
            </a:r>
            <a:r>
              <a:rPr lang="en" sz="1000">
                <a:solidFill>
                  <a:srgbClr val="BBBEBF"/>
                </a:solidFill>
                <a:highlight>
                  <a:srgbClr val="121314"/>
                </a:highlight>
                <a:latin typeface="Courier New"/>
                <a:ea typeface="Courier New"/>
                <a:cs typeface="Courier New"/>
                <a:sym typeface="Courier New"/>
              </a:rPr>
              <a:t>) </a:t>
            </a:r>
            <a:r>
              <a:rPr lang="en" sz="1000">
                <a:solidFill>
                  <a:srgbClr val="FF7B72"/>
                </a:solidFill>
                <a:highlight>
                  <a:srgbClr val="121314"/>
                </a:highlight>
                <a:latin typeface="Courier New"/>
                <a:ea typeface="Courier New"/>
                <a:cs typeface="Courier New"/>
                <a:sym typeface="Courier New"/>
              </a:rPr>
              <a:t>=&gt;</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b</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a</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numbers</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3. Custom Rule: Sort objects by numeric property</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users</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 </a:t>
            </a:r>
            <a:r>
              <a:rPr lang="en" sz="1000">
                <a:solidFill>
                  <a:srgbClr val="9CDCFE"/>
                </a:solidFill>
                <a:highlight>
                  <a:srgbClr val="121314"/>
                </a:highlight>
                <a:latin typeface="Courier New"/>
                <a:ea typeface="Courier New"/>
                <a:cs typeface="Courier New"/>
                <a:sym typeface="Courier New"/>
              </a:rPr>
              <a:t>age:</a:t>
            </a:r>
            <a:r>
              <a:rPr lang="en" sz="1000">
                <a:solidFill>
                  <a:srgbClr val="C9D1D9"/>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30</a:t>
            </a:r>
            <a:r>
              <a:rPr lang="en" sz="1000">
                <a:solidFill>
                  <a:srgbClr val="C9D1D9"/>
                </a:solidFill>
                <a:highlight>
                  <a:srgbClr val="121314"/>
                </a:highlight>
                <a:latin typeface="Courier New"/>
                <a:ea typeface="Courier New"/>
                <a:cs typeface="Courier New"/>
                <a:sym typeface="Courier New"/>
              </a:rPr>
              <a:t> </a:t>
            </a:r>
            <a:r>
              <a:rPr lang="en" sz="1000">
                <a:solidFill>
                  <a:srgbClr val="BBBEBF"/>
                </a:solidFill>
                <a:highlight>
                  <a:srgbClr val="121314"/>
                </a:highlight>
                <a:latin typeface="Courier New"/>
                <a:ea typeface="Courier New"/>
                <a:cs typeface="Courier New"/>
                <a:sym typeface="Courier New"/>
              </a:rPr>
              <a:t>}, { </a:t>
            </a:r>
            <a:r>
              <a:rPr lang="en" sz="1000">
                <a:solidFill>
                  <a:srgbClr val="9CDCFE"/>
                </a:solidFill>
                <a:highlight>
                  <a:srgbClr val="121314"/>
                </a:highlight>
                <a:latin typeface="Courier New"/>
                <a:ea typeface="Courier New"/>
                <a:cs typeface="Courier New"/>
                <a:sym typeface="Courier New"/>
              </a:rPr>
              <a:t>age:</a:t>
            </a:r>
            <a:r>
              <a:rPr lang="en" sz="1000">
                <a:solidFill>
                  <a:srgbClr val="C9D1D9"/>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20</a:t>
            </a:r>
            <a:r>
              <a:rPr lang="en" sz="1000">
                <a:solidFill>
                  <a:srgbClr val="C9D1D9"/>
                </a:solidFill>
                <a:highlight>
                  <a:srgbClr val="121314"/>
                </a:highlight>
                <a:latin typeface="Courier New"/>
                <a:ea typeface="Courier New"/>
                <a:cs typeface="Courier New"/>
                <a:sym typeface="Courier New"/>
              </a:rPr>
              <a:t> </a:t>
            </a:r>
            <a:r>
              <a:rPr lang="en" sz="1000">
                <a:solidFill>
                  <a:srgbClr val="BBBEBF"/>
                </a:solidFill>
                <a:highlight>
                  <a:srgbClr val="121314"/>
                </a:highlight>
                <a:latin typeface="Courier New"/>
                <a:ea typeface="Courier New"/>
                <a:cs typeface="Courier New"/>
                <a:sym typeface="Courier New"/>
              </a:rPr>
              <a:t>}, { </a:t>
            </a:r>
            <a:r>
              <a:rPr lang="en" sz="1000">
                <a:solidFill>
                  <a:srgbClr val="9CDCFE"/>
                </a:solidFill>
                <a:highlight>
                  <a:srgbClr val="121314"/>
                </a:highlight>
                <a:latin typeface="Courier New"/>
                <a:ea typeface="Courier New"/>
                <a:cs typeface="Courier New"/>
                <a:sym typeface="Courier New"/>
              </a:rPr>
              <a:t>age:</a:t>
            </a:r>
            <a:r>
              <a:rPr lang="en" sz="1000">
                <a:solidFill>
                  <a:srgbClr val="C9D1D9"/>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25</a:t>
            </a:r>
            <a:r>
              <a:rPr lang="en" sz="1000">
                <a:solidFill>
                  <a:srgbClr val="C9D1D9"/>
                </a:solidFill>
                <a:highlight>
                  <a:srgbClr val="121314"/>
                </a:highlight>
                <a:latin typeface="Courier New"/>
                <a:ea typeface="Courier New"/>
                <a:cs typeface="Courier New"/>
                <a:sym typeface="Courier New"/>
              </a:rPr>
              <a:t> </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users</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sort</a:t>
            </a:r>
            <a:r>
              <a:rPr lang="en" sz="1000">
                <a:solidFill>
                  <a:srgbClr val="BBBEBF"/>
                </a:solidFill>
                <a:highlight>
                  <a:srgbClr val="121314"/>
                </a:highlight>
                <a:latin typeface="Courier New"/>
                <a:ea typeface="Courier New"/>
                <a:cs typeface="Courier New"/>
                <a:sym typeface="Courier New"/>
              </a:rPr>
              <a:t>((</a:t>
            </a:r>
            <a:r>
              <a:rPr lang="en" sz="1000">
                <a:solidFill>
                  <a:srgbClr val="FFA657"/>
                </a:solidFill>
                <a:highlight>
                  <a:srgbClr val="121314"/>
                </a:highlight>
                <a:latin typeface="Courier New"/>
                <a:ea typeface="Courier New"/>
                <a:cs typeface="Courier New"/>
                <a:sym typeface="Courier New"/>
              </a:rPr>
              <a:t>a</a:t>
            </a:r>
            <a:r>
              <a:rPr lang="en" sz="1000">
                <a:solidFill>
                  <a:srgbClr val="BBBEBF"/>
                </a:solidFill>
                <a:highlight>
                  <a:srgbClr val="121314"/>
                </a:highlight>
                <a:latin typeface="Courier New"/>
                <a:ea typeface="Courier New"/>
                <a:cs typeface="Courier New"/>
                <a:sym typeface="Courier New"/>
              </a:rPr>
              <a:t>, </a:t>
            </a:r>
            <a:r>
              <a:rPr lang="en" sz="1000">
                <a:solidFill>
                  <a:srgbClr val="FFA657"/>
                </a:solidFill>
                <a:highlight>
                  <a:srgbClr val="121314"/>
                </a:highlight>
                <a:latin typeface="Courier New"/>
                <a:ea typeface="Courier New"/>
                <a:cs typeface="Courier New"/>
                <a:sym typeface="Courier New"/>
              </a:rPr>
              <a:t>b</a:t>
            </a:r>
            <a:r>
              <a:rPr lang="en" sz="1000">
                <a:solidFill>
                  <a:srgbClr val="BBBEBF"/>
                </a:solidFill>
                <a:highlight>
                  <a:srgbClr val="121314"/>
                </a:highlight>
                <a:latin typeface="Courier New"/>
                <a:ea typeface="Courier New"/>
                <a:cs typeface="Courier New"/>
                <a:sym typeface="Courier New"/>
              </a:rPr>
              <a:t>) </a:t>
            </a:r>
            <a:r>
              <a:rPr lang="en" sz="1000">
                <a:solidFill>
                  <a:srgbClr val="FF7B72"/>
                </a:solidFill>
                <a:highlight>
                  <a:srgbClr val="121314"/>
                </a:highlight>
                <a:latin typeface="Courier New"/>
                <a:ea typeface="Courier New"/>
                <a:cs typeface="Courier New"/>
                <a:sym typeface="Courier New"/>
              </a:rPr>
              <a:t>=&gt;</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a</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age</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b</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age</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users</a:t>
            </a:r>
            <a:r>
              <a:rPr lang="en" sz="1000">
                <a:solidFill>
                  <a:srgbClr val="BBBEBF"/>
                </a:solidFill>
                <a:highlight>
                  <a:srgbClr val="121314"/>
                </a:highlight>
                <a:latin typeface="Courier New"/>
                <a:ea typeface="Courier New"/>
                <a:cs typeface="Courier New"/>
                <a:sym typeface="Courier New"/>
              </a:rPr>
              <a:t>);</a:t>
            </a:r>
            <a:endParaRPr sz="1000">
              <a:solidFill>
                <a:srgbClr val="8B949E"/>
              </a:solidFill>
              <a:highlight>
                <a:srgbClr val="121314"/>
              </a:highlight>
              <a:latin typeface="Courier New"/>
              <a:ea typeface="Courier New"/>
              <a:cs typeface="Courier New"/>
              <a:sym typeface="Courier New"/>
            </a:endParaRPr>
          </a:p>
        </p:txBody>
      </p:sp>
      <p:sp>
        <p:nvSpPr>
          <p:cNvPr id="618" name="Google Shape;618;p85"/>
          <p:cNvSpPr txBox="1"/>
          <p:nvPr/>
        </p:nvSpPr>
        <p:spPr>
          <a:xfrm>
            <a:off x="4977025" y="1171050"/>
            <a:ext cx="3987000" cy="28014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4. String Comparator: Alphabetical Order using .localeCompare()</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fruits</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'Banana'</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'Cherry'</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'Apple'</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A to Z (Ascending)</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fruits</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sort</a:t>
            </a:r>
            <a:r>
              <a:rPr lang="en" sz="1000">
                <a:solidFill>
                  <a:srgbClr val="BBBEBF"/>
                </a:solidFill>
                <a:highlight>
                  <a:srgbClr val="121314"/>
                </a:highlight>
                <a:latin typeface="Courier New"/>
                <a:ea typeface="Courier New"/>
                <a:cs typeface="Courier New"/>
                <a:sym typeface="Courier New"/>
              </a:rPr>
              <a:t>((</a:t>
            </a:r>
            <a:r>
              <a:rPr lang="en" sz="1000">
                <a:solidFill>
                  <a:srgbClr val="FFA657"/>
                </a:solidFill>
                <a:highlight>
                  <a:srgbClr val="121314"/>
                </a:highlight>
                <a:latin typeface="Courier New"/>
                <a:ea typeface="Courier New"/>
                <a:cs typeface="Courier New"/>
                <a:sym typeface="Courier New"/>
              </a:rPr>
              <a:t>a</a:t>
            </a:r>
            <a:r>
              <a:rPr lang="en" sz="1000">
                <a:solidFill>
                  <a:srgbClr val="BBBEBF"/>
                </a:solidFill>
                <a:highlight>
                  <a:srgbClr val="121314"/>
                </a:highlight>
                <a:latin typeface="Courier New"/>
                <a:ea typeface="Courier New"/>
                <a:cs typeface="Courier New"/>
                <a:sym typeface="Courier New"/>
              </a:rPr>
              <a:t>, </a:t>
            </a:r>
            <a:r>
              <a:rPr lang="en" sz="1000">
                <a:solidFill>
                  <a:srgbClr val="FFA657"/>
                </a:solidFill>
                <a:highlight>
                  <a:srgbClr val="121314"/>
                </a:highlight>
                <a:latin typeface="Courier New"/>
                <a:ea typeface="Courier New"/>
                <a:cs typeface="Courier New"/>
                <a:sym typeface="Courier New"/>
              </a:rPr>
              <a:t>b</a:t>
            </a:r>
            <a:r>
              <a:rPr lang="en" sz="1000">
                <a:solidFill>
                  <a:srgbClr val="BBBEBF"/>
                </a:solidFill>
                <a:highlight>
                  <a:srgbClr val="121314"/>
                </a:highlight>
                <a:latin typeface="Courier New"/>
                <a:ea typeface="Courier New"/>
                <a:cs typeface="Courier New"/>
                <a:sym typeface="Courier New"/>
              </a:rPr>
              <a:t>) </a:t>
            </a:r>
            <a:r>
              <a:rPr lang="en" sz="1000">
                <a:solidFill>
                  <a:srgbClr val="FF7B72"/>
                </a:solidFill>
                <a:highlight>
                  <a:srgbClr val="121314"/>
                </a:highlight>
                <a:latin typeface="Courier New"/>
                <a:ea typeface="Courier New"/>
                <a:cs typeface="Courier New"/>
                <a:sym typeface="Courier New"/>
              </a:rPr>
              <a:t>=&gt;</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a</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localeCompare</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b</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fruits</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Output: ['Apple', 'Banana', 'Cherry']</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Z to A (Descending)</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fruits</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sort</a:t>
            </a:r>
            <a:r>
              <a:rPr lang="en" sz="1000">
                <a:solidFill>
                  <a:srgbClr val="BBBEBF"/>
                </a:solidFill>
                <a:highlight>
                  <a:srgbClr val="121314"/>
                </a:highlight>
                <a:latin typeface="Courier New"/>
                <a:ea typeface="Courier New"/>
                <a:cs typeface="Courier New"/>
                <a:sym typeface="Courier New"/>
              </a:rPr>
              <a:t>((</a:t>
            </a:r>
            <a:r>
              <a:rPr lang="en" sz="1000">
                <a:solidFill>
                  <a:srgbClr val="FFA657"/>
                </a:solidFill>
                <a:highlight>
                  <a:srgbClr val="121314"/>
                </a:highlight>
                <a:latin typeface="Courier New"/>
                <a:ea typeface="Courier New"/>
                <a:cs typeface="Courier New"/>
                <a:sym typeface="Courier New"/>
              </a:rPr>
              <a:t>a</a:t>
            </a:r>
            <a:r>
              <a:rPr lang="en" sz="1000">
                <a:solidFill>
                  <a:srgbClr val="BBBEBF"/>
                </a:solidFill>
                <a:highlight>
                  <a:srgbClr val="121314"/>
                </a:highlight>
                <a:latin typeface="Courier New"/>
                <a:ea typeface="Courier New"/>
                <a:cs typeface="Courier New"/>
                <a:sym typeface="Courier New"/>
              </a:rPr>
              <a:t>, </a:t>
            </a:r>
            <a:r>
              <a:rPr lang="en" sz="1000">
                <a:solidFill>
                  <a:srgbClr val="FFA657"/>
                </a:solidFill>
                <a:highlight>
                  <a:srgbClr val="121314"/>
                </a:highlight>
                <a:latin typeface="Courier New"/>
                <a:ea typeface="Courier New"/>
                <a:cs typeface="Courier New"/>
                <a:sym typeface="Courier New"/>
              </a:rPr>
              <a:t>b</a:t>
            </a:r>
            <a:r>
              <a:rPr lang="en" sz="1000">
                <a:solidFill>
                  <a:srgbClr val="BBBEBF"/>
                </a:solidFill>
                <a:highlight>
                  <a:srgbClr val="121314"/>
                </a:highlight>
                <a:latin typeface="Courier New"/>
                <a:ea typeface="Courier New"/>
                <a:cs typeface="Courier New"/>
                <a:sym typeface="Courier New"/>
              </a:rPr>
              <a:t>) </a:t>
            </a:r>
            <a:r>
              <a:rPr lang="en" sz="1000">
                <a:solidFill>
                  <a:srgbClr val="FF7B72"/>
                </a:solidFill>
                <a:highlight>
                  <a:srgbClr val="121314"/>
                </a:highlight>
                <a:latin typeface="Courier New"/>
                <a:ea typeface="Courier New"/>
                <a:cs typeface="Courier New"/>
                <a:sym typeface="Courier New"/>
              </a:rPr>
              <a:t>=&gt;</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b</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localeCompare</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a</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fruits</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Output: ['Cherry', 'Banana', 'Apple']</a:t>
            </a:r>
            <a:endParaRPr sz="1000">
              <a:solidFill>
                <a:srgbClr val="8B949E"/>
              </a:solidFill>
              <a:highlight>
                <a:srgbClr val="121314"/>
              </a:highlight>
              <a:latin typeface="Courier New"/>
              <a:ea typeface="Courier New"/>
              <a:cs typeface="Courier New"/>
              <a:sym typeface="Courier New"/>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8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toSorted() (ES2023)</a:t>
            </a:r>
            <a:endParaRPr/>
          </a:p>
        </p:txBody>
      </p:sp>
      <p:sp>
        <p:nvSpPr>
          <p:cNvPr id="624" name="Google Shape;624;p86"/>
          <p:cNvSpPr txBox="1">
            <a:spLocks noGrp="1"/>
          </p:cNvSpPr>
          <p:nvPr>
            <p:ph type="body" idx="1"/>
          </p:nvPr>
        </p:nvSpPr>
        <p:spPr>
          <a:xfrm>
            <a:off x="311700" y="1152475"/>
            <a:ext cx="8520600" cy="30183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Non-mutating method returning a shallow copy of sorted elements, keeping the original array completely untouched.</a:t>
            </a:r>
            <a:endParaRPr/>
          </a:p>
          <a:p>
            <a:pPr marL="457200" lvl="0" indent="-342900" algn="l" rtl="0">
              <a:spcBef>
                <a:spcPts val="0"/>
              </a:spcBef>
              <a:spcAft>
                <a:spcPts val="0"/>
              </a:spcAft>
              <a:buSzPts val="1800"/>
              <a:buChar char="●"/>
            </a:pPr>
            <a:r>
              <a:rPr lang="en"/>
              <a:t>If not supported, using spread instead: [...array]</a:t>
            </a:r>
            <a:endParaRPr/>
          </a:p>
          <a:p>
            <a:pPr marL="914400" lvl="1" indent="-317500" algn="l" rtl="0">
              <a:spcBef>
                <a:spcPts val="0"/>
              </a:spcBef>
              <a:spcAft>
                <a:spcPts val="0"/>
              </a:spcAft>
              <a:buSzPts val="1400"/>
              <a:buChar char="○"/>
            </a:pPr>
            <a:r>
              <a:rPr lang="en"/>
              <a:t>const users = [{ age: 30 }, { age: 20 }, { age: 25 }]; </a:t>
            </a:r>
            <a:endParaRPr/>
          </a:p>
          <a:p>
            <a:pPr marL="914400" lvl="1" indent="-317500" algn="l" rtl="0">
              <a:spcBef>
                <a:spcPts val="0"/>
              </a:spcBef>
              <a:spcAft>
                <a:spcPts val="0"/>
              </a:spcAft>
              <a:buSzPts val="1400"/>
              <a:buChar char="○"/>
            </a:pPr>
            <a:r>
              <a:rPr lang="en"/>
              <a:t>const sortedUsers = [...users].sort((a, b) =&gt; a.age - b.age);</a:t>
            </a:r>
            <a:endParaRPr/>
          </a:p>
        </p:txBody>
      </p:sp>
      <p:sp>
        <p:nvSpPr>
          <p:cNvPr id="625" name="Google Shape;625;p8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75</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p8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Examples of toSorted() (ES2023)</a:t>
            </a:r>
            <a:endParaRPr/>
          </a:p>
        </p:txBody>
      </p:sp>
      <p:sp>
        <p:nvSpPr>
          <p:cNvPr id="631" name="Google Shape;631;p8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76</a:t>
            </a:fld>
            <a:endParaRPr/>
          </a:p>
        </p:txBody>
      </p:sp>
      <p:sp>
        <p:nvSpPr>
          <p:cNvPr id="632" name="Google Shape;632;p87"/>
          <p:cNvSpPr txBox="1"/>
          <p:nvPr/>
        </p:nvSpPr>
        <p:spPr>
          <a:xfrm>
            <a:off x="771100" y="1156650"/>
            <a:ext cx="5949600" cy="36222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originalNumbers</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40</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100</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1</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5</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25</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--- 2. Modern .toSorted() (NON-MUTATING: Returns a new copy) ---</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sortedArray</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originalNumbers</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toSorted</a:t>
            </a:r>
            <a:r>
              <a:rPr lang="en" sz="1000">
                <a:solidFill>
                  <a:srgbClr val="BBBEBF"/>
                </a:solidFill>
                <a:highlight>
                  <a:srgbClr val="121314"/>
                </a:highlight>
                <a:latin typeface="Courier New"/>
                <a:ea typeface="Courier New"/>
                <a:cs typeface="Courier New"/>
                <a:sym typeface="Courier New"/>
              </a:rPr>
              <a:t>((</a:t>
            </a:r>
            <a:r>
              <a:rPr lang="en" sz="1000">
                <a:solidFill>
                  <a:srgbClr val="FFA657"/>
                </a:solidFill>
                <a:highlight>
                  <a:srgbClr val="121314"/>
                </a:highlight>
                <a:latin typeface="Courier New"/>
                <a:ea typeface="Courier New"/>
                <a:cs typeface="Courier New"/>
                <a:sym typeface="Courier New"/>
              </a:rPr>
              <a:t>a</a:t>
            </a:r>
            <a:r>
              <a:rPr lang="en" sz="1000">
                <a:solidFill>
                  <a:srgbClr val="BBBEBF"/>
                </a:solidFill>
                <a:highlight>
                  <a:srgbClr val="121314"/>
                </a:highlight>
                <a:latin typeface="Courier New"/>
                <a:ea typeface="Courier New"/>
                <a:cs typeface="Courier New"/>
                <a:sym typeface="Courier New"/>
              </a:rPr>
              <a:t>, </a:t>
            </a:r>
            <a:r>
              <a:rPr lang="en" sz="1000">
                <a:solidFill>
                  <a:srgbClr val="FFA657"/>
                </a:solidFill>
                <a:highlight>
                  <a:srgbClr val="121314"/>
                </a:highlight>
                <a:latin typeface="Courier New"/>
                <a:ea typeface="Courier New"/>
                <a:cs typeface="Courier New"/>
                <a:sym typeface="Courier New"/>
              </a:rPr>
              <a:t>b</a:t>
            </a:r>
            <a:r>
              <a:rPr lang="en" sz="1000">
                <a:solidFill>
                  <a:srgbClr val="BBBEBF"/>
                </a:solidFill>
                <a:highlight>
                  <a:srgbClr val="121314"/>
                </a:highlight>
                <a:latin typeface="Courier New"/>
                <a:ea typeface="Courier New"/>
                <a:cs typeface="Courier New"/>
                <a:sym typeface="Courier New"/>
              </a:rPr>
              <a:t>) </a:t>
            </a:r>
            <a:r>
              <a:rPr lang="en" sz="1000">
                <a:solidFill>
                  <a:srgbClr val="FF7B72"/>
                </a:solidFill>
                <a:highlight>
                  <a:srgbClr val="121314"/>
                </a:highlight>
                <a:latin typeface="Courier New"/>
                <a:ea typeface="Courier New"/>
                <a:cs typeface="Courier New"/>
                <a:sym typeface="Courier New"/>
              </a:rPr>
              <a:t>=&gt;</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a</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b</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originalNumbers</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Output: [40, 100, 1, 5, 25] (Original array STAYS INTATCT!)</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sortedArray</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Output: [1, 5, 25, 40, 100] (Brand new sorted array)</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--- 3. Works with Strings &amp; Objects too ---</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fruits</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'Banana'</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'Cherry'</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'Apple'</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sortedFruits</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fruits</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toSorted</a:t>
            </a:r>
            <a:r>
              <a:rPr lang="en" sz="1000">
                <a:solidFill>
                  <a:srgbClr val="BBBEBF"/>
                </a:solidFill>
                <a:highlight>
                  <a:srgbClr val="121314"/>
                </a:highlight>
                <a:latin typeface="Courier New"/>
                <a:ea typeface="Courier New"/>
                <a:cs typeface="Courier New"/>
                <a:sym typeface="Courier New"/>
              </a:rPr>
              <a:t>((</a:t>
            </a:r>
            <a:r>
              <a:rPr lang="en" sz="1000">
                <a:solidFill>
                  <a:srgbClr val="FFA657"/>
                </a:solidFill>
                <a:highlight>
                  <a:srgbClr val="121314"/>
                </a:highlight>
                <a:latin typeface="Courier New"/>
                <a:ea typeface="Courier New"/>
                <a:cs typeface="Courier New"/>
                <a:sym typeface="Courier New"/>
              </a:rPr>
              <a:t>a</a:t>
            </a:r>
            <a:r>
              <a:rPr lang="en" sz="1000">
                <a:solidFill>
                  <a:srgbClr val="BBBEBF"/>
                </a:solidFill>
                <a:highlight>
                  <a:srgbClr val="121314"/>
                </a:highlight>
                <a:latin typeface="Courier New"/>
                <a:ea typeface="Courier New"/>
                <a:cs typeface="Courier New"/>
                <a:sym typeface="Courier New"/>
              </a:rPr>
              <a:t>, </a:t>
            </a:r>
            <a:r>
              <a:rPr lang="en" sz="1000">
                <a:solidFill>
                  <a:srgbClr val="FFA657"/>
                </a:solidFill>
                <a:highlight>
                  <a:srgbClr val="121314"/>
                </a:highlight>
                <a:latin typeface="Courier New"/>
                <a:ea typeface="Courier New"/>
                <a:cs typeface="Courier New"/>
                <a:sym typeface="Courier New"/>
              </a:rPr>
              <a:t>b</a:t>
            </a:r>
            <a:r>
              <a:rPr lang="en" sz="1000">
                <a:solidFill>
                  <a:srgbClr val="BBBEBF"/>
                </a:solidFill>
                <a:highlight>
                  <a:srgbClr val="121314"/>
                </a:highlight>
                <a:latin typeface="Courier New"/>
                <a:ea typeface="Courier New"/>
                <a:cs typeface="Courier New"/>
                <a:sym typeface="Courier New"/>
              </a:rPr>
              <a:t>) </a:t>
            </a:r>
            <a:r>
              <a:rPr lang="en" sz="1000">
                <a:solidFill>
                  <a:srgbClr val="FF7B72"/>
                </a:solidFill>
                <a:highlight>
                  <a:srgbClr val="121314"/>
                </a:highlight>
                <a:latin typeface="Courier New"/>
                <a:ea typeface="Courier New"/>
                <a:cs typeface="Courier New"/>
                <a:sym typeface="Courier New"/>
              </a:rPr>
              <a:t>=&gt;</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a</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localeCompare</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b</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fruits</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Output: ['Banana', 'Cherry', 'Apple']</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sortedFruits</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Output: ['Apple', 'Banana', 'Cherry']</a:t>
            </a:r>
            <a:endParaRPr sz="1000">
              <a:solidFill>
                <a:srgbClr val="8B949E"/>
              </a:solidFill>
              <a:highlight>
                <a:srgbClr val="121314"/>
              </a:highlight>
              <a:latin typeface="Courier New"/>
              <a:ea typeface="Courier New"/>
              <a:cs typeface="Courier New"/>
              <a:sym typeface="Courier New"/>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8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Sorting Arrays of Objects</a:t>
            </a:r>
            <a:endParaRPr/>
          </a:p>
        </p:txBody>
      </p:sp>
      <p:sp>
        <p:nvSpPr>
          <p:cNvPr id="638" name="Google Shape;638;p88"/>
          <p:cNvSpPr txBox="1">
            <a:spLocks noGrp="1"/>
          </p:cNvSpPr>
          <p:nvPr>
            <p:ph type="body" idx="1"/>
          </p:nvPr>
        </p:nvSpPr>
        <p:spPr>
          <a:xfrm>
            <a:off x="311700" y="1152475"/>
            <a:ext cx="8520600" cy="1563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Multi-Key Fallback: Chain criteria using logical OR: (a.price - b.price) || a.name.localeCompare(b.name).</a:t>
            </a:r>
            <a:endParaRPr/>
          </a:p>
          <a:p>
            <a:pPr marL="457200" lvl="0" indent="-342900" algn="l" rtl="0">
              <a:spcBef>
                <a:spcPts val="0"/>
              </a:spcBef>
              <a:spcAft>
                <a:spcPts val="0"/>
              </a:spcAft>
              <a:buSzPts val="1800"/>
              <a:buChar char="●"/>
            </a:pPr>
            <a:r>
              <a:rPr lang="en"/>
              <a:t>Dynamic Sorting: Create reusable higher-order comparator functions that dynamically accept key names as parameters.</a:t>
            </a:r>
            <a:endParaRPr/>
          </a:p>
        </p:txBody>
      </p:sp>
      <p:sp>
        <p:nvSpPr>
          <p:cNvPr id="639" name="Google Shape;639;p8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77</a:t>
            </a:fld>
            <a:endParaRPr/>
          </a:p>
        </p:txBody>
      </p:sp>
      <p:sp>
        <p:nvSpPr>
          <p:cNvPr id="640" name="Google Shape;640;p88"/>
          <p:cNvSpPr txBox="1"/>
          <p:nvPr/>
        </p:nvSpPr>
        <p:spPr>
          <a:xfrm>
            <a:off x="1261776" y="2608823"/>
            <a:ext cx="6598200" cy="23910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items</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 { </a:t>
            </a:r>
            <a:r>
              <a:rPr lang="en" sz="1000">
                <a:solidFill>
                  <a:srgbClr val="9CDCFE"/>
                </a:solidFill>
                <a:highlight>
                  <a:srgbClr val="121314"/>
                </a:highlight>
                <a:latin typeface="Courier New"/>
                <a:ea typeface="Courier New"/>
                <a:cs typeface="Courier New"/>
                <a:sym typeface="Courier New"/>
              </a:rPr>
              <a:t>name:</a:t>
            </a:r>
            <a:r>
              <a:rPr lang="en" sz="1000">
                <a:solidFill>
                  <a:srgbClr val="C9D1D9"/>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'Pen'</a:t>
            </a:r>
            <a:r>
              <a:rPr lang="en" sz="1000">
                <a:solidFill>
                  <a:srgbClr val="BBBEBF"/>
                </a:solidFill>
                <a:highlight>
                  <a:srgbClr val="121314"/>
                </a:highlight>
                <a:latin typeface="Courier New"/>
                <a:ea typeface="Courier New"/>
                <a:cs typeface="Courier New"/>
                <a:sym typeface="Courier New"/>
              </a:rPr>
              <a:t>, </a:t>
            </a:r>
            <a:r>
              <a:rPr lang="en" sz="1000">
                <a:solidFill>
                  <a:srgbClr val="9CDCFE"/>
                </a:solidFill>
                <a:highlight>
                  <a:srgbClr val="121314"/>
                </a:highlight>
                <a:latin typeface="Courier New"/>
                <a:ea typeface="Courier New"/>
                <a:cs typeface="Courier New"/>
                <a:sym typeface="Courier New"/>
              </a:rPr>
              <a:t>price:</a:t>
            </a:r>
            <a:r>
              <a:rPr lang="en" sz="1000">
                <a:solidFill>
                  <a:srgbClr val="C9D1D9"/>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10</a:t>
            </a:r>
            <a:r>
              <a:rPr lang="en" sz="1000">
                <a:solidFill>
                  <a:srgbClr val="C9D1D9"/>
                </a:solidFill>
                <a:highlight>
                  <a:srgbClr val="121314"/>
                </a:highlight>
                <a:latin typeface="Courier New"/>
                <a:ea typeface="Courier New"/>
                <a:cs typeface="Courier New"/>
                <a:sym typeface="Courier New"/>
              </a:rPr>
              <a:t> </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 { </a:t>
            </a:r>
            <a:r>
              <a:rPr lang="en" sz="1000">
                <a:solidFill>
                  <a:srgbClr val="9CDCFE"/>
                </a:solidFill>
                <a:highlight>
                  <a:srgbClr val="121314"/>
                </a:highlight>
                <a:latin typeface="Courier New"/>
                <a:ea typeface="Courier New"/>
                <a:cs typeface="Courier New"/>
                <a:sym typeface="Courier New"/>
              </a:rPr>
              <a:t>name:</a:t>
            </a:r>
            <a:r>
              <a:rPr lang="en" sz="1000">
                <a:solidFill>
                  <a:srgbClr val="C9D1D9"/>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'Apple'</a:t>
            </a:r>
            <a:r>
              <a:rPr lang="en" sz="1000">
                <a:solidFill>
                  <a:srgbClr val="BBBEBF"/>
                </a:solidFill>
                <a:highlight>
                  <a:srgbClr val="121314"/>
                </a:highlight>
                <a:latin typeface="Courier New"/>
                <a:ea typeface="Courier New"/>
                <a:cs typeface="Courier New"/>
                <a:sym typeface="Courier New"/>
              </a:rPr>
              <a:t>, </a:t>
            </a:r>
            <a:r>
              <a:rPr lang="en" sz="1000">
                <a:solidFill>
                  <a:srgbClr val="9CDCFE"/>
                </a:solidFill>
                <a:highlight>
                  <a:srgbClr val="121314"/>
                </a:highlight>
                <a:latin typeface="Courier New"/>
                <a:ea typeface="Courier New"/>
                <a:cs typeface="Courier New"/>
                <a:sym typeface="Courier New"/>
              </a:rPr>
              <a:t>price:</a:t>
            </a:r>
            <a:r>
              <a:rPr lang="en" sz="1000">
                <a:solidFill>
                  <a:srgbClr val="C9D1D9"/>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5</a:t>
            </a:r>
            <a:r>
              <a:rPr lang="en" sz="1000">
                <a:solidFill>
                  <a:srgbClr val="C9D1D9"/>
                </a:solidFill>
                <a:highlight>
                  <a:srgbClr val="121314"/>
                </a:highlight>
                <a:latin typeface="Courier New"/>
                <a:ea typeface="Courier New"/>
                <a:cs typeface="Courier New"/>
                <a:sym typeface="Courier New"/>
              </a:rPr>
              <a:t> </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 { </a:t>
            </a:r>
            <a:r>
              <a:rPr lang="en" sz="1000">
                <a:solidFill>
                  <a:srgbClr val="9CDCFE"/>
                </a:solidFill>
                <a:highlight>
                  <a:srgbClr val="121314"/>
                </a:highlight>
                <a:latin typeface="Courier New"/>
                <a:ea typeface="Courier New"/>
                <a:cs typeface="Courier New"/>
                <a:sym typeface="Courier New"/>
              </a:rPr>
              <a:t>name:</a:t>
            </a:r>
            <a:r>
              <a:rPr lang="en" sz="1000">
                <a:solidFill>
                  <a:srgbClr val="C9D1D9"/>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'Notebook'</a:t>
            </a:r>
            <a:r>
              <a:rPr lang="en" sz="1000">
                <a:solidFill>
                  <a:srgbClr val="BBBEBF"/>
                </a:solidFill>
                <a:highlight>
                  <a:srgbClr val="121314"/>
                </a:highlight>
                <a:latin typeface="Courier New"/>
                <a:ea typeface="Courier New"/>
                <a:cs typeface="Courier New"/>
                <a:sym typeface="Courier New"/>
              </a:rPr>
              <a:t>, </a:t>
            </a:r>
            <a:r>
              <a:rPr lang="en" sz="1000">
                <a:solidFill>
                  <a:srgbClr val="9CDCFE"/>
                </a:solidFill>
                <a:highlight>
                  <a:srgbClr val="121314"/>
                </a:highlight>
                <a:latin typeface="Courier New"/>
                <a:ea typeface="Courier New"/>
                <a:cs typeface="Courier New"/>
                <a:sym typeface="Courier New"/>
              </a:rPr>
              <a:t>price:</a:t>
            </a:r>
            <a:r>
              <a:rPr lang="en" sz="1000">
                <a:solidFill>
                  <a:srgbClr val="C9D1D9"/>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10</a:t>
            </a:r>
            <a:r>
              <a:rPr lang="en" sz="1000">
                <a:solidFill>
                  <a:srgbClr val="C9D1D9"/>
                </a:solidFill>
                <a:highlight>
                  <a:srgbClr val="121314"/>
                </a:highlight>
                <a:latin typeface="Courier New"/>
                <a:ea typeface="Courier New"/>
                <a:cs typeface="Courier New"/>
                <a:sym typeface="Courier New"/>
              </a:rPr>
              <a:t> </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Same price as Pen ($10)</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 { </a:t>
            </a:r>
            <a:r>
              <a:rPr lang="en" sz="1000">
                <a:solidFill>
                  <a:srgbClr val="9CDCFE"/>
                </a:solidFill>
                <a:highlight>
                  <a:srgbClr val="121314"/>
                </a:highlight>
                <a:latin typeface="Courier New"/>
                <a:ea typeface="Courier New"/>
                <a:cs typeface="Courier New"/>
                <a:sym typeface="Courier New"/>
              </a:rPr>
              <a:t>name:</a:t>
            </a:r>
            <a:r>
              <a:rPr lang="en" sz="1000">
                <a:solidFill>
                  <a:srgbClr val="C9D1D9"/>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'Banana'</a:t>
            </a:r>
            <a:r>
              <a:rPr lang="en" sz="1000">
                <a:solidFill>
                  <a:srgbClr val="BBBEBF"/>
                </a:solidFill>
                <a:highlight>
                  <a:srgbClr val="121314"/>
                </a:highlight>
                <a:latin typeface="Courier New"/>
                <a:ea typeface="Courier New"/>
                <a:cs typeface="Courier New"/>
                <a:sym typeface="Courier New"/>
              </a:rPr>
              <a:t>, </a:t>
            </a:r>
            <a:r>
              <a:rPr lang="en" sz="1000">
                <a:solidFill>
                  <a:srgbClr val="9CDCFE"/>
                </a:solidFill>
                <a:highlight>
                  <a:srgbClr val="121314"/>
                </a:highlight>
                <a:latin typeface="Courier New"/>
                <a:ea typeface="Courier New"/>
                <a:cs typeface="Courier New"/>
                <a:sym typeface="Courier New"/>
              </a:rPr>
              <a:t>price:</a:t>
            </a:r>
            <a:r>
              <a:rPr lang="en" sz="1000">
                <a:solidFill>
                  <a:srgbClr val="C9D1D9"/>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5</a:t>
            </a:r>
            <a:r>
              <a:rPr lang="en" sz="1000">
                <a:solidFill>
                  <a:srgbClr val="C9D1D9"/>
                </a:solidFill>
                <a:highlight>
                  <a:srgbClr val="121314"/>
                </a:highlight>
                <a:latin typeface="Courier New"/>
                <a:ea typeface="Courier New"/>
                <a:cs typeface="Courier New"/>
                <a:sym typeface="Courier New"/>
              </a:rPr>
              <a:t> </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Same price as Apple ($5)</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1. Sort primarily by price (lowest to highest)</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8B949E"/>
                </a:solidFill>
                <a:highlight>
                  <a:srgbClr val="121314"/>
                </a:highlight>
                <a:latin typeface="Courier New"/>
                <a:ea typeface="Courier New"/>
                <a:cs typeface="Courier New"/>
                <a:sym typeface="Courier New"/>
              </a:rPr>
              <a:t>// 2. If prices are equal (result is 0), fallback to name alphabetically</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items</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sort</a:t>
            </a:r>
            <a:r>
              <a:rPr lang="en" sz="1000">
                <a:solidFill>
                  <a:srgbClr val="BBBEBF"/>
                </a:solidFill>
                <a:highlight>
                  <a:srgbClr val="121314"/>
                </a:highlight>
                <a:latin typeface="Courier New"/>
                <a:ea typeface="Courier New"/>
                <a:cs typeface="Courier New"/>
                <a:sym typeface="Courier New"/>
              </a:rPr>
              <a:t>((</a:t>
            </a:r>
            <a:r>
              <a:rPr lang="en" sz="1000">
                <a:solidFill>
                  <a:srgbClr val="FFA657"/>
                </a:solidFill>
                <a:highlight>
                  <a:srgbClr val="121314"/>
                </a:highlight>
                <a:latin typeface="Courier New"/>
                <a:ea typeface="Courier New"/>
                <a:cs typeface="Courier New"/>
                <a:sym typeface="Courier New"/>
              </a:rPr>
              <a:t>a</a:t>
            </a:r>
            <a:r>
              <a:rPr lang="en" sz="1000">
                <a:solidFill>
                  <a:srgbClr val="BBBEBF"/>
                </a:solidFill>
                <a:highlight>
                  <a:srgbClr val="121314"/>
                </a:highlight>
                <a:latin typeface="Courier New"/>
                <a:ea typeface="Courier New"/>
                <a:cs typeface="Courier New"/>
                <a:sym typeface="Courier New"/>
              </a:rPr>
              <a:t>, </a:t>
            </a:r>
            <a:r>
              <a:rPr lang="en" sz="1000">
                <a:solidFill>
                  <a:srgbClr val="FFA657"/>
                </a:solidFill>
                <a:highlight>
                  <a:srgbClr val="121314"/>
                </a:highlight>
                <a:latin typeface="Courier New"/>
                <a:ea typeface="Courier New"/>
                <a:cs typeface="Courier New"/>
                <a:sym typeface="Courier New"/>
              </a:rPr>
              <a:t>b</a:t>
            </a:r>
            <a:r>
              <a:rPr lang="en" sz="1000">
                <a:solidFill>
                  <a:srgbClr val="BBBEBF"/>
                </a:solidFill>
                <a:highlight>
                  <a:srgbClr val="121314"/>
                </a:highlight>
                <a:latin typeface="Courier New"/>
                <a:ea typeface="Courier New"/>
                <a:cs typeface="Courier New"/>
                <a:sym typeface="Courier New"/>
              </a:rPr>
              <a:t>) </a:t>
            </a:r>
            <a:r>
              <a:rPr lang="en" sz="1000">
                <a:solidFill>
                  <a:srgbClr val="FF7B72"/>
                </a:solidFill>
                <a:highlight>
                  <a:srgbClr val="121314"/>
                </a:highlight>
                <a:latin typeface="Courier New"/>
                <a:ea typeface="Courier New"/>
                <a:cs typeface="Courier New"/>
                <a:sym typeface="Courier New"/>
              </a:rPr>
              <a:t>=&gt;</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a</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price</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b</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price</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a</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name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localeCompare</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b</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name</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items</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8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Examples of Dynamic Sorting</a:t>
            </a:r>
            <a:endParaRPr/>
          </a:p>
        </p:txBody>
      </p:sp>
      <p:sp>
        <p:nvSpPr>
          <p:cNvPr id="646" name="Google Shape;646;p8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78</a:t>
            </a:fld>
            <a:endParaRPr/>
          </a:p>
        </p:txBody>
      </p:sp>
      <p:sp>
        <p:nvSpPr>
          <p:cNvPr id="647" name="Google Shape;647;p89"/>
          <p:cNvSpPr txBox="1"/>
          <p:nvPr/>
        </p:nvSpPr>
        <p:spPr>
          <a:xfrm>
            <a:off x="311700" y="1200450"/>
            <a:ext cx="4604100" cy="30939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900">
                <a:solidFill>
                  <a:srgbClr val="8B949E"/>
                </a:solidFill>
                <a:highlight>
                  <a:srgbClr val="121314"/>
                </a:highlight>
                <a:latin typeface="Courier New"/>
                <a:ea typeface="Courier New"/>
                <a:cs typeface="Courier New"/>
                <a:sym typeface="Courier New"/>
              </a:rPr>
              <a:t>// A reusable factory function that generates custom comparators</a:t>
            </a:r>
            <a:endParaRPr sz="9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FF7B72"/>
                </a:solidFill>
                <a:highlight>
                  <a:srgbClr val="121314"/>
                </a:highlight>
                <a:latin typeface="Courier New"/>
                <a:ea typeface="Courier New"/>
                <a:cs typeface="Courier New"/>
                <a:sym typeface="Courier New"/>
              </a:rPr>
              <a:t>function</a:t>
            </a:r>
            <a:r>
              <a:rPr lang="en" sz="900">
                <a:solidFill>
                  <a:srgbClr val="BBBEBF"/>
                </a:solidFill>
                <a:highlight>
                  <a:srgbClr val="121314"/>
                </a:highlight>
                <a:latin typeface="Courier New"/>
                <a:ea typeface="Courier New"/>
                <a:cs typeface="Courier New"/>
                <a:sym typeface="Courier New"/>
              </a:rPr>
              <a:t> </a:t>
            </a:r>
            <a:r>
              <a:rPr lang="en" sz="900">
                <a:solidFill>
                  <a:srgbClr val="D2A8FF"/>
                </a:solidFill>
                <a:highlight>
                  <a:srgbClr val="121314"/>
                </a:highlight>
                <a:latin typeface="Courier New"/>
                <a:ea typeface="Courier New"/>
                <a:cs typeface="Courier New"/>
                <a:sym typeface="Courier New"/>
              </a:rPr>
              <a:t>sortBy</a:t>
            </a:r>
            <a:r>
              <a:rPr lang="en" sz="900">
                <a:solidFill>
                  <a:srgbClr val="BBBEBF"/>
                </a:solidFill>
                <a:highlight>
                  <a:srgbClr val="121314"/>
                </a:highlight>
                <a:latin typeface="Courier New"/>
                <a:ea typeface="Courier New"/>
                <a:cs typeface="Courier New"/>
                <a:sym typeface="Courier New"/>
              </a:rPr>
              <a:t>(</a:t>
            </a:r>
            <a:r>
              <a:rPr lang="en" sz="900">
                <a:solidFill>
                  <a:srgbClr val="FFA657"/>
                </a:solidFill>
                <a:highlight>
                  <a:srgbClr val="121314"/>
                </a:highlight>
                <a:latin typeface="Courier New"/>
                <a:ea typeface="Courier New"/>
                <a:cs typeface="Courier New"/>
                <a:sym typeface="Courier New"/>
              </a:rPr>
              <a:t>property</a:t>
            </a:r>
            <a:r>
              <a:rPr lang="en" sz="900">
                <a:solidFill>
                  <a:srgbClr val="BBBEBF"/>
                </a:solidFill>
                <a:highlight>
                  <a:srgbClr val="121314"/>
                </a:highlight>
                <a:latin typeface="Courier New"/>
                <a:ea typeface="Courier New"/>
                <a:cs typeface="Courier New"/>
                <a:sym typeface="Courier New"/>
              </a:rPr>
              <a:t>, </a:t>
            </a:r>
            <a:r>
              <a:rPr lang="en" sz="900">
                <a:solidFill>
                  <a:srgbClr val="FFA657"/>
                </a:solidFill>
                <a:highlight>
                  <a:srgbClr val="121314"/>
                </a:highlight>
                <a:latin typeface="Courier New"/>
                <a:ea typeface="Courier New"/>
                <a:cs typeface="Courier New"/>
                <a:sym typeface="Courier New"/>
              </a:rPr>
              <a:t>ascending</a:t>
            </a:r>
            <a:r>
              <a:rPr lang="en" sz="900">
                <a:solidFill>
                  <a:srgbClr val="BBBEBF"/>
                </a:solidFill>
                <a:highlight>
                  <a:srgbClr val="121314"/>
                </a:highlight>
                <a:latin typeface="Courier New"/>
                <a:ea typeface="Courier New"/>
                <a:cs typeface="Courier New"/>
                <a:sym typeface="Courier New"/>
              </a:rPr>
              <a:t> </a:t>
            </a:r>
            <a:r>
              <a:rPr lang="en" sz="900">
                <a:solidFill>
                  <a:srgbClr val="D4D4D4"/>
                </a:solidFill>
                <a:highlight>
                  <a:srgbClr val="121314"/>
                </a:highlight>
                <a:latin typeface="Courier New"/>
                <a:ea typeface="Courier New"/>
                <a:cs typeface="Courier New"/>
                <a:sym typeface="Courier New"/>
              </a:rPr>
              <a:t>=</a:t>
            </a:r>
            <a:r>
              <a:rPr lang="en" sz="900">
                <a:solidFill>
                  <a:srgbClr val="BBBEBF"/>
                </a:solidFill>
                <a:highlight>
                  <a:srgbClr val="121314"/>
                </a:highlight>
                <a:latin typeface="Courier New"/>
                <a:ea typeface="Courier New"/>
                <a:cs typeface="Courier New"/>
                <a:sym typeface="Courier New"/>
              </a:rPr>
              <a:t> </a:t>
            </a:r>
            <a:r>
              <a:rPr lang="en" sz="900">
                <a:solidFill>
                  <a:srgbClr val="569CD6"/>
                </a:solidFill>
                <a:highlight>
                  <a:srgbClr val="121314"/>
                </a:highlight>
                <a:latin typeface="Courier New"/>
                <a:ea typeface="Courier New"/>
                <a:cs typeface="Courier New"/>
                <a:sym typeface="Courier New"/>
              </a:rPr>
              <a:t>true</a:t>
            </a:r>
            <a:r>
              <a:rPr lang="en" sz="900">
                <a:solidFill>
                  <a:srgbClr val="BBBEBF"/>
                </a:solidFill>
                <a:highlight>
                  <a:srgbClr val="121314"/>
                </a:highlight>
                <a:latin typeface="Courier New"/>
                <a:ea typeface="Courier New"/>
                <a:cs typeface="Courier New"/>
                <a:sym typeface="Courier New"/>
              </a:rPr>
              <a:t>) </a:t>
            </a:r>
            <a:r>
              <a:rPr lang="en" sz="900">
                <a:solidFill>
                  <a:srgbClr val="C9D1D9"/>
                </a:solidFill>
                <a:highlight>
                  <a:srgbClr val="121314"/>
                </a:highlight>
                <a:latin typeface="Courier New"/>
                <a:ea typeface="Courier New"/>
                <a:cs typeface="Courier New"/>
                <a:sym typeface="Courier New"/>
              </a:rPr>
              <a:t>{</a:t>
            </a:r>
            <a:endParaRPr sz="9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 </a:t>
            </a:r>
            <a:r>
              <a:rPr lang="en" sz="900">
                <a:solidFill>
                  <a:srgbClr val="C586C0"/>
                </a:solidFill>
                <a:highlight>
                  <a:srgbClr val="121314"/>
                </a:highlight>
                <a:latin typeface="Courier New"/>
                <a:ea typeface="Courier New"/>
                <a:cs typeface="Courier New"/>
                <a:sym typeface="Courier New"/>
              </a:rPr>
              <a:t>return</a:t>
            </a:r>
            <a:r>
              <a:rPr lang="en" sz="900">
                <a:solidFill>
                  <a:srgbClr val="C9D1D9"/>
                </a:solidFill>
                <a:highlight>
                  <a:srgbClr val="121314"/>
                </a:highlight>
                <a:latin typeface="Courier New"/>
                <a:ea typeface="Courier New"/>
                <a:cs typeface="Courier New"/>
                <a:sym typeface="Courier New"/>
              </a:rPr>
              <a:t> (</a:t>
            </a:r>
            <a:r>
              <a:rPr lang="en" sz="900">
                <a:solidFill>
                  <a:srgbClr val="FFA657"/>
                </a:solidFill>
                <a:highlight>
                  <a:srgbClr val="121314"/>
                </a:highlight>
                <a:latin typeface="Courier New"/>
                <a:ea typeface="Courier New"/>
                <a:cs typeface="Courier New"/>
                <a:sym typeface="Courier New"/>
              </a:rPr>
              <a:t>a</a:t>
            </a:r>
            <a:r>
              <a:rPr lang="en" sz="900">
                <a:solidFill>
                  <a:srgbClr val="C9D1D9"/>
                </a:solidFill>
                <a:highlight>
                  <a:srgbClr val="121314"/>
                </a:highlight>
                <a:latin typeface="Courier New"/>
                <a:ea typeface="Courier New"/>
                <a:cs typeface="Courier New"/>
                <a:sym typeface="Courier New"/>
              </a:rPr>
              <a:t>, </a:t>
            </a:r>
            <a:r>
              <a:rPr lang="en" sz="900">
                <a:solidFill>
                  <a:srgbClr val="FFA657"/>
                </a:solidFill>
                <a:highlight>
                  <a:srgbClr val="121314"/>
                </a:highlight>
                <a:latin typeface="Courier New"/>
                <a:ea typeface="Courier New"/>
                <a:cs typeface="Courier New"/>
                <a:sym typeface="Courier New"/>
              </a:rPr>
              <a:t>b</a:t>
            </a:r>
            <a:r>
              <a:rPr lang="en" sz="900">
                <a:solidFill>
                  <a:srgbClr val="C9D1D9"/>
                </a:solidFill>
                <a:highlight>
                  <a:srgbClr val="121314"/>
                </a:highlight>
                <a:latin typeface="Courier New"/>
                <a:ea typeface="Courier New"/>
                <a:cs typeface="Courier New"/>
                <a:sym typeface="Courier New"/>
              </a:rPr>
              <a:t>) </a:t>
            </a:r>
            <a:r>
              <a:rPr lang="en" sz="900">
                <a:solidFill>
                  <a:srgbClr val="FF7B72"/>
                </a:solidFill>
                <a:highlight>
                  <a:srgbClr val="121314"/>
                </a:highlight>
                <a:latin typeface="Courier New"/>
                <a:ea typeface="Courier New"/>
                <a:cs typeface="Courier New"/>
                <a:sym typeface="Courier New"/>
              </a:rPr>
              <a:t>=&gt;</a:t>
            </a:r>
            <a:r>
              <a:rPr lang="en" sz="900">
                <a:solidFill>
                  <a:srgbClr val="C9D1D9"/>
                </a:solidFill>
                <a:highlight>
                  <a:srgbClr val="121314"/>
                </a:highlight>
                <a:latin typeface="Courier New"/>
                <a:ea typeface="Courier New"/>
                <a:cs typeface="Courier New"/>
                <a:sym typeface="Courier New"/>
              </a:rPr>
              <a:t> {</a:t>
            </a:r>
            <a:endParaRPr sz="9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   </a:t>
            </a:r>
            <a:r>
              <a:rPr lang="en" sz="900">
                <a:solidFill>
                  <a:srgbClr val="FF7B72"/>
                </a:solidFill>
                <a:highlight>
                  <a:srgbClr val="121314"/>
                </a:highlight>
                <a:latin typeface="Courier New"/>
                <a:ea typeface="Courier New"/>
                <a:cs typeface="Courier New"/>
                <a:sym typeface="Courier New"/>
              </a:rPr>
              <a:t>let</a:t>
            </a:r>
            <a:r>
              <a:rPr lang="en" sz="900">
                <a:solidFill>
                  <a:srgbClr val="C9D1D9"/>
                </a:solidFill>
                <a:highlight>
                  <a:srgbClr val="121314"/>
                </a:highlight>
                <a:latin typeface="Courier New"/>
                <a:ea typeface="Courier New"/>
                <a:cs typeface="Courier New"/>
                <a:sym typeface="Courier New"/>
              </a:rPr>
              <a:t> result </a:t>
            </a:r>
            <a:r>
              <a:rPr lang="en" sz="900">
                <a:solidFill>
                  <a:srgbClr val="D4D4D4"/>
                </a:solidFill>
                <a:highlight>
                  <a:srgbClr val="121314"/>
                </a:highlight>
                <a:latin typeface="Courier New"/>
                <a:ea typeface="Courier New"/>
                <a:cs typeface="Courier New"/>
                <a:sym typeface="Courier New"/>
              </a:rPr>
              <a:t>=</a:t>
            </a:r>
            <a:r>
              <a:rPr lang="en" sz="900">
                <a:solidFill>
                  <a:srgbClr val="C9D1D9"/>
                </a:solidFill>
                <a:highlight>
                  <a:srgbClr val="121314"/>
                </a:highlight>
                <a:latin typeface="Courier New"/>
                <a:ea typeface="Courier New"/>
                <a:cs typeface="Courier New"/>
                <a:sym typeface="Courier New"/>
              </a:rPr>
              <a:t> </a:t>
            </a:r>
            <a:r>
              <a:rPr lang="en" sz="900">
                <a:solidFill>
                  <a:srgbClr val="B5CEA8"/>
                </a:solidFill>
                <a:highlight>
                  <a:srgbClr val="121314"/>
                </a:highlight>
                <a:latin typeface="Courier New"/>
                <a:ea typeface="Courier New"/>
                <a:cs typeface="Courier New"/>
                <a:sym typeface="Courier New"/>
              </a:rPr>
              <a:t>0</a:t>
            </a:r>
            <a:r>
              <a:rPr lang="en" sz="900">
                <a:solidFill>
                  <a:srgbClr val="C9D1D9"/>
                </a:solidFill>
                <a:highlight>
                  <a:srgbClr val="121314"/>
                </a:highlight>
                <a:latin typeface="Courier New"/>
                <a:ea typeface="Courier New"/>
                <a:cs typeface="Courier New"/>
                <a:sym typeface="Courier New"/>
              </a:rPr>
              <a:t>;</a:t>
            </a:r>
            <a:endParaRPr sz="9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   </a:t>
            </a:r>
            <a:r>
              <a:rPr lang="en" sz="900">
                <a:solidFill>
                  <a:srgbClr val="8B949E"/>
                </a:solidFill>
                <a:highlight>
                  <a:srgbClr val="121314"/>
                </a:highlight>
                <a:latin typeface="Courier New"/>
                <a:ea typeface="Courier New"/>
                <a:cs typeface="Courier New"/>
                <a:sym typeface="Courier New"/>
              </a:rPr>
              <a:t>// Handle strings vs numbers dynamically</a:t>
            </a:r>
            <a:endParaRPr sz="9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   </a:t>
            </a:r>
            <a:r>
              <a:rPr lang="en" sz="900">
                <a:solidFill>
                  <a:srgbClr val="C586C0"/>
                </a:solidFill>
                <a:highlight>
                  <a:srgbClr val="121314"/>
                </a:highlight>
                <a:latin typeface="Courier New"/>
                <a:ea typeface="Courier New"/>
                <a:cs typeface="Courier New"/>
                <a:sym typeface="Courier New"/>
              </a:rPr>
              <a:t>if</a:t>
            </a:r>
            <a:r>
              <a:rPr lang="en" sz="900">
                <a:solidFill>
                  <a:srgbClr val="C9D1D9"/>
                </a:solidFill>
                <a:highlight>
                  <a:srgbClr val="121314"/>
                </a:highlight>
                <a:latin typeface="Courier New"/>
                <a:ea typeface="Courier New"/>
                <a:cs typeface="Courier New"/>
                <a:sym typeface="Courier New"/>
              </a:rPr>
              <a:t> (</a:t>
            </a:r>
            <a:r>
              <a:rPr lang="en" sz="900">
                <a:solidFill>
                  <a:srgbClr val="569CD6"/>
                </a:solidFill>
                <a:highlight>
                  <a:srgbClr val="121314"/>
                </a:highlight>
                <a:latin typeface="Courier New"/>
                <a:ea typeface="Courier New"/>
                <a:cs typeface="Courier New"/>
                <a:sym typeface="Courier New"/>
              </a:rPr>
              <a:t>typeof</a:t>
            </a:r>
            <a:r>
              <a:rPr lang="en" sz="900">
                <a:solidFill>
                  <a:srgbClr val="C9D1D9"/>
                </a:solidFill>
                <a:highlight>
                  <a:srgbClr val="121314"/>
                </a:highlight>
                <a:latin typeface="Courier New"/>
                <a:ea typeface="Courier New"/>
                <a:cs typeface="Courier New"/>
                <a:sym typeface="Courier New"/>
              </a:rPr>
              <a:t> a[property] </a:t>
            </a:r>
            <a:r>
              <a:rPr lang="en" sz="900">
                <a:solidFill>
                  <a:srgbClr val="D4D4D4"/>
                </a:solidFill>
                <a:highlight>
                  <a:srgbClr val="121314"/>
                </a:highlight>
                <a:latin typeface="Courier New"/>
                <a:ea typeface="Courier New"/>
                <a:cs typeface="Courier New"/>
                <a:sym typeface="Courier New"/>
              </a:rPr>
              <a:t>===</a:t>
            </a:r>
            <a:r>
              <a:rPr lang="en" sz="900">
                <a:solidFill>
                  <a:srgbClr val="C9D1D9"/>
                </a:solidFill>
                <a:highlight>
                  <a:srgbClr val="121314"/>
                </a:highlight>
                <a:latin typeface="Courier New"/>
                <a:ea typeface="Courier New"/>
                <a:cs typeface="Courier New"/>
                <a:sym typeface="Courier New"/>
              </a:rPr>
              <a:t> </a:t>
            </a:r>
            <a:r>
              <a:rPr lang="en" sz="900">
                <a:solidFill>
                  <a:srgbClr val="A5D6FF"/>
                </a:solidFill>
                <a:highlight>
                  <a:srgbClr val="121314"/>
                </a:highlight>
                <a:latin typeface="Courier New"/>
                <a:ea typeface="Courier New"/>
                <a:cs typeface="Courier New"/>
                <a:sym typeface="Courier New"/>
              </a:rPr>
              <a:t>'string'</a:t>
            </a:r>
            <a:r>
              <a:rPr lang="en" sz="900">
                <a:solidFill>
                  <a:srgbClr val="C9D1D9"/>
                </a:solidFill>
                <a:highlight>
                  <a:srgbClr val="121314"/>
                </a:highlight>
                <a:latin typeface="Courier New"/>
                <a:ea typeface="Courier New"/>
                <a:cs typeface="Courier New"/>
                <a:sym typeface="Courier New"/>
              </a:rPr>
              <a:t>) {</a:t>
            </a:r>
            <a:endParaRPr sz="9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     result </a:t>
            </a:r>
            <a:r>
              <a:rPr lang="en" sz="900">
                <a:solidFill>
                  <a:srgbClr val="D4D4D4"/>
                </a:solidFill>
                <a:highlight>
                  <a:srgbClr val="121314"/>
                </a:highlight>
                <a:latin typeface="Courier New"/>
                <a:ea typeface="Courier New"/>
                <a:cs typeface="Courier New"/>
                <a:sym typeface="Courier New"/>
              </a:rPr>
              <a:t>=</a:t>
            </a:r>
            <a:r>
              <a:rPr lang="en" sz="900">
                <a:solidFill>
                  <a:srgbClr val="C9D1D9"/>
                </a:solidFill>
                <a:highlight>
                  <a:srgbClr val="121314"/>
                </a:highlight>
                <a:latin typeface="Courier New"/>
                <a:ea typeface="Courier New"/>
                <a:cs typeface="Courier New"/>
                <a:sym typeface="Courier New"/>
              </a:rPr>
              <a:t> a[property].</a:t>
            </a:r>
            <a:r>
              <a:rPr lang="en" sz="900">
                <a:solidFill>
                  <a:srgbClr val="D2A8FF"/>
                </a:solidFill>
                <a:highlight>
                  <a:srgbClr val="121314"/>
                </a:highlight>
                <a:latin typeface="Courier New"/>
                <a:ea typeface="Courier New"/>
                <a:cs typeface="Courier New"/>
                <a:sym typeface="Courier New"/>
              </a:rPr>
              <a:t>localeCompare</a:t>
            </a:r>
            <a:r>
              <a:rPr lang="en" sz="900">
                <a:solidFill>
                  <a:srgbClr val="C9D1D9"/>
                </a:solidFill>
                <a:highlight>
                  <a:srgbClr val="121314"/>
                </a:highlight>
                <a:latin typeface="Courier New"/>
                <a:ea typeface="Courier New"/>
                <a:cs typeface="Courier New"/>
                <a:sym typeface="Courier New"/>
              </a:rPr>
              <a:t>(b[property]);</a:t>
            </a:r>
            <a:endParaRPr sz="9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   } </a:t>
            </a:r>
            <a:r>
              <a:rPr lang="en" sz="900">
                <a:solidFill>
                  <a:srgbClr val="C586C0"/>
                </a:solidFill>
                <a:highlight>
                  <a:srgbClr val="121314"/>
                </a:highlight>
                <a:latin typeface="Courier New"/>
                <a:ea typeface="Courier New"/>
                <a:cs typeface="Courier New"/>
                <a:sym typeface="Courier New"/>
              </a:rPr>
              <a:t>else</a:t>
            </a:r>
            <a:r>
              <a:rPr lang="en" sz="900">
                <a:solidFill>
                  <a:srgbClr val="C9D1D9"/>
                </a:solidFill>
                <a:highlight>
                  <a:srgbClr val="121314"/>
                </a:highlight>
                <a:latin typeface="Courier New"/>
                <a:ea typeface="Courier New"/>
                <a:cs typeface="Courier New"/>
                <a:sym typeface="Courier New"/>
              </a:rPr>
              <a:t> {</a:t>
            </a:r>
            <a:endParaRPr sz="9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     result </a:t>
            </a:r>
            <a:r>
              <a:rPr lang="en" sz="900">
                <a:solidFill>
                  <a:srgbClr val="D4D4D4"/>
                </a:solidFill>
                <a:highlight>
                  <a:srgbClr val="121314"/>
                </a:highlight>
                <a:latin typeface="Courier New"/>
                <a:ea typeface="Courier New"/>
                <a:cs typeface="Courier New"/>
                <a:sym typeface="Courier New"/>
              </a:rPr>
              <a:t>=</a:t>
            </a:r>
            <a:r>
              <a:rPr lang="en" sz="900">
                <a:solidFill>
                  <a:srgbClr val="C9D1D9"/>
                </a:solidFill>
                <a:highlight>
                  <a:srgbClr val="121314"/>
                </a:highlight>
                <a:latin typeface="Courier New"/>
                <a:ea typeface="Courier New"/>
                <a:cs typeface="Courier New"/>
                <a:sym typeface="Courier New"/>
              </a:rPr>
              <a:t> a[property] </a:t>
            </a:r>
            <a:r>
              <a:rPr lang="en" sz="900">
                <a:solidFill>
                  <a:srgbClr val="D4D4D4"/>
                </a:solidFill>
                <a:highlight>
                  <a:srgbClr val="121314"/>
                </a:highlight>
                <a:latin typeface="Courier New"/>
                <a:ea typeface="Courier New"/>
                <a:cs typeface="Courier New"/>
                <a:sym typeface="Courier New"/>
              </a:rPr>
              <a:t>-</a:t>
            </a:r>
            <a:r>
              <a:rPr lang="en" sz="900">
                <a:solidFill>
                  <a:srgbClr val="C9D1D9"/>
                </a:solidFill>
                <a:highlight>
                  <a:srgbClr val="121314"/>
                </a:highlight>
                <a:latin typeface="Courier New"/>
                <a:ea typeface="Courier New"/>
                <a:cs typeface="Courier New"/>
                <a:sym typeface="Courier New"/>
              </a:rPr>
              <a:t> b[property];</a:t>
            </a:r>
            <a:endParaRPr sz="9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   }</a:t>
            </a:r>
            <a:endParaRPr sz="9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   </a:t>
            </a:r>
            <a:r>
              <a:rPr lang="en" sz="900">
                <a:solidFill>
                  <a:srgbClr val="8B949E"/>
                </a:solidFill>
                <a:highlight>
                  <a:srgbClr val="121314"/>
                </a:highlight>
                <a:latin typeface="Courier New"/>
                <a:ea typeface="Courier New"/>
                <a:cs typeface="Courier New"/>
                <a:sym typeface="Courier New"/>
              </a:rPr>
              <a:t>// Flip the result if descending is requested</a:t>
            </a:r>
            <a:endParaRPr sz="9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   </a:t>
            </a:r>
            <a:r>
              <a:rPr lang="en" sz="900">
                <a:solidFill>
                  <a:srgbClr val="C586C0"/>
                </a:solidFill>
                <a:highlight>
                  <a:srgbClr val="121314"/>
                </a:highlight>
                <a:latin typeface="Courier New"/>
                <a:ea typeface="Courier New"/>
                <a:cs typeface="Courier New"/>
                <a:sym typeface="Courier New"/>
              </a:rPr>
              <a:t>return</a:t>
            </a:r>
            <a:r>
              <a:rPr lang="en" sz="900">
                <a:solidFill>
                  <a:srgbClr val="C9D1D9"/>
                </a:solidFill>
                <a:highlight>
                  <a:srgbClr val="121314"/>
                </a:highlight>
                <a:latin typeface="Courier New"/>
                <a:ea typeface="Courier New"/>
                <a:cs typeface="Courier New"/>
                <a:sym typeface="Courier New"/>
              </a:rPr>
              <a:t> ascending </a:t>
            </a:r>
            <a:r>
              <a:rPr lang="en" sz="900">
                <a:solidFill>
                  <a:srgbClr val="D4D4D4"/>
                </a:solidFill>
                <a:highlight>
                  <a:srgbClr val="121314"/>
                </a:highlight>
                <a:latin typeface="Courier New"/>
                <a:ea typeface="Courier New"/>
                <a:cs typeface="Courier New"/>
                <a:sym typeface="Courier New"/>
              </a:rPr>
              <a:t>?</a:t>
            </a:r>
            <a:r>
              <a:rPr lang="en" sz="900">
                <a:solidFill>
                  <a:srgbClr val="C9D1D9"/>
                </a:solidFill>
                <a:highlight>
                  <a:srgbClr val="121314"/>
                </a:highlight>
                <a:latin typeface="Courier New"/>
                <a:ea typeface="Courier New"/>
                <a:cs typeface="Courier New"/>
                <a:sym typeface="Courier New"/>
              </a:rPr>
              <a:t> result </a:t>
            </a:r>
            <a:r>
              <a:rPr lang="en" sz="900">
                <a:solidFill>
                  <a:srgbClr val="D4D4D4"/>
                </a:solidFill>
                <a:highlight>
                  <a:srgbClr val="121314"/>
                </a:highlight>
                <a:latin typeface="Courier New"/>
                <a:ea typeface="Courier New"/>
                <a:cs typeface="Courier New"/>
                <a:sym typeface="Courier New"/>
              </a:rPr>
              <a:t>:</a:t>
            </a:r>
            <a:r>
              <a:rPr lang="en" sz="900">
                <a:solidFill>
                  <a:srgbClr val="C9D1D9"/>
                </a:solidFill>
                <a:highlight>
                  <a:srgbClr val="121314"/>
                </a:highlight>
                <a:latin typeface="Courier New"/>
                <a:ea typeface="Courier New"/>
                <a:cs typeface="Courier New"/>
                <a:sym typeface="Courier New"/>
              </a:rPr>
              <a:t> </a:t>
            </a:r>
            <a:r>
              <a:rPr lang="en" sz="900">
                <a:solidFill>
                  <a:srgbClr val="D4D4D4"/>
                </a:solidFill>
                <a:highlight>
                  <a:srgbClr val="121314"/>
                </a:highlight>
                <a:latin typeface="Courier New"/>
                <a:ea typeface="Courier New"/>
                <a:cs typeface="Courier New"/>
                <a:sym typeface="Courier New"/>
              </a:rPr>
              <a:t>-</a:t>
            </a:r>
            <a:r>
              <a:rPr lang="en" sz="900">
                <a:solidFill>
                  <a:srgbClr val="C9D1D9"/>
                </a:solidFill>
                <a:highlight>
                  <a:srgbClr val="121314"/>
                </a:highlight>
                <a:latin typeface="Courier New"/>
                <a:ea typeface="Courier New"/>
                <a:cs typeface="Courier New"/>
                <a:sym typeface="Courier New"/>
              </a:rPr>
              <a:t>result;</a:t>
            </a:r>
            <a:endParaRPr sz="9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 };</a:t>
            </a:r>
            <a:endParaRPr sz="9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a:t>
            </a:r>
            <a:endParaRPr sz="900">
              <a:solidFill>
                <a:srgbClr val="8B949E"/>
              </a:solidFill>
              <a:highlight>
                <a:srgbClr val="121314"/>
              </a:highlight>
              <a:latin typeface="Courier New"/>
              <a:ea typeface="Courier New"/>
              <a:cs typeface="Courier New"/>
              <a:sym typeface="Courier New"/>
            </a:endParaRPr>
          </a:p>
        </p:txBody>
      </p:sp>
      <p:sp>
        <p:nvSpPr>
          <p:cNvPr id="648" name="Google Shape;648;p89"/>
          <p:cNvSpPr txBox="1"/>
          <p:nvPr/>
        </p:nvSpPr>
        <p:spPr>
          <a:xfrm>
            <a:off x="5042300" y="1200450"/>
            <a:ext cx="3702600" cy="29091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900">
                <a:solidFill>
                  <a:srgbClr val="FF7B72"/>
                </a:solidFill>
                <a:highlight>
                  <a:srgbClr val="121314"/>
                </a:highlight>
                <a:latin typeface="Courier New"/>
                <a:ea typeface="Courier New"/>
                <a:cs typeface="Courier New"/>
                <a:sym typeface="Courier New"/>
              </a:rPr>
              <a:t>const</a:t>
            </a:r>
            <a:r>
              <a:rPr lang="en" sz="900">
                <a:solidFill>
                  <a:srgbClr val="BBBEBF"/>
                </a:solidFill>
                <a:highlight>
                  <a:srgbClr val="121314"/>
                </a:highlight>
                <a:latin typeface="Courier New"/>
                <a:ea typeface="Courier New"/>
                <a:cs typeface="Courier New"/>
                <a:sym typeface="Courier New"/>
              </a:rPr>
              <a:t> </a:t>
            </a:r>
            <a:r>
              <a:rPr lang="en" sz="900">
                <a:solidFill>
                  <a:srgbClr val="79C0FF"/>
                </a:solidFill>
                <a:highlight>
                  <a:srgbClr val="121314"/>
                </a:highlight>
                <a:latin typeface="Courier New"/>
                <a:ea typeface="Courier New"/>
                <a:cs typeface="Courier New"/>
                <a:sym typeface="Courier New"/>
              </a:rPr>
              <a:t>users</a:t>
            </a:r>
            <a:r>
              <a:rPr lang="en" sz="900">
                <a:solidFill>
                  <a:srgbClr val="BBBEBF"/>
                </a:solidFill>
                <a:highlight>
                  <a:srgbClr val="121314"/>
                </a:highlight>
                <a:latin typeface="Courier New"/>
                <a:ea typeface="Courier New"/>
                <a:cs typeface="Courier New"/>
                <a:sym typeface="Courier New"/>
              </a:rPr>
              <a:t> </a:t>
            </a:r>
            <a:r>
              <a:rPr lang="en" sz="900">
                <a:solidFill>
                  <a:srgbClr val="D4D4D4"/>
                </a:solidFill>
                <a:highlight>
                  <a:srgbClr val="121314"/>
                </a:highlight>
                <a:latin typeface="Courier New"/>
                <a:ea typeface="Courier New"/>
                <a:cs typeface="Courier New"/>
                <a:sym typeface="Courier New"/>
              </a:rPr>
              <a:t>=</a:t>
            </a:r>
            <a:r>
              <a:rPr lang="en" sz="900">
                <a:solidFill>
                  <a:srgbClr val="BBBEBF"/>
                </a:solidFill>
                <a:highlight>
                  <a:srgbClr val="121314"/>
                </a:highlight>
                <a:latin typeface="Courier New"/>
                <a:ea typeface="Courier New"/>
                <a:cs typeface="Courier New"/>
                <a:sym typeface="Courier New"/>
              </a:rPr>
              <a:t> [</a:t>
            </a: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BBBEBF"/>
                </a:solidFill>
                <a:highlight>
                  <a:srgbClr val="121314"/>
                </a:highlight>
                <a:latin typeface="Courier New"/>
                <a:ea typeface="Courier New"/>
                <a:cs typeface="Courier New"/>
                <a:sym typeface="Courier New"/>
              </a:rPr>
              <a:t> { </a:t>
            </a:r>
            <a:r>
              <a:rPr lang="en" sz="900">
                <a:solidFill>
                  <a:srgbClr val="9CDCFE"/>
                </a:solidFill>
                <a:highlight>
                  <a:srgbClr val="121314"/>
                </a:highlight>
                <a:latin typeface="Courier New"/>
                <a:ea typeface="Courier New"/>
                <a:cs typeface="Courier New"/>
                <a:sym typeface="Courier New"/>
              </a:rPr>
              <a:t>name:</a:t>
            </a:r>
            <a:r>
              <a:rPr lang="en" sz="900">
                <a:solidFill>
                  <a:srgbClr val="C9D1D9"/>
                </a:solidFill>
                <a:highlight>
                  <a:srgbClr val="121314"/>
                </a:highlight>
                <a:latin typeface="Courier New"/>
                <a:ea typeface="Courier New"/>
                <a:cs typeface="Courier New"/>
                <a:sym typeface="Courier New"/>
              </a:rPr>
              <a:t> </a:t>
            </a:r>
            <a:r>
              <a:rPr lang="en" sz="900">
                <a:solidFill>
                  <a:srgbClr val="A5D6FF"/>
                </a:solidFill>
                <a:highlight>
                  <a:srgbClr val="121314"/>
                </a:highlight>
                <a:latin typeface="Courier New"/>
                <a:ea typeface="Courier New"/>
                <a:cs typeface="Courier New"/>
                <a:sym typeface="Courier New"/>
              </a:rPr>
              <a:t>'Charlie'</a:t>
            </a:r>
            <a:r>
              <a:rPr lang="en" sz="900">
                <a:solidFill>
                  <a:srgbClr val="BBBEBF"/>
                </a:solidFill>
                <a:highlight>
                  <a:srgbClr val="121314"/>
                </a:highlight>
                <a:latin typeface="Courier New"/>
                <a:ea typeface="Courier New"/>
                <a:cs typeface="Courier New"/>
                <a:sym typeface="Courier New"/>
              </a:rPr>
              <a:t>, </a:t>
            </a:r>
            <a:r>
              <a:rPr lang="en" sz="900">
                <a:solidFill>
                  <a:srgbClr val="9CDCFE"/>
                </a:solidFill>
                <a:highlight>
                  <a:srgbClr val="121314"/>
                </a:highlight>
                <a:latin typeface="Courier New"/>
                <a:ea typeface="Courier New"/>
                <a:cs typeface="Courier New"/>
                <a:sym typeface="Courier New"/>
              </a:rPr>
              <a:t>age:</a:t>
            </a:r>
            <a:r>
              <a:rPr lang="en" sz="900">
                <a:solidFill>
                  <a:srgbClr val="C9D1D9"/>
                </a:solidFill>
                <a:highlight>
                  <a:srgbClr val="121314"/>
                </a:highlight>
                <a:latin typeface="Courier New"/>
                <a:ea typeface="Courier New"/>
                <a:cs typeface="Courier New"/>
                <a:sym typeface="Courier New"/>
              </a:rPr>
              <a:t> </a:t>
            </a:r>
            <a:r>
              <a:rPr lang="en" sz="900">
                <a:solidFill>
                  <a:srgbClr val="B5CEA8"/>
                </a:solidFill>
                <a:highlight>
                  <a:srgbClr val="121314"/>
                </a:highlight>
                <a:latin typeface="Courier New"/>
                <a:ea typeface="Courier New"/>
                <a:cs typeface="Courier New"/>
                <a:sym typeface="Courier New"/>
              </a:rPr>
              <a:t>30</a:t>
            </a:r>
            <a:r>
              <a:rPr lang="en" sz="900">
                <a:solidFill>
                  <a:srgbClr val="C9D1D9"/>
                </a:solidFill>
                <a:highlight>
                  <a:srgbClr val="121314"/>
                </a:highlight>
                <a:latin typeface="Courier New"/>
                <a:ea typeface="Courier New"/>
                <a:cs typeface="Courier New"/>
                <a:sym typeface="Courier New"/>
              </a:rPr>
              <a:t> </a:t>
            </a:r>
            <a:r>
              <a:rPr lang="en" sz="900">
                <a:solidFill>
                  <a:srgbClr val="BBBEBF"/>
                </a:solidFill>
                <a:highlight>
                  <a:srgbClr val="121314"/>
                </a:highlight>
                <a:latin typeface="Courier New"/>
                <a:ea typeface="Courier New"/>
                <a:cs typeface="Courier New"/>
                <a:sym typeface="Courier New"/>
              </a:rPr>
              <a:t>},</a:t>
            </a: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BBBEBF"/>
                </a:solidFill>
                <a:highlight>
                  <a:srgbClr val="121314"/>
                </a:highlight>
                <a:latin typeface="Courier New"/>
                <a:ea typeface="Courier New"/>
                <a:cs typeface="Courier New"/>
                <a:sym typeface="Courier New"/>
              </a:rPr>
              <a:t> { </a:t>
            </a:r>
            <a:r>
              <a:rPr lang="en" sz="900">
                <a:solidFill>
                  <a:srgbClr val="9CDCFE"/>
                </a:solidFill>
                <a:highlight>
                  <a:srgbClr val="121314"/>
                </a:highlight>
                <a:latin typeface="Courier New"/>
                <a:ea typeface="Courier New"/>
                <a:cs typeface="Courier New"/>
                <a:sym typeface="Courier New"/>
              </a:rPr>
              <a:t>name:</a:t>
            </a:r>
            <a:r>
              <a:rPr lang="en" sz="900">
                <a:solidFill>
                  <a:srgbClr val="C9D1D9"/>
                </a:solidFill>
                <a:highlight>
                  <a:srgbClr val="121314"/>
                </a:highlight>
                <a:latin typeface="Courier New"/>
                <a:ea typeface="Courier New"/>
                <a:cs typeface="Courier New"/>
                <a:sym typeface="Courier New"/>
              </a:rPr>
              <a:t> </a:t>
            </a:r>
            <a:r>
              <a:rPr lang="en" sz="900">
                <a:solidFill>
                  <a:srgbClr val="A5D6FF"/>
                </a:solidFill>
                <a:highlight>
                  <a:srgbClr val="121314"/>
                </a:highlight>
                <a:latin typeface="Courier New"/>
                <a:ea typeface="Courier New"/>
                <a:cs typeface="Courier New"/>
                <a:sym typeface="Courier New"/>
              </a:rPr>
              <a:t>'Alice'</a:t>
            </a:r>
            <a:r>
              <a:rPr lang="en" sz="900">
                <a:solidFill>
                  <a:srgbClr val="BBBEBF"/>
                </a:solidFill>
                <a:highlight>
                  <a:srgbClr val="121314"/>
                </a:highlight>
                <a:latin typeface="Courier New"/>
                <a:ea typeface="Courier New"/>
                <a:cs typeface="Courier New"/>
                <a:sym typeface="Courier New"/>
              </a:rPr>
              <a:t>, </a:t>
            </a:r>
            <a:r>
              <a:rPr lang="en" sz="900">
                <a:solidFill>
                  <a:srgbClr val="9CDCFE"/>
                </a:solidFill>
                <a:highlight>
                  <a:srgbClr val="121314"/>
                </a:highlight>
                <a:latin typeface="Courier New"/>
                <a:ea typeface="Courier New"/>
                <a:cs typeface="Courier New"/>
                <a:sym typeface="Courier New"/>
              </a:rPr>
              <a:t>age:</a:t>
            </a:r>
            <a:r>
              <a:rPr lang="en" sz="900">
                <a:solidFill>
                  <a:srgbClr val="C9D1D9"/>
                </a:solidFill>
                <a:highlight>
                  <a:srgbClr val="121314"/>
                </a:highlight>
                <a:latin typeface="Courier New"/>
                <a:ea typeface="Courier New"/>
                <a:cs typeface="Courier New"/>
                <a:sym typeface="Courier New"/>
              </a:rPr>
              <a:t> </a:t>
            </a:r>
            <a:r>
              <a:rPr lang="en" sz="900">
                <a:solidFill>
                  <a:srgbClr val="B5CEA8"/>
                </a:solidFill>
                <a:highlight>
                  <a:srgbClr val="121314"/>
                </a:highlight>
                <a:latin typeface="Courier New"/>
                <a:ea typeface="Courier New"/>
                <a:cs typeface="Courier New"/>
                <a:sym typeface="Courier New"/>
              </a:rPr>
              <a:t>25</a:t>
            </a:r>
            <a:r>
              <a:rPr lang="en" sz="900">
                <a:solidFill>
                  <a:srgbClr val="C9D1D9"/>
                </a:solidFill>
                <a:highlight>
                  <a:srgbClr val="121314"/>
                </a:highlight>
                <a:latin typeface="Courier New"/>
                <a:ea typeface="Courier New"/>
                <a:cs typeface="Courier New"/>
                <a:sym typeface="Courier New"/>
              </a:rPr>
              <a:t> </a:t>
            </a:r>
            <a:r>
              <a:rPr lang="en" sz="900">
                <a:solidFill>
                  <a:srgbClr val="BBBEBF"/>
                </a:solidFill>
                <a:highlight>
                  <a:srgbClr val="121314"/>
                </a:highlight>
                <a:latin typeface="Courier New"/>
                <a:ea typeface="Courier New"/>
                <a:cs typeface="Courier New"/>
                <a:sym typeface="Courier New"/>
              </a:rPr>
              <a:t>},</a:t>
            </a: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BBBEBF"/>
                </a:solidFill>
                <a:highlight>
                  <a:srgbClr val="121314"/>
                </a:highlight>
                <a:latin typeface="Courier New"/>
                <a:ea typeface="Courier New"/>
                <a:cs typeface="Courier New"/>
                <a:sym typeface="Courier New"/>
              </a:rPr>
              <a:t> { </a:t>
            </a:r>
            <a:r>
              <a:rPr lang="en" sz="900">
                <a:solidFill>
                  <a:srgbClr val="9CDCFE"/>
                </a:solidFill>
                <a:highlight>
                  <a:srgbClr val="121314"/>
                </a:highlight>
                <a:latin typeface="Courier New"/>
                <a:ea typeface="Courier New"/>
                <a:cs typeface="Courier New"/>
                <a:sym typeface="Courier New"/>
              </a:rPr>
              <a:t>name:</a:t>
            </a:r>
            <a:r>
              <a:rPr lang="en" sz="900">
                <a:solidFill>
                  <a:srgbClr val="C9D1D9"/>
                </a:solidFill>
                <a:highlight>
                  <a:srgbClr val="121314"/>
                </a:highlight>
                <a:latin typeface="Courier New"/>
                <a:ea typeface="Courier New"/>
                <a:cs typeface="Courier New"/>
                <a:sym typeface="Courier New"/>
              </a:rPr>
              <a:t> </a:t>
            </a:r>
            <a:r>
              <a:rPr lang="en" sz="900">
                <a:solidFill>
                  <a:srgbClr val="A5D6FF"/>
                </a:solidFill>
                <a:highlight>
                  <a:srgbClr val="121314"/>
                </a:highlight>
                <a:latin typeface="Courier New"/>
                <a:ea typeface="Courier New"/>
                <a:cs typeface="Courier New"/>
                <a:sym typeface="Courier New"/>
              </a:rPr>
              <a:t>'Bob'</a:t>
            </a:r>
            <a:r>
              <a:rPr lang="en" sz="900">
                <a:solidFill>
                  <a:srgbClr val="BBBEBF"/>
                </a:solidFill>
                <a:highlight>
                  <a:srgbClr val="121314"/>
                </a:highlight>
                <a:latin typeface="Courier New"/>
                <a:ea typeface="Courier New"/>
                <a:cs typeface="Courier New"/>
                <a:sym typeface="Courier New"/>
              </a:rPr>
              <a:t>, </a:t>
            </a:r>
            <a:r>
              <a:rPr lang="en" sz="900">
                <a:solidFill>
                  <a:srgbClr val="9CDCFE"/>
                </a:solidFill>
                <a:highlight>
                  <a:srgbClr val="121314"/>
                </a:highlight>
                <a:latin typeface="Courier New"/>
                <a:ea typeface="Courier New"/>
                <a:cs typeface="Courier New"/>
                <a:sym typeface="Courier New"/>
              </a:rPr>
              <a:t>age:</a:t>
            </a:r>
            <a:r>
              <a:rPr lang="en" sz="900">
                <a:solidFill>
                  <a:srgbClr val="C9D1D9"/>
                </a:solidFill>
                <a:highlight>
                  <a:srgbClr val="121314"/>
                </a:highlight>
                <a:latin typeface="Courier New"/>
                <a:ea typeface="Courier New"/>
                <a:cs typeface="Courier New"/>
                <a:sym typeface="Courier New"/>
              </a:rPr>
              <a:t> </a:t>
            </a:r>
            <a:r>
              <a:rPr lang="en" sz="900">
                <a:solidFill>
                  <a:srgbClr val="B5CEA8"/>
                </a:solidFill>
                <a:highlight>
                  <a:srgbClr val="121314"/>
                </a:highlight>
                <a:latin typeface="Courier New"/>
                <a:ea typeface="Courier New"/>
                <a:cs typeface="Courier New"/>
                <a:sym typeface="Courier New"/>
              </a:rPr>
              <a:t>30</a:t>
            </a:r>
            <a:r>
              <a:rPr lang="en" sz="900">
                <a:solidFill>
                  <a:srgbClr val="C9D1D9"/>
                </a:solidFill>
                <a:highlight>
                  <a:srgbClr val="121314"/>
                </a:highlight>
                <a:latin typeface="Courier New"/>
                <a:ea typeface="Courier New"/>
                <a:cs typeface="Courier New"/>
                <a:sym typeface="Courier New"/>
              </a:rPr>
              <a:t> </a:t>
            </a:r>
            <a:r>
              <a:rPr lang="en" sz="900">
                <a:solidFill>
                  <a:srgbClr val="BBBEBF"/>
                </a:solidFill>
                <a:highlight>
                  <a:srgbClr val="121314"/>
                </a:highlight>
                <a:latin typeface="Courier New"/>
                <a:ea typeface="Courier New"/>
                <a:cs typeface="Courier New"/>
                <a:sym typeface="Courier New"/>
              </a:rPr>
              <a:t>}</a:t>
            </a: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BBBEBF"/>
                </a:solidFill>
                <a:highlight>
                  <a:srgbClr val="121314"/>
                </a:highlight>
                <a:latin typeface="Courier New"/>
                <a:ea typeface="Courier New"/>
                <a:cs typeface="Courier New"/>
                <a:sym typeface="Courier New"/>
              </a:rPr>
              <a:t>];</a:t>
            </a: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8B949E"/>
                </a:solidFill>
                <a:highlight>
                  <a:srgbClr val="121314"/>
                </a:highlight>
                <a:latin typeface="Courier New"/>
                <a:ea typeface="Courier New"/>
                <a:cs typeface="Courier New"/>
                <a:sym typeface="Courier New"/>
              </a:rPr>
              <a:t>// Sort dynamically by 'age' (Ascending)</a:t>
            </a:r>
            <a:endParaRPr sz="9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users</a:t>
            </a:r>
            <a:r>
              <a:rPr lang="en" sz="900">
                <a:solidFill>
                  <a:srgbClr val="BBBEBF"/>
                </a:solidFill>
                <a:highlight>
                  <a:srgbClr val="121314"/>
                </a:highlight>
                <a:latin typeface="Courier New"/>
                <a:ea typeface="Courier New"/>
                <a:cs typeface="Courier New"/>
                <a:sym typeface="Courier New"/>
              </a:rPr>
              <a:t>.</a:t>
            </a:r>
            <a:r>
              <a:rPr lang="en" sz="900">
                <a:solidFill>
                  <a:srgbClr val="D2A8FF"/>
                </a:solidFill>
                <a:highlight>
                  <a:srgbClr val="121314"/>
                </a:highlight>
                <a:latin typeface="Courier New"/>
                <a:ea typeface="Courier New"/>
                <a:cs typeface="Courier New"/>
                <a:sym typeface="Courier New"/>
              </a:rPr>
              <a:t>sort</a:t>
            </a:r>
            <a:r>
              <a:rPr lang="en" sz="900">
                <a:solidFill>
                  <a:srgbClr val="BBBEBF"/>
                </a:solidFill>
                <a:highlight>
                  <a:srgbClr val="121314"/>
                </a:highlight>
                <a:latin typeface="Courier New"/>
                <a:ea typeface="Courier New"/>
                <a:cs typeface="Courier New"/>
                <a:sym typeface="Courier New"/>
              </a:rPr>
              <a:t>(</a:t>
            </a:r>
            <a:r>
              <a:rPr lang="en" sz="900">
                <a:solidFill>
                  <a:srgbClr val="D2A8FF"/>
                </a:solidFill>
                <a:highlight>
                  <a:srgbClr val="121314"/>
                </a:highlight>
                <a:latin typeface="Courier New"/>
                <a:ea typeface="Courier New"/>
                <a:cs typeface="Courier New"/>
                <a:sym typeface="Courier New"/>
              </a:rPr>
              <a:t>sortBy</a:t>
            </a:r>
            <a:r>
              <a:rPr lang="en" sz="900">
                <a:solidFill>
                  <a:srgbClr val="BBBEBF"/>
                </a:solidFill>
                <a:highlight>
                  <a:srgbClr val="121314"/>
                </a:highlight>
                <a:latin typeface="Courier New"/>
                <a:ea typeface="Courier New"/>
                <a:cs typeface="Courier New"/>
                <a:sym typeface="Courier New"/>
              </a:rPr>
              <a:t>(</a:t>
            </a:r>
            <a:r>
              <a:rPr lang="en" sz="900">
                <a:solidFill>
                  <a:srgbClr val="A5D6FF"/>
                </a:solidFill>
                <a:highlight>
                  <a:srgbClr val="121314"/>
                </a:highlight>
                <a:latin typeface="Courier New"/>
                <a:ea typeface="Courier New"/>
                <a:cs typeface="Courier New"/>
                <a:sym typeface="Courier New"/>
              </a:rPr>
              <a:t>'age'</a:t>
            </a:r>
            <a:r>
              <a:rPr lang="en" sz="900">
                <a:solidFill>
                  <a:srgbClr val="BBBEBF"/>
                </a:solidFill>
                <a:highlight>
                  <a:srgbClr val="121314"/>
                </a:highlight>
                <a:latin typeface="Courier New"/>
                <a:ea typeface="Courier New"/>
                <a:cs typeface="Courier New"/>
                <a:sym typeface="Courier New"/>
              </a:rPr>
              <a:t>, </a:t>
            </a:r>
            <a:r>
              <a:rPr lang="en" sz="900">
                <a:solidFill>
                  <a:srgbClr val="569CD6"/>
                </a:solidFill>
                <a:highlight>
                  <a:srgbClr val="121314"/>
                </a:highlight>
                <a:latin typeface="Courier New"/>
                <a:ea typeface="Courier New"/>
                <a:cs typeface="Courier New"/>
                <a:sym typeface="Courier New"/>
              </a:rPr>
              <a:t>true</a:t>
            </a:r>
            <a:r>
              <a:rPr lang="en" sz="900">
                <a:solidFill>
                  <a:srgbClr val="BBBEBF"/>
                </a:solidFill>
                <a:highlight>
                  <a:srgbClr val="121314"/>
                </a:highlight>
                <a:latin typeface="Courier New"/>
                <a:ea typeface="Courier New"/>
                <a:cs typeface="Courier New"/>
                <a:sym typeface="Courier New"/>
              </a:rPr>
              <a:t>));</a:t>
            </a: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console</a:t>
            </a:r>
            <a:r>
              <a:rPr lang="en" sz="900">
                <a:solidFill>
                  <a:srgbClr val="BBBEBF"/>
                </a:solidFill>
                <a:highlight>
                  <a:srgbClr val="121314"/>
                </a:highlight>
                <a:latin typeface="Courier New"/>
                <a:ea typeface="Courier New"/>
                <a:cs typeface="Courier New"/>
                <a:sym typeface="Courier New"/>
              </a:rPr>
              <a:t>.</a:t>
            </a:r>
            <a:r>
              <a:rPr lang="en" sz="900">
                <a:solidFill>
                  <a:srgbClr val="D2A8FF"/>
                </a:solidFill>
                <a:highlight>
                  <a:srgbClr val="121314"/>
                </a:highlight>
                <a:latin typeface="Courier New"/>
                <a:ea typeface="Courier New"/>
                <a:cs typeface="Courier New"/>
                <a:sym typeface="Courier New"/>
              </a:rPr>
              <a:t>log</a:t>
            </a:r>
            <a:r>
              <a:rPr lang="en" sz="900">
                <a:solidFill>
                  <a:srgbClr val="BBBEBF"/>
                </a:solidFill>
                <a:highlight>
                  <a:srgbClr val="121314"/>
                </a:highlight>
                <a:latin typeface="Courier New"/>
                <a:ea typeface="Courier New"/>
                <a:cs typeface="Courier New"/>
                <a:sym typeface="Courier New"/>
              </a:rPr>
              <a:t>(</a:t>
            </a:r>
            <a:r>
              <a:rPr lang="en" sz="900">
                <a:solidFill>
                  <a:srgbClr val="A5D6FF"/>
                </a:solidFill>
                <a:highlight>
                  <a:srgbClr val="121314"/>
                </a:highlight>
                <a:latin typeface="Courier New"/>
                <a:ea typeface="Courier New"/>
                <a:cs typeface="Courier New"/>
                <a:sym typeface="Courier New"/>
              </a:rPr>
              <a:t>'Sorted by Age (Asc):'</a:t>
            </a:r>
            <a:r>
              <a:rPr lang="en" sz="900">
                <a:solidFill>
                  <a:srgbClr val="BBBEBF"/>
                </a:solidFill>
                <a:highlight>
                  <a:srgbClr val="121314"/>
                </a:highlight>
                <a:latin typeface="Courier New"/>
                <a:ea typeface="Courier New"/>
                <a:cs typeface="Courier New"/>
                <a:sym typeface="Courier New"/>
              </a:rPr>
              <a:t>, </a:t>
            </a:r>
            <a:r>
              <a:rPr lang="en" sz="900">
                <a:solidFill>
                  <a:srgbClr val="C9D1D9"/>
                </a:solidFill>
                <a:highlight>
                  <a:srgbClr val="121314"/>
                </a:highlight>
                <a:latin typeface="Courier New"/>
                <a:ea typeface="Courier New"/>
                <a:cs typeface="Courier New"/>
                <a:sym typeface="Courier New"/>
              </a:rPr>
              <a:t>users</a:t>
            </a:r>
            <a:r>
              <a:rPr lang="en" sz="900">
                <a:solidFill>
                  <a:srgbClr val="BBBEBF"/>
                </a:solidFill>
                <a:highlight>
                  <a:srgbClr val="121314"/>
                </a:highlight>
                <a:latin typeface="Courier New"/>
                <a:ea typeface="Courier New"/>
                <a:cs typeface="Courier New"/>
                <a:sym typeface="Courier New"/>
              </a:rPr>
              <a:t>);</a:t>
            </a: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8B949E"/>
                </a:solidFill>
                <a:highlight>
                  <a:srgbClr val="121314"/>
                </a:highlight>
                <a:latin typeface="Courier New"/>
                <a:ea typeface="Courier New"/>
                <a:cs typeface="Courier New"/>
                <a:sym typeface="Courier New"/>
              </a:rPr>
              <a:t>// Output: Alice (25), Charlie (30), Bob (30)</a:t>
            </a:r>
            <a:endParaRPr sz="9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8B949E"/>
                </a:solidFill>
                <a:highlight>
                  <a:srgbClr val="121314"/>
                </a:highlight>
                <a:latin typeface="Courier New"/>
                <a:ea typeface="Courier New"/>
                <a:cs typeface="Courier New"/>
                <a:sym typeface="Courier New"/>
              </a:rPr>
              <a:t>// Sort dynamically by 'name' (Descending / Z to A)</a:t>
            </a:r>
            <a:endParaRPr sz="9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users</a:t>
            </a:r>
            <a:r>
              <a:rPr lang="en" sz="900">
                <a:solidFill>
                  <a:srgbClr val="BBBEBF"/>
                </a:solidFill>
                <a:highlight>
                  <a:srgbClr val="121314"/>
                </a:highlight>
                <a:latin typeface="Courier New"/>
                <a:ea typeface="Courier New"/>
                <a:cs typeface="Courier New"/>
                <a:sym typeface="Courier New"/>
              </a:rPr>
              <a:t>.</a:t>
            </a:r>
            <a:r>
              <a:rPr lang="en" sz="900">
                <a:solidFill>
                  <a:srgbClr val="D2A8FF"/>
                </a:solidFill>
                <a:highlight>
                  <a:srgbClr val="121314"/>
                </a:highlight>
                <a:latin typeface="Courier New"/>
                <a:ea typeface="Courier New"/>
                <a:cs typeface="Courier New"/>
                <a:sym typeface="Courier New"/>
              </a:rPr>
              <a:t>sort</a:t>
            </a:r>
            <a:r>
              <a:rPr lang="en" sz="900">
                <a:solidFill>
                  <a:srgbClr val="BBBEBF"/>
                </a:solidFill>
                <a:highlight>
                  <a:srgbClr val="121314"/>
                </a:highlight>
                <a:latin typeface="Courier New"/>
                <a:ea typeface="Courier New"/>
                <a:cs typeface="Courier New"/>
                <a:sym typeface="Courier New"/>
              </a:rPr>
              <a:t>(</a:t>
            </a:r>
            <a:r>
              <a:rPr lang="en" sz="900">
                <a:solidFill>
                  <a:srgbClr val="D2A8FF"/>
                </a:solidFill>
                <a:highlight>
                  <a:srgbClr val="121314"/>
                </a:highlight>
                <a:latin typeface="Courier New"/>
                <a:ea typeface="Courier New"/>
                <a:cs typeface="Courier New"/>
                <a:sym typeface="Courier New"/>
              </a:rPr>
              <a:t>sortBy</a:t>
            </a:r>
            <a:r>
              <a:rPr lang="en" sz="900">
                <a:solidFill>
                  <a:srgbClr val="BBBEBF"/>
                </a:solidFill>
                <a:highlight>
                  <a:srgbClr val="121314"/>
                </a:highlight>
                <a:latin typeface="Courier New"/>
                <a:ea typeface="Courier New"/>
                <a:cs typeface="Courier New"/>
                <a:sym typeface="Courier New"/>
              </a:rPr>
              <a:t>(</a:t>
            </a:r>
            <a:r>
              <a:rPr lang="en" sz="900">
                <a:solidFill>
                  <a:srgbClr val="A5D6FF"/>
                </a:solidFill>
                <a:highlight>
                  <a:srgbClr val="121314"/>
                </a:highlight>
                <a:latin typeface="Courier New"/>
                <a:ea typeface="Courier New"/>
                <a:cs typeface="Courier New"/>
                <a:sym typeface="Courier New"/>
              </a:rPr>
              <a:t>'name'</a:t>
            </a:r>
            <a:r>
              <a:rPr lang="en" sz="900">
                <a:solidFill>
                  <a:srgbClr val="BBBEBF"/>
                </a:solidFill>
                <a:highlight>
                  <a:srgbClr val="121314"/>
                </a:highlight>
                <a:latin typeface="Courier New"/>
                <a:ea typeface="Courier New"/>
                <a:cs typeface="Courier New"/>
                <a:sym typeface="Courier New"/>
              </a:rPr>
              <a:t>, </a:t>
            </a:r>
            <a:r>
              <a:rPr lang="en" sz="900">
                <a:solidFill>
                  <a:srgbClr val="569CD6"/>
                </a:solidFill>
                <a:highlight>
                  <a:srgbClr val="121314"/>
                </a:highlight>
                <a:latin typeface="Courier New"/>
                <a:ea typeface="Courier New"/>
                <a:cs typeface="Courier New"/>
                <a:sym typeface="Courier New"/>
              </a:rPr>
              <a:t>false</a:t>
            </a:r>
            <a:r>
              <a:rPr lang="en" sz="900">
                <a:solidFill>
                  <a:srgbClr val="BBBEBF"/>
                </a:solidFill>
                <a:highlight>
                  <a:srgbClr val="121314"/>
                </a:highlight>
                <a:latin typeface="Courier New"/>
                <a:ea typeface="Courier New"/>
                <a:cs typeface="Courier New"/>
                <a:sym typeface="Courier New"/>
              </a:rPr>
              <a:t>));</a:t>
            </a: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console</a:t>
            </a:r>
            <a:r>
              <a:rPr lang="en" sz="900">
                <a:solidFill>
                  <a:srgbClr val="BBBEBF"/>
                </a:solidFill>
                <a:highlight>
                  <a:srgbClr val="121314"/>
                </a:highlight>
                <a:latin typeface="Courier New"/>
                <a:ea typeface="Courier New"/>
                <a:cs typeface="Courier New"/>
                <a:sym typeface="Courier New"/>
              </a:rPr>
              <a:t>.</a:t>
            </a:r>
            <a:r>
              <a:rPr lang="en" sz="900">
                <a:solidFill>
                  <a:srgbClr val="D2A8FF"/>
                </a:solidFill>
                <a:highlight>
                  <a:srgbClr val="121314"/>
                </a:highlight>
                <a:latin typeface="Courier New"/>
                <a:ea typeface="Courier New"/>
                <a:cs typeface="Courier New"/>
                <a:sym typeface="Courier New"/>
              </a:rPr>
              <a:t>log</a:t>
            </a:r>
            <a:r>
              <a:rPr lang="en" sz="900">
                <a:solidFill>
                  <a:srgbClr val="BBBEBF"/>
                </a:solidFill>
                <a:highlight>
                  <a:srgbClr val="121314"/>
                </a:highlight>
                <a:latin typeface="Courier New"/>
                <a:ea typeface="Courier New"/>
                <a:cs typeface="Courier New"/>
                <a:sym typeface="Courier New"/>
              </a:rPr>
              <a:t>(</a:t>
            </a:r>
            <a:r>
              <a:rPr lang="en" sz="900">
                <a:solidFill>
                  <a:srgbClr val="A5D6FF"/>
                </a:solidFill>
                <a:highlight>
                  <a:srgbClr val="121314"/>
                </a:highlight>
                <a:latin typeface="Courier New"/>
                <a:ea typeface="Courier New"/>
                <a:cs typeface="Courier New"/>
                <a:sym typeface="Courier New"/>
              </a:rPr>
              <a:t>'Sorted by Name (Desc):'</a:t>
            </a:r>
            <a:r>
              <a:rPr lang="en" sz="900">
                <a:solidFill>
                  <a:srgbClr val="BBBEBF"/>
                </a:solidFill>
                <a:highlight>
                  <a:srgbClr val="121314"/>
                </a:highlight>
                <a:latin typeface="Courier New"/>
                <a:ea typeface="Courier New"/>
                <a:cs typeface="Courier New"/>
                <a:sym typeface="Courier New"/>
              </a:rPr>
              <a:t>, </a:t>
            </a:r>
            <a:r>
              <a:rPr lang="en" sz="900">
                <a:solidFill>
                  <a:srgbClr val="C9D1D9"/>
                </a:solidFill>
                <a:highlight>
                  <a:srgbClr val="121314"/>
                </a:highlight>
                <a:latin typeface="Courier New"/>
                <a:ea typeface="Courier New"/>
                <a:cs typeface="Courier New"/>
                <a:sym typeface="Courier New"/>
              </a:rPr>
              <a:t>users</a:t>
            </a:r>
            <a:r>
              <a:rPr lang="en" sz="900">
                <a:solidFill>
                  <a:srgbClr val="BBBEBF"/>
                </a:solidFill>
                <a:highlight>
                  <a:srgbClr val="121314"/>
                </a:highlight>
                <a:latin typeface="Courier New"/>
                <a:ea typeface="Courier New"/>
                <a:cs typeface="Courier New"/>
                <a:sym typeface="Courier New"/>
              </a:rPr>
              <a:t>);</a:t>
            </a: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8B949E"/>
                </a:solidFill>
                <a:highlight>
                  <a:srgbClr val="121314"/>
                </a:highlight>
                <a:latin typeface="Courier New"/>
                <a:ea typeface="Courier New"/>
                <a:cs typeface="Courier New"/>
                <a:sym typeface="Courier New"/>
              </a:rPr>
              <a:t>// Output: Charlie, Bob, Alice</a:t>
            </a:r>
            <a:endParaRPr sz="900">
              <a:solidFill>
                <a:srgbClr val="8B949E"/>
              </a:solidFill>
              <a:highlight>
                <a:srgbClr val="121314"/>
              </a:highlight>
              <a:latin typeface="Courier New"/>
              <a:ea typeface="Courier New"/>
              <a:cs typeface="Courier New"/>
              <a:sym typeface="Courier New"/>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p9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Multi-Dimensional Arrays</a:t>
            </a:r>
            <a:endParaRPr/>
          </a:p>
        </p:txBody>
      </p:sp>
      <p:sp>
        <p:nvSpPr>
          <p:cNvPr id="654" name="Google Shape;654;p9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79</a:t>
            </a:fld>
            <a:endParaRPr/>
          </a:p>
        </p:txBody>
      </p:sp>
      <p:sp>
        <p:nvSpPr>
          <p:cNvPr id="655" name="Google Shape;655;p9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To identify a particular two-dimensional multidimensional array element</a:t>
            </a:r>
            <a:endParaRPr/>
          </a:p>
          <a:p>
            <a:pPr marL="457200" lvl="0" indent="-342900" algn="l" rtl="0">
              <a:spcBef>
                <a:spcPts val="0"/>
              </a:spcBef>
              <a:spcAft>
                <a:spcPts val="0"/>
              </a:spcAft>
              <a:buSzPts val="1800"/>
              <a:buChar char="●"/>
            </a:pPr>
            <a:r>
              <a:rPr lang="en"/>
              <a:t>Specify the two indices.</a:t>
            </a:r>
            <a:endParaRPr/>
          </a:p>
          <a:p>
            <a:pPr marL="457200" lvl="0" indent="-342900" algn="l" rtl="0">
              <a:spcBef>
                <a:spcPts val="0"/>
              </a:spcBef>
              <a:spcAft>
                <a:spcPts val="0"/>
              </a:spcAft>
              <a:buSzPts val="1800"/>
              <a:buChar char="●"/>
            </a:pPr>
            <a:r>
              <a:rPr lang="en"/>
              <a:t>By convention, the first identifies the element’s row, and the second identifies the element’s column.</a:t>
            </a:r>
            <a:endParaRPr/>
          </a:p>
          <a:p>
            <a:pPr marL="457200" lvl="0" indent="-342900" algn="l" rtl="0">
              <a:spcBef>
                <a:spcPts val="0"/>
              </a:spcBef>
              <a:spcAft>
                <a:spcPts val="0"/>
              </a:spcAft>
              <a:buSzPts val="1800"/>
              <a:buChar char="●"/>
            </a:pPr>
            <a:r>
              <a:rPr lang="en"/>
              <a:t>In general, an array with m rows and n columns is called an m-by-n array.</a:t>
            </a:r>
            <a:endParaRPr/>
          </a:p>
          <a:p>
            <a:pPr marL="457200" lvl="0" indent="-342900" algn="l" rtl="0">
              <a:spcBef>
                <a:spcPts val="0"/>
              </a:spcBef>
              <a:spcAft>
                <a:spcPts val="0"/>
              </a:spcAft>
              <a:buSzPts val="1800"/>
              <a:buChar char="●"/>
            </a:pPr>
            <a:r>
              <a:rPr lang="en"/>
              <a:t>Two-dimensional array element accessed using an element name of the form a[ row ][ column ].</a:t>
            </a:r>
            <a:endParaRPr/>
          </a:p>
          <a:p>
            <a:pPr marL="914400" lvl="1" indent="-317500" algn="l" rtl="0">
              <a:spcBef>
                <a:spcPts val="0"/>
              </a:spcBef>
              <a:spcAft>
                <a:spcPts val="0"/>
              </a:spcAft>
              <a:buSzPts val="1400"/>
              <a:buChar char="○"/>
            </a:pPr>
            <a:r>
              <a:rPr lang="en"/>
              <a:t>a is the name of the array</a:t>
            </a:r>
            <a:endParaRPr/>
          </a:p>
          <a:p>
            <a:pPr marL="914400" lvl="1" indent="-317500" algn="l" rtl="0">
              <a:spcBef>
                <a:spcPts val="0"/>
              </a:spcBef>
              <a:spcAft>
                <a:spcPts val="0"/>
              </a:spcAft>
              <a:buSzPts val="1400"/>
              <a:buChar char="○"/>
            </a:pPr>
            <a:r>
              <a:rPr lang="en"/>
              <a:t>row and column are the indices that uniquely identify the row and column</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p9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Examples of Multi-Dimensional Arrays</a:t>
            </a:r>
            <a:endParaRPr/>
          </a:p>
        </p:txBody>
      </p:sp>
      <p:sp>
        <p:nvSpPr>
          <p:cNvPr id="661" name="Google Shape;661;p9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80</a:t>
            </a:fld>
            <a:endParaRPr/>
          </a:p>
        </p:txBody>
      </p:sp>
      <p:sp>
        <p:nvSpPr>
          <p:cNvPr id="662" name="Google Shape;662;p91"/>
          <p:cNvSpPr txBox="1"/>
          <p:nvPr/>
        </p:nvSpPr>
        <p:spPr>
          <a:xfrm>
            <a:off x="376775" y="1142175"/>
            <a:ext cx="4416300" cy="38328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900">
                <a:solidFill>
                  <a:srgbClr val="8B949E"/>
                </a:solidFill>
                <a:highlight>
                  <a:srgbClr val="121314"/>
                </a:highlight>
                <a:latin typeface="Courier New"/>
                <a:ea typeface="Courier New"/>
                <a:cs typeface="Courier New"/>
                <a:sym typeface="Courier New"/>
              </a:rPr>
              <a:t>// 3x3 Tic-Tac-Toe Board</a:t>
            </a:r>
            <a:endParaRPr sz="9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FF7B72"/>
                </a:solidFill>
                <a:highlight>
                  <a:srgbClr val="121314"/>
                </a:highlight>
                <a:latin typeface="Courier New"/>
                <a:ea typeface="Courier New"/>
                <a:cs typeface="Courier New"/>
                <a:sym typeface="Courier New"/>
              </a:rPr>
              <a:t>const</a:t>
            </a:r>
            <a:r>
              <a:rPr lang="en" sz="900">
                <a:solidFill>
                  <a:srgbClr val="BBBEBF"/>
                </a:solidFill>
                <a:highlight>
                  <a:srgbClr val="121314"/>
                </a:highlight>
                <a:latin typeface="Courier New"/>
                <a:ea typeface="Courier New"/>
                <a:cs typeface="Courier New"/>
                <a:sym typeface="Courier New"/>
              </a:rPr>
              <a:t> </a:t>
            </a:r>
            <a:r>
              <a:rPr lang="en" sz="900">
                <a:solidFill>
                  <a:srgbClr val="79C0FF"/>
                </a:solidFill>
                <a:highlight>
                  <a:srgbClr val="121314"/>
                </a:highlight>
                <a:latin typeface="Courier New"/>
                <a:ea typeface="Courier New"/>
                <a:cs typeface="Courier New"/>
                <a:sym typeface="Courier New"/>
              </a:rPr>
              <a:t>board</a:t>
            </a:r>
            <a:r>
              <a:rPr lang="en" sz="900">
                <a:solidFill>
                  <a:srgbClr val="BBBEBF"/>
                </a:solidFill>
                <a:highlight>
                  <a:srgbClr val="121314"/>
                </a:highlight>
                <a:latin typeface="Courier New"/>
                <a:ea typeface="Courier New"/>
                <a:cs typeface="Courier New"/>
                <a:sym typeface="Courier New"/>
              </a:rPr>
              <a:t> </a:t>
            </a:r>
            <a:r>
              <a:rPr lang="en" sz="900">
                <a:solidFill>
                  <a:srgbClr val="D4D4D4"/>
                </a:solidFill>
                <a:highlight>
                  <a:srgbClr val="121314"/>
                </a:highlight>
                <a:latin typeface="Courier New"/>
                <a:ea typeface="Courier New"/>
                <a:cs typeface="Courier New"/>
                <a:sym typeface="Courier New"/>
              </a:rPr>
              <a:t>=</a:t>
            </a:r>
            <a:r>
              <a:rPr lang="en" sz="900">
                <a:solidFill>
                  <a:srgbClr val="BBBEBF"/>
                </a:solidFill>
                <a:highlight>
                  <a:srgbClr val="121314"/>
                </a:highlight>
                <a:latin typeface="Courier New"/>
                <a:ea typeface="Courier New"/>
                <a:cs typeface="Courier New"/>
                <a:sym typeface="Courier New"/>
              </a:rPr>
              <a:t> [</a:t>
            </a: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BBBEBF"/>
                </a:solidFill>
                <a:highlight>
                  <a:srgbClr val="121314"/>
                </a:highlight>
                <a:latin typeface="Courier New"/>
                <a:ea typeface="Courier New"/>
                <a:cs typeface="Courier New"/>
                <a:sym typeface="Courier New"/>
              </a:rPr>
              <a:t> [</a:t>
            </a:r>
            <a:r>
              <a:rPr lang="en" sz="900">
                <a:solidFill>
                  <a:srgbClr val="A5D6FF"/>
                </a:solidFill>
                <a:highlight>
                  <a:srgbClr val="121314"/>
                </a:highlight>
                <a:latin typeface="Courier New"/>
                <a:ea typeface="Courier New"/>
                <a:cs typeface="Courier New"/>
                <a:sym typeface="Courier New"/>
              </a:rPr>
              <a:t>'X'</a:t>
            </a:r>
            <a:r>
              <a:rPr lang="en" sz="900">
                <a:solidFill>
                  <a:srgbClr val="BBBEBF"/>
                </a:solidFill>
                <a:highlight>
                  <a:srgbClr val="121314"/>
                </a:highlight>
                <a:latin typeface="Courier New"/>
                <a:ea typeface="Courier New"/>
                <a:cs typeface="Courier New"/>
                <a:sym typeface="Courier New"/>
              </a:rPr>
              <a:t>, </a:t>
            </a:r>
            <a:r>
              <a:rPr lang="en" sz="900">
                <a:solidFill>
                  <a:srgbClr val="A5D6FF"/>
                </a:solidFill>
                <a:highlight>
                  <a:srgbClr val="121314"/>
                </a:highlight>
                <a:latin typeface="Courier New"/>
                <a:ea typeface="Courier New"/>
                <a:cs typeface="Courier New"/>
                <a:sym typeface="Courier New"/>
              </a:rPr>
              <a:t>'O'</a:t>
            </a:r>
            <a:r>
              <a:rPr lang="en" sz="900">
                <a:solidFill>
                  <a:srgbClr val="BBBEBF"/>
                </a:solidFill>
                <a:highlight>
                  <a:srgbClr val="121314"/>
                </a:highlight>
                <a:latin typeface="Courier New"/>
                <a:ea typeface="Courier New"/>
                <a:cs typeface="Courier New"/>
                <a:sym typeface="Courier New"/>
              </a:rPr>
              <a:t>, </a:t>
            </a:r>
            <a:r>
              <a:rPr lang="en" sz="900">
                <a:solidFill>
                  <a:srgbClr val="A5D6FF"/>
                </a:solidFill>
                <a:highlight>
                  <a:srgbClr val="121314"/>
                </a:highlight>
                <a:latin typeface="Courier New"/>
                <a:ea typeface="Courier New"/>
                <a:cs typeface="Courier New"/>
                <a:sym typeface="Courier New"/>
              </a:rPr>
              <a:t>'X'</a:t>
            </a:r>
            <a:r>
              <a:rPr lang="en" sz="900">
                <a:solidFill>
                  <a:srgbClr val="BBBEBF"/>
                </a:solidFill>
                <a:highlight>
                  <a:srgbClr val="121314"/>
                </a:highlight>
                <a:latin typeface="Courier New"/>
                <a:ea typeface="Courier New"/>
                <a:cs typeface="Courier New"/>
                <a:sym typeface="Courier New"/>
              </a:rPr>
              <a:t>], </a:t>
            </a:r>
            <a:r>
              <a:rPr lang="en" sz="900">
                <a:solidFill>
                  <a:srgbClr val="8B949E"/>
                </a:solidFill>
                <a:highlight>
                  <a:srgbClr val="121314"/>
                </a:highlight>
                <a:latin typeface="Courier New"/>
                <a:ea typeface="Courier New"/>
                <a:cs typeface="Courier New"/>
                <a:sym typeface="Courier New"/>
              </a:rPr>
              <a:t>// Row 0</a:t>
            </a:r>
            <a:endParaRPr sz="9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BBBEBF"/>
                </a:solidFill>
                <a:highlight>
                  <a:srgbClr val="121314"/>
                </a:highlight>
                <a:latin typeface="Courier New"/>
                <a:ea typeface="Courier New"/>
                <a:cs typeface="Courier New"/>
                <a:sym typeface="Courier New"/>
              </a:rPr>
              <a:t> [</a:t>
            </a:r>
            <a:r>
              <a:rPr lang="en" sz="900">
                <a:solidFill>
                  <a:srgbClr val="A5D6FF"/>
                </a:solidFill>
                <a:highlight>
                  <a:srgbClr val="121314"/>
                </a:highlight>
                <a:latin typeface="Courier New"/>
                <a:ea typeface="Courier New"/>
                <a:cs typeface="Courier New"/>
                <a:sym typeface="Courier New"/>
              </a:rPr>
              <a:t>' '</a:t>
            </a:r>
            <a:r>
              <a:rPr lang="en" sz="900">
                <a:solidFill>
                  <a:srgbClr val="BBBEBF"/>
                </a:solidFill>
                <a:highlight>
                  <a:srgbClr val="121314"/>
                </a:highlight>
                <a:latin typeface="Courier New"/>
                <a:ea typeface="Courier New"/>
                <a:cs typeface="Courier New"/>
                <a:sym typeface="Courier New"/>
              </a:rPr>
              <a:t>, </a:t>
            </a:r>
            <a:r>
              <a:rPr lang="en" sz="900">
                <a:solidFill>
                  <a:srgbClr val="A5D6FF"/>
                </a:solidFill>
                <a:highlight>
                  <a:srgbClr val="121314"/>
                </a:highlight>
                <a:latin typeface="Courier New"/>
                <a:ea typeface="Courier New"/>
                <a:cs typeface="Courier New"/>
                <a:sym typeface="Courier New"/>
              </a:rPr>
              <a:t>'X'</a:t>
            </a:r>
            <a:r>
              <a:rPr lang="en" sz="900">
                <a:solidFill>
                  <a:srgbClr val="BBBEBF"/>
                </a:solidFill>
                <a:highlight>
                  <a:srgbClr val="121314"/>
                </a:highlight>
                <a:latin typeface="Courier New"/>
                <a:ea typeface="Courier New"/>
                <a:cs typeface="Courier New"/>
                <a:sym typeface="Courier New"/>
              </a:rPr>
              <a:t>, </a:t>
            </a:r>
            <a:r>
              <a:rPr lang="en" sz="900">
                <a:solidFill>
                  <a:srgbClr val="A5D6FF"/>
                </a:solidFill>
                <a:highlight>
                  <a:srgbClr val="121314"/>
                </a:highlight>
                <a:latin typeface="Courier New"/>
                <a:ea typeface="Courier New"/>
                <a:cs typeface="Courier New"/>
                <a:sym typeface="Courier New"/>
              </a:rPr>
              <a:t>'O'</a:t>
            </a:r>
            <a:r>
              <a:rPr lang="en" sz="900">
                <a:solidFill>
                  <a:srgbClr val="BBBEBF"/>
                </a:solidFill>
                <a:highlight>
                  <a:srgbClr val="121314"/>
                </a:highlight>
                <a:latin typeface="Courier New"/>
                <a:ea typeface="Courier New"/>
                <a:cs typeface="Courier New"/>
                <a:sym typeface="Courier New"/>
              </a:rPr>
              <a:t>], </a:t>
            </a:r>
            <a:r>
              <a:rPr lang="en" sz="900">
                <a:solidFill>
                  <a:srgbClr val="8B949E"/>
                </a:solidFill>
                <a:highlight>
                  <a:srgbClr val="121314"/>
                </a:highlight>
                <a:latin typeface="Courier New"/>
                <a:ea typeface="Courier New"/>
                <a:cs typeface="Courier New"/>
                <a:sym typeface="Courier New"/>
              </a:rPr>
              <a:t>// Row 1</a:t>
            </a:r>
            <a:endParaRPr sz="9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BBBEBF"/>
                </a:solidFill>
                <a:highlight>
                  <a:srgbClr val="121314"/>
                </a:highlight>
                <a:latin typeface="Courier New"/>
                <a:ea typeface="Courier New"/>
                <a:cs typeface="Courier New"/>
                <a:sym typeface="Courier New"/>
              </a:rPr>
              <a:t> [</a:t>
            </a:r>
            <a:r>
              <a:rPr lang="en" sz="900">
                <a:solidFill>
                  <a:srgbClr val="A5D6FF"/>
                </a:solidFill>
                <a:highlight>
                  <a:srgbClr val="121314"/>
                </a:highlight>
                <a:latin typeface="Courier New"/>
                <a:ea typeface="Courier New"/>
                <a:cs typeface="Courier New"/>
                <a:sym typeface="Courier New"/>
              </a:rPr>
              <a:t>'O'</a:t>
            </a:r>
            <a:r>
              <a:rPr lang="en" sz="900">
                <a:solidFill>
                  <a:srgbClr val="BBBEBF"/>
                </a:solidFill>
                <a:highlight>
                  <a:srgbClr val="121314"/>
                </a:highlight>
                <a:latin typeface="Courier New"/>
                <a:ea typeface="Courier New"/>
                <a:cs typeface="Courier New"/>
                <a:sym typeface="Courier New"/>
              </a:rPr>
              <a:t>, </a:t>
            </a:r>
            <a:r>
              <a:rPr lang="en" sz="900">
                <a:solidFill>
                  <a:srgbClr val="A5D6FF"/>
                </a:solidFill>
                <a:highlight>
                  <a:srgbClr val="121314"/>
                </a:highlight>
                <a:latin typeface="Courier New"/>
                <a:ea typeface="Courier New"/>
                <a:cs typeface="Courier New"/>
                <a:sym typeface="Courier New"/>
              </a:rPr>
              <a:t>' '</a:t>
            </a:r>
            <a:r>
              <a:rPr lang="en" sz="900">
                <a:solidFill>
                  <a:srgbClr val="BBBEBF"/>
                </a:solidFill>
                <a:highlight>
                  <a:srgbClr val="121314"/>
                </a:highlight>
                <a:latin typeface="Courier New"/>
                <a:ea typeface="Courier New"/>
                <a:cs typeface="Courier New"/>
                <a:sym typeface="Courier New"/>
              </a:rPr>
              <a:t>, </a:t>
            </a:r>
            <a:r>
              <a:rPr lang="en" sz="900">
                <a:solidFill>
                  <a:srgbClr val="A5D6FF"/>
                </a:solidFill>
                <a:highlight>
                  <a:srgbClr val="121314"/>
                </a:highlight>
                <a:latin typeface="Courier New"/>
                <a:ea typeface="Courier New"/>
                <a:cs typeface="Courier New"/>
                <a:sym typeface="Courier New"/>
              </a:rPr>
              <a:t>'X'</a:t>
            </a:r>
            <a:r>
              <a:rPr lang="en" sz="900">
                <a:solidFill>
                  <a:srgbClr val="BBBEBF"/>
                </a:solidFill>
                <a:highlight>
                  <a:srgbClr val="121314"/>
                </a:highlight>
                <a:latin typeface="Courier New"/>
                <a:ea typeface="Courier New"/>
                <a:cs typeface="Courier New"/>
                <a:sym typeface="Courier New"/>
              </a:rPr>
              <a:t>]  </a:t>
            </a:r>
            <a:r>
              <a:rPr lang="en" sz="900">
                <a:solidFill>
                  <a:srgbClr val="8B949E"/>
                </a:solidFill>
                <a:highlight>
                  <a:srgbClr val="121314"/>
                </a:highlight>
                <a:latin typeface="Courier New"/>
                <a:ea typeface="Courier New"/>
                <a:cs typeface="Courier New"/>
                <a:sym typeface="Courier New"/>
              </a:rPr>
              <a:t>// Row 2</a:t>
            </a:r>
            <a:endParaRPr sz="9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BBBEBF"/>
                </a:solidFill>
                <a:highlight>
                  <a:srgbClr val="121314"/>
                </a:highlight>
                <a:latin typeface="Courier New"/>
                <a:ea typeface="Courier New"/>
                <a:cs typeface="Courier New"/>
                <a:sym typeface="Courier New"/>
              </a:rPr>
              <a:t>];</a:t>
            </a: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8B949E"/>
                </a:solidFill>
                <a:highlight>
                  <a:srgbClr val="121314"/>
                </a:highlight>
                <a:latin typeface="Courier New"/>
                <a:ea typeface="Courier New"/>
                <a:cs typeface="Courier New"/>
                <a:sym typeface="Courier New"/>
              </a:rPr>
              <a:t>// Accessing elements: board[row][column]</a:t>
            </a:r>
            <a:endParaRPr sz="9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console</a:t>
            </a:r>
            <a:r>
              <a:rPr lang="en" sz="900">
                <a:solidFill>
                  <a:srgbClr val="BBBEBF"/>
                </a:solidFill>
                <a:highlight>
                  <a:srgbClr val="121314"/>
                </a:highlight>
                <a:latin typeface="Courier New"/>
                <a:ea typeface="Courier New"/>
                <a:cs typeface="Courier New"/>
                <a:sym typeface="Courier New"/>
              </a:rPr>
              <a:t>.</a:t>
            </a:r>
            <a:r>
              <a:rPr lang="en" sz="900">
                <a:solidFill>
                  <a:srgbClr val="D2A8FF"/>
                </a:solidFill>
                <a:highlight>
                  <a:srgbClr val="121314"/>
                </a:highlight>
                <a:latin typeface="Courier New"/>
                <a:ea typeface="Courier New"/>
                <a:cs typeface="Courier New"/>
                <a:sym typeface="Courier New"/>
              </a:rPr>
              <a:t>log</a:t>
            </a:r>
            <a:r>
              <a:rPr lang="en" sz="900">
                <a:solidFill>
                  <a:srgbClr val="BBBEBF"/>
                </a:solidFill>
                <a:highlight>
                  <a:srgbClr val="121314"/>
                </a:highlight>
                <a:latin typeface="Courier New"/>
                <a:ea typeface="Courier New"/>
                <a:cs typeface="Courier New"/>
                <a:sym typeface="Courier New"/>
              </a:rPr>
              <a:t>(</a:t>
            </a:r>
            <a:r>
              <a:rPr lang="en" sz="900">
                <a:solidFill>
                  <a:srgbClr val="C9D1D9"/>
                </a:solidFill>
                <a:highlight>
                  <a:srgbClr val="121314"/>
                </a:highlight>
                <a:latin typeface="Courier New"/>
                <a:ea typeface="Courier New"/>
                <a:cs typeface="Courier New"/>
                <a:sym typeface="Courier New"/>
              </a:rPr>
              <a:t>board</a:t>
            </a:r>
            <a:r>
              <a:rPr lang="en" sz="900">
                <a:solidFill>
                  <a:srgbClr val="BBBEBF"/>
                </a:solidFill>
                <a:highlight>
                  <a:srgbClr val="121314"/>
                </a:highlight>
                <a:latin typeface="Courier New"/>
                <a:ea typeface="Courier New"/>
                <a:cs typeface="Courier New"/>
                <a:sym typeface="Courier New"/>
              </a:rPr>
              <a:t>[</a:t>
            </a:r>
            <a:r>
              <a:rPr lang="en" sz="900">
                <a:solidFill>
                  <a:srgbClr val="B5CEA8"/>
                </a:solidFill>
                <a:highlight>
                  <a:srgbClr val="121314"/>
                </a:highlight>
                <a:latin typeface="Courier New"/>
                <a:ea typeface="Courier New"/>
                <a:cs typeface="Courier New"/>
                <a:sym typeface="Courier New"/>
              </a:rPr>
              <a:t>0</a:t>
            </a:r>
            <a:r>
              <a:rPr lang="en" sz="900">
                <a:solidFill>
                  <a:srgbClr val="BBBEBF"/>
                </a:solidFill>
                <a:highlight>
                  <a:srgbClr val="121314"/>
                </a:highlight>
                <a:latin typeface="Courier New"/>
                <a:ea typeface="Courier New"/>
                <a:cs typeface="Courier New"/>
                <a:sym typeface="Courier New"/>
              </a:rPr>
              <a:t>][</a:t>
            </a:r>
            <a:r>
              <a:rPr lang="en" sz="900">
                <a:solidFill>
                  <a:srgbClr val="B5CEA8"/>
                </a:solidFill>
                <a:highlight>
                  <a:srgbClr val="121314"/>
                </a:highlight>
                <a:latin typeface="Courier New"/>
                <a:ea typeface="Courier New"/>
                <a:cs typeface="Courier New"/>
                <a:sym typeface="Courier New"/>
              </a:rPr>
              <a:t>1</a:t>
            </a:r>
            <a:r>
              <a:rPr lang="en" sz="900">
                <a:solidFill>
                  <a:srgbClr val="BBBEBF"/>
                </a:solidFill>
                <a:highlight>
                  <a:srgbClr val="121314"/>
                </a:highlight>
                <a:latin typeface="Courier New"/>
                <a:ea typeface="Courier New"/>
                <a:cs typeface="Courier New"/>
                <a:sym typeface="Courier New"/>
              </a:rPr>
              <a:t>]); </a:t>
            </a:r>
            <a:r>
              <a:rPr lang="en" sz="900">
                <a:solidFill>
                  <a:srgbClr val="8B949E"/>
                </a:solidFill>
                <a:highlight>
                  <a:srgbClr val="121314"/>
                </a:highlight>
                <a:latin typeface="Courier New"/>
                <a:ea typeface="Courier New"/>
                <a:cs typeface="Courier New"/>
                <a:sym typeface="Courier New"/>
              </a:rPr>
              <a:t>// Output: 'O' (Row 0, Column 1)</a:t>
            </a:r>
            <a:endParaRPr sz="9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console</a:t>
            </a:r>
            <a:r>
              <a:rPr lang="en" sz="900">
                <a:solidFill>
                  <a:srgbClr val="BBBEBF"/>
                </a:solidFill>
                <a:highlight>
                  <a:srgbClr val="121314"/>
                </a:highlight>
                <a:latin typeface="Courier New"/>
                <a:ea typeface="Courier New"/>
                <a:cs typeface="Courier New"/>
                <a:sym typeface="Courier New"/>
              </a:rPr>
              <a:t>.</a:t>
            </a:r>
            <a:r>
              <a:rPr lang="en" sz="900">
                <a:solidFill>
                  <a:srgbClr val="D2A8FF"/>
                </a:solidFill>
                <a:highlight>
                  <a:srgbClr val="121314"/>
                </a:highlight>
                <a:latin typeface="Courier New"/>
                <a:ea typeface="Courier New"/>
                <a:cs typeface="Courier New"/>
                <a:sym typeface="Courier New"/>
              </a:rPr>
              <a:t>log</a:t>
            </a:r>
            <a:r>
              <a:rPr lang="en" sz="900">
                <a:solidFill>
                  <a:srgbClr val="BBBEBF"/>
                </a:solidFill>
                <a:highlight>
                  <a:srgbClr val="121314"/>
                </a:highlight>
                <a:latin typeface="Courier New"/>
                <a:ea typeface="Courier New"/>
                <a:cs typeface="Courier New"/>
                <a:sym typeface="Courier New"/>
              </a:rPr>
              <a:t>(</a:t>
            </a:r>
            <a:r>
              <a:rPr lang="en" sz="900">
                <a:solidFill>
                  <a:srgbClr val="C9D1D9"/>
                </a:solidFill>
                <a:highlight>
                  <a:srgbClr val="121314"/>
                </a:highlight>
                <a:latin typeface="Courier New"/>
                <a:ea typeface="Courier New"/>
                <a:cs typeface="Courier New"/>
                <a:sym typeface="Courier New"/>
              </a:rPr>
              <a:t>board</a:t>
            </a:r>
            <a:r>
              <a:rPr lang="en" sz="900">
                <a:solidFill>
                  <a:srgbClr val="BBBEBF"/>
                </a:solidFill>
                <a:highlight>
                  <a:srgbClr val="121314"/>
                </a:highlight>
                <a:latin typeface="Courier New"/>
                <a:ea typeface="Courier New"/>
                <a:cs typeface="Courier New"/>
                <a:sym typeface="Courier New"/>
              </a:rPr>
              <a:t>[</a:t>
            </a:r>
            <a:r>
              <a:rPr lang="en" sz="900">
                <a:solidFill>
                  <a:srgbClr val="B5CEA8"/>
                </a:solidFill>
                <a:highlight>
                  <a:srgbClr val="121314"/>
                </a:highlight>
                <a:latin typeface="Courier New"/>
                <a:ea typeface="Courier New"/>
                <a:cs typeface="Courier New"/>
                <a:sym typeface="Courier New"/>
              </a:rPr>
              <a:t>2</a:t>
            </a:r>
            <a:r>
              <a:rPr lang="en" sz="900">
                <a:solidFill>
                  <a:srgbClr val="BBBEBF"/>
                </a:solidFill>
                <a:highlight>
                  <a:srgbClr val="121314"/>
                </a:highlight>
                <a:latin typeface="Courier New"/>
                <a:ea typeface="Courier New"/>
                <a:cs typeface="Courier New"/>
                <a:sym typeface="Courier New"/>
              </a:rPr>
              <a:t>][</a:t>
            </a:r>
            <a:r>
              <a:rPr lang="en" sz="900">
                <a:solidFill>
                  <a:srgbClr val="B5CEA8"/>
                </a:solidFill>
                <a:highlight>
                  <a:srgbClr val="121314"/>
                </a:highlight>
                <a:latin typeface="Courier New"/>
                <a:ea typeface="Courier New"/>
                <a:cs typeface="Courier New"/>
                <a:sym typeface="Courier New"/>
              </a:rPr>
              <a:t>2</a:t>
            </a:r>
            <a:r>
              <a:rPr lang="en" sz="900">
                <a:solidFill>
                  <a:srgbClr val="BBBEBF"/>
                </a:solidFill>
                <a:highlight>
                  <a:srgbClr val="121314"/>
                </a:highlight>
                <a:latin typeface="Courier New"/>
                <a:ea typeface="Courier New"/>
                <a:cs typeface="Courier New"/>
                <a:sym typeface="Courier New"/>
              </a:rPr>
              <a:t>]); </a:t>
            </a:r>
            <a:r>
              <a:rPr lang="en" sz="900">
                <a:solidFill>
                  <a:srgbClr val="8B949E"/>
                </a:solidFill>
                <a:highlight>
                  <a:srgbClr val="121314"/>
                </a:highlight>
                <a:latin typeface="Courier New"/>
                <a:ea typeface="Courier New"/>
                <a:cs typeface="Courier New"/>
                <a:sym typeface="Courier New"/>
              </a:rPr>
              <a:t>// Output: 'X' (Row 2, Column 2)</a:t>
            </a:r>
            <a:endParaRPr sz="9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8B949E"/>
                </a:solidFill>
                <a:highlight>
                  <a:srgbClr val="121314"/>
                </a:highlight>
                <a:latin typeface="Courier New"/>
                <a:ea typeface="Courier New"/>
                <a:cs typeface="Courier New"/>
                <a:sym typeface="Courier New"/>
              </a:rPr>
              <a:t>// Modifying an element</a:t>
            </a:r>
            <a:endParaRPr sz="9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board</a:t>
            </a:r>
            <a:r>
              <a:rPr lang="en" sz="900">
                <a:solidFill>
                  <a:srgbClr val="BBBEBF"/>
                </a:solidFill>
                <a:highlight>
                  <a:srgbClr val="121314"/>
                </a:highlight>
                <a:latin typeface="Courier New"/>
                <a:ea typeface="Courier New"/>
                <a:cs typeface="Courier New"/>
                <a:sym typeface="Courier New"/>
              </a:rPr>
              <a:t>[</a:t>
            </a:r>
            <a:r>
              <a:rPr lang="en" sz="900">
                <a:solidFill>
                  <a:srgbClr val="B5CEA8"/>
                </a:solidFill>
                <a:highlight>
                  <a:srgbClr val="121314"/>
                </a:highlight>
                <a:latin typeface="Courier New"/>
                <a:ea typeface="Courier New"/>
                <a:cs typeface="Courier New"/>
                <a:sym typeface="Courier New"/>
              </a:rPr>
              <a:t>1</a:t>
            </a:r>
            <a:r>
              <a:rPr lang="en" sz="900">
                <a:solidFill>
                  <a:srgbClr val="BBBEBF"/>
                </a:solidFill>
                <a:highlight>
                  <a:srgbClr val="121314"/>
                </a:highlight>
                <a:latin typeface="Courier New"/>
                <a:ea typeface="Courier New"/>
                <a:cs typeface="Courier New"/>
                <a:sym typeface="Courier New"/>
              </a:rPr>
              <a:t>][</a:t>
            </a:r>
            <a:r>
              <a:rPr lang="en" sz="900">
                <a:solidFill>
                  <a:srgbClr val="B5CEA8"/>
                </a:solidFill>
                <a:highlight>
                  <a:srgbClr val="121314"/>
                </a:highlight>
                <a:latin typeface="Courier New"/>
                <a:ea typeface="Courier New"/>
                <a:cs typeface="Courier New"/>
                <a:sym typeface="Courier New"/>
              </a:rPr>
              <a:t>0</a:t>
            </a:r>
            <a:r>
              <a:rPr lang="en" sz="900">
                <a:solidFill>
                  <a:srgbClr val="BBBEBF"/>
                </a:solidFill>
                <a:highlight>
                  <a:srgbClr val="121314"/>
                </a:highlight>
                <a:latin typeface="Courier New"/>
                <a:ea typeface="Courier New"/>
                <a:cs typeface="Courier New"/>
                <a:sym typeface="Courier New"/>
              </a:rPr>
              <a:t>] </a:t>
            </a:r>
            <a:r>
              <a:rPr lang="en" sz="900">
                <a:solidFill>
                  <a:srgbClr val="D4D4D4"/>
                </a:solidFill>
                <a:highlight>
                  <a:srgbClr val="121314"/>
                </a:highlight>
                <a:latin typeface="Courier New"/>
                <a:ea typeface="Courier New"/>
                <a:cs typeface="Courier New"/>
                <a:sym typeface="Courier New"/>
              </a:rPr>
              <a:t>=</a:t>
            </a:r>
            <a:r>
              <a:rPr lang="en" sz="900">
                <a:solidFill>
                  <a:srgbClr val="BBBEBF"/>
                </a:solidFill>
                <a:highlight>
                  <a:srgbClr val="121314"/>
                </a:highlight>
                <a:latin typeface="Courier New"/>
                <a:ea typeface="Courier New"/>
                <a:cs typeface="Courier New"/>
                <a:sym typeface="Courier New"/>
              </a:rPr>
              <a:t> </a:t>
            </a:r>
            <a:r>
              <a:rPr lang="en" sz="900">
                <a:solidFill>
                  <a:srgbClr val="A5D6FF"/>
                </a:solidFill>
                <a:highlight>
                  <a:srgbClr val="121314"/>
                </a:highlight>
                <a:latin typeface="Courier New"/>
                <a:ea typeface="Courier New"/>
                <a:cs typeface="Courier New"/>
                <a:sym typeface="Courier New"/>
              </a:rPr>
              <a:t>'O'</a:t>
            </a:r>
            <a:r>
              <a:rPr lang="en" sz="900">
                <a:solidFill>
                  <a:srgbClr val="BBBEBF"/>
                </a:solidFill>
                <a:highlight>
                  <a:srgbClr val="121314"/>
                </a:highlight>
                <a:latin typeface="Courier New"/>
                <a:ea typeface="Courier New"/>
                <a:cs typeface="Courier New"/>
                <a:sym typeface="Courier New"/>
              </a:rPr>
              <a:t>;</a:t>
            </a: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8B949E"/>
                </a:solidFill>
                <a:highlight>
                  <a:srgbClr val="121314"/>
                </a:highlight>
                <a:latin typeface="Courier New"/>
                <a:ea typeface="Courier New"/>
                <a:cs typeface="Courier New"/>
                <a:sym typeface="Courier New"/>
              </a:rPr>
              <a:t>// Iterating over a 2D Array using nested loops</a:t>
            </a:r>
            <a:endParaRPr sz="9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586C0"/>
                </a:solidFill>
                <a:highlight>
                  <a:srgbClr val="121314"/>
                </a:highlight>
                <a:latin typeface="Courier New"/>
                <a:ea typeface="Courier New"/>
                <a:cs typeface="Courier New"/>
                <a:sym typeface="Courier New"/>
              </a:rPr>
              <a:t>for</a:t>
            </a:r>
            <a:r>
              <a:rPr lang="en" sz="900">
                <a:solidFill>
                  <a:srgbClr val="BBBEBF"/>
                </a:solidFill>
                <a:highlight>
                  <a:srgbClr val="121314"/>
                </a:highlight>
                <a:latin typeface="Courier New"/>
                <a:ea typeface="Courier New"/>
                <a:cs typeface="Courier New"/>
                <a:sym typeface="Courier New"/>
              </a:rPr>
              <a:t> (</a:t>
            </a:r>
            <a:r>
              <a:rPr lang="en" sz="900">
                <a:solidFill>
                  <a:srgbClr val="FF7B72"/>
                </a:solidFill>
                <a:highlight>
                  <a:srgbClr val="121314"/>
                </a:highlight>
                <a:latin typeface="Courier New"/>
                <a:ea typeface="Courier New"/>
                <a:cs typeface="Courier New"/>
                <a:sym typeface="Courier New"/>
              </a:rPr>
              <a:t>let</a:t>
            </a:r>
            <a:r>
              <a:rPr lang="en" sz="900">
                <a:solidFill>
                  <a:srgbClr val="BBBEBF"/>
                </a:solidFill>
                <a:highlight>
                  <a:srgbClr val="121314"/>
                </a:highlight>
                <a:latin typeface="Courier New"/>
                <a:ea typeface="Courier New"/>
                <a:cs typeface="Courier New"/>
                <a:sym typeface="Courier New"/>
              </a:rPr>
              <a:t> </a:t>
            </a:r>
            <a:r>
              <a:rPr lang="en" sz="900">
                <a:solidFill>
                  <a:srgbClr val="C9D1D9"/>
                </a:solidFill>
                <a:highlight>
                  <a:srgbClr val="121314"/>
                </a:highlight>
                <a:latin typeface="Courier New"/>
                <a:ea typeface="Courier New"/>
                <a:cs typeface="Courier New"/>
                <a:sym typeface="Courier New"/>
              </a:rPr>
              <a:t>row</a:t>
            </a:r>
            <a:r>
              <a:rPr lang="en" sz="900">
                <a:solidFill>
                  <a:srgbClr val="BBBEBF"/>
                </a:solidFill>
                <a:highlight>
                  <a:srgbClr val="121314"/>
                </a:highlight>
                <a:latin typeface="Courier New"/>
                <a:ea typeface="Courier New"/>
                <a:cs typeface="Courier New"/>
                <a:sym typeface="Courier New"/>
              </a:rPr>
              <a:t> </a:t>
            </a:r>
            <a:r>
              <a:rPr lang="en" sz="900">
                <a:solidFill>
                  <a:srgbClr val="D4D4D4"/>
                </a:solidFill>
                <a:highlight>
                  <a:srgbClr val="121314"/>
                </a:highlight>
                <a:latin typeface="Courier New"/>
                <a:ea typeface="Courier New"/>
                <a:cs typeface="Courier New"/>
                <a:sym typeface="Courier New"/>
              </a:rPr>
              <a:t>=</a:t>
            </a:r>
            <a:r>
              <a:rPr lang="en" sz="900">
                <a:solidFill>
                  <a:srgbClr val="BBBEBF"/>
                </a:solidFill>
                <a:highlight>
                  <a:srgbClr val="121314"/>
                </a:highlight>
                <a:latin typeface="Courier New"/>
                <a:ea typeface="Courier New"/>
                <a:cs typeface="Courier New"/>
                <a:sym typeface="Courier New"/>
              </a:rPr>
              <a:t> </a:t>
            </a:r>
            <a:r>
              <a:rPr lang="en" sz="900">
                <a:solidFill>
                  <a:srgbClr val="B5CEA8"/>
                </a:solidFill>
                <a:highlight>
                  <a:srgbClr val="121314"/>
                </a:highlight>
                <a:latin typeface="Courier New"/>
                <a:ea typeface="Courier New"/>
                <a:cs typeface="Courier New"/>
                <a:sym typeface="Courier New"/>
              </a:rPr>
              <a:t>0</a:t>
            </a:r>
            <a:r>
              <a:rPr lang="en" sz="900">
                <a:solidFill>
                  <a:srgbClr val="BBBEBF"/>
                </a:solidFill>
                <a:highlight>
                  <a:srgbClr val="121314"/>
                </a:highlight>
                <a:latin typeface="Courier New"/>
                <a:ea typeface="Courier New"/>
                <a:cs typeface="Courier New"/>
                <a:sym typeface="Courier New"/>
              </a:rPr>
              <a:t>; </a:t>
            </a:r>
            <a:r>
              <a:rPr lang="en" sz="900">
                <a:solidFill>
                  <a:srgbClr val="C9D1D9"/>
                </a:solidFill>
                <a:highlight>
                  <a:srgbClr val="121314"/>
                </a:highlight>
                <a:latin typeface="Courier New"/>
                <a:ea typeface="Courier New"/>
                <a:cs typeface="Courier New"/>
                <a:sym typeface="Courier New"/>
              </a:rPr>
              <a:t>row</a:t>
            </a:r>
            <a:r>
              <a:rPr lang="en" sz="900">
                <a:solidFill>
                  <a:srgbClr val="BBBEBF"/>
                </a:solidFill>
                <a:highlight>
                  <a:srgbClr val="121314"/>
                </a:highlight>
                <a:latin typeface="Courier New"/>
                <a:ea typeface="Courier New"/>
                <a:cs typeface="Courier New"/>
                <a:sym typeface="Courier New"/>
              </a:rPr>
              <a:t> </a:t>
            </a:r>
            <a:r>
              <a:rPr lang="en" sz="900">
                <a:solidFill>
                  <a:srgbClr val="D4D4D4"/>
                </a:solidFill>
                <a:highlight>
                  <a:srgbClr val="121314"/>
                </a:highlight>
                <a:latin typeface="Courier New"/>
                <a:ea typeface="Courier New"/>
                <a:cs typeface="Courier New"/>
                <a:sym typeface="Courier New"/>
              </a:rPr>
              <a:t>&lt;</a:t>
            </a:r>
            <a:r>
              <a:rPr lang="en" sz="900">
                <a:solidFill>
                  <a:srgbClr val="BBBEBF"/>
                </a:solidFill>
                <a:highlight>
                  <a:srgbClr val="121314"/>
                </a:highlight>
                <a:latin typeface="Courier New"/>
                <a:ea typeface="Courier New"/>
                <a:cs typeface="Courier New"/>
                <a:sym typeface="Courier New"/>
              </a:rPr>
              <a:t> </a:t>
            </a:r>
            <a:r>
              <a:rPr lang="en" sz="900">
                <a:solidFill>
                  <a:srgbClr val="C9D1D9"/>
                </a:solidFill>
                <a:highlight>
                  <a:srgbClr val="121314"/>
                </a:highlight>
                <a:latin typeface="Courier New"/>
                <a:ea typeface="Courier New"/>
                <a:cs typeface="Courier New"/>
                <a:sym typeface="Courier New"/>
              </a:rPr>
              <a:t>board</a:t>
            </a:r>
            <a:r>
              <a:rPr lang="en" sz="900">
                <a:solidFill>
                  <a:srgbClr val="BBBEBF"/>
                </a:solidFill>
                <a:highlight>
                  <a:srgbClr val="121314"/>
                </a:highlight>
                <a:latin typeface="Courier New"/>
                <a:ea typeface="Courier New"/>
                <a:cs typeface="Courier New"/>
                <a:sym typeface="Courier New"/>
              </a:rPr>
              <a:t>.</a:t>
            </a:r>
            <a:r>
              <a:rPr lang="en" sz="900">
                <a:solidFill>
                  <a:srgbClr val="79C0FF"/>
                </a:solidFill>
                <a:highlight>
                  <a:srgbClr val="121314"/>
                </a:highlight>
                <a:latin typeface="Courier New"/>
                <a:ea typeface="Courier New"/>
                <a:cs typeface="Courier New"/>
                <a:sym typeface="Courier New"/>
              </a:rPr>
              <a:t>length</a:t>
            </a:r>
            <a:r>
              <a:rPr lang="en" sz="900">
                <a:solidFill>
                  <a:srgbClr val="BBBEBF"/>
                </a:solidFill>
                <a:highlight>
                  <a:srgbClr val="121314"/>
                </a:highlight>
                <a:latin typeface="Courier New"/>
                <a:ea typeface="Courier New"/>
                <a:cs typeface="Courier New"/>
                <a:sym typeface="Courier New"/>
              </a:rPr>
              <a:t>; </a:t>
            </a:r>
            <a:r>
              <a:rPr lang="en" sz="900">
                <a:solidFill>
                  <a:srgbClr val="C9D1D9"/>
                </a:solidFill>
                <a:highlight>
                  <a:srgbClr val="121314"/>
                </a:highlight>
                <a:latin typeface="Courier New"/>
                <a:ea typeface="Courier New"/>
                <a:cs typeface="Courier New"/>
                <a:sym typeface="Courier New"/>
              </a:rPr>
              <a:t>row</a:t>
            </a:r>
            <a:r>
              <a:rPr lang="en" sz="900">
                <a:solidFill>
                  <a:srgbClr val="D4D4D4"/>
                </a:solidFill>
                <a:highlight>
                  <a:srgbClr val="121314"/>
                </a:highlight>
                <a:latin typeface="Courier New"/>
                <a:ea typeface="Courier New"/>
                <a:cs typeface="Courier New"/>
                <a:sym typeface="Courier New"/>
              </a:rPr>
              <a:t>++</a:t>
            </a:r>
            <a:r>
              <a:rPr lang="en" sz="900">
                <a:solidFill>
                  <a:srgbClr val="BBBEBF"/>
                </a:solidFill>
                <a:highlight>
                  <a:srgbClr val="121314"/>
                </a:highlight>
                <a:latin typeface="Courier New"/>
                <a:ea typeface="Courier New"/>
                <a:cs typeface="Courier New"/>
                <a:sym typeface="Courier New"/>
              </a:rPr>
              <a:t>) </a:t>
            </a:r>
            <a:r>
              <a:rPr lang="en" sz="900">
                <a:solidFill>
                  <a:srgbClr val="C9D1D9"/>
                </a:solidFill>
                <a:highlight>
                  <a:srgbClr val="121314"/>
                </a:highlight>
                <a:latin typeface="Courier New"/>
                <a:ea typeface="Courier New"/>
                <a:cs typeface="Courier New"/>
                <a:sym typeface="Courier New"/>
              </a:rPr>
              <a:t>{</a:t>
            </a:r>
            <a:endParaRPr sz="9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 </a:t>
            </a:r>
            <a:r>
              <a:rPr lang="en" sz="900">
                <a:solidFill>
                  <a:srgbClr val="C586C0"/>
                </a:solidFill>
                <a:highlight>
                  <a:srgbClr val="121314"/>
                </a:highlight>
                <a:latin typeface="Courier New"/>
                <a:ea typeface="Courier New"/>
                <a:cs typeface="Courier New"/>
                <a:sym typeface="Courier New"/>
              </a:rPr>
              <a:t>for</a:t>
            </a:r>
            <a:r>
              <a:rPr lang="en" sz="900">
                <a:solidFill>
                  <a:srgbClr val="C9D1D9"/>
                </a:solidFill>
                <a:highlight>
                  <a:srgbClr val="121314"/>
                </a:highlight>
                <a:latin typeface="Courier New"/>
                <a:ea typeface="Courier New"/>
                <a:cs typeface="Courier New"/>
                <a:sym typeface="Courier New"/>
              </a:rPr>
              <a:t> (</a:t>
            </a:r>
            <a:r>
              <a:rPr lang="en" sz="900">
                <a:solidFill>
                  <a:srgbClr val="FF7B72"/>
                </a:solidFill>
                <a:highlight>
                  <a:srgbClr val="121314"/>
                </a:highlight>
                <a:latin typeface="Courier New"/>
                <a:ea typeface="Courier New"/>
                <a:cs typeface="Courier New"/>
                <a:sym typeface="Courier New"/>
              </a:rPr>
              <a:t>let</a:t>
            </a:r>
            <a:r>
              <a:rPr lang="en" sz="900">
                <a:solidFill>
                  <a:srgbClr val="C9D1D9"/>
                </a:solidFill>
                <a:highlight>
                  <a:srgbClr val="121314"/>
                </a:highlight>
                <a:latin typeface="Courier New"/>
                <a:ea typeface="Courier New"/>
                <a:cs typeface="Courier New"/>
                <a:sym typeface="Courier New"/>
              </a:rPr>
              <a:t> col </a:t>
            </a:r>
            <a:r>
              <a:rPr lang="en" sz="900">
                <a:solidFill>
                  <a:srgbClr val="D4D4D4"/>
                </a:solidFill>
                <a:highlight>
                  <a:srgbClr val="121314"/>
                </a:highlight>
                <a:latin typeface="Courier New"/>
                <a:ea typeface="Courier New"/>
                <a:cs typeface="Courier New"/>
                <a:sym typeface="Courier New"/>
              </a:rPr>
              <a:t>=</a:t>
            </a:r>
            <a:r>
              <a:rPr lang="en" sz="900">
                <a:solidFill>
                  <a:srgbClr val="C9D1D9"/>
                </a:solidFill>
                <a:highlight>
                  <a:srgbClr val="121314"/>
                </a:highlight>
                <a:latin typeface="Courier New"/>
                <a:ea typeface="Courier New"/>
                <a:cs typeface="Courier New"/>
                <a:sym typeface="Courier New"/>
              </a:rPr>
              <a:t> </a:t>
            </a:r>
            <a:r>
              <a:rPr lang="en" sz="900">
                <a:solidFill>
                  <a:srgbClr val="B5CEA8"/>
                </a:solidFill>
                <a:highlight>
                  <a:srgbClr val="121314"/>
                </a:highlight>
                <a:latin typeface="Courier New"/>
                <a:ea typeface="Courier New"/>
                <a:cs typeface="Courier New"/>
                <a:sym typeface="Courier New"/>
              </a:rPr>
              <a:t>0</a:t>
            </a:r>
            <a:r>
              <a:rPr lang="en" sz="900">
                <a:solidFill>
                  <a:srgbClr val="C9D1D9"/>
                </a:solidFill>
                <a:highlight>
                  <a:srgbClr val="121314"/>
                </a:highlight>
                <a:latin typeface="Courier New"/>
                <a:ea typeface="Courier New"/>
                <a:cs typeface="Courier New"/>
                <a:sym typeface="Courier New"/>
              </a:rPr>
              <a:t>; col </a:t>
            </a:r>
            <a:r>
              <a:rPr lang="en" sz="900">
                <a:solidFill>
                  <a:srgbClr val="D4D4D4"/>
                </a:solidFill>
                <a:highlight>
                  <a:srgbClr val="121314"/>
                </a:highlight>
                <a:latin typeface="Courier New"/>
                <a:ea typeface="Courier New"/>
                <a:cs typeface="Courier New"/>
                <a:sym typeface="Courier New"/>
              </a:rPr>
              <a:t>&lt;</a:t>
            </a:r>
            <a:r>
              <a:rPr lang="en" sz="900">
                <a:solidFill>
                  <a:srgbClr val="C9D1D9"/>
                </a:solidFill>
                <a:highlight>
                  <a:srgbClr val="121314"/>
                </a:highlight>
                <a:latin typeface="Courier New"/>
                <a:ea typeface="Courier New"/>
                <a:cs typeface="Courier New"/>
                <a:sym typeface="Courier New"/>
              </a:rPr>
              <a:t> board[row].</a:t>
            </a:r>
            <a:r>
              <a:rPr lang="en" sz="900">
                <a:solidFill>
                  <a:srgbClr val="79C0FF"/>
                </a:solidFill>
                <a:highlight>
                  <a:srgbClr val="121314"/>
                </a:highlight>
                <a:latin typeface="Courier New"/>
                <a:ea typeface="Courier New"/>
                <a:cs typeface="Courier New"/>
                <a:sym typeface="Courier New"/>
              </a:rPr>
              <a:t>length</a:t>
            </a:r>
            <a:r>
              <a:rPr lang="en" sz="900">
                <a:solidFill>
                  <a:srgbClr val="C9D1D9"/>
                </a:solidFill>
                <a:highlight>
                  <a:srgbClr val="121314"/>
                </a:highlight>
                <a:latin typeface="Courier New"/>
                <a:ea typeface="Courier New"/>
                <a:cs typeface="Courier New"/>
                <a:sym typeface="Courier New"/>
              </a:rPr>
              <a:t>; col</a:t>
            </a:r>
            <a:r>
              <a:rPr lang="en" sz="900">
                <a:solidFill>
                  <a:srgbClr val="D4D4D4"/>
                </a:solidFill>
                <a:highlight>
                  <a:srgbClr val="121314"/>
                </a:highlight>
                <a:latin typeface="Courier New"/>
                <a:ea typeface="Courier New"/>
                <a:cs typeface="Courier New"/>
                <a:sym typeface="Courier New"/>
              </a:rPr>
              <a:t>++</a:t>
            </a:r>
            <a:r>
              <a:rPr lang="en" sz="900">
                <a:solidFill>
                  <a:srgbClr val="C9D1D9"/>
                </a:solidFill>
                <a:highlight>
                  <a:srgbClr val="121314"/>
                </a:highlight>
                <a:latin typeface="Courier New"/>
                <a:ea typeface="Courier New"/>
                <a:cs typeface="Courier New"/>
                <a:sym typeface="Courier New"/>
              </a:rPr>
              <a:t>) {</a:t>
            </a:r>
            <a:endParaRPr sz="9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   console.</a:t>
            </a:r>
            <a:r>
              <a:rPr lang="en" sz="900">
                <a:solidFill>
                  <a:srgbClr val="D2A8FF"/>
                </a:solidFill>
                <a:highlight>
                  <a:srgbClr val="121314"/>
                </a:highlight>
                <a:latin typeface="Courier New"/>
                <a:ea typeface="Courier New"/>
                <a:cs typeface="Courier New"/>
                <a:sym typeface="Courier New"/>
              </a:rPr>
              <a:t>log</a:t>
            </a:r>
            <a:r>
              <a:rPr lang="en" sz="900">
                <a:solidFill>
                  <a:srgbClr val="C9D1D9"/>
                </a:solidFill>
                <a:highlight>
                  <a:srgbClr val="121314"/>
                </a:highlight>
                <a:latin typeface="Courier New"/>
                <a:ea typeface="Courier New"/>
                <a:cs typeface="Courier New"/>
                <a:sym typeface="Courier New"/>
              </a:rPr>
              <a:t>(</a:t>
            </a:r>
            <a:r>
              <a:rPr lang="en" sz="900">
                <a:solidFill>
                  <a:srgbClr val="A5D6FF"/>
                </a:solidFill>
                <a:highlight>
                  <a:srgbClr val="121314"/>
                </a:highlight>
                <a:latin typeface="Courier New"/>
                <a:ea typeface="Courier New"/>
                <a:cs typeface="Courier New"/>
                <a:sym typeface="Courier New"/>
              </a:rPr>
              <a:t>`Cell [</a:t>
            </a:r>
            <a:r>
              <a:rPr lang="en" sz="900">
                <a:solidFill>
                  <a:srgbClr val="569CD6"/>
                </a:solidFill>
                <a:highlight>
                  <a:srgbClr val="121314"/>
                </a:highlight>
                <a:latin typeface="Courier New"/>
                <a:ea typeface="Courier New"/>
                <a:cs typeface="Courier New"/>
                <a:sym typeface="Courier New"/>
              </a:rPr>
              <a:t>${</a:t>
            </a:r>
            <a:r>
              <a:rPr lang="en" sz="900">
                <a:solidFill>
                  <a:srgbClr val="C9D1D9"/>
                </a:solidFill>
                <a:highlight>
                  <a:srgbClr val="121314"/>
                </a:highlight>
                <a:latin typeface="Courier New"/>
                <a:ea typeface="Courier New"/>
                <a:cs typeface="Courier New"/>
                <a:sym typeface="Courier New"/>
              </a:rPr>
              <a:t>row</a:t>
            </a:r>
            <a:r>
              <a:rPr lang="en" sz="900">
                <a:solidFill>
                  <a:srgbClr val="569CD6"/>
                </a:solidFill>
                <a:highlight>
                  <a:srgbClr val="121314"/>
                </a:highlight>
                <a:latin typeface="Courier New"/>
                <a:ea typeface="Courier New"/>
                <a:cs typeface="Courier New"/>
                <a:sym typeface="Courier New"/>
              </a:rPr>
              <a:t>}</a:t>
            </a:r>
            <a:r>
              <a:rPr lang="en" sz="900">
                <a:solidFill>
                  <a:srgbClr val="A5D6FF"/>
                </a:solidFill>
                <a:highlight>
                  <a:srgbClr val="121314"/>
                </a:highlight>
                <a:latin typeface="Courier New"/>
                <a:ea typeface="Courier New"/>
                <a:cs typeface="Courier New"/>
                <a:sym typeface="Courier New"/>
              </a:rPr>
              <a:t>][</a:t>
            </a:r>
            <a:r>
              <a:rPr lang="en" sz="900">
                <a:solidFill>
                  <a:srgbClr val="569CD6"/>
                </a:solidFill>
                <a:highlight>
                  <a:srgbClr val="121314"/>
                </a:highlight>
                <a:latin typeface="Courier New"/>
                <a:ea typeface="Courier New"/>
                <a:cs typeface="Courier New"/>
                <a:sym typeface="Courier New"/>
              </a:rPr>
              <a:t>${</a:t>
            </a:r>
            <a:r>
              <a:rPr lang="en" sz="900">
                <a:solidFill>
                  <a:srgbClr val="C9D1D9"/>
                </a:solidFill>
                <a:highlight>
                  <a:srgbClr val="121314"/>
                </a:highlight>
                <a:latin typeface="Courier New"/>
                <a:ea typeface="Courier New"/>
                <a:cs typeface="Courier New"/>
                <a:sym typeface="Courier New"/>
              </a:rPr>
              <a:t>col</a:t>
            </a:r>
            <a:r>
              <a:rPr lang="en" sz="900">
                <a:solidFill>
                  <a:srgbClr val="569CD6"/>
                </a:solidFill>
                <a:highlight>
                  <a:srgbClr val="121314"/>
                </a:highlight>
                <a:latin typeface="Courier New"/>
                <a:ea typeface="Courier New"/>
                <a:cs typeface="Courier New"/>
                <a:sym typeface="Courier New"/>
              </a:rPr>
              <a:t>}</a:t>
            </a:r>
            <a:r>
              <a:rPr lang="en" sz="900">
                <a:solidFill>
                  <a:srgbClr val="A5D6FF"/>
                </a:solidFill>
                <a:highlight>
                  <a:srgbClr val="121314"/>
                </a:highlight>
                <a:latin typeface="Courier New"/>
                <a:ea typeface="Courier New"/>
                <a:cs typeface="Courier New"/>
                <a:sym typeface="Courier New"/>
              </a:rPr>
              <a:t>] = </a:t>
            </a:r>
            <a:r>
              <a:rPr lang="en" sz="900">
                <a:solidFill>
                  <a:srgbClr val="569CD6"/>
                </a:solidFill>
                <a:highlight>
                  <a:srgbClr val="121314"/>
                </a:highlight>
                <a:latin typeface="Courier New"/>
                <a:ea typeface="Courier New"/>
                <a:cs typeface="Courier New"/>
                <a:sym typeface="Courier New"/>
              </a:rPr>
              <a:t>${</a:t>
            </a:r>
            <a:r>
              <a:rPr lang="en" sz="900">
                <a:solidFill>
                  <a:srgbClr val="C9D1D9"/>
                </a:solidFill>
                <a:highlight>
                  <a:srgbClr val="121314"/>
                </a:highlight>
                <a:latin typeface="Courier New"/>
                <a:ea typeface="Courier New"/>
                <a:cs typeface="Courier New"/>
                <a:sym typeface="Courier New"/>
              </a:rPr>
              <a:t>board</a:t>
            </a:r>
            <a:r>
              <a:rPr lang="en" sz="900">
                <a:solidFill>
                  <a:srgbClr val="D4D4D4"/>
                </a:solidFill>
                <a:highlight>
                  <a:srgbClr val="121314"/>
                </a:highlight>
                <a:latin typeface="Courier New"/>
                <a:ea typeface="Courier New"/>
                <a:cs typeface="Courier New"/>
                <a:sym typeface="Courier New"/>
              </a:rPr>
              <a:t>[</a:t>
            </a:r>
            <a:r>
              <a:rPr lang="en" sz="900">
                <a:solidFill>
                  <a:srgbClr val="C9D1D9"/>
                </a:solidFill>
                <a:highlight>
                  <a:srgbClr val="121314"/>
                </a:highlight>
                <a:latin typeface="Courier New"/>
                <a:ea typeface="Courier New"/>
                <a:cs typeface="Courier New"/>
                <a:sym typeface="Courier New"/>
              </a:rPr>
              <a:t>row</a:t>
            </a:r>
            <a:r>
              <a:rPr lang="en" sz="900">
                <a:solidFill>
                  <a:srgbClr val="D4D4D4"/>
                </a:solidFill>
                <a:highlight>
                  <a:srgbClr val="121314"/>
                </a:highlight>
                <a:latin typeface="Courier New"/>
                <a:ea typeface="Courier New"/>
                <a:cs typeface="Courier New"/>
                <a:sym typeface="Courier New"/>
              </a:rPr>
              <a:t>][</a:t>
            </a:r>
            <a:r>
              <a:rPr lang="en" sz="900">
                <a:solidFill>
                  <a:srgbClr val="C9D1D9"/>
                </a:solidFill>
                <a:highlight>
                  <a:srgbClr val="121314"/>
                </a:highlight>
                <a:latin typeface="Courier New"/>
                <a:ea typeface="Courier New"/>
                <a:cs typeface="Courier New"/>
                <a:sym typeface="Courier New"/>
              </a:rPr>
              <a:t>col</a:t>
            </a:r>
            <a:r>
              <a:rPr lang="en" sz="900">
                <a:solidFill>
                  <a:srgbClr val="D4D4D4"/>
                </a:solidFill>
                <a:highlight>
                  <a:srgbClr val="121314"/>
                </a:highlight>
                <a:latin typeface="Courier New"/>
                <a:ea typeface="Courier New"/>
                <a:cs typeface="Courier New"/>
                <a:sym typeface="Courier New"/>
              </a:rPr>
              <a:t>]</a:t>
            </a:r>
            <a:r>
              <a:rPr lang="en" sz="900">
                <a:solidFill>
                  <a:srgbClr val="569CD6"/>
                </a:solidFill>
                <a:highlight>
                  <a:srgbClr val="121314"/>
                </a:highlight>
                <a:latin typeface="Courier New"/>
                <a:ea typeface="Courier New"/>
                <a:cs typeface="Courier New"/>
                <a:sym typeface="Courier New"/>
              </a:rPr>
              <a:t>}</a:t>
            </a:r>
            <a:r>
              <a:rPr lang="en" sz="900">
                <a:solidFill>
                  <a:srgbClr val="A5D6FF"/>
                </a:solidFill>
                <a:highlight>
                  <a:srgbClr val="121314"/>
                </a:highlight>
                <a:latin typeface="Courier New"/>
                <a:ea typeface="Courier New"/>
                <a:cs typeface="Courier New"/>
                <a:sym typeface="Courier New"/>
              </a:rPr>
              <a:t>`</a:t>
            </a:r>
            <a:r>
              <a:rPr lang="en" sz="900">
                <a:solidFill>
                  <a:srgbClr val="C9D1D9"/>
                </a:solidFill>
                <a:highlight>
                  <a:srgbClr val="121314"/>
                </a:highlight>
                <a:latin typeface="Courier New"/>
                <a:ea typeface="Courier New"/>
                <a:cs typeface="Courier New"/>
                <a:sym typeface="Courier New"/>
              </a:rPr>
              <a:t>);</a:t>
            </a:r>
            <a:endParaRPr sz="9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 }</a:t>
            </a:r>
            <a:endParaRPr sz="9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a:t>
            </a:r>
            <a:endParaRPr sz="900">
              <a:solidFill>
                <a:srgbClr val="C9D1D9"/>
              </a:solidFill>
              <a:highlight>
                <a:srgbClr val="121314"/>
              </a:highlight>
              <a:latin typeface="Courier New"/>
              <a:ea typeface="Courier New"/>
              <a:cs typeface="Courier New"/>
              <a:sym typeface="Courier New"/>
            </a:endParaRPr>
          </a:p>
        </p:txBody>
      </p:sp>
      <p:sp>
        <p:nvSpPr>
          <p:cNvPr id="663" name="Google Shape;663;p91"/>
          <p:cNvSpPr txBox="1"/>
          <p:nvPr/>
        </p:nvSpPr>
        <p:spPr>
          <a:xfrm>
            <a:off x="4977025" y="1146988"/>
            <a:ext cx="3794100" cy="34632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900">
                <a:solidFill>
                  <a:srgbClr val="FF7B72"/>
                </a:solidFill>
                <a:highlight>
                  <a:srgbClr val="121314"/>
                </a:highlight>
                <a:latin typeface="Courier New"/>
                <a:ea typeface="Courier New"/>
                <a:cs typeface="Courier New"/>
                <a:sym typeface="Courier New"/>
              </a:rPr>
              <a:t>const</a:t>
            </a:r>
            <a:r>
              <a:rPr lang="en" sz="900">
                <a:solidFill>
                  <a:srgbClr val="BBBEBF"/>
                </a:solidFill>
                <a:highlight>
                  <a:srgbClr val="121314"/>
                </a:highlight>
                <a:latin typeface="Courier New"/>
                <a:ea typeface="Courier New"/>
                <a:cs typeface="Courier New"/>
                <a:sym typeface="Courier New"/>
              </a:rPr>
              <a:t> </a:t>
            </a:r>
            <a:r>
              <a:rPr lang="en" sz="900">
                <a:solidFill>
                  <a:srgbClr val="79C0FF"/>
                </a:solidFill>
                <a:highlight>
                  <a:srgbClr val="121314"/>
                </a:highlight>
                <a:latin typeface="Courier New"/>
                <a:ea typeface="Courier New"/>
                <a:cs typeface="Courier New"/>
                <a:sym typeface="Courier New"/>
              </a:rPr>
              <a:t>rows</a:t>
            </a:r>
            <a:r>
              <a:rPr lang="en" sz="900">
                <a:solidFill>
                  <a:srgbClr val="BBBEBF"/>
                </a:solidFill>
                <a:highlight>
                  <a:srgbClr val="121314"/>
                </a:highlight>
                <a:latin typeface="Courier New"/>
                <a:ea typeface="Courier New"/>
                <a:cs typeface="Courier New"/>
                <a:sym typeface="Courier New"/>
              </a:rPr>
              <a:t> </a:t>
            </a:r>
            <a:r>
              <a:rPr lang="en" sz="900">
                <a:solidFill>
                  <a:srgbClr val="D4D4D4"/>
                </a:solidFill>
                <a:highlight>
                  <a:srgbClr val="121314"/>
                </a:highlight>
                <a:latin typeface="Courier New"/>
                <a:ea typeface="Courier New"/>
                <a:cs typeface="Courier New"/>
                <a:sym typeface="Courier New"/>
              </a:rPr>
              <a:t>=</a:t>
            </a:r>
            <a:r>
              <a:rPr lang="en" sz="900">
                <a:solidFill>
                  <a:srgbClr val="BBBEBF"/>
                </a:solidFill>
                <a:highlight>
                  <a:srgbClr val="121314"/>
                </a:highlight>
                <a:latin typeface="Courier New"/>
                <a:ea typeface="Courier New"/>
                <a:cs typeface="Courier New"/>
                <a:sym typeface="Courier New"/>
              </a:rPr>
              <a:t> </a:t>
            </a:r>
            <a:r>
              <a:rPr lang="en" sz="900">
                <a:solidFill>
                  <a:srgbClr val="B5CEA8"/>
                </a:solidFill>
                <a:highlight>
                  <a:srgbClr val="121314"/>
                </a:highlight>
                <a:latin typeface="Courier New"/>
                <a:ea typeface="Courier New"/>
                <a:cs typeface="Courier New"/>
                <a:sym typeface="Courier New"/>
              </a:rPr>
              <a:t>3</a:t>
            </a:r>
            <a:r>
              <a:rPr lang="en" sz="900">
                <a:solidFill>
                  <a:srgbClr val="BBBEBF"/>
                </a:solidFill>
                <a:highlight>
                  <a:srgbClr val="121314"/>
                </a:highlight>
                <a:latin typeface="Courier New"/>
                <a:ea typeface="Courier New"/>
                <a:cs typeface="Courier New"/>
                <a:sym typeface="Courier New"/>
              </a:rPr>
              <a:t>;</a:t>
            </a: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FF7B72"/>
                </a:solidFill>
                <a:highlight>
                  <a:srgbClr val="121314"/>
                </a:highlight>
                <a:latin typeface="Courier New"/>
                <a:ea typeface="Courier New"/>
                <a:cs typeface="Courier New"/>
                <a:sym typeface="Courier New"/>
              </a:rPr>
              <a:t>const</a:t>
            </a:r>
            <a:r>
              <a:rPr lang="en" sz="900">
                <a:solidFill>
                  <a:srgbClr val="BBBEBF"/>
                </a:solidFill>
                <a:highlight>
                  <a:srgbClr val="121314"/>
                </a:highlight>
                <a:latin typeface="Courier New"/>
                <a:ea typeface="Courier New"/>
                <a:cs typeface="Courier New"/>
                <a:sym typeface="Courier New"/>
              </a:rPr>
              <a:t> </a:t>
            </a:r>
            <a:r>
              <a:rPr lang="en" sz="900">
                <a:solidFill>
                  <a:srgbClr val="79C0FF"/>
                </a:solidFill>
                <a:highlight>
                  <a:srgbClr val="121314"/>
                </a:highlight>
                <a:latin typeface="Courier New"/>
                <a:ea typeface="Courier New"/>
                <a:cs typeface="Courier New"/>
                <a:sym typeface="Courier New"/>
              </a:rPr>
              <a:t>cols</a:t>
            </a:r>
            <a:r>
              <a:rPr lang="en" sz="900">
                <a:solidFill>
                  <a:srgbClr val="BBBEBF"/>
                </a:solidFill>
                <a:highlight>
                  <a:srgbClr val="121314"/>
                </a:highlight>
                <a:latin typeface="Courier New"/>
                <a:ea typeface="Courier New"/>
                <a:cs typeface="Courier New"/>
                <a:sym typeface="Courier New"/>
              </a:rPr>
              <a:t> </a:t>
            </a:r>
            <a:r>
              <a:rPr lang="en" sz="900">
                <a:solidFill>
                  <a:srgbClr val="D4D4D4"/>
                </a:solidFill>
                <a:highlight>
                  <a:srgbClr val="121314"/>
                </a:highlight>
                <a:latin typeface="Courier New"/>
                <a:ea typeface="Courier New"/>
                <a:cs typeface="Courier New"/>
                <a:sym typeface="Courier New"/>
              </a:rPr>
              <a:t>=</a:t>
            </a:r>
            <a:r>
              <a:rPr lang="en" sz="900">
                <a:solidFill>
                  <a:srgbClr val="BBBEBF"/>
                </a:solidFill>
                <a:highlight>
                  <a:srgbClr val="121314"/>
                </a:highlight>
                <a:latin typeface="Courier New"/>
                <a:ea typeface="Courier New"/>
                <a:cs typeface="Courier New"/>
                <a:sym typeface="Courier New"/>
              </a:rPr>
              <a:t> </a:t>
            </a:r>
            <a:r>
              <a:rPr lang="en" sz="900">
                <a:solidFill>
                  <a:srgbClr val="B5CEA8"/>
                </a:solidFill>
                <a:highlight>
                  <a:srgbClr val="121314"/>
                </a:highlight>
                <a:latin typeface="Courier New"/>
                <a:ea typeface="Courier New"/>
                <a:cs typeface="Courier New"/>
                <a:sym typeface="Courier New"/>
              </a:rPr>
              <a:t>4</a:t>
            </a:r>
            <a:r>
              <a:rPr lang="en" sz="900">
                <a:solidFill>
                  <a:srgbClr val="BBBEBF"/>
                </a:solidFill>
                <a:highlight>
                  <a:srgbClr val="121314"/>
                </a:highlight>
                <a:latin typeface="Courier New"/>
                <a:ea typeface="Courier New"/>
                <a:cs typeface="Courier New"/>
                <a:sym typeface="Courier New"/>
              </a:rPr>
              <a:t>;</a:t>
            </a: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8B949E"/>
                </a:solidFill>
                <a:highlight>
                  <a:srgbClr val="121314"/>
                </a:highlight>
                <a:latin typeface="Courier New"/>
                <a:ea typeface="Courier New"/>
                <a:cs typeface="Courier New"/>
                <a:sym typeface="Courier New"/>
              </a:rPr>
              <a:t>// ✅ CORRECT: Creates a 3x4 grid filled with zeros</a:t>
            </a:r>
            <a:endParaRPr sz="9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FF7B72"/>
                </a:solidFill>
                <a:highlight>
                  <a:srgbClr val="121314"/>
                </a:highlight>
                <a:latin typeface="Courier New"/>
                <a:ea typeface="Courier New"/>
                <a:cs typeface="Courier New"/>
                <a:sym typeface="Courier New"/>
              </a:rPr>
              <a:t>const</a:t>
            </a:r>
            <a:r>
              <a:rPr lang="en" sz="900">
                <a:solidFill>
                  <a:srgbClr val="BBBEBF"/>
                </a:solidFill>
                <a:highlight>
                  <a:srgbClr val="121314"/>
                </a:highlight>
                <a:latin typeface="Courier New"/>
                <a:ea typeface="Courier New"/>
                <a:cs typeface="Courier New"/>
                <a:sym typeface="Courier New"/>
              </a:rPr>
              <a:t> </a:t>
            </a:r>
            <a:r>
              <a:rPr lang="en" sz="900">
                <a:solidFill>
                  <a:srgbClr val="79C0FF"/>
                </a:solidFill>
                <a:highlight>
                  <a:srgbClr val="121314"/>
                </a:highlight>
                <a:latin typeface="Courier New"/>
                <a:ea typeface="Courier New"/>
                <a:cs typeface="Courier New"/>
                <a:sym typeface="Courier New"/>
              </a:rPr>
              <a:t>grid</a:t>
            </a:r>
            <a:r>
              <a:rPr lang="en" sz="900">
                <a:solidFill>
                  <a:srgbClr val="BBBEBF"/>
                </a:solidFill>
                <a:highlight>
                  <a:srgbClr val="121314"/>
                </a:highlight>
                <a:latin typeface="Courier New"/>
                <a:ea typeface="Courier New"/>
                <a:cs typeface="Courier New"/>
                <a:sym typeface="Courier New"/>
              </a:rPr>
              <a:t> </a:t>
            </a:r>
            <a:r>
              <a:rPr lang="en" sz="900">
                <a:solidFill>
                  <a:srgbClr val="D4D4D4"/>
                </a:solidFill>
                <a:highlight>
                  <a:srgbClr val="121314"/>
                </a:highlight>
                <a:latin typeface="Courier New"/>
                <a:ea typeface="Courier New"/>
                <a:cs typeface="Courier New"/>
                <a:sym typeface="Courier New"/>
              </a:rPr>
              <a:t>=</a:t>
            </a:r>
            <a:r>
              <a:rPr lang="en" sz="900">
                <a:solidFill>
                  <a:srgbClr val="BBBEBF"/>
                </a:solidFill>
                <a:highlight>
                  <a:srgbClr val="121314"/>
                </a:highlight>
                <a:latin typeface="Courier New"/>
                <a:ea typeface="Courier New"/>
                <a:cs typeface="Courier New"/>
                <a:sym typeface="Courier New"/>
              </a:rPr>
              <a:t> </a:t>
            </a:r>
            <a:r>
              <a:rPr lang="en" sz="900">
                <a:solidFill>
                  <a:srgbClr val="C9D1D9"/>
                </a:solidFill>
                <a:highlight>
                  <a:srgbClr val="121314"/>
                </a:highlight>
                <a:latin typeface="Courier New"/>
                <a:ea typeface="Courier New"/>
                <a:cs typeface="Courier New"/>
                <a:sym typeface="Courier New"/>
              </a:rPr>
              <a:t>Array</a:t>
            </a:r>
            <a:r>
              <a:rPr lang="en" sz="900">
                <a:solidFill>
                  <a:srgbClr val="BBBEBF"/>
                </a:solidFill>
                <a:highlight>
                  <a:srgbClr val="121314"/>
                </a:highlight>
                <a:latin typeface="Courier New"/>
                <a:ea typeface="Courier New"/>
                <a:cs typeface="Courier New"/>
                <a:sym typeface="Courier New"/>
              </a:rPr>
              <a:t>.</a:t>
            </a:r>
            <a:r>
              <a:rPr lang="en" sz="900">
                <a:solidFill>
                  <a:srgbClr val="D2A8FF"/>
                </a:solidFill>
                <a:highlight>
                  <a:srgbClr val="121314"/>
                </a:highlight>
                <a:latin typeface="Courier New"/>
                <a:ea typeface="Courier New"/>
                <a:cs typeface="Courier New"/>
                <a:sym typeface="Courier New"/>
              </a:rPr>
              <a:t>from</a:t>
            </a:r>
            <a:r>
              <a:rPr lang="en" sz="900">
                <a:solidFill>
                  <a:srgbClr val="BBBEBF"/>
                </a:solidFill>
                <a:highlight>
                  <a:srgbClr val="121314"/>
                </a:highlight>
                <a:latin typeface="Courier New"/>
                <a:ea typeface="Courier New"/>
                <a:cs typeface="Courier New"/>
                <a:sym typeface="Courier New"/>
              </a:rPr>
              <a:t>({ </a:t>
            </a:r>
            <a:r>
              <a:rPr lang="en" sz="900">
                <a:solidFill>
                  <a:srgbClr val="9CDCFE"/>
                </a:solidFill>
                <a:highlight>
                  <a:srgbClr val="121314"/>
                </a:highlight>
                <a:latin typeface="Courier New"/>
                <a:ea typeface="Courier New"/>
                <a:cs typeface="Courier New"/>
                <a:sym typeface="Courier New"/>
              </a:rPr>
              <a:t>length:</a:t>
            </a:r>
            <a:r>
              <a:rPr lang="en" sz="900">
                <a:solidFill>
                  <a:srgbClr val="C9D1D9"/>
                </a:solidFill>
                <a:highlight>
                  <a:srgbClr val="121314"/>
                </a:highlight>
                <a:latin typeface="Courier New"/>
                <a:ea typeface="Courier New"/>
                <a:cs typeface="Courier New"/>
                <a:sym typeface="Courier New"/>
              </a:rPr>
              <a:t> rows </a:t>
            </a:r>
            <a:r>
              <a:rPr lang="en" sz="900">
                <a:solidFill>
                  <a:srgbClr val="BBBEBF"/>
                </a:solidFill>
                <a:highlight>
                  <a:srgbClr val="121314"/>
                </a:highlight>
                <a:latin typeface="Courier New"/>
                <a:ea typeface="Courier New"/>
                <a:cs typeface="Courier New"/>
                <a:sym typeface="Courier New"/>
              </a:rPr>
              <a:t>}, () </a:t>
            </a:r>
            <a:r>
              <a:rPr lang="en" sz="900">
                <a:solidFill>
                  <a:srgbClr val="FF7B72"/>
                </a:solidFill>
                <a:highlight>
                  <a:srgbClr val="121314"/>
                </a:highlight>
                <a:latin typeface="Courier New"/>
                <a:ea typeface="Courier New"/>
                <a:cs typeface="Courier New"/>
                <a:sym typeface="Courier New"/>
              </a:rPr>
              <a:t>=&gt;</a:t>
            </a:r>
            <a:r>
              <a:rPr lang="en" sz="900">
                <a:solidFill>
                  <a:srgbClr val="BBBEBF"/>
                </a:solidFill>
                <a:highlight>
                  <a:srgbClr val="121314"/>
                </a:highlight>
                <a:latin typeface="Courier New"/>
                <a:ea typeface="Courier New"/>
                <a:cs typeface="Courier New"/>
                <a:sym typeface="Courier New"/>
              </a:rPr>
              <a:t> </a:t>
            </a:r>
            <a:r>
              <a:rPr lang="en" sz="900">
                <a:solidFill>
                  <a:srgbClr val="D2A8FF"/>
                </a:solidFill>
                <a:highlight>
                  <a:srgbClr val="121314"/>
                </a:highlight>
                <a:latin typeface="Courier New"/>
                <a:ea typeface="Courier New"/>
                <a:cs typeface="Courier New"/>
                <a:sym typeface="Courier New"/>
              </a:rPr>
              <a:t>Array</a:t>
            </a:r>
            <a:r>
              <a:rPr lang="en" sz="900">
                <a:solidFill>
                  <a:srgbClr val="BBBEBF"/>
                </a:solidFill>
                <a:highlight>
                  <a:srgbClr val="121314"/>
                </a:highlight>
                <a:latin typeface="Courier New"/>
                <a:ea typeface="Courier New"/>
                <a:cs typeface="Courier New"/>
                <a:sym typeface="Courier New"/>
              </a:rPr>
              <a:t>(</a:t>
            </a:r>
            <a:r>
              <a:rPr lang="en" sz="900">
                <a:solidFill>
                  <a:srgbClr val="C9D1D9"/>
                </a:solidFill>
                <a:highlight>
                  <a:srgbClr val="121314"/>
                </a:highlight>
                <a:latin typeface="Courier New"/>
                <a:ea typeface="Courier New"/>
                <a:cs typeface="Courier New"/>
                <a:sym typeface="Courier New"/>
              </a:rPr>
              <a:t>cols</a:t>
            </a:r>
            <a:r>
              <a:rPr lang="en" sz="900">
                <a:solidFill>
                  <a:srgbClr val="BBBEBF"/>
                </a:solidFill>
                <a:highlight>
                  <a:srgbClr val="121314"/>
                </a:highlight>
                <a:latin typeface="Courier New"/>
                <a:ea typeface="Courier New"/>
                <a:cs typeface="Courier New"/>
                <a:sym typeface="Courier New"/>
              </a:rPr>
              <a:t>).</a:t>
            </a:r>
            <a:r>
              <a:rPr lang="en" sz="900">
                <a:solidFill>
                  <a:srgbClr val="D2A8FF"/>
                </a:solidFill>
                <a:highlight>
                  <a:srgbClr val="121314"/>
                </a:highlight>
                <a:latin typeface="Courier New"/>
                <a:ea typeface="Courier New"/>
                <a:cs typeface="Courier New"/>
                <a:sym typeface="Courier New"/>
              </a:rPr>
              <a:t>fill</a:t>
            </a:r>
            <a:r>
              <a:rPr lang="en" sz="900">
                <a:solidFill>
                  <a:srgbClr val="BBBEBF"/>
                </a:solidFill>
                <a:highlight>
                  <a:srgbClr val="121314"/>
                </a:highlight>
                <a:latin typeface="Courier New"/>
                <a:ea typeface="Courier New"/>
                <a:cs typeface="Courier New"/>
                <a:sym typeface="Courier New"/>
              </a:rPr>
              <a:t>(</a:t>
            </a:r>
            <a:r>
              <a:rPr lang="en" sz="900">
                <a:solidFill>
                  <a:srgbClr val="B5CEA8"/>
                </a:solidFill>
                <a:highlight>
                  <a:srgbClr val="121314"/>
                </a:highlight>
                <a:latin typeface="Courier New"/>
                <a:ea typeface="Courier New"/>
                <a:cs typeface="Courier New"/>
                <a:sym typeface="Courier New"/>
              </a:rPr>
              <a:t>0</a:t>
            </a:r>
            <a:r>
              <a:rPr lang="en" sz="900">
                <a:solidFill>
                  <a:srgbClr val="BBBEBF"/>
                </a:solidFill>
                <a:highlight>
                  <a:srgbClr val="121314"/>
                </a:highlight>
                <a:latin typeface="Courier New"/>
                <a:ea typeface="Courier New"/>
                <a:cs typeface="Courier New"/>
                <a:sym typeface="Courier New"/>
              </a:rPr>
              <a:t>));</a:t>
            </a: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grid</a:t>
            </a:r>
            <a:r>
              <a:rPr lang="en" sz="900">
                <a:solidFill>
                  <a:srgbClr val="BBBEBF"/>
                </a:solidFill>
                <a:highlight>
                  <a:srgbClr val="121314"/>
                </a:highlight>
                <a:latin typeface="Courier New"/>
                <a:ea typeface="Courier New"/>
                <a:cs typeface="Courier New"/>
                <a:sym typeface="Courier New"/>
              </a:rPr>
              <a:t>[</a:t>
            </a:r>
            <a:r>
              <a:rPr lang="en" sz="900">
                <a:solidFill>
                  <a:srgbClr val="B5CEA8"/>
                </a:solidFill>
                <a:highlight>
                  <a:srgbClr val="121314"/>
                </a:highlight>
                <a:latin typeface="Courier New"/>
                <a:ea typeface="Courier New"/>
                <a:cs typeface="Courier New"/>
                <a:sym typeface="Courier New"/>
              </a:rPr>
              <a:t>0</a:t>
            </a:r>
            <a:r>
              <a:rPr lang="en" sz="900">
                <a:solidFill>
                  <a:srgbClr val="BBBEBF"/>
                </a:solidFill>
                <a:highlight>
                  <a:srgbClr val="121314"/>
                </a:highlight>
                <a:latin typeface="Courier New"/>
                <a:ea typeface="Courier New"/>
                <a:cs typeface="Courier New"/>
                <a:sym typeface="Courier New"/>
              </a:rPr>
              <a:t>][</a:t>
            </a:r>
            <a:r>
              <a:rPr lang="en" sz="900">
                <a:solidFill>
                  <a:srgbClr val="B5CEA8"/>
                </a:solidFill>
                <a:highlight>
                  <a:srgbClr val="121314"/>
                </a:highlight>
                <a:latin typeface="Courier New"/>
                <a:ea typeface="Courier New"/>
                <a:cs typeface="Courier New"/>
                <a:sym typeface="Courier New"/>
              </a:rPr>
              <a:t>1</a:t>
            </a:r>
            <a:r>
              <a:rPr lang="en" sz="900">
                <a:solidFill>
                  <a:srgbClr val="BBBEBF"/>
                </a:solidFill>
                <a:highlight>
                  <a:srgbClr val="121314"/>
                </a:highlight>
                <a:latin typeface="Courier New"/>
                <a:ea typeface="Courier New"/>
                <a:cs typeface="Courier New"/>
                <a:sym typeface="Courier New"/>
              </a:rPr>
              <a:t>] </a:t>
            </a:r>
            <a:r>
              <a:rPr lang="en" sz="900">
                <a:solidFill>
                  <a:srgbClr val="D4D4D4"/>
                </a:solidFill>
                <a:highlight>
                  <a:srgbClr val="121314"/>
                </a:highlight>
                <a:latin typeface="Courier New"/>
                <a:ea typeface="Courier New"/>
                <a:cs typeface="Courier New"/>
                <a:sym typeface="Courier New"/>
              </a:rPr>
              <a:t>=</a:t>
            </a:r>
            <a:r>
              <a:rPr lang="en" sz="900">
                <a:solidFill>
                  <a:srgbClr val="BBBEBF"/>
                </a:solidFill>
                <a:highlight>
                  <a:srgbClr val="121314"/>
                </a:highlight>
                <a:latin typeface="Courier New"/>
                <a:ea typeface="Courier New"/>
                <a:cs typeface="Courier New"/>
                <a:sym typeface="Courier New"/>
              </a:rPr>
              <a:t> </a:t>
            </a:r>
            <a:r>
              <a:rPr lang="en" sz="900">
                <a:solidFill>
                  <a:srgbClr val="B5CEA8"/>
                </a:solidFill>
                <a:highlight>
                  <a:srgbClr val="121314"/>
                </a:highlight>
                <a:latin typeface="Courier New"/>
                <a:ea typeface="Courier New"/>
                <a:cs typeface="Courier New"/>
                <a:sym typeface="Courier New"/>
              </a:rPr>
              <a:t>9</a:t>
            </a:r>
            <a:r>
              <a:rPr lang="en" sz="900">
                <a:solidFill>
                  <a:srgbClr val="BBBEBF"/>
                </a:solidFill>
                <a:highlight>
                  <a:srgbClr val="121314"/>
                </a:highlight>
                <a:latin typeface="Courier New"/>
                <a:ea typeface="Courier New"/>
                <a:cs typeface="Courier New"/>
                <a:sym typeface="Courier New"/>
              </a:rPr>
              <a:t>;</a:t>
            </a: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9D1D9"/>
                </a:solidFill>
                <a:highlight>
                  <a:srgbClr val="121314"/>
                </a:highlight>
                <a:latin typeface="Courier New"/>
                <a:ea typeface="Courier New"/>
                <a:cs typeface="Courier New"/>
                <a:sym typeface="Courier New"/>
              </a:rPr>
              <a:t>console</a:t>
            </a:r>
            <a:r>
              <a:rPr lang="en" sz="900">
                <a:solidFill>
                  <a:srgbClr val="BBBEBF"/>
                </a:solidFill>
                <a:highlight>
                  <a:srgbClr val="121314"/>
                </a:highlight>
                <a:latin typeface="Courier New"/>
                <a:ea typeface="Courier New"/>
                <a:cs typeface="Courier New"/>
                <a:sym typeface="Courier New"/>
              </a:rPr>
              <a:t>.</a:t>
            </a:r>
            <a:r>
              <a:rPr lang="en" sz="900">
                <a:solidFill>
                  <a:srgbClr val="D2A8FF"/>
                </a:solidFill>
                <a:highlight>
                  <a:srgbClr val="121314"/>
                </a:highlight>
                <a:latin typeface="Courier New"/>
                <a:ea typeface="Courier New"/>
                <a:cs typeface="Courier New"/>
                <a:sym typeface="Courier New"/>
              </a:rPr>
              <a:t>log</a:t>
            </a:r>
            <a:r>
              <a:rPr lang="en" sz="900">
                <a:solidFill>
                  <a:srgbClr val="BBBEBF"/>
                </a:solidFill>
                <a:highlight>
                  <a:srgbClr val="121314"/>
                </a:highlight>
                <a:latin typeface="Courier New"/>
                <a:ea typeface="Courier New"/>
                <a:cs typeface="Courier New"/>
                <a:sym typeface="Courier New"/>
              </a:rPr>
              <a:t>(</a:t>
            </a:r>
            <a:r>
              <a:rPr lang="en" sz="900">
                <a:solidFill>
                  <a:srgbClr val="C9D1D9"/>
                </a:solidFill>
                <a:highlight>
                  <a:srgbClr val="121314"/>
                </a:highlight>
                <a:latin typeface="Courier New"/>
                <a:ea typeface="Courier New"/>
                <a:cs typeface="Courier New"/>
                <a:sym typeface="Courier New"/>
              </a:rPr>
              <a:t>grid</a:t>
            </a:r>
            <a:r>
              <a:rPr lang="en" sz="900">
                <a:solidFill>
                  <a:srgbClr val="BBBEBF"/>
                </a:solidFill>
                <a:highlight>
                  <a:srgbClr val="121314"/>
                </a:highlight>
                <a:latin typeface="Courier New"/>
                <a:ea typeface="Courier New"/>
                <a:cs typeface="Courier New"/>
                <a:sym typeface="Courier New"/>
              </a:rPr>
              <a:t>);</a:t>
            </a:r>
            <a:endParaRPr sz="9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8B949E"/>
                </a:solidFill>
                <a:highlight>
                  <a:srgbClr val="121314"/>
                </a:highlight>
                <a:latin typeface="Courier New"/>
                <a:ea typeface="Courier New"/>
                <a:cs typeface="Courier New"/>
                <a:sym typeface="Courier New"/>
              </a:rPr>
              <a:t>/*</a:t>
            </a:r>
            <a:endParaRPr sz="9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8B949E"/>
                </a:solidFill>
                <a:highlight>
                  <a:srgbClr val="121314"/>
                </a:highlight>
                <a:latin typeface="Courier New"/>
                <a:ea typeface="Courier New"/>
                <a:cs typeface="Courier New"/>
                <a:sym typeface="Courier New"/>
              </a:rPr>
              <a:t>Output:</a:t>
            </a:r>
            <a:endParaRPr sz="9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8B949E"/>
                </a:solidFill>
                <a:highlight>
                  <a:srgbClr val="121314"/>
                </a:highlight>
                <a:latin typeface="Courier New"/>
                <a:ea typeface="Courier New"/>
                <a:cs typeface="Courier New"/>
                <a:sym typeface="Courier New"/>
              </a:rPr>
              <a:t>[</a:t>
            </a:r>
            <a:endParaRPr sz="9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8B949E"/>
                </a:solidFill>
                <a:highlight>
                  <a:srgbClr val="121314"/>
                </a:highlight>
                <a:latin typeface="Courier New"/>
                <a:ea typeface="Courier New"/>
                <a:cs typeface="Courier New"/>
                <a:sym typeface="Courier New"/>
              </a:rPr>
              <a:t> [0, 9, 0, 0],</a:t>
            </a:r>
            <a:endParaRPr sz="9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8B949E"/>
                </a:solidFill>
                <a:highlight>
                  <a:srgbClr val="121314"/>
                </a:highlight>
                <a:latin typeface="Courier New"/>
                <a:ea typeface="Courier New"/>
                <a:cs typeface="Courier New"/>
                <a:sym typeface="Courier New"/>
              </a:rPr>
              <a:t> [0, 0, 0, 0],</a:t>
            </a:r>
            <a:endParaRPr sz="9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8B949E"/>
                </a:solidFill>
                <a:highlight>
                  <a:srgbClr val="121314"/>
                </a:highlight>
                <a:latin typeface="Courier New"/>
                <a:ea typeface="Courier New"/>
                <a:cs typeface="Courier New"/>
                <a:sym typeface="Courier New"/>
              </a:rPr>
              <a:t> [0, 0, 0, 0]</a:t>
            </a:r>
            <a:endParaRPr sz="9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8B949E"/>
                </a:solidFill>
                <a:highlight>
                  <a:srgbClr val="121314"/>
                </a:highlight>
                <a:latin typeface="Courier New"/>
                <a:ea typeface="Courier New"/>
                <a:cs typeface="Courier New"/>
                <a:sym typeface="Courier New"/>
              </a:rPr>
              <a:t>]</a:t>
            </a:r>
            <a:endParaRPr sz="9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8B949E"/>
                </a:solidFill>
                <a:highlight>
                  <a:srgbClr val="121314"/>
                </a:highlight>
                <a:latin typeface="Courier New"/>
                <a:ea typeface="Courier New"/>
                <a:cs typeface="Courier New"/>
                <a:sym typeface="Courier New"/>
              </a:rPr>
              <a:t>*/</a:t>
            </a:r>
            <a:endParaRPr sz="900">
              <a:solidFill>
                <a:srgbClr val="8B949E"/>
              </a:solidFill>
              <a:highlight>
                <a:srgbClr val="121314"/>
              </a:highlight>
              <a:latin typeface="Courier New"/>
              <a:ea typeface="Courier New"/>
              <a:cs typeface="Courier New"/>
              <a:sym typeface="Courier New"/>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p92"/>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Object Type ─ JSON Data Structure</a:t>
            </a:r>
            <a:endParaRPr/>
          </a:p>
        </p:txBody>
      </p:sp>
      <p:sp>
        <p:nvSpPr>
          <p:cNvPr id="669" name="Google Shape;669;p9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81</a:t>
            </a:fld>
            <a:endParaRPr>
              <a:solidFill>
                <a:schemeClr val="lt1"/>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9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JavaScript Object Notation (JSON)</a:t>
            </a:r>
            <a:endParaRPr/>
          </a:p>
        </p:txBody>
      </p:sp>
      <p:sp>
        <p:nvSpPr>
          <p:cNvPr id="675" name="Google Shape;675;p9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82</a:t>
            </a:fld>
            <a:endParaRPr>
              <a:solidFill>
                <a:schemeClr val="lt2"/>
              </a:solidFill>
            </a:endParaRPr>
          </a:p>
        </p:txBody>
      </p:sp>
      <p:sp>
        <p:nvSpPr>
          <p:cNvPr id="676" name="Google Shape;676;p9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a:bodyPr>
          <a:lstStyle/>
          <a:p>
            <a:pPr marL="457200" lvl="0" indent="-342900" algn="l" rtl="0">
              <a:spcBef>
                <a:spcPts val="0"/>
              </a:spcBef>
              <a:spcAft>
                <a:spcPts val="0"/>
              </a:spcAft>
              <a:buSzPts val="1800"/>
              <a:buChar char="●"/>
            </a:pPr>
            <a:r>
              <a:rPr lang="en"/>
              <a:t>JavaScript Object Notation (JSON) is a standard text-based format for representing structured data based on JavaScript object syntax.</a:t>
            </a:r>
            <a:endParaRPr/>
          </a:p>
          <a:p>
            <a:pPr marL="914400" lvl="1" indent="-317500" algn="l" rtl="0">
              <a:spcBef>
                <a:spcPts val="0"/>
              </a:spcBef>
              <a:spcAft>
                <a:spcPts val="0"/>
              </a:spcAft>
              <a:buSzPts val="1400"/>
              <a:buChar char="○"/>
            </a:pPr>
            <a:r>
              <a:rPr lang="en"/>
              <a:t>Represents structured data as a string</a:t>
            </a:r>
            <a:endParaRPr/>
          </a:p>
          <a:p>
            <a:pPr marL="914400" lvl="1" indent="-317500" algn="l" rtl="0">
              <a:spcBef>
                <a:spcPts val="0"/>
              </a:spcBef>
              <a:spcAft>
                <a:spcPts val="0"/>
              </a:spcAft>
              <a:buSzPts val="1400"/>
              <a:buChar char="○"/>
            </a:pPr>
            <a:r>
              <a:rPr lang="en"/>
              <a:t>Even though it closely resembles JavaScript object literal syntax, it can be used independently from JavaScript.</a:t>
            </a:r>
            <a:endParaRPr/>
          </a:p>
          <a:p>
            <a:pPr marL="457200" lvl="0" indent="-342900" algn="l" rtl="0">
              <a:spcBef>
                <a:spcPts val="0"/>
              </a:spcBef>
              <a:spcAft>
                <a:spcPts val="0"/>
              </a:spcAft>
              <a:buSzPts val="1800"/>
              <a:buChar char="●"/>
            </a:pPr>
            <a:r>
              <a:rPr lang="en"/>
              <a:t>In JavaScript, the methods for parsing and generating JSON are provided by the JSON object.</a:t>
            </a:r>
            <a:endParaRPr/>
          </a:p>
          <a:p>
            <a:pPr marL="457200" lvl="0" indent="-342900" algn="l" rtl="0">
              <a:spcBef>
                <a:spcPts val="0"/>
              </a:spcBef>
              <a:spcAft>
                <a:spcPts val="0"/>
              </a:spcAft>
              <a:buSzPts val="1800"/>
              <a:buChar char="●"/>
            </a:pPr>
            <a:r>
              <a:rPr lang="en"/>
              <a:t>Converting a string to a native object is called deserialization, while converting a native object to a string so it can be transmitted across the network is called serialization.</a:t>
            </a:r>
            <a:endParaRPr/>
          </a:p>
          <a:p>
            <a:pPr marL="457200" lvl="0" indent="-342900" algn="l" rtl="0">
              <a:spcBef>
                <a:spcPts val="0"/>
              </a:spcBef>
              <a:spcAft>
                <a:spcPts val="0"/>
              </a:spcAft>
              <a:buSzPts val="1800"/>
              <a:buChar char="●"/>
            </a:pPr>
            <a:r>
              <a:rPr lang="en"/>
              <a:t>A JSON string can be stored in its own file, which is basically just a text file with an extension of .json, and a MIME type of application/json.</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681" name="Google Shape;681;p9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JSON Examples</a:t>
            </a:r>
            <a:endParaRPr/>
          </a:p>
        </p:txBody>
      </p:sp>
      <p:sp>
        <p:nvSpPr>
          <p:cNvPr id="682" name="Google Shape;682;p9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83</a:t>
            </a:fld>
            <a:endParaRPr/>
          </a:p>
        </p:txBody>
      </p:sp>
      <p:sp>
        <p:nvSpPr>
          <p:cNvPr id="683" name="Google Shape;683;p94"/>
          <p:cNvSpPr txBox="1"/>
          <p:nvPr/>
        </p:nvSpPr>
        <p:spPr>
          <a:xfrm>
            <a:off x="499450" y="1068425"/>
            <a:ext cx="4267200" cy="38274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 {</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"name"</a:t>
            </a:r>
            <a:r>
              <a:rPr lang="en" sz="1000">
                <a:solidFill>
                  <a:srgbClr val="9CDCFE"/>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"Molecule Man"</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"age"</a:t>
            </a:r>
            <a:r>
              <a:rPr lang="en" sz="1000">
                <a:solidFill>
                  <a:srgbClr val="9CDCFE"/>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29</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"secretIdentity"</a:t>
            </a:r>
            <a:r>
              <a:rPr lang="en" sz="1000">
                <a:solidFill>
                  <a:srgbClr val="9CDCFE"/>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"Dan Jukes"</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"powers"</a:t>
            </a:r>
            <a:r>
              <a:rPr lang="en" sz="1000">
                <a:solidFill>
                  <a:srgbClr val="9CDCFE"/>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"Radiation resistance"</a:t>
            </a:r>
            <a:r>
              <a:rPr lang="en" sz="1000">
                <a:solidFill>
                  <a:srgbClr val="C9D1D9"/>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"Turning tiny"</a:t>
            </a: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 </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 {</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"name"</a:t>
            </a:r>
            <a:r>
              <a:rPr lang="en" sz="1000">
                <a:solidFill>
                  <a:srgbClr val="9CDCFE"/>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"Madame Uppercut"</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"age"</a:t>
            </a:r>
            <a:r>
              <a:rPr lang="en" sz="1000">
                <a:solidFill>
                  <a:srgbClr val="9CDCFE"/>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39</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"secretIdentity"</a:t>
            </a:r>
            <a:r>
              <a:rPr lang="en" sz="1000">
                <a:solidFill>
                  <a:srgbClr val="9CDCFE"/>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"Jane Wilson"</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"powers"</a:t>
            </a:r>
            <a:r>
              <a:rPr lang="en" sz="1000">
                <a:solidFill>
                  <a:srgbClr val="9CDCFE"/>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 [</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"Million tonne punch"</a:t>
            </a: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"Damage resistance"</a:t>
            </a: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"Superhuman reflexes"</a:t>
            </a:r>
            <a:endParaRPr sz="1000">
              <a:solidFill>
                <a:srgbClr val="A5D6F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   ]</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 </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p:txBody>
      </p:sp>
      <p:sp>
        <p:nvSpPr>
          <p:cNvPr id="684" name="Google Shape;684;p94"/>
          <p:cNvSpPr txBox="1"/>
          <p:nvPr/>
        </p:nvSpPr>
        <p:spPr>
          <a:xfrm>
            <a:off x="5178550" y="1068425"/>
            <a:ext cx="3000000" cy="13647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A5D6FF"/>
                </a:solidFill>
                <a:highlight>
                  <a:srgbClr val="121314"/>
                </a:highlight>
                <a:latin typeface="Courier New"/>
                <a:ea typeface="Courier New"/>
                <a:cs typeface="Courier New"/>
                <a:sym typeface="Courier New"/>
              </a:rPr>
              <a:t>"name"</a:t>
            </a:r>
            <a:r>
              <a:rPr lang="en" sz="1000">
                <a:solidFill>
                  <a:srgbClr val="C9D1D9"/>
                </a:solidFill>
                <a:highlight>
                  <a:srgbClr val="121314"/>
                </a:highlight>
                <a:latin typeface="Courier New"/>
                <a:ea typeface="Courier New"/>
                <a:cs typeface="Courier New"/>
                <a:sym typeface="Courier New"/>
              </a:rPr>
              <a:t>:</a:t>
            </a:r>
            <a:r>
              <a:rPr lang="en" sz="1000">
                <a:solidFill>
                  <a:srgbClr val="A5D6FF"/>
                </a:solidFill>
                <a:highlight>
                  <a:srgbClr val="121314"/>
                </a:highlight>
                <a:latin typeface="Courier New"/>
                <a:ea typeface="Courier New"/>
                <a:cs typeface="Courier New"/>
                <a:sym typeface="Courier New"/>
              </a:rPr>
              <a:t>"John"</a:t>
            </a: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A5D6FF"/>
                </a:solidFill>
                <a:highlight>
                  <a:srgbClr val="121314"/>
                </a:highlight>
                <a:latin typeface="Courier New"/>
                <a:ea typeface="Courier New"/>
                <a:cs typeface="Courier New"/>
                <a:sym typeface="Courier New"/>
              </a:rPr>
              <a:t>"age"</a:t>
            </a:r>
            <a:r>
              <a:rPr lang="en" sz="1000">
                <a:solidFill>
                  <a:srgbClr val="C9D1D9"/>
                </a:solidFill>
                <a:highlight>
                  <a:srgbClr val="121314"/>
                </a:highlight>
                <a:latin typeface="Courier New"/>
                <a:ea typeface="Courier New"/>
                <a:cs typeface="Courier New"/>
                <a:sym typeface="Courier New"/>
              </a:rPr>
              <a:t>:</a:t>
            </a:r>
            <a:r>
              <a:rPr lang="en" sz="1000">
                <a:solidFill>
                  <a:srgbClr val="B5CEA8"/>
                </a:solidFill>
                <a:highlight>
                  <a:srgbClr val="121314"/>
                </a:highlight>
                <a:latin typeface="Courier New"/>
                <a:ea typeface="Courier New"/>
                <a:cs typeface="Courier New"/>
                <a:sym typeface="Courier New"/>
              </a:rPr>
              <a:t>31</a:t>
            </a: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A5D6FF"/>
                </a:solidFill>
                <a:highlight>
                  <a:srgbClr val="121314"/>
                </a:highlight>
                <a:latin typeface="Courier New"/>
                <a:ea typeface="Courier New"/>
                <a:cs typeface="Courier New"/>
                <a:sym typeface="Courier New"/>
              </a:rPr>
              <a:t>"city"</a:t>
            </a:r>
            <a:r>
              <a:rPr lang="en" sz="1000">
                <a:solidFill>
                  <a:srgbClr val="C9D1D9"/>
                </a:solidFill>
                <a:highlight>
                  <a:srgbClr val="121314"/>
                </a:highlight>
                <a:latin typeface="Courier New"/>
                <a:ea typeface="Courier New"/>
                <a:cs typeface="Courier New"/>
                <a:sym typeface="Courier New"/>
              </a:rPr>
              <a:t>:</a:t>
            </a:r>
            <a:r>
              <a:rPr lang="en" sz="1000">
                <a:solidFill>
                  <a:srgbClr val="A5D6FF"/>
                </a:solidFill>
                <a:highlight>
                  <a:srgbClr val="121314"/>
                </a:highlight>
                <a:latin typeface="Courier New"/>
                <a:ea typeface="Courier New"/>
                <a:cs typeface="Courier New"/>
                <a:sym typeface="Courier New"/>
              </a:rPr>
              <a:t>"New York"</a:t>
            </a: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A5D6FF"/>
                </a:solidFill>
                <a:highlight>
                  <a:srgbClr val="121314"/>
                </a:highlight>
                <a:latin typeface="Courier New"/>
                <a:ea typeface="Courier New"/>
                <a:cs typeface="Courier New"/>
                <a:sym typeface="Courier New"/>
              </a:rPr>
              <a:t>"Habits"</a:t>
            </a:r>
            <a:r>
              <a:rPr lang="en" sz="1000">
                <a:solidFill>
                  <a:srgbClr val="C9D1D9"/>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"Swimming"</a:t>
            </a:r>
            <a:r>
              <a:rPr lang="en" sz="1000">
                <a:solidFill>
                  <a:srgbClr val="C9D1D9"/>
                </a:solidFill>
                <a:highlight>
                  <a:srgbClr val="121314"/>
                </a:highlight>
                <a:latin typeface="Courier New"/>
                <a:ea typeface="Courier New"/>
                <a:cs typeface="Courier New"/>
                <a:sym typeface="Courier New"/>
              </a:rPr>
              <a:t>,</a:t>
            </a:r>
            <a:r>
              <a:rPr lang="en" sz="1000">
                <a:solidFill>
                  <a:srgbClr val="A5D6FF"/>
                </a:solidFill>
                <a:highlight>
                  <a:srgbClr val="121314"/>
                </a:highlight>
                <a:latin typeface="Courier New"/>
                <a:ea typeface="Courier New"/>
                <a:cs typeface="Courier New"/>
                <a:sym typeface="Courier New"/>
              </a:rPr>
              <a:t>"Reading"</a:t>
            </a: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9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JSON syntax restrictions</a:t>
            </a:r>
            <a:endParaRPr/>
          </a:p>
        </p:txBody>
      </p:sp>
      <p:sp>
        <p:nvSpPr>
          <p:cNvPr id="690" name="Google Shape;690;p9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84</a:t>
            </a:fld>
            <a:endParaRPr/>
          </a:p>
        </p:txBody>
      </p:sp>
      <p:sp>
        <p:nvSpPr>
          <p:cNvPr id="691" name="Google Shape;691;p9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10000"/>
          </a:bodyPr>
          <a:lstStyle/>
          <a:p>
            <a:pPr marL="457200" lvl="0" indent="-325755" algn="l" rtl="0">
              <a:spcBef>
                <a:spcPts val="0"/>
              </a:spcBef>
              <a:spcAft>
                <a:spcPts val="0"/>
              </a:spcAft>
              <a:buSzPct val="100000"/>
              <a:buChar char="●"/>
            </a:pPr>
            <a:r>
              <a:rPr lang="en"/>
              <a:t>Any JSON is a valid JavaScript literal (object, array, number, etc.). The converse is not true, though—not all JavaScript object literals are valid JSON.</a:t>
            </a:r>
            <a:endParaRPr/>
          </a:p>
          <a:p>
            <a:pPr marL="457200" lvl="0" indent="-325755" algn="l" rtl="0">
              <a:spcBef>
                <a:spcPts val="0"/>
              </a:spcBef>
              <a:spcAft>
                <a:spcPts val="0"/>
              </a:spcAft>
              <a:buSzPct val="100000"/>
              <a:buChar char="●"/>
            </a:pPr>
            <a:r>
              <a:rPr lang="en"/>
              <a:t>JSON can only contain serializable data types. This means:</a:t>
            </a:r>
            <a:endParaRPr/>
          </a:p>
          <a:p>
            <a:pPr marL="914400" lvl="1" indent="-304165" algn="l" rtl="0">
              <a:spcBef>
                <a:spcPts val="0"/>
              </a:spcBef>
              <a:spcAft>
                <a:spcPts val="0"/>
              </a:spcAft>
              <a:buSzPct val="100000"/>
              <a:buChar char="○"/>
            </a:pPr>
            <a:r>
              <a:rPr lang="en"/>
              <a:t>For primitives, JSON can contain string literals, number literals, true, false, and null. Notably, it cannot contain undefined, NaN, or Infinity.</a:t>
            </a:r>
            <a:endParaRPr/>
          </a:p>
          <a:p>
            <a:pPr marL="914400" lvl="1" indent="-304165" algn="l" rtl="0">
              <a:spcBef>
                <a:spcPts val="0"/>
              </a:spcBef>
              <a:spcAft>
                <a:spcPts val="0"/>
              </a:spcAft>
              <a:buSzPct val="100000"/>
              <a:buChar char="○"/>
            </a:pPr>
            <a:r>
              <a:rPr lang="en"/>
              <a:t>For non-primitives, JSON can contain object literals and arrays, but not functions or any other object types, such as Date, Set, and Map. The objects and arrays inside JSON need to further contain valid JSON data types.</a:t>
            </a:r>
            <a:endParaRPr/>
          </a:p>
          <a:p>
            <a:pPr marL="457200" lvl="0" indent="-325755" algn="l" rtl="0">
              <a:spcBef>
                <a:spcPts val="0"/>
              </a:spcBef>
              <a:spcAft>
                <a:spcPts val="0"/>
              </a:spcAft>
              <a:buSzPct val="100000"/>
              <a:buChar char="●"/>
            </a:pPr>
            <a:r>
              <a:rPr lang="en"/>
              <a:t>Strings must be enclosed in double quotes, not single quotes.</a:t>
            </a:r>
            <a:endParaRPr/>
          </a:p>
          <a:p>
            <a:pPr marL="457200" lvl="0" indent="-325755" algn="l" rtl="0">
              <a:spcBef>
                <a:spcPts val="0"/>
              </a:spcBef>
              <a:spcAft>
                <a:spcPts val="0"/>
              </a:spcAft>
              <a:buSzPct val="100000"/>
              <a:buChar char="●"/>
            </a:pPr>
            <a:r>
              <a:rPr lang="en"/>
              <a:t>Numbers must be written in decimal notation.</a:t>
            </a:r>
            <a:endParaRPr/>
          </a:p>
          <a:p>
            <a:pPr marL="457200" lvl="0" indent="-325755" algn="l" rtl="0">
              <a:spcBef>
                <a:spcPts val="0"/>
              </a:spcBef>
              <a:spcAft>
                <a:spcPts val="0"/>
              </a:spcAft>
              <a:buSzPct val="100000"/>
              <a:buChar char="●"/>
            </a:pPr>
            <a:r>
              <a:rPr lang="en"/>
              <a:t>Each property of an object must be in the form of "key": value. Property names must be string literals enclosed in double quotes. Special JavaScript syntax, such as methods, is not allowed because methods are functions, and functions are not valid JSON data types.</a:t>
            </a:r>
            <a:endParaRPr/>
          </a:p>
          <a:p>
            <a:pPr marL="457200" lvl="0" indent="-325755" algn="l" rtl="0">
              <a:spcBef>
                <a:spcPts val="0"/>
              </a:spcBef>
              <a:spcAft>
                <a:spcPts val="0"/>
              </a:spcAft>
              <a:buSzPct val="100000"/>
              <a:buChar char="●"/>
            </a:pPr>
            <a:r>
              <a:rPr lang="en"/>
              <a:t>Objects and arrays cannot contain trailing commas.</a:t>
            </a:r>
            <a:endParaRPr/>
          </a:p>
          <a:p>
            <a:pPr marL="457200" lvl="0" indent="-325755" algn="l" rtl="0">
              <a:spcBef>
                <a:spcPts val="0"/>
              </a:spcBef>
              <a:spcAft>
                <a:spcPts val="0"/>
              </a:spcAft>
              <a:buSzPct val="100000"/>
              <a:buChar char="●"/>
            </a:pPr>
            <a:r>
              <a:rPr lang="en"/>
              <a:t>Comments are not allowed in JSON.</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9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Converting between objects and text</a:t>
            </a:r>
            <a:endParaRPr/>
          </a:p>
        </p:txBody>
      </p:sp>
      <p:sp>
        <p:nvSpPr>
          <p:cNvPr id="697" name="Google Shape;697;p96"/>
          <p:cNvSpPr txBox="1">
            <a:spLocks noGrp="1"/>
          </p:cNvSpPr>
          <p:nvPr>
            <p:ph type="body" idx="1"/>
          </p:nvPr>
        </p:nvSpPr>
        <p:spPr>
          <a:xfrm>
            <a:off x="311700" y="1152475"/>
            <a:ext cx="8520600" cy="17916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built-in JSON object:</a:t>
            </a:r>
            <a:endParaRPr/>
          </a:p>
          <a:p>
            <a:pPr marL="457200" lvl="0" indent="-342900" algn="l" rtl="0">
              <a:spcBef>
                <a:spcPts val="0"/>
              </a:spcBef>
              <a:spcAft>
                <a:spcPts val="0"/>
              </a:spcAft>
              <a:buSzPts val="1800"/>
              <a:buChar char="●"/>
            </a:pPr>
            <a:r>
              <a:rPr lang="en"/>
              <a:t>parse(): Accepts a JSON string as a parameter, and returns the corresponding JavaScript object.</a:t>
            </a:r>
            <a:endParaRPr/>
          </a:p>
          <a:p>
            <a:pPr marL="457200" lvl="0" indent="-342900" algn="l" rtl="0">
              <a:spcBef>
                <a:spcPts val="0"/>
              </a:spcBef>
              <a:spcAft>
                <a:spcPts val="0"/>
              </a:spcAft>
              <a:buSzPts val="1800"/>
              <a:buChar char="●"/>
            </a:pPr>
            <a:r>
              <a:rPr lang="en"/>
              <a:t>stringify(): Accepts an object as a parameter, and returns the equivalent JSON string.</a:t>
            </a:r>
            <a:endParaRPr/>
          </a:p>
        </p:txBody>
      </p:sp>
      <p:sp>
        <p:nvSpPr>
          <p:cNvPr id="698" name="Google Shape;698;p9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85</a:t>
            </a:fld>
            <a:endParaRPr/>
          </a:p>
        </p:txBody>
      </p:sp>
      <p:sp>
        <p:nvSpPr>
          <p:cNvPr id="699" name="Google Shape;699;p96"/>
          <p:cNvSpPr txBox="1"/>
          <p:nvPr/>
        </p:nvSpPr>
        <p:spPr>
          <a:xfrm>
            <a:off x="814900" y="2979200"/>
            <a:ext cx="4013100" cy="11082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let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myObj</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 </a:t>
            </a:r>
            <a:r>
              <a:rPr lang="en" sz="1200">
                <a:solidFill>
                  <a:srgbClr val="9CDCFE"/>
                </a:solidFill>
                <a:highlight>
                  <a:srgbClr val="121314"/>
                </a:highlight>
                <a:latin typeface="Courier New"/>
                <a:ea typeface="Courier New"/>
                <a:cs typeface="Courier New"/>
                <a:sym typeface="Courier New"/>
              </a:rPr>
              <a:t>name:</a:t>
            </a:r>
            <a:r>
              <a:rPr lang="en" sz="1200">
                <a:solidFill>
                  <a:srgbClr val="C9D1D9"/>
                </a:solidFill>
                <a:highlight>
                  <a:srgbClr val="121314"/>
                </a:highlight>
                <a:latin typeface="Courier New"/>
                <a:ea typeface="Courier New"/>
                <a:cs typeface="Courier New"/>
                <a:sym typeface="Courier New"/>
              </a:rPr>
              <a:t> </a:t>
            </a:r>
            <a:r>
              <a:rPr lang="en" sz="1200">
                <a:solidFill>
                  <a:srgbClr val="A5D6FF"/>
                </a:solidFill>
                <a:highlight>
                  <a:srgbClr val="121314"/>
                </a:highlight>
                <a:latin typeface="Courier New"/>
                <a:ea typeface="Courier New"/>
                <a:cs typeface="Courier New"/>
                <a:sym typeface="Courier New"/>
              </a:rPr>
              <a:t>"Chris"</a:t>
            </a:r>
            <a:r>
              <a:rPr lang="en" sz="1200">
                <a:solidFill>
                  <a:srgbClr val="BBBEBF"/>
                </a:solidFill>
                <a:highlight>
                  <a:srgbClr val="121314"/>
                </a:highlight>
                <a:latin typeface="Courier New"/>
                <a:ea typeface="Courier New"/>
                <a:cs typeface="Courier New"/>
                <a:sym typeface="Courier New"/>
              </a:rPr>
              <a:t>, </a:t>
            </a:r>
            <a:r>
              <a:rPr lang="en" sz="1200">
                <a:solidFill>
                  <a:srgbClr val="9CDCFE"/>
                </a:solidFill>
                <a:highlight>
                  <a:srgbClr val="121314"/>
                </a:highlight>
                <a:latin typeface="Courier New"/>
                <a:ea typeface="Courier New"/>
                <a:cs typeface="Courier New"/>
                <a:sym typeface="Courier New"/>
              </a:rPr>
              <a:t>age:</a:t>
            </a:r>
            <a:r>
              <a:rPr lang="en" sz="1200">
                <a:solidFill>
                  <a:srgbClr val="C9D1D9"/>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38</a:t>
            </a:r>
            <a:r>
              <a:rPr lang="en" sz="1200">
                <a:solidFill>
                  <a:srgbClr val="C9D1D9"/>
                </a:solidFill>
                <a:highlight>
                  <a:srgbClr val="121314"/>
                </a:highlight>
                <a:latin typeface="Courier New"/>
                <a:ea typeface="Courier New"/>
                <a:cs typeface="Courier New"/>
                <a:sym typeface="Courier New"/>
              </a:rPr>
              <a:t> </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let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myString</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JSON</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stringify</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myObj</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myString</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79C0FF"/>
                </a:solidFill>
                <a:highlight>
                  <a:srgbClr val="121314"/>
                </a:highlight>
                <a:latin typeface="Courier New"/>
                <a:ea typeface="Courier New"/>
                <a:cs typeface="Courier New"/>
                <a:sym typeface="Courier New"/>
              </a:rPr>
              <a:t>JSON</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parse</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myString</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97"/>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Object Type ─ Map Data Structure</a:t>
            </a:r>
            <a:endParaRPr/>
          </a:p>
        </p:txBody>
      </p:sp>
      <p:sp>
        <p:nvSpPr>
          <p:cNvPr id="705" name="Google Shape;705;p9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86</a:t>
            </a:fld>
            <a:endParaRPr>
              <a:solidFill>
                <a:schemeClr val="lt1"/>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9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Map object</a:t>
            </a:r>
            <a:endParaRPr/>
          </a:p>
        </p:txBody>
      </p:sp>
      <p:sp>
        <p:nvSpPr>
          <p:cNvPr id="711" name="Google Shape;711;p9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87</a:t>
            </a:fld>
            <a:endParaRPr/>
          </a:p>
        </p:txBody>
      </p:sp>
      <p:sp>
        <p:nvSpPr>
          <p:cNvPr id="712" name="Google Shape;712;p9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10000"/>
          </a:bodyPr>
          <a:lstStyle/>
          <a:p>
            <a:pPr marL="457200" lvl="0" indent="-334328" algn="l" rtl="0">
              <a:spcBef>
                <a:spcPts val="0"/>
              </a:spcBef>
              <a:spcAft>
                <a:spcPts val="0"/>
              </a:spcAft>
              <a:buSzPct val="100000"/>
              <a:buChar char="●"/>
            </a:pPr>
            <a:r>
              <a:rPr lang="en"/>
              <a:t>The Map object holds key-value pairs and remembers the original insertion order of the keys.</a:t>
            </a:r>
            <a:endParaRPr/>
          </a:p>
          <a:p>
            <a:pPr marL="914400" lvl="1" indent="-310832" algn="l" rtl="0">
              <a:spcBef>
                <a:spcPts val="0"/>
              </a:spcBef>
              <a:spcAft>
                <a:spcPts val="0"/>
              </a:spcAft>
              <a:buSzPct val="100000"/>
              <a:buChar char="○"/>
            </a:pPr>
            <a:r>
              <a:rPr lang="en"/>
              <a:t>Collections of key-value pairs.</a:t>
            </a:r>
            <a:endParaRPr/>
          </a:p>
          <a:p>
            <a:pPr marL="457200" lvl="0" indent="-334328" algn="l" rtl="0">
              <a:spcBef>
                <a:spcPts val="0"/>
              </a:spcBef>
              <a:spcAft>
                <a:spcPts val="0"/>
              </a:spcAft>
              <a:buSzPct val="100000"/>
              <a:buChar char="●"/>
            </a:pPr>
            <a:r>
              <a:rPr lang="en"/>
              <a:t>Any value (both objects and primitive values) may be used as either a key or a value.</a:t>
            </a:r>
            <a:endParaRPr/>
          </a:p>
          <a:p>
            <a:pPr marL="914400" lvl="1" indent="-310832" algn="l" rtl="0">
              <a:spcBef>
                <a:spcPts val="0"/>
              </a:spcBef>
              <a:spcAft>
                <a:spcPts val="0"/>
              </a:spcAft>
              <a:buSzPct val="100000"/>
              <a:buChar char="○"/>
            </a:pPr>
            <a:r>
              <a:rPr lang="en"/>
              <a:t>A key in the Map may only occur once; it is unique in the Map's collection.</a:t>
            </a:r>
            <a:endParaRPr/>
          </a:p>
          <a:p>
            <a:pPr marL="914400" lvl="1" indent="-310832" algn="l" rtl="0">
              <a:spcBef>
                <a:spcPts val="0"/>
              </a:spcBef>
              <a:spcAft>
                <a:spcPts val="0"/>
              </a:spcAft>
              <a:buSzPct val="100000"/>
              <a:buChar char="○"/>
            </a:pPr>
            <a:r>
              <a:rPr lang="en"/>
              <a:t>A Map object is iterated by key-value pairs — a for...of loop returns a 2-member array of [key, value] for each iteration.</a:t>
            </a:r>
            <a:endParaRPr/>
          </a:p>
          <a:p>
            <a:pPr marL="914400" lvl="1" indent="-310832" algn="l" rtl="0">
              <a:spcBef>
                <a:spcPts val="0"/>
              </a:spcBef>
              <a:spcAft>
                <a:spcPts val="0"/>
              </a:spcAft>
              <a:buSzPct val="100000"/>
              <a:buChar char="○"/>
            </a:pPr>
            <a:r>
              <a:rPr lang="en"/>
              <a:t>Iteration happens in insertion order, which corresponds to the order in which each key-value pair was first inserted into the map by the set() method.</a:t>
            </a:r>
            <a:endParaRPr/>
          </a:p>
          <a:p>
            <a:pPr marL="457200" lvl="0" indent="-334328" algn="l" rtl="0">
              <a:spcBef>
                <a:spcPts val="0"/>
              </a:spcBef>
              <a:spcAft>
                <a:spcPts val="0"/>
              </a:spcAft>
              <a:buSzPct val="100000"/>
              <a:buChar char="●"/>
            </a:pPr>
            <a:r>
              <a:rPr lang="en"/>
              <a:t>Key equality</a:t>
            </a:r>
            <a:endParaRPr/>
          </a:p>
          <a:p>
            <a:pPr marL="914400" lvl="1" indent="-310832" algn="l" rtl="0">
              <a:spcBef>
                <a:spcPts val="0"/>
              </a:spcBef>
              <a:spcAft>
                <a:spcPts val="0"/>
              </a:spcAft>
              <a:buSzPct val="100000"/>
              <a:buChar char="○"/>
            </a:pPr>
            <a:r>
              <a:rPr lang="en"/>
              <a:t>Equality is based on object identity, i.e. compare with values or references per key’s data type.</a:t>
            </a:r>
            <a:endParaRPr/>
          </a:p>
          <a:p>
            <a:pPr marL="914400" lvl="1" indent="-310832" algn="l" rtl="0">
              <a:spcBef>
                <a:spcPts val="0"/>
              </a:spcBef>
              <a:spcAft>
                <a:spcPts val="0"/>
              </a:spcAft>
              <a:buSzPct val="100000"/>
              <a:buChar char="○"/>
            </a:pPr>
            <a:r>
              <a:rPr lang="en"/>
              <a:t>Edge cases: </a:t>
            </a:r>
            <a:r>
              <a:rPr lang="en" u="sng">
                <a:solidFill>
                  <a:schemeClr val="hlink"/>
                </a:solidFill>
                <a:hlinkClick r:id="rId3"/>
              </a:rPr>
              <a:t>https://developer.mozilla.org/en-US/docs/Web/JavaScript/Reference/Global_Objects/Map#using_the_map_object</a:t>
            </a:r>
            <a:r>
              <a:rPr lang="en"/>
              <a:t> </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p9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Objects vs. Maps</a:t>
            </a:r>
            <a:endParaRPr/>
          </a:p>
        </p:txBody>
      </p:sp>
      <p:sp>
        <p:nvSpPr>
          <p:cNvPr id="718" name="Google Shape;718;p9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88</a:t>
            </a:fld>
            <a:endParaRPr/>
          </a:p>
        </p:txBody>
      </p:sp>
      <p:graphicFrame>
        <p:nvGraphicFramePr>
          <p:cNvPr id="719" name="Google Shape;719;p99"/>
          <p:cNvGraphicFramePr/>
          <p:nvPr/>
        </p:nvGraphicFramePr>
        <p:xfrm>
          <a:off x="525000" y="1232700"/>
          <a:ext cx="7560225" cy="3428850"/>
        </p:xfrm>
        <a:graphic>
          <a:graphicData uri="http://schemas.openxmlformats.org/drawingml/2006/table">
            <a:tbl>
              <a:tblPr>
                <a:noFill/>
                <a:tableStyleId>{160DF2F2-2E2D-4924-9058-CAD130D829AF}</a:tableStyleId>
              </a:tblPr>
              <a:tblGrid>
                <a:gridCol w="1192750">
                  <a:extLst>
                    <a:ext uri="{9D8B030D-6E8A-4147-A177-3AD203B41FA5}">
                      <a16:colId xmlns:a16="http://schemas.microsoft.com/office/drawing/2014/main" val="20000"/>
                    </a:ext>
                  </a:extLst>
                </a:gridCol>
                <a:gridCol w="2237650">
                  <a:extLst>
                    <a:ext uri="{9D8B030D-6E8A-4147-A177-3AD203B41FA5}">
                      <a16:colId xmlns:a16="http://schemas.microsoft.com/office/drawing/2014/main" val="20001"/>
                    </a:ext>
                  </a:extLst>
                </a:gridCol>
                <a:gridCol w="4129825">
                  <a:extLst>
                    <a:ext uri="{9D8B030D-6E8A-4147-A177-3AD203B41FA5}">
                      <a16:colId xmlns:a16="http://schemas.microsoft.com/office/drawing/2014/main" val="20002"/>
                    </a:ext>
                  </a:extLst>
                </a:gridCol>
              </a:tblGrid>
              <a:tr h="236100">
                <a:tc>
                  <a:txBody>
                    <a:bodyPr/>
                    <a:lstStyle/>
                    <a:p>
                      <a:pPr marL="0" lvl="0" indent="0" algn="l" rtl="0">
                        <a:lnSpc>
                          <a:spcPct val="100000"/>
                        </a:lnSpc>
                        <a:spcBef>
                          <a:spcPts val="0"/>
                        </a:spcBef>
                        <a:spcAft>
                          <a:spcPts val="0"/>
                        </a:spcAft>
                        <a:buNone/>
                      </a:pPr>
                      <a:endParaRPr sz="9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b="1"/>
                        <a:t>Map</a:t>
                      </a:r>
                      <a:endParaRPr sz="12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b="1"/>
                        <a:t>Object</a:t>
                      </a:r>
                      <a:endParaRPr sz="12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239250">
                <a:tc>
                  <a:txBody>
                    <a:bodyPr/>
                    <a:lstStyle/>
                    <a:p>
                      <a:pPr marL="0" lvl="0" indent="0" algn="ctr" rtl="0">
                        <a:lnSpc>
                          <a:spcPct val="100000"/>
                        </a:lnSpc>
                        <a:spcBef>
                          <a:spcPts val="0"/>
                        </a:spcBef>
                        <a:spcAft>
                          <a:spcPts val="0"/>
                        </a:spcAft>
                        <a:buNone/>
                      </a:pPr>
                      <a:r>
                        <a:rPr lang="en" sz="1000" b="1"/>
                        <a:t>Accidental Keys</a:t>
                      </a:r>
                      <a:endParaRPr sz="10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900"/>
                        <a:t>A Map does not contain any keys by default. It only contains what is explicitly put into it.</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900"/>
                        <a:t>An Object has a prototype, so it contains default keys that could collide with your own keys if you're not careful.</a:t>
                      </a:r>
                      <a:endParaRPr sz="900"/>
                    </a:p>
                    <a:p>
                      <a:pPr marL="0" lvl="0" indent="0" algn="l" rtl="0">
                        <a:lnSpc>
                          <a:spcPct val="100000"/>
                        </a:lnSpc>
                        <a:spcBef>
                          <a:spcPts val="0"/>
                        </a:spcBef>
                        <a:spcAft>
                          <a:spcPts val="0"/>
                        </a:spcAft>
                        <a:buNone/>
                      </a:pPr>
                      <a:r>
                        <a:rPr lang="en" sz="900"/>
                        <a:t>Note: This can be bypassed by using </a:t>
                      </a:r>
                      <a:r>
                        <a:rPr lang="en" sz="900" u="sng">
                          <a:solidFill>
                            <a:schemeClr val="hlink"/>
                          </a:solidFill>
                          <a:hlinkClick r:id="rId3"/>
                        </a:rPr>
                        <a:t>Object.create(null)</a:t>
                      </a:r>
                      <a:r>
                        <a:rPr lang="en" sz="900"/>
                        <a:t>, but this is seldom done.</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68775">
                <a:tc>
                  <a:txBody>
                    <a:bodyPr/>
                    <a:lstStyle/>
                    <a:p>
                      <a:pPr marL="0" lvl="0" indent="0" algn="ctr" rtl="0">
                        <a:lnSpc>
                          <a:spcPct val="100000"/>
                        </a:lnSpc>
                        <a:spcBef>
                          <a:spcPts val="0"/>
                        </a:spcBef>
                        <a:spcAft>
                          <a:spcPts val="0"/>
                        </a:spcAft>
                        <a:buNone/>
                      </a:pPr>
                      <a:r>
                        <a:rPr lang="en" sz="1000" b="1"/>
                        <a:t>Security</a:t>
                      </a:r>
                      <a:endParaRPr sz="10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900"/>
                        <a:t>A Map is safe to use with user-provided keys and values.</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900"/>
                        <a:t>Setting user-provided key-value pairs on an Object may allow an attacker to override the object's prototype, which can lead to </a:t>
                      </a:r>
                      <a:r>
                        <a:rPr lang="en" sz="900" u="sng">
                          <a:solidFill>
                            <a:schemeClr val="hlink"/>
                          </a:solidFill>
                          <a:hlinkClick r:id="rId4"/>
                        </a:rPr>
                        <a:t>object injection attacks </a:t>
                      </a:r>
                      <a:r>
                        <a:rPr lang="en" sz="900"/>
                        <a:t>or </a:t>
                      </a:r>
                      <a:r>
                        <a:rPr lang="en" sz="900" u="sng">
                          <a:solidFill>
                            <a:schemeClr val="hlink"/>
                          </a:solidFill>
                          <a:hlinkClick r:id="rId5"/>
                        </a:rPr>
                        <a:t>prototype pollution attacks</a:t>
                      </a:r>
                      <a:r>
                        <a:rPr lang="en" sz="900"/>
                        <a:t>. Like the accidental keys issue, this can also be mitigated by using a null-prototype object.</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ctr" rtl="0">
                        <a:lnSpc>
                          <a:spcPct val="100000"/>
                        </a:lnSpc>
                        <a:spcBef>
                          <a:spcPts val="0"/>
                        </a:spcBef>
                        <a:spcAft>
                          <a:spcPts val="0"/>
                        </a:spcAft>
                        <a:buNone/>
                      </a:pPr>
                      <a:r>
                        <a:rPr lang="en" sz="1000" b="1"/>
                        <a:t>Key Types</a:t>
                      </a:r>
                      <a:endParaRPr sz="10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900"/>
                        <a:t>A Map's keys can be any value (including functions, objects, or any primitive).</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900"/>
                        <a:t>The keys of an Object must be either a </a:t>
                      </a:r>
                      <a:r>
                        <a:rPr lang="en" sz="900" u="sng">
                          <a:solidFill>
                            <a:schemeClr val="hlink"/>
                          </a:solidFill>
                          <a:hlinkClick r:id="rId6"/>
                        </a:rPr>
                        <a:t>String</a:t>
                      </a:r>
                      <a:r>
                        <a:rPr lang="en" sz="900"/>
                        <a:t> or a </a:t>
                      </a:r>
                      <a:r>
                        <a:rPr lang="en" sz="900" u="sng">
                          <a:solidFill>
                            <a:schemeClr val="hlink"/>
                          </a:solidFill>
                          <a:hlinkClick r:id="rId7"/>
                        </a:rPr>
                        <a:t>Symbol</a:t>
                      </a:r>
                      <a:r>
                        <a:rPr lang="en" sz="900"/>
                        <a:t>.</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931575">
                <a:tc>
                  <a:txBody>
                    <a:bodyPr/>
                    <a:lstStyle/>
                    <a:p>
                      <a:pPr marL="0" lvl="0" indent="0" algn="ctr" rtl="0">
                        <a:lnSpc>
                          <a:spcPct val="100000"/>
                        </a:lnSpc>
                        <a:spcBef>
                          <a:spcPts val="0"/>
                        </a:spcBef>
                        <a:spcAft>
                          <a:spcPts val="0"/>
                        </a:spcAft>
                        <a:buNone/>
                      </a:pPr>
                      <a:r>
                        <a:rPr lang="en" sz="1000" b="1"/>
                        <a:t>Key Order</a:t>
                      </a:r>
                      <a:endParaRPr sz="10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900"/>
                        <a:t>The keys in Map are ordered in a straightforward way: A Map object iterates entries, keys, and values in the order of entry insertion.</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900"/>
                        <a:t>Although the keys of an ordinary Object are ordered now, this was not always the case, and the order is complex. As a result, it's best not to rely on property order.</a:t>
                      </a:r>
                      <a:endParaRPr sz="900"/>
                    </a:p>
                    <a:p>
                      <a:pPr marL="0" lvl="0" indent="0" algn="l" rtl="0">
                        <a:lnSpc>
                          <a:spcPct val="100000"/>
                        </a:lnSpc>
                        <a:spcBef>
                          <a:spcPts val="0"/>
                        </a:spcBef>
                        <a:spcAft>
                          <a:spcPts val="0"/>
                        </a:spcAft>
                        <a:buNone/>
                      </a:pPr>
                      <a:r>
                        <a:rPr lang="en" sz="900"/>
                        <a:t>The order was first defined for own properties only in ECMAScript 2015; ECMAScript 2020 defines order for inherited properties as well. But note that no single mechanism iterates all of an object's properties.</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720" name="Google Shape;720;p99"/>
          <p:cNvSpPr txBox="1"/>
          <p:nvPr/>
        </p:nvSpPr>
        <p:spPr>
          <a:xfrm>
            <a:off x="476400" y="4688750"/>
            <a:ext cx="63600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u="sng">
                <a:solidFill>
                  <a:schemeClr val="hlink"/>
                </a:solidFill>
                <a:hlinkClick r:id="rId8"/>
              </a:rPr>
              <a:t>https://developer.mozilla.org/en-US/docs/Web/JavaScript/Reference/Global_Objects/Map#objects_vs._maps</a:t>
            </a:r>
            <a:r>
              <a:rPr lang="en" sz="1000"/>
              <a:t> </a:t>
            </a:r>
            <a:endParaRPr sz="100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p10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Examples of Map Object</a:t>
            </a:r>
            <a:endParaRPr/>
          </a:p>
        </p:txBody>
      </p:sp>
      <p:sp>
        <p:nvSpPr>
          <p:cNvPr id="726" name="Google Shape;726;p10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89</a:t>
            </a:fld>
            <a:endParaRPr/>
          </a:p>
        </p:txBody>
      </p:sp>
      <p:sp>
        <p:nvSpPr>
          <p:cNvPr id="727" name="Google Shape;727;p100"/>
          <p:cNvSpPr txBox="1"/>
          <p:nvPr/>
        </p:nvSpPr>
        <p:spPr>
          <a:xfrm>
            <a:off x="394300" y="1242450"/>
            <a:ext cx="5476500" cy="25962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contacts</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569CD6"/>
                </a:solidFill>
                <a:highlight>
                  <a:srgbClr val="121314"/>
                </a:highlight>
                <a:latin typeface="Courier New"/>
                <a:ea typeface="Courier New"/>
                <a:cs typeface="Courier New"/>
                <a:sym typeface="Courier New"/>
              </a:rPr>
              <a:t>new</a:t>
            </a:r>
            <a:r>
              <a:rPr lang="en" sz="1000">
                <a:solidFill>
                  <a:srgbClr val="BBBEBF"/>
                </a:solidFill>
                <a:highlight>
                  <a:srgbClr val="121314"/>
                </a:highlight>
                <a:latin typeface="Courier New"/>
                <a:ea typeface="Courier New"/>
                <a:cs typeface="Courier New"/>
                <a:sym typeface="Courier New"/>
              </a:rPr>
              <a:t> </a:t>
            </a:r>
            <a:r>
              <a:rPr lang="en" sz="1000">
                <a:solidFill>
                  <a:srgbClr val="D2A8FF"/>
                </a:solidFill>
                <a:highlight>
                  <a:srgbClr val="121314"/>
                </a:highlight>
                <a:latin typeface="Courier New"/>
                <a:ea typeface="Courier New"/>
                <a:cs typeface="Courier New"/>
                <a:sym typeface="Courier New"/>
              </a:rPr>
              <a:t>Map</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contacts</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set</a:t>
            </a:r>
            <a:r>
              <a:rPr lang="en" sz="1000">
                <a:solidFill>
                  <a:srgbClr val="BBBEBF"/>
                </a:solidFill>
                <a:highlight>
                  <a:srgbClr val="121314"/>
                </a:highlight>
                <a:latin typeface="Courier New"/>
                <a:ea typeface="Courier New"/>
                <a:cs typeface="Courier New"/>
                <a:sym typeface="Courier New"/>
              </a:rPr>
              <a:t>(</a:t>
            </a:r>
            <a:r>
              <a:rPr lang="en" sz="1000">
                <a:solidFill>
                  <a:srgbClr val="A5D6FF"/>
                </a:solidFill>
                <a:highlight>
                  <a:srgbClr val="121314"/>
                </a:highlight>
                <a:latin typeface="Courier New"/>
                <a:ea typeface="Courier New"/>
                <a:cs typeface="Courier New"/>
                <a:sym typeface="Courier New"/>
              </a:rPr>
              <a:t>"Jessie"</a:t>
            </a:r>
            <a:r>
              <a:rPr lang="en" sz="1000">
                <a:solidFill>
                  <a:srgbClr val="BBBEBF"/>
                </a:solidFill>
                <a:highlight>
                  <a:srgbClr val="121314"/>
                </a:highlight>
                <a:latin typeface="Courier New"/>
                <a:ea typeface="Courier New"/>
                <a:cs typeface="Courier New"/>
                <a:sym typeface="Courier New"/>
              </a:rPr>
              <a:t>, { </a:t>
            </a:r>
            <a:r>
              <a:rPr lang="en" sz="1000">
                <a:solidFill>
                  <a:srgbClr val="9CDCFE"/>
                </a:solidFill>
                <a:highlight>
                  <a:srgbClr val="121314"/>
                </a:highlight>
                <a:latin typeface="Courier New"/>
                <a:ea typeface="Courier New"/>
                <a:cs typeface="Courier New"/>
                <a:sym typeface="Courier New"/>
              </a:rPr>
              <a:t>phone:</a:t>
            </a:r>
            <a:r>
              <a:rPr lang="en" sz="1000">
                <a:solidFill>
                  <a:srgbClr val="C9D1D9"/>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"213-555-1234"</a:t>
            </a:r>
            <a:r>
              <a:rPr lang="en" sz="1000">
                <a:solidFill>
                  <a:srgbClr val="BBBEBF"/>
                </a:solidFill>
                <a:highlight>
                  <a:srgbClr val="121314"/>
                </a:highlight>
                <a:latin typeface="Courier New"/>
                <a:ea typeface="Courier New"/>
                <a:cs typeface="Courier New"/>
                <a:sym typeface="Courier New"/>
              </a:rPr>
              <a:t>, </a:t>
            </a:r>
            <a:r>
              <a:rPr lang="en" sz="1000">
                <a:solidFill>
                  <a:srgbClr val="9CDCFE"/>
                </a:solidFill>
                <a:highlight>
                  <a:srgbClr val="121314"/>
                </a:highlight>
                <a:latin typeface="Courier New"/>
                <a:ea typeface="Courier New"/>
                <a:cs typeface="Courier New"/>
                <a:sym typeface="Courier New"/>
              </a:rPr>
              <a:t>address:</a:t>
            </a:r>
            <a:r>
              <a:rPr lang="en" sz="1000">
                <a:solidFill>
                  <a:srgbClr val="C9D1D9"/>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"123 N 1st Ave"</a:t>
            </a:r>
            <a:r>
              <a:rPr lang="en" sz="1000">
                <a:solidFill>
                  <a:srgbClr val="C9D1D9"/>
                </a:solidFill>
                <a:highlight>
                  <a:srgbClr val="121314"/>
                </a:highlight>
                <a:latin typeface="Courier New"/>
                <a:ea typeface="Courier New"/>
                <a:cs typeface="Courier New"/>
                <a:sym typeface="Courier New"/>
              </a:rPr>
              <a:t> </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contacts</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has</a:t>
            </a:r>
            <a:r>
              <a:rPr lang="en" sz="1000">
                <a:solidFill>
                  <a:srgbClr val="BBBEBF"/>
                </a:solidFill>
                <a:highlight>
                  <a:srgbClr val="121314"/>
                </a:highlight>
                <a:latin typeface="Courier New"/>
                <a:ea typeface="Courier New"/>
                <a:cs typeface="Courier New"/>
                <a:sym typeface="Courier New"/>
              </a:rPr>
              <a:t>(</a:t>
            </a:r>
            <a:r>
              <a:rPr lang="en" sz="1000">
                <a:solidFill>
                  <a:srgbClr val="A5D6FF"/>
                </a:solidFill>
                <a:highlight>
                  <a:srgbClr val="121314"/>
                </a:highlight>
                <a:latin typeface="Courier New"/>
                <a:ea typeface="Courier New"/>
                <a:cs typeface="Courier New"/>
                <a:sym typeface="Courier New"/>
              </a:rPr>
              <a:t>"Jessie"</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true</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contacts</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get</a:t>
            </a:r>
            <a:r>
              <a:rPr lang="en" sz="1000">
                <a:solidFill>
                  <a:srgbClr val="BBBEBF"/>
                </a:solidFill>
                <a:highlight>
                  <a:srgbClr val="121314"/>
                </a:highlight>
                <a:latin typeface="Courier New"/>
                <a:ea typeface="Courier New"/>
                <a:cs typeface="Courier New"/>
                <a:sym typeface="Courier New"/>
              </a:rPr>
              <a:t>(</a:t>
            </a:r>
            <a:r>
              <a:rPr lang="en" sz="1000">
                <a:solidFill>
                  <a:srgbClr val="A5D6FF"/>
                </a:solidFill>
                <a:highlight>
                  <a:srgbClr val="121314"/>
                </a:highlight>
                <a:latin typeface="Courier New"/>
                <a:ea typeface="Courier New"/>
                <a:cs typeface="Courier New"/>
                <a:sym typeface="Courier New"/>
              </a:rPr>
              <a:t>"Hilary"</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undefined</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contacts</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set</a:t>
            </a:r>
            <a:r>
              <a:rPr lang="en" sz="1000">
                <a:solidFill>
                  <a:srgbClr val="BBBEBF"/>
                </a:solidFill>
                <a:highlight>
                  <a:srgbClr val="121314"/>
                </a:highlight>
                <a:latin typeface="Courier New"/>
                <a:ea typeface="Courier New"/>
                <a:cs typeface="Courier New"/>
                <a:sym typeface="Courier New"/>
              </a:rPr>
              <a:t>(</a:t>
            </a:r>
            <a:r>
              <a:rPr lang="en" sz="1000">
                <a:solidFill>
                  <a:srgbClr val="A5D6FF"/>
                </a:solidFill>
                <a:highlight>
                  <a:srgbClr val="121314"/>
                </a:highlight>
                <a:latin typeface="Courier New"/>
                <a:ea typeface="Courier New"/>
                <a:cs typeface="Courier New"/>
                <a:sym typeface="Courier New"/>
              </a:rPr>
              <a:t>"Hilary"</a:t>
            </a:r>
            <a:r>
              <a:rPr lang="en" sz="1000">
                <a:solidFill>
                  <a:srgbClr val="BBBEBF"/>
                </a:solidFill>
                <a:highlight>
                  <a:srgbClr val="121314"/>
                </a:highlight>
                <a:latin typeface="Courier New"/>
                <a:ea typeface="Courier New"/>
                <a:cs typeface="Courier New"/>
                <a:sym typeface="Courier New"/>
              </a:rPr>
              <a:t>, { </a:t>
            </a:r>
            <a:r>
              <a:rPr lang="en" sz="1000">
                <a:solidFill>
                  <a:srgbClr val="9CDCFE"/>
                </a:solidFill>
                <a:highlight>
                  <a:srgbClr val="121314"/>
                </a:highlight>
                <a:latin typeface="Courier New"/>
                <a:ea typeface="Courier New"/>
                <a:cs typeface="Courier New"/>
                <a:sym typeface="Courier New"/>
              </a:rPr>
              <a:t>phone:</a:t>
            </a:r>
            <a:r>
              <a:rPr lang="en" sz="1000">
                <a:solidFill>
                  <a:srgbClr val="C9D1D9"/>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"617-555-4321"</a:t>
            </a:r>
            <a:r>
              <a:rPr lang="en" sz="1000">
                <a:solidFill>
                  <a:srgbClr val="BBBEBF"/>
                </a:solidFill>
                <a:highlight>
                  <a:srgbClr val="121314"/>
                </a:highlight>
                <a:latin typeface="Courier New"/>
                <a:ea typeface="Courier New"/>
                <a:cs typeface="Courier New"/>
                <a:sym typeface="Courier New"/>
              </a:rPr>
              <a:t>, </a:t>
            </a:r>
            <a:r>
              <a:rPr lang="en" sz="1000">
                <a:solidFill>
                  <a:srgbClr val="9CDCFE"/>
                </a:solidFill>
                <a:highlight>
                  <a:srgbClr val="121314"/>
                </a:highlight>
                <a:latin typeface="Courier New"/>
                <a:ea typeface="Courier New"/>
                <a:cs typeface="Courier New"/>
                <a:sym typeface="Courier New"/>
              </a:rPr>
              <a:t>address:</a:t>
            </a:r>
            <a:r>
              <a:rPr lang="en" sz="1000">
                <a:solidFill>
                  <a:srgbClr val="C9D1D9"/>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"321 S 2nd St"</a:t>
            </a:r>
            <a:r>
              <a:rPr lang="en" sz="1000">
                <a:solidFill>
                  <a:srgbClr val="C9D1D9"/>
                </a:solidFill>
                <a:highlight>
                  <a:srgbClr val="121314"/>
                </a:highlight>
                <a:latin typeface="Courier New"/>
                <a:ea typeface="Courier New"/>
                <a:cs typeface="Courier New"/>
                <a:sym typeface="Courier New"/>
              </a:rPr>
              <a:t> </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contacts</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get</a:t>
            </a:r>
            <a:r>
              <a:rPr lang="en" sz="1000">
                <a:solidFill>
                  <a:srgbClr val="BBBEBF"/>
                </a:solidFill>
                <a:highlight>
                  <a:srgbClr val="121314"/>
                </a:highlight>
                <a:latin typeface="Courier New"/>
                <a:ea typeface="Courier New"/>
                <a:cs typeface="Courier New"/>
                <a:sym typeface="Courier New"/>
              </a:rPr>
              <a:t>(</a:t>
            </a:r>
            <a:r>
              <a:rPr lang="en" sz="1000">
                <a:solidFill>
                  <a:srgbClr val="A5D6FF"/>
                </a:solidFill>
                <a:highlight>
                  <a:srgbClr val="121314"/>
                </a:highlight>
                <a:latin typeface="Courier New"/>
                <a:ea typeface="Courier New"/>
                <a:cs typeface="Courier New"/>
                <a:sym typeface="Courier New"/>
              </a:rPr>
              <a:t>"Jessie"</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{phone: "213-555-1234", address: "123 N 1st Ave"}</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contacts</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delete</a:t>
            </a:r>
            <a:r>
              <a:rPr lang="en" sz="1000">
                <a:solidFill>
                  <a:srgbClr val="BBBEBF"/>
                </a:solidFill>
                <a:highlight>
                  <a:srgbClr val="121314"/>
                </a:highlight>
                <a:latin typeface="Courier New"/>
                <a:ea typeface="Courier New"/>
                <a:cs typeface="Courier New"/>
                <a:sym typeface="Courier New"/>
              </a:rPr>
              <a:t>(</a:t>
            </a:r>
            <a:r>
              <a:rPr lang="en" sz="1000">
                <a:solidFill>
                  <a:srgbClr val="A5D6FF"/>
                </a:solidFill>
                <a:highlight>
                  <a:srgbClr val="121314"/>
                </a:highlight>
                <a:latin typeface="Courier New"/>
                <a:ea typeface="Courier New"/>
                <a:cs typeface="Courier New"/>
                <a:sym typeface="Courier New"/>
              </a:rPr>
              <a:t>"Raymond"</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false</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contacts</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delete</a:t>
            </a:r>
            <a:r>
              <a:rPr lang="en" sz="1000">
                <a:solidFill>
                  <a:srgbClr val="BBBEBF"/>
                </a:solidFill>
                <a:highlight>
                  <a:srgbClr val="121314"/>
                </a:highlight>
                <a:latin typeface="Courier New"/>
                <a:ea typeface="Courier New"/>
                <a:cs typeface="Courier New"/>
                <a:sym typeface="Courier New"/>
              </a:rPr>
              <a:t>(</a:t>
            </a:r>
            <a:r>
              <a:rPr lang="en" sz="1000">
                <a:solidFill>
                  <a:srgbClr val="A5D6FF"/>
                </a:solidFill>
                <a:highlight>
                  <a:srgbClr val="121314"/>
                </a:highlight>
                <a:latin typeface="Courier New"/>
                <a:ea typeface="Courier New"/>
                <a:cs typeface="Courier New"/>
                <a:sym typeface="Courier New"/>
              </a:rPr>
              <a:t>"Jessie"</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true</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contacts</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size</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1</a:t>
            </a:r>
            <a:endParaRPr sz="1000">
              <a:solidFill>
                <a:srgbClr val="8B949E"/>
              </a:solidFill>
              <a:highlight>
                <a:srgbClr val="121314"/>
              </a:highlight>
              <a:latin typeface="Courier New"/>
              <a:ea typeface="Courier New"/>
              <a:cs typeface="Courier New"/>
              <a:sym typeface="Courier New"/>
            </a:endParaRPr>
          </a:p>
        </p:txBody>
      </p:sp>
      <p:sp>
        <p:nvSpPr>
          <p:cNvPr id="728" name="Google Shape;728;p100"/>
          <p:cNvSpPr txBox="1"/>
          <p:nvPr/>
        </p:nvSpPr>
        <p:spPr>
          <a:xfrm>
            <a:off x="6221300" y="1242450"/>
            <a:ext cx="2374500" cy="19806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wrongMap</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569CD6"/>
                </a:solidFill>
                <a:highlight>
                  <a:srgbClr val="121314"/>
                </a:highlight>
                <a:latin typeface="Courier New"/>
                <a:ea typeface="Courier New"/>
                <a:cs typeface="Courier New"/>
                <a:sym typeface="Courier New"/>
              </a:rPr>
              <a:t>new</a:t>
            </a:r>
            <a:r>
              <a:rPr lang="en" sz="1000">
                <a:solidFill>
                  <a:srgbClr val="BBBEBF"/>
                </a:solidFill>
                <a:highlight>
                  <a:srgbClr val="121314"/>
                </a:highlight>
                <a:latin typeface="Courier New"/>
                <a:ea typeface="Courier New"/>
                <a:cs typeface="Courier New"/>
                <a:sym typeface="Courier New"/>
              </a:rPr>
              <a:t> </a:t>
            </a:r>
            <a:r>
              <a:rPr lang="en" sz="1000">
                <a:solidFill>
                  <a:srgbClr val="D2A8FF"/>
                </a:solidFill>
                <a:highlight>
                  <a:srgbClr val="121314"/>
                </a:highlight>
                <a:latin typeface="Courier New"/>
                <a:ea typeface="Courier New"/>
                <a:cs typeface="Courier New"/>
                <a:sym typeface="Courier New"/>
              </a:rPr>
              <a:t>Map</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wrongMap</a:t>
            </a:r>
            <a:r>
              <a:rPr lang="en" sz="1000">
                <a:solidFill>
                  <a:srgbClr val="BBBEBF"/>
                </a:solidFill>
                <a:highlight>
                  <a:srgbClr val="121314"/>
                </a:highlight>
                <a:latin typeface="Courier New"/>
                <a:ea typeface="Courier New"/>
                <a:cs typeface="Courier New"/>
                <a:sym typeface="Courier New"/>
              </a:rPr>
              <a:t>[</a:t>
            </a:r>
            <a:r>
              <a:rPr lang="en" sz="1000">
                <a:solidFill>
                  <a:srgbClr val="A5D6FF"/>
                </a:solidFill>
                <a:highlight>
                  <a:srgbClr val="121314"/>
                </a:highlight>
                <a:latin typeface="Courier New"/>
                <a:ea typeface="Courier New"/>
                <a:cs typeface="Courier New"/>
                <a:sym typeface="Courier New"/>
              </a:rPr>
              <a:t>"bla"</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"blaa"</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wrongMap</a:t>
            </a:r>
            <a:r>
              <a:rPr lang="en" sz="1000">
                <a:solidFill>
                  <a:srgbClr val="BBBEBF"/>
                </a:solidFill>
                <a:highlight>
                  <a:srgbClr val="121314"/>
                </a:highlight>
                <a:latin typeface="Courier New"/>
                <a:ea typeface="Courier New"/>
                <a:cs typeface="Courier New"/>
                <a:sym typeface="Courier New"/>
              </a:rPr>
              <a:t>[</a:t>
            </a:r>
            <a:r>
              <a:rPr lang="en" sz="1000">
                <a:solidFill>
                  <a:srgbClr val="A5D6FF"/>
                </a:solidFill>
                <a:highlight>
                  <a:srgbClr val="121314"/>
                </a:highlight>
                <a:latin typeface="Courier New"/>
                <a:ea typeface="Courier New"/>
                <a:cs typeface="Courier New"/>
                <a:sym typeface="Courier New"/>
              </a:rPr>
              <a:t>"bla2"</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"blaaa2"</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wrongMap</a:t>
            </a:r>
            <a:r>
              <a:rPr lang="en" sz="1000">
                <a:solidFill>
                  <a:srgbClr val="BBBEBF"/>
                </a:solidFill>
                <a:highlight>
                  <a:srgbClr val="121314"/>
                </a:highlight>
                <a:latin typeface="Courier New"/>
                <a:ea typeface="Courier New"/>
                <a:cs typeface="Courier New"/>
                <a:sym typeface="Courier New"/>
              </a:rPr>
              <a:t>);</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wrongMap</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has</a:t>
            </a:r>
            <a:r>
              <a:rPr lang="en" sz="1000">
                <a:solidFill>
                  <a:srgbClr val="BBBEBF"/>
                </a:solidFill>
                <a:highlight>
                  <a:srgbClr val="121314"/>
                </a:highlight>
                <a:latin typeface="Courier New"/>
                <a:ea typeface="Courier New"/>
                <a:cs typeface="Courier New"/>
                <a:sym typeface="Courier New"/>
              </a:rPr>
              <a:t>(</a:t>
            </a:r>
            <a:r>
              <a:rPr lang="en" sz="1000">
                <a:solidFill>
                  <a:srgbClr val="A5D6FF"/>
                </a:solidFill>
                <a:highlight>
                  <a:srgbClr val="121314"/>
                </a:highlight>
                <a:latin typeface="Courier New"/>
                <a:ea typeface="Courier New"/>
                <a:cs typeface="Courier New"/>
                <a:sym typeface="Courier New"/>
              </a:rPr>
              <a:t>"bla"</a:t>
            </a:r>
            <a:r>
              <a:rPr lang="en" sz="1000">
                <a:solidFill>
                  <a:srgbClr val="BBBEBF"/>
                </a:solidFill>
                <a:highlight>
                  <a:srgbClr val="121314"/>
                </a:highlight>
                <a:latin typeface="Courier New"/>
                <a:ea typeface="Courier New"/>
                <a:cs typeface="Courier New"/>
                <a:sym typeface="Courier New"/>
              </a:rPr>
              <a:t>); </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wrongMap</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delete</a:t>
            </a:r>
            <a:r>
              <a:rPr lang="en" sz="1000">
                <a:solidFill>
                  <a:srgbClr val="BBBEBF"/>
                </a:solidFill>
                <a:highlight>
                  <a:srgbClr val="121314"/>
                </a:highlight>
                <a:latin typeface="Courier New"/>
                <a:ea typeface="Courier New"/>
                <a:cs typeface="Courier New"/>
                <a:sym typeface="Courier New"/>
              </a:rPr>
              <a:t>(</a:t>
            </a:r>
            <a:r>
              <a:rPr lang="en" sz="1000">
                <a:solidFill>
                  <a:srgbClr val="A5D6FF"/>
                </a:solidFill>
                <a:highlight>
                  <a:srgbClr val="121314"/>
                </a:highlight>
                <a:latin typeface="Courier New"/>
                <a:ea typeface="Courier New"/>
                <a:cs typeface="Courier New"/>
                <a:sym typeface="Courier New"/>
              </a:rPr>
              <a:t>"bla"</a:t>
            </a:r>
            <a:r>
              <a:rPr lang="en" sz="1000">
                <a:solidFill>
                  <a:srgbClr val="BBBEBF"/>
                </a:solidFill>
                <a:highlight>
                  <a:srgbClr val="121314"/>
                </a:highlight>
                <a:latin typeface="Courier New"/>
                <a:ea typeface="Courier New"/>
                <a:cs typeface="Courier New"/>
                <a:sym typeface="Courier New"/>
              </a:rPr>
              <a:t>);</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wrongMap</a:t>
            </a:r>
            <a:r>
              <a:rPr lang="en" sz="1000">
                <a:solidFill>
                  <a:srgbClr val="BBBEBF"/>
                </a:solidFill>
                <a:highlight>
                  <a:srgbClr val="121314"/>
                </a:highlight>
                <a:latin typeface="Courier New"/>
                <a:ea typeface="Courier New"/>
                <a:cs typeface="Courier New"/>
                <a:sym typeface="Courier New"/>
              </a:rPr>
              <a:t>); </a:t>
            </a:r>
            <a:endParaRPr sz="1000">
              <a:solidFill>
                <a:srgbClr val="8B949E"/>
              </a:solidFill>
              <a:highlight>
                <a:srgbClr val="121314"/>
              </a:highlight>
              <a:latin typeface="Courier New"/>
              <a:ea typeface="Courier New"/>
              <a:cs typeface="Courier New"/>
              <a:sym typeface="Courier New"/>
            </a:endParaRPr>
          </a:p>
        </p:txBody>
      </p:sp>
      <p:sp>
        <p:nvSpPr>
          <p:cNvPr id="729" name="Google Shape;729;p100"/>
          <p:cNvSpPr txBox="1"/>
          <p:nvPr/>
        </p:nvSpPr>
        <p:spPr>
          <a:xfrm>
            <a:off x="394300" y="4065750"/>
            <a:ext cx="71151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u="sng">
                <a:solidFill>
                  <a:schemeClr val="hlink"/>
                </a:solidFill>
                <a:hlinkClick r:id="rId3"/>
              </a:rPr>
              <a:t>https://developer.mozilla.org/en-US/docs/Web/JavaScript/Reference/Global_Objects/Map#instance_methods</a:t>
            </a:r>
            <a:r>
              <a:rPr lang="en" sz="1000"/>
              <a:t> </a:t>
            </a:r>
            <a:endParaRPr sz="100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p101"/>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Equality Comparisons</a:t>
            </a:r>
            <a:endParaRPr/>
          </a:p>
        </p:txBody>
      </p:sp>
      <p:sp>
        <p:nvSpPr>
          <p:cNvPr id="735" name="Google Shape;735;p10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90</a:t>
            </a:fld>
            <a:endParaRPr>
              <a:solidFill>
                <a:schemeClr val="lt1"/>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sp>
        <p:nvSpPr>
          <p:cNvPr id="740" name="Google Shape;740;p10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Equality (==) and Inequality (!=)</a:t>
            </a:r>
            <a:endParaRPr/>
          </a:p>
        </p:txBody>
      </p:sp>
      <p:sp>
        <p:nvSpPr>
          <p:cNvPr id="741" name="Google Shape;741;p10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91</a:t>
            </a:fld>
            <a:endParaRPr>
              <a:solidFill>
                <a:schemeClr val="lt2"/>
              </a:solidFill>
            </a:endParaRPr>
          </a:p>
        </p:txBody>
      </p:sp>
      <p:sp>
        <p:nvSpPr>
          <p:cNvPr id="742" name="Google Shape;742;p102"/>
          <p:cNvSpPr txBox="1">
            <a:spLocks noGrp="1"/>
          </p:cNvSpPr>
          <p:nvPr>
            <p:ph type="body" idx="1"/>
          </p:nvPr>
        </p:nvSpPr>
        <p:spPr>
          <a:xfrm>
            <a:off x="311700" y="1152475"/>
            <a:ext cx="8520600" cy="1697100"/>
          </a:xfrm>
          <a:prstGeom prst="rect">
            <a:avLst/>
          </a:prstGeom>
        </p:spPr>
        <p:txBody>
          <a:bodyPr spcFirstLastPara="1" wrap="square" lIns="91425" tIns="91425" rIns="91425" bIns="91425" anchor="t" anchorCtr="0">
            <a:normAutofit fontScale="85000" lnSpcReduction="10000"/>
          </a:bodyPr>
          <a:lstStyle/>
          <a:p>
            <a:pPr marL="457200" lvl="0" indent="-325755" algn="l" rtl="0">
              <a:spcBef>
                <a:spcPts val="0"/>
              </a:spcBef>
              <a:spcAft>
                <a:spcPts val="0"/>
              </a:spcAft>
              <a:buSzPct val="100000"/>
              <a:buChar char="●"/>
            </a:pPr>
            <a:r>
              <a:rPr lang="en"/>
              <a:t>The equality (==) operator checks whether its two operands are equal, returning a Boolean result.</a:t>
            </a:r>
            <a:endParaRPr/>
          </a:p>
          <a:p>
            <a:pPr marL="914400" lvl="1" indent="-304165" algn="l" rtl="0">
              <a:spcBef>
                <a:spcPts val="0"/>
              </a:spcBef>
              <a:spcAft>
                <a:spcPts val="0"/>
              </a:spcAft>
              <a:buSzPct val="100000"/>
              <a:buChar char="○"/>
            </a:pPr>
            <a:r>
              <a:rPr lang="en" u="sng">
                <a:solidFill>
                  <a:schemeClr val="hlink"/>
                </a:solidFill>
                <a:hlinkClick r:id="rId3"/>
              </a:rPr>
              <a:t>https://developer.mozilla.org/en-US/docs/Web/JavaScript/Reference/Operators/Equality</a:t>
            </a:r>
            <a:r>
              <a:rPr lang="en"/>
              <a:t> </a:t>
            </a:r>
            <a:endParaRPr/>
          </a:p>
          <a:p>
            <a:pPr marL="457200" lvl="0" indent="-325755" algn="l" rtl="0">
              <a:spcBef>
                <a:spcPts val="0"/>
              </a:spcBef>
              <a:spcAft>
                <a:spcPts val="0"/>
              </a:spcAft>
              <a:buSzPct val="100000"/>
              <a:buChar char="●"/>
            </a:pPr>
            <a:r>
              <a:rPr lang="en"/>
              <a:t>The inequality (!=) operator checks whether its two operands are not equal, returning a Boolean result.</a:t>
            </a:r>
            <a:endParaRPr/>
          </a:p>
          <a:p>
            <a:pPr marL="914400" lvl="1" indent="-304165" algn="l" rtl="0">
              <a:spcBef>
                <a:spcPts val="0"/>
              </a:spcBef>
              <a:spcAft>
                <a:spcPts val="0"/>
              </a:spcAft>
              <a:buSzPct val="100000"/>
              <a:buChar char="○"/>
            </a:pPr>
            <a:r>
              <a:rPr lang="en" u="sng">
                <a:solidFill>
                  <a:schemeClr val="hlink"/>
                </a:solidFill>
                <a:hlinkClick r:id="rId4"/>
              </a:rPr>
              <a:t>https://developer.mozilla.org/en-US/docs/Web/JavaScript/Reference/Operators/Inequality</a:t>
            </a:r>
            <a:r>
              <a:rPr lang="en"/>
              <a:t> </a:t>
            </a:r>
            <a:endParaRPr/>
          </a:p>
          <a:p>
            <a:pPr marL="457200" lvl="0" indent="-325755" algn="l" rtl="0">
              <a:spcBef>
                <a:spcPts val="0"/>
              </a:spcBef>
              <a:spcAft>
                <a:spcPts val="0"/>
              </a:spcAft>
              <a:buSzPct val="100000"/>
              <a:buChar char="●"/>
            </a:pPr>
            <a:r>
              <a:rPr lang="en"/>
              <a:t>It attempts to convert and compare operands that are of different types.</a:t>
            </a:r>
            <a:endParaRPr/>
          </a:p>
        </p:txBody>
      </p:sp>
      <p:sp>
        <p:nvSpPr>
          <p:cNvPr id="743" name="Google Shape;743;p102"/>
          <p:cNvSpPr txBox="1"/>
          <p:nvPr/>
        </p:nvSpPr>
        <p:spPr>
          <a:xfrm>
            <a:off x="1077750" y="3066835"/>
            <a:ext cx="3000000" cy="6156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B5CEA8"/>
                </a:solidFill>
                <a:highlight>
                  <a:srgbClr val="121314"/>
                </a:highlight>
                <a:latin typeface="Courier New"/>
                <a:ea typeface="Courier New"/>
                <a:cs typeface="Courier New"/>
                <a:sym typeface="Courier New"/>
              </a:rPr>
              <a:t>1</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1</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true</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A5D6FF"/>
                </a:solidFill>
                <a:highlight>
                  <a:srgbClr val="121314"/>
                </a:highlight>
                <a:latin typeface="Courier New"/>
                <a:ea typeface="Courier New"/>
                <a:cs typeface="Courier New"/>
                <a:sym typeface="Courier New"/>
              </a:rPr>
              <a:t>"hello"</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A5D6FF"/>
                </a:solidFill>
                <a:highlight>
                  <a:srgbClr val="121314"/>
                </a:highlight>
                <a:latin typeface="Courier New"/>
                <a:ea typeface="Courier New"/>
                <a:cs typeface="Courier New"/>
                <a:sym typeface="Courier New"/>
              </a:rPr>
              <a:t>"hello"</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true</a:t>
            </a:r>
            <a:endParaRPr sz="1200">
              <a:solidFill>
                <a:srgbClr val="8B949E"/>
              </a:solidFill>
              <a:highlight>
                <a:srgbClr val="121314"/>
              </a:highlight>
              <a:latin typeface="Courier New"/>
              <a:ea typeface="Courier New"/>
              <a:cs typeface="Courier New"/>
              <a:sym typeface="Courier New"/>
            </a:endParaRPr>
          </a:p>
        </p:txBody>
      </p:sp>
      <p:sp>
        <p:nvSpPr>
          <p:cNvPr id="744" name="Google Shape;744;p102"/>
          <p:cNvSpPr txBox="1"/>
          <p:nvPr/>
        </p:nvSpPr>
        <p:spPr>
          <a:xfrm>
            <a:off x="4763275" y="2935400"/>
            <a:ext cx="3049200" cy="20934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"1"</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1</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B5CEA8"/>
                </a:solidFill>
                <a:highlight>
                  <a:srgbClr val="121314"/>
                </a:highlight>
                <a:latin typeface="Courier New"/>
                <a:ea typeface="Courier New"/>
                <a:cs typeface="Courier New"/>
                <a:sym typeface="Courier New"/>
              </a:rPr>
              <a:t>1</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A5D6FF"/>
                </a:solidFill>
                <a:highlight>
                  <a:srgbClr val="121314"/>
                </a:highlight>
                <a:latin typeface="Courier New"/>
                <a:ea typeface="Courier New"/>
                <a:cs typeface="Courier New"/>
                <a:sym typeface="Courier New"/>
              </a:rPr>
              <a:t>"1"</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B5CEA8"/>
                </a:solidFill>
                <a:highlight>
                  <a:srgbClr val="121314"/>
                </a:highlight>
                <a:latin typeface="Courier New"/>
                <a:ea typeface="Courier New"/>
                <a:cs typeface="Courier New"/>
                <a:sym typeface="Courier New"/>
              </a:rPr>
              <a:t>0</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false</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B5CEA8"/>
                </a:solidFill>
                <a:highlight>
                  <a:srgbClr val="121314"/>
                </a:highlight>
                <a:latin typeface="Courier New"/>
                <a:ea typeface="Courier New"/>
                <a:cs typeface="Courier New"/>
                <a:sym typeface="Courier New"/>
              </a:rPr>
              <a:t>0</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null</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B5CEA8"/>
                </a:solidFill>
                <a:highlight>
                  <a:srgbClr val="121314"/>
                </a:highlight>
                <a:latin typeface="Courier New"/>
                <a:ea typeface="Courier New"/>
                <a:cs typeface="Courier New"/>
                <a:sym typeface="Courier New"/>
              </a:rPr>
              <a:t>0</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undefined</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B5CEA8"/>
                </a:solidFill>
                <a:highlight>
                  <a:srgbClr val="121314"/>
                </a:highlight>
                <a:latin typeface="Courier New"/>
                <a:ea typeface="Courier New"/>
                <a:cs typeface="Courier New"/>
                <a:sym typeface="Courier New"/>
              </a:rPr>
              <a:t>0</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569CD6"/>
                </a:solidFill>
                <a:highlight>
                  <a:srgbClr val="121314"/>
                </a:highlight>
                <a:latin typeface="Courier New"/>
                <a:ea typeface="Courier New"/>
                <a:cs typeface="Courier New"/>
                <a:sym typeface="Courier New"/>
              </a:rPr>
              <a:t>null</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B5CEA8"/>
                </a:solidFill>
                <a:highlight>
                  <a:srgbClr val="121314"/>
                </a:highlight>
                <a:latin typeface="Courier New"/>
                <a:ea typeface="Courier New"/>
                <a:cs typeface="Courier New"/>
                <a:sym typeface="Courier New"/>
              </a:rPr>
              <a:t>0</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569CD6"/>
                </a:solidFill>
                <a:highlight>
                  <a:srgbClr val="121314"/>
                </a:highlight>
                <a:latin typeface="Courier New"/>
                <a:ea typeface="Courier New"/>
                <a:cs typeface="Courier New"/>
                <a:sym typeface="Courier New"/>
              </a:rPr>
              <a:t>undefined</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569CD6"/>
                </a:solidFill>
                <a:highlight>
                  <a:srgbClr val="121314"/>
                </a:highlight>
                <a:latin typeface="Courier New"/>
                <a:ea typeface="Courier New"/>
                <a:cs typeface="Courier New"/>
                <a:sym typeface="Courier New"/>
              </a:rPr>
              <a:t>null</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undefined</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p:txBody>
      </p:sp>
      <p:sp>
        <p:nvSpPr>
          <p:cNvPr id="745" name="Google Shape;745;p102"/>
          <p:cNvSpPr txBox="1"/>
          <p:nvPr/>
        </p:nvSpPr>
        <p:spPr>
          <a:xfrm>
            <a:off x="1077750" y="3908010"/>
            <a:ext cx="3242100" cy="11082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number1</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new</a:t>
            </a:r>
            <a:r>
              <a:rPr lang="en" sz="1200">
                <a:solidFill>
                  <a:srgbClr val="BBBEBF"/>
                </a:solidFill>
                <a:highlight>
                  <a:srgbClr val="121314"/>
                </a:highlight>
                <a:latin typeface="Courier New"/>
                <a:ea typeface="Courier New"/>
                <a:cs typeface="Courier New"/>
                <a:sym typeface="Courier New"/>
              </a:rPr>
              <a:t> </a:t>
            </a:r>
            <a:r>
              <a:rPr lang="en" sz="1200">
                <a:solidFill>
                  <a:srgbClr val="D2A8FF"/>
                </a:solidFill>
                <a:highlight>
                  <a:srgbClr val="121314"/>
                </a:highlight>
                <a:latin typeface="Courier New"/>
                <a:ea typeface="Courier New"/>
                <a:cs typeface="Courier New"/>
                <a:sym typeface="Courier New"/>
              </a:rPr>
              <a:t>Number</a:t>
            </a:r>
            <a:r>
              <a:rPr lang="en" sz="1200">
                <a:solidFill>
                  <a:srgbClr val="BBBEBF"/>
                </a:solidFill>
                <a:highlight>
                  <a:srgbClr val="121314"/>
                </a:highlight>
                <a:latin typeface="Courier New"/>
                <a:ea typeface="Courier New"/>
                <a:cs typeface="Courier New"/>
                <a:sym typeface="Courier New"/>
              </a:rPr>
              <a:t>(</a:t>
            </a:r>
            <a:r>
              <a:rPr lang="en" sz="1200">
                <a:solidFill>
                  <a:srgbClr val="B5CEA8"/>
                </a:solidFill>
                <a:highlight>
                  <a:srgbClr val="121314"/>
                </a:highlight>
                <a:latin typeface="Courier New"/>
                <a:ea typeface="Courier New"/>
                <a:cs typeface="Courier New"/>
                <a:sym typeface="Courier New"/>
              </a:rPr>
              <a:t>3</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number2</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new</a:t>
            </a:r>
            <a:r>
              <a:rPr lang="en" sz="1200">
                <a:solidFill>
                  <a:srgbClr val="BBBEBF"/>
                </a:solidFill>
                <a:highlight>
                  <a:srgbClr val="121314"/>
                </a:highlight>
                <a:latin typeface="Courier New"/>
                <a:ea typeface="Courier New"/>
                <a:cs typeface="Courier New"/>
                <a:sym typeface="Courier New"/>
              </a:rPr>
              <a:t> </a:t>
            </a:r>
            <a:r>
              <a:rPr lang="en" sz="1200">
                <a:solidFill>
                  <a:srgbClr val="D2A8FF"/>
                </a:solidFill>
                <a:highlight>
                  <a:srgbClr val="121314"/>
                </a:highlight>
                <a:latin typeface="Courier New"/>
                <a:ea typeface="Courier New"/>
                <a:cs typeface="Courier New"/>
                <a:sym typeface="Courier New"/>
              </a:rPr>
              <a:t>Number</a:t>
            </a:r>
            <a:r>
              <a:rPr lang="en" sz="1200">
                <a:solidFill>
                  <a:srgbClr val="BBBEBF"/>
                </a:solidFill>
                <a:highlight>
                  <a:srgbClr val="121314"/>
                </a:highlight>
                <a:latin typeface="Courier New"/>
                <a:ea typeface="Courier New"/>
                <a:cs typeface="Courier New"/>
                <a:sym typeface="Courier New"/>
              </a:rPr>
              <a:t>(</a:t>
            </a:r>
            <a:r>
              <a:rPr lang="en" sz="1200">
                <a:solidFill>
                  <a:srgbClr val="B5CEA8"/>
                </a:solidFill>
                <a:highlight>
                  <a:srgbClr val="121314"/>
                </a:highlight>
                <a:latin typeface="Courier New"/>
                <a:ea typeface="Courier New"/>
                <a:cs typeface="Courier New"/>
                <a:sym typeface="Courier New"/>
              </a:rPr>
              <a:t>3</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number1</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3</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number1</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number2</a:t>
            </a:r>
            <a:r>
              <a:rPr lang="en" sz="1200">
                <a:solidFill>
                  <a:srgbClr val="BBBEBF"/>
                </a:solidFill>
                <a:highlight>
                  <a:srgbClr val="121314"/>
                </a:highlight>
                <a:latin typeface="Courier New"/>
                <a:ea typeface="Courier New"/>
                <a:cs typeface="Courier New"/>
                <a:sym typeface="Courier New"/>
              </a:rPr>
              <a:t>);</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10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2"/>
              </a:buClr>
              <a:buSzPts val="1100"/>
              <a:buFont typeface="Arial"/>
              <a:buNone/>
            </a:pPr>
            <a:r>
              <a:rPr lang="en"/>
              <a:t>Equality (==) and Inequality (!=) Quizzes</a:t>
            </a:r>
            <a:endParaRPr/>
          </a:p>
        </p:txBody>
      </p:sp>
      <p:sp>
        <p:nvSpPr>
          <p:cNvPr id="751" name="Google Shape;751;p10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92</a:t>
            </a:fld>
            <a:endParaRPr/>
          </a:p>
        </p:txBody>
      </p:sp>
      <p:sp>
        <p:nvSpPr>
          <p:cNvPr id="752" name="Google Shape;752;p103"/>
          <p:cNvSpPr txBox="1"/>
          <p:nvPr/>
        </p:nvSpPr>
        <p:spPr>
          <a:xfrm>
            <a:off x="481925" y="1638550"/>
            <a:ext cx="3566400" cy="25860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string1</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A5D6FF"/>
                </a:solidFill>
                <a:highlight>
                  <a:srgbClr val="121314"/>
                </a:highlight>
                <a:latin typeface="Courier New"/>
                <a:ea typeface="Courier New"/>
                <a:cs typeface="Courier New"/>
                <a:sym typeface="Courier New"/>
              </a:rPr>
              <a:t>"hello"</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string2</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D2A8FF"/>
                </a:solidFill>
                <a:highlight>
                  <a:srgbClr val="121314"/>
                </a:highlight>
                <a:latin typeface="Courier New"/>
                <a:ea typeface="Courier New"/>
                <a:cs typeface="Courier New"/>
                <a:sym typeface="Courier New"/>
              </a:rPr>
              <a:t>String</a:t>
            </a:r>
            <a:r>
              <a:rPr lang="en" sz="1200">
                <a:solidFill>
                  <a:srgbClr val="BBBEBF"/>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"hello"</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string3</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new</a:t>
            </a:r>
            <a:r>
              <a:rPr lang="en" sz="1200">
                <a:solidFill>
                  <a:srgbClr val="BBBEBF"/>
                </a:solidFill>
                <a:highlight>
                  <a:srgbClr val="121314"/>
                </a:highlight>
                <a:latin typeface="Courier New"/>
                <a:ea typeface="Courier New"/>
                <a:cs typeface="Courier New"/>
                <a:sym typeface="Courier New"/>
              </a:rPr>
              <a:t> </a:t>
            </a:r>
            <a:r>
              <a:rPr lang="en" sz="1200">
                <a:solidFill>
                  <a:srgbClr val="D2A8FF"/>
                </a:solidFill>
                <a:highlight>
                  <a:srgbClr val="121314"/>
                </a:highlight>
                <a:latin typeface="Courier New"/>
                <a:ea typeface="Courier New"/>
                <a:cs typeface="Courier New"/>
                <a:sym typeface="Courier New"/>
              </a:rPr>
              <a:t>String</a:t>
            </a:r>
            <a:r>
              <a:rPr lang="en" sz="1200">
                <a:solidFill>
                  <a:srgbClr val="BBBEBF"/>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"hello"</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string4</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new</a:t>
            </a:r>
            <a:r>
              <a:rPr lang="en" sz="1200">
                <a:solidFill>
                  <a:srgbClr val="BBBEBF"/>
                </a:solidFill>
                <a:highlight>
                  <a:srgbClr val="121314"/>
                </a:highlight>
                <a:latin typeface="Courier New"/>
                <a:ea typeface="Courier New"/>
                <a:cs typeface="Courier New"/>
                <a:sym typeface="Courier New"/>
              </a:rPr>
              <a:t> </a:t>
            </a:r>
            <a:r>
              <a:rPr lang="en" sz="1200">
                <a:solidFill>
                  <a:srgbClr val="D2A8FF"/>
                </a:solidFill>
                <a:highlight>
                  <a:srgbClr val="121314"/>
                </a:highlight>
                <a:latin typeface="Courier New"/>
                <a:ea typeface="Courier New"/>
                <a:cs typeface="Courier New"/>
                <a:sym typeface="Courier New"/>
              </a:rPr>
              <a:t>String</a:t>
            </a:r>
            <a:r>
              <a:rPr lang="en" sz="1200">
                <a:solidFill>
                  <a:srgbClr val="BBBEBF"/>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"hello"</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string1</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string2</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string1</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string3</a:t>
            </a:r>
            <a:r>
              <a:rPr lang="en" sz="1200">
                <a:solidFill>
                  <a:srgbClr val="BBBEBF"/>
                </a:solidFill>
                <a:highlight>
                  <a:srgbClr val="121314"/>
                </a:highlight>
                <a:latin typeface="Courier New"/>
                <a:ea typeface="Courier New"/>
                <a:cs typeface="Courier New"/>
                <a:sym typeface="Courier New"/>
              </a:rPr>
              <a:t>);</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string2</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string3</a:t>
            </a:r>
            <a:r>
              <a:rPr lang="en" sz="1200">
                <a:solidFill>
                  <a:srgbClr val="BBBEBF"/>
                </a:solidFill>
                <a:highlight>
                  <a:srgbClr val="121314"/>
                </a:highlight>
                <a:latin typeface="Courier New"/>
                <a:ea typeface="Courier New"/>
                <a:cs typeface="Courier New"/>
                <a:sym typeface="Courier New"/>
              </a:rPr>
              <a:t>);</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string3</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string4</a:t>
            </a:r>
            <a:r>
              <a:rPr lang="en" sz="1200">
                <a:solidFill>
                  <a:srgbClr val="BBBEBF"/>
                </a:solidFill>
                <a:highlight>
                  <a:srgbClr val="121314"/>
                </a:highlight>
                <a:latin typeface="Courier New"/>
                <a:ea typeface="Courier New"/>
                <a:cs typeface="Courier New"/>
                <a:sym typeface="Courier New"/>
              </a:rPr>
              <a:t>);</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string4</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string4</a:t>
            </a:r>
            <a:r>
              <a:rPr lang="en" sz="1200">
                <a:solidFill>
                  <a:srgbClr val="BBBEBF"/>
                </a:solidFill>
                <a:highlight>
                  <a:srgbClr val="121314"/>
                </a:highlight>
                <a:latin typeface="Courier New"/>
                <a:ea typeface="Courier New"/>
                <a:cs typeface="Courier New"/>
                <a:sym typeface="Courier New"/>
              </a:rPr>
              <a:t>);</a:t>
            </a:r>
            <a:endParaRPr sz="1200">
              <a:solidFill>
                <a:srgbClr val="8B949E"/>
              </a:solidFill>
              <a:highlight>
                <a:srgbClr val="121314"/>
              </a:highlight>
              <a:latin typeface="Courier New"/>
              <a:ea typeface="Courier New"/>
              <a:cs typeface="Courier New"/>
              <a:sym typeface="Courier New"/>
            </a:endParaRPr>
          </a:p>
        </p:txBody>
      </p:sp>
      <p:sp>
        <p:nvSpPr>
          <p:cNvPr id="753" name="Google Shape;753;p103"/>
          <p:cNvSpPr txBox="1"/>
          <p:nvPr/>
        </p:nvSpPr>
        <p:spPr>
          <a:xfrm>
            <a:off x="4503850" y="1638550"/>
            <a:ext cx="3000000" cy="11082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d</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new</a:t>
            </a:r>
            <a:r>
              <a:rPr lang="en" sz="1200">
                <a:solidFill>
                  <a:srgbClr val="BBBEBF"/>
                </a:solidFill>
                <a:highlight>
                  <a:srgbClr val="121314"/>
                </a:highlight>
                <a:latin typeface="Courier New"/>
                <a:ea typeface="Courier New"/>
                <a:cs typeface="Courier New"/>
                <a:sym typeface="Courier New"/>
              </a:rPr>
              <a:t> </a:t>
            </a:r>
            <a:r>
              <a:rPr lang="en" sz="1200">
                <a:solidFill>
                  <a:srgbClr val="D2A8FF"/>
                </a:solidFill>
                <a:highlight>
                  <a:srgbClr val="121314"/>
                </a:highlight>
                <a:latin typeface="Courier New"/>
                <a:ea typeface="Courier New"/>
                <a:cs typeface="Courier New"/>
                <a:sym typeface="Courier New"/>
              </a:rPr>
              <a:t>Date</a:t>
            </a:r>
            <a:r>
              <a:rPr lang="en" sz="1200">
                <a:solidFill>
                  <a:srgbClr val="BBBEBF"/>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"1995-12-17T03:24:00"</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s</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d</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toString</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d</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s</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p:txBody>
      </p:sp>
      <p:sp>
        <p:nvSpPr>
          <p:cNvPr id="754" name="Google Shape;754;p103"/>
          <p:cNvSpPr txBox="1"/>
          <p:nvPr/>
        </p:nvSpPr>
        <p:spPr>
          <a:xfrm>
            <a:off x="4503850" y="3031775"/>
            <a:ext cx="3000000" cy="18471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a</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1</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2</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3</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b</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A5D6FF"/>
                </a:solidFill>
                <a:highlight>
                  <a:srgbClr val="121314"/>
                </a:highlight>
                <a:latin typeface="Courier New"/>
                <a:ea typeface="Courier New"/>
                <a:cs typeface="Courier New"/>
                <a:sym typeface="Courier New"/>
              </a:rPr>
              <a:t>"1,2,3"</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b</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c</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true</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0.5</a:t>
            </a:r>
            <a:r>
              <a:rPr lang="en" sz="1200">
                <a:solidFill>
                  <a:srgbClr val="BBBEBF"/>
                </a:solidFill>
                <a:highlight>
                  <a:srgbClr val="121314"/>
                </a:highlight>
                <a:latin typeface="Courier New"/>
                <a:ea typeface="Courier New"/>
                <a:cs typeface="Courier New"/>
                <a:sym typeface="Courier New"/>
              </a:rPr>
              <a:t>, </a:t>
            </a:r>
            <a:r>
              <a:rPr lang="en" sz="1200">
                <a:solidFill>
                  <a:srgbClr val="A5D6FF"/>
                </a:solidFill>
                <a:highlight>
                  <a:srgbClr val="121314"/>
                </a:highlight>
                <a:latin typeface="Courier New"/>
                <a:ea typeface="Courier New"/>
                <a:cs typeface="Courier New"/>
                <a:sym typeface="Courier New"/>
              </a:rPr>
              <a:t>"hey"</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d</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c</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toString</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c</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d</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p10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Strict equality (===) and Strict inequality (!==)</a:t>
            </a:r>
            <a:endParaRPr/>
          </a:p>
        </p:txBody>
      </p:sp>
      <p:sp>
        <p:nvSpPr>
          <p:cNvPr id="760" name="Google Shape;760;p104"/>
          <p:cNvSpPr txBox="1">
            <a:spLocks noGrp="1"/>
          </p:cNvSpPr>
          <p:nvPr>
            <p:ph type="body" idx="1"/>
          </p:nvPr>
        </p:nvSpPr>
        <p:spPr>
          <a:xfrm>
            <a:off x="311700" y="1152475"/>
            <a:ext cx="8520600" cy="1853100"/>
          </a:xfrm>
          <a:prstGeom prst="rect">
            <a:avLst/>
          </a:prstGeom>
        </p:spPr>
        <p:txBody>
          <a:bodyPr spcFirstLastPara="1" wrap="square" lIns="91425" tIns="91425" rIns="91425" bIns="91425" anchor="t" anchorCtr="0">
            <a:normAutofit fontScale="92500" lnSpcReduction="20000"/>
          </a:bodyPr>
          <a:lstStyle/>
          <a:p>
            <a:pPr marL="457200" lvl="0" indent="-334328" algn="l" rtl="0">
              <a:spcBef>
                <a:spcPts val="0"/>
              </a:spcBef>
              <a:spcAft>
                <a:spcPts val="0"/>
              </a:spcAft>
              <a:buSzPct val="100000"/>
              <a:buChar char="●"/>
            </a:pPr>
            <a:r>
              <a:rPr lang="en"/>
              <a:t>The strict equality (===) operator checks whether its two operands are equal, returning a Boolean result.</a:t>
            </a:r>
            <a:endParaRPr/>
          </a:p>
          <a:p>
            <a:pPr marL="914400" lvl="1" indent="-310832" algn="l" rtl="0">
              <a:spcBef>
                <a:spcPts val="0"/>
              </a:spcBef>
              <a:spcAft>
                <a:spcPts val="0"/>
              </a:spcAft>
              <a:buSzPct val="100000"/>
              <a:buChar char="○"/>
            </a:pPr>
            <a:r>
              <a:rPr lang="en" u="sng">
                <a:solidFill>
                  <a:schemeClr val="hlink"/>
                </a:solidFill>
                <a:hlinkClick r:id="rId3"/>
              </a:rPr>
              <a:t>https://developer.mozilla.org/en-US/docs/Web/JavaScript/Reference/Operators/Strict_equality</a:t>
            </a:r>
            <a:r>
              <a:rPr lang="en"/>
              <a:t> </a:t>
            </a:r>
            <a:endParaRPr/>
          </a:p>
          <a:p>
            <a:pPr marL="457200" lvl="0" indent="-334328" algn="l" rtl="0">
              <a:spcBef>
                <a:spcPts val="0"/>
              </a:spcBef>
              <a:spcAft>
                <a:spcPts val="0"/>
              </a:spcAft>
              <a:buSzPct val="100000"/>
              <a:buChar char="●"/>
            </a:pPr>
            <a:r>
              <a:rPr lang="en"/>
              <a:t>The strict inequality (!==) operator checks whether its two operands are not equal, returning a Boolean result.</a:t>
            </a:r>
            <a:endParaRPr/>
          </a:p>
          <a:p>
            <a:pPr marL="914400" lvl="1" indent="-310832" algn="l" rtl="0">
              <a:spcBef>
                <a:spcPts val="0"/>
              </a:spcBef>
              <a:spcAft>
                <a:spcPts val="0"/>
              </a:spcAft>
              <a:buSzPct val="100000"/>
              <a:buChar char="○"/>
            </a:pPr>
            <a:r>
              <a:rPr lang="en" u="sng">
                <a:solidFill>
                  <a:schemeClr val="hlink"/>
                </a:solidFill>
                <a:hlinkClick r:id="rId4"/>
              </a:rPr>
              <a:t>https://developer.mozilla.org/en-US/docs/Web/JavaScript/Reference/Operators/Strict_inequality</a:t>
            </a:r>
            <a:r>
              <a:rPr lang="en"/>
              <a:t> </a:t>
            </a:r>
            <a:endParaRPr/>
          </a:p>
          <a:p>
            <a:pPr marL="457200" lvl="0" indent="-334328" algn="l" rtl="0">
              <a:spcBef>
                <a:spcPts val="0"/>
              </a:spcBef>
              <a:spcAft>
                <a:spcPts val="0"/>
              </a:spcAft>
              <a:buSzPct val="100000"/>
              <a:buChar char="●"/>
            </a:pPr>
            <a:r>
              <a:rPr lang="en"/>
              <a:t>The strict equality operator always considers operands of different types to be different.</a:t>
            </a:r>
            <a:endParaRPr/>
          </a:p>
        </p:txBody>
      </p:sp>
      <p:sp>
        <p:nvSpPr>
          <p:cNvPr id="761" name="Google Shape;761;p10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93</a:t>
            </a:fld>
            <a:endParaRPr/>
          </a:p>
        </p:txBody>
      </p:sp>
      <p:sp>
        <p:nvSpPr>
          <p:cNvPr id="762" name="Google Shape;762;p104"/>
          <p:cNvSpPr txBox="1"/>
          <p:nvPr/>
        </p:nvSpPr>
        <p:spPr>
          <a:xfrm>
            <a:off x="771100" y="2896550"/>
            <a:ext cx="3000000" cy="21858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000">
                <a:solidFill>
                  <a:srgbClr val="A5D6FF"/>
                </a:solidFill>
                <a:highlight>
                  <a:srgbClr val="121314"/>
                </a:highlight>
                <a:latin typeface="Courier New"/>
                <a:ea typeface="Courier New"/>
                <a:cs typeface="Courier New"/>
                <a:sym typeface="Courier New"/>
              </a:rPr>
              <a:t>"hello"</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"hello"</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true</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A5D6FF"/>
                </a:solidFill>
                <a:highlight>
                  <a:srgbClr val="121314"/>
                </a:highlight>
                <a:latin typeface="Courier New"/>
                <a:ea typeface="Courier New"/>
                <a:cs typeface="Courier New"/>
                <a:sym typeface="Courier New"/>
              </a:rPr>
              <a:t>"hello"</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"hola"</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false</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5CEA8"/>
                </a:solidFill>
                <a:highlight>
                  <a:srgbClr val="121314"/>
                </a:highlight>
                <a:latin typeface="Courier New"/>
                <a:ea typeface="Courier New"/>
                <a:cs typeface="Courier New"/>
                <a:sym typeface="Courier New"/>
              </a:rPr>
              <a:t>3</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3</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true</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5CEA8"/>
                </a:solidFill>
                <a:highlight>
                  <a:srgbClr val="121314"/>
                </a:highlight>
                <a:latin typeface="Courier New"/>
                <a:ea typeface="Courier New"/>
                <a:cs typeface="Courier New"/>
                <a:sym typeface="Courier New"/>
              </a:rPr>
              <a:t>3</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4</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false</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569CD6"/>
                </a:solidFill>
                <a:highlight>
                  <a:srgbClr val="121314"/>
                </a:highlight>
                <a:latin typeface="Courier New"/>
                <a:ea typeface="Courier New"/>
                <a:cs typeface="Courier New"/>
                <a:sym typeface="Courier New"/>
              </a:rPr>
              <a:t>true</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569CD6"/>
                </a:solidFill>
                <a:highlight>
                  <a:srgbClr val="121314"/>
                </a:highlight>
                <a:latin typeface="Courier New"/>
                <a:ea typeface="Courier New"/>
                <a:cs typeface="Courier New"/>
                <a:sym typeface="Courier New"/>
              </a:rPr>
              <a:t>true</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true</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569CD6"/>
                </a:solidFill>
                <a:highlight>
                  <a:srgbClr val="121314"/>
                </a:highlight>
                <a:latin typeface="Courier New"/>
                <a:ea typeface="Courier New"/>
                <a:cs typeface="Courier New"/>
                <a:sym typeface="Courier New"/>
              </a:rPr>
              <a:t>true</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569CD6"/>
                </a:solidFill>
                <a:highlight>
                  <a:srgbClr val="121314"/>
                </a:highlight>
                <a:latin typeface="Courier New"/>
                <a:ea typeface="Courier New"/>
                <a:cs typeface="Courier New"/>
                <a:sym typeface="Courier New"/>
              </a:rPr>
              <a:t>false</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false</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569CD6"/>
                </a:solidFill>
                <a:highlight>
                  <a:srgbClr val="121314"/>
                </a:highlight>
                <a:latin typeface="Courier New"/>
                <a:ea typeface="Courier New"/>
                <a:cs typeface="Courier New"/>
                <a:sym typeface="Courier New"/>
              </a:rPr>
              <a:t>null</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569CD6"/>
                </a:solidFill>
                <a:highlight>
                  <a:srgbClr val="121314"/>
                </a:highlight>
                <a:latin typeface="Courier New"/>
                <a:ea typeface="Courier New"/>
                <a:cs typeface="Courier New"/>
                <a:sym typeface="Courier New"/>
              </a:rPr>
              <a:t>null</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true</a:t>
            </a:r>
            <a:endParaRPr sz="1000">
              <a:solidFill>
                <a:srgbClr val="8B949E"/>
              </a:solidFill>
              <a:highlight>
                <a:srgbClr val="121314"/>
              </a:highlight>
              <a:latin typeface="Courier New"/>
              <a:ea typeface="Courier New"/>
              <a:cs typeface="Courier New"/>
              <a:sym typeface="Courier New"/>
            </a:endParaRPr>
          </a:p>
        </p:txBody>
      </p:sp>
      <p:sp>
        <p:nvSpPr>
          <p:cNvPr id="763" name="Google Shape;763;p104"/>
          <p:cNvSpPr txBox="1"/>
          <p:nvPr/>
        </p:nvSpPr>
        <p:spPr>
          <a:xfrm>
            <a:off x="4302325" y="2887788"/>
            <a:ext cx="3408600" cy="21858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object1</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 </a:t>
            </a:r>
            <a:r>
              <a:rPr lang="en" sz="1000">
                <a:solidFill>
                  <a:srgbClr val="9CDCFE"/>
                </a:solidFill>
                <a:highlight>
                  <a:srgbClr val="121314"/>
                </a:highlight>
                <a:latin typeface="Courier New"/>
                <a:ea typeface="Courier New"/>
                <a:cs typeface="Courier New"/>
                <a:sym typeface="Courier New"/>
              </a:rPr>
              <a:t>key:</a:t>
            </a:r>
            <a:r>
              <a:rPr lang="en" sz="1000">
                <a:solidFill>
                  <a:srgbClr val="C9D1D9"/>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"value"</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object2</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 </a:t>
            </a:r>
            <a:r>
              <a:rPr lang="en" sz="1000">
                <a:solidFill>
                  <a:srgbClr val="9CDCFE"/>
                </a:solidFill>
                <a:highlight>
                  <a:srgbClr val="121314"/>
                </a:highlight>
                <a:latin typeface="Courier New"/>
                <a:ea typeface="Courier New"/>
                <a:cs typeface="Courier New"/>
                <a:sym typeface="Courier New"/>
              </a:rPr>
              <a:t>key:</a:t>
            </a:r>
            <a:r>
              <a:rPr lang="en" sz="1000">
                <a:solidFill>
                  <a:srgbClr val="C9D1D9"/>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"value"</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object1</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object2</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false</a:t>
            </a:r>
            <a:endParaRPr sz="10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C9D1D9"/>
                </a:solidFill>
                <a:highlight>
                  <a:srgbClr val="121314"/>
                </a:highlight>
                <a:latin typeface="Courier New"/>
                <a:ea typeface="Courier New"/>
                <a:cs typeface="Courier New"/>
                <a:sym typeface="Courier New"/>
              </a:rPr>
              <a:t>object1</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object1</a:t>
            </a:r>
            <a:r>
              <a:rPr lang="en" sz="1000">
                <a:solidFill>
                  <a:srgbClr val="BBBEBF"/>
                </a:solidFill>
                <a:highlight>
                  <a:srgbClr val="121314"/>
                </a:highlight>
                <a:latin typeface="Courier New"/>
                <a:ea typeface="Courier New"/>
                <a:cs typeface="Courier New"/>
                <a:sym typeface="Courier New"/>
              </a:rPr>
              <a:t>); </a:t>
            </a:r>
            <a:r>
              <a:rPr lang="en" sz="1000">
                <a:solidFill>
                  <a:srgbClr val="8B949E"/>
                </a:solidFill>
                <a:highlight>
                  <a:srgbClr val="121314"/>
                </a:highlight>
                <a:latin typeface="Courier New"/>
                <a:ea typeface="Courier New"/>
                <a:cs typeface="Courier New"/>
                <a:sym typeface="Courier New"/>
              </a:rPr>
              <a:t>// true</a:t>
            </a:r>
            <a:endParaRPr sz="1000">
              <a:solidFill>
                <a:srgbClr val="8B949E"/>
              </a:solidFill>
              <a:highlight>
                <a:srgbClr val="121314"/>
              </a:highlight>
              <a:latin typeface="Courier New"/>
              <a:ea typeface="Courier New"/>
              <a:cs typeface="Courier New"/>
              <a:sym typeface="Courier New"/>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p10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Object.is()</a:t>
            </a:r>
            <a:endParaRPr/>
          </a:p>
        </p:txBody>
      </p:sp>
      <p:sp>
        <p:nvSpPr>
          <p:cNvPr id="769" name="Google Shape;769;p10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20000"/>
          </a:bodyPr>
          <a:lstStyle/>
          <a:p>
            <a:pPr marL="457200" lvl="0" indent="-334328" algn="l" rtl="0">
              <a:spcBef>
                <a:spcPts val="0"/>
              </a:spcBef>
              <a:spcAft>
                <a:spcPts val="0"/>
              </a:spcAft>
              <a:buSzPct val="100000"/>
              <a:buChar char="●"/>
            </a:pPr>
            <a:r>
              <a:rPr lang="en"/>
              <a:t>Object.is() is a method for comparing two values with stricter behavior than ===.</a:t>
            </a:r>
            <a:endParaRPr/>
          </a:p>
          <a:p>
            <a:pPr marL="457200" lvl="0" indent="-334328" algn="l" rtl="0">
              <a:spcBef>
                <a:spcPts val="0"/>
              </a:spcBef>
              <a:spcAft>
                <a:spcPts val="0"/>
              </a:spcAft>
              <a:buSzPct val="100000"/>
              <a:buChar char="●"/>
            </a:pPr>
            <a:r>
              <a:rPr lang="en"/>
              <a:t>It handles two edge cases differently: Object.is(NaN, NaN) returns true (while NaN === NaN is false), and Object.is(+0, -0) returns false (while +0 === -0 is true).</a:t>
            </a:r>
            <a:endParaRPr/>
          </a:p>
          <a:p>
            <a:pPr marL="457200" lvl="0" indent="-334328" algn="l" rtl="0">
              <a:spcBef>
                <a:spcPts val="0"/>
              </a:spcBef>
              <a:spcAft>
                <a:spcPts val="0"/>
              </a:spcAft>
              <a:buSzPct val="100000"/>
              <a:buChar char="●"/>
            </a:pPr>
            <a:r>
              <a:rPr lang="en"/>
              <a:t>It is useful when exact value identity is needed.</a:t>
            </a:r>
            <a:endParaRPr/>
          </a:p>
          <a:p>
            <a:pPr marL="914400" lvl="1" indent="-310832" algn="l" rtl="0">
              <a:spcBef>
                <a:spcPts val="0"/>
              </a:spcBef>
              <a:spcAft>
                <a:spcPts val="0"/>
              </a:spcAft>
              <a:buSzPct val="100000"/>
              <a:buChar char="○"/>
            </a:pPr>
            <a:r>
              <a:rPr lang="en"/>
              <a:t>both undefined</a:t>
            </a:r>
            <a:endParaRPr/>
          </a:p>
          <a:p>
            <a:pPr marL="914400" lvl="1" indent="-310832" algn="l" rtl="0">
              <a:spcBef>
                <a:spcPts val="0"/>
              </a:spcBef>
              <a:spcAft>
                <a:spcPts val="0"/>
              </a:spcAft>
              <a:buSzPct val="100000"/>
              <a:buChar char="○"/>
            </a:pPr>
            <a:r>
              <a:rPr lang="en"/>
              <a:t>both null</a:t>
            </a:r>
            <a:endParaRPr/>
          </a:p>
          <a:p>
            <a:pPr marL="914400" lvl="1" indent="-310832" algn="l" rtl="0">
              <a:spcBef>
                <a:spcPts val="0"/>
              </a:spcBef>
              <a:spcAft>
                <a:spcPts val="0"/>
              </a:spcAft>
              <a:buSzPct val="100000"/>
              <a:buChar char="○"/>
            </a:pPr>
            <a:r>
              <a:rPr lang="en"/>
              <a:t>both true or both false</a:t>
            </a:r>
            <a:endParaRPr/>
          </a:p>
          <a:p>
            <a:pPr marL="914400" lvl="1" indent="-310832" algn="l" rtl="0">
              <a:spcBef>
                <a:spcPts val="0"/>
              </a:spcBef>
              <a:spcAft>
                <a:spcPts val="0"/>
              </a:spcAft>
              <a:buSzPct val="100000"/>
              <a:buChar char="○"/>
            </a:pPr>
            <a:r>
              <a:rPr lang="en"/>
              <a:t>both strings of the same length with the same characters in the same order</a:t>
            </a:r>
            <a:endParaRPr/>
          </a:p>
          <a:p>
            <a:pPr marL="914400" lvl="1" indent="-310832" algn="l" rtl="0">
              <a:spcBef>
                <a:spcPts val="0"/>
              </a:spcBef>
              <a:spcAft>
                <a:spcPts val="0"/>
              </a:spcAft>
              <a:buSzPct val="100000"/>
              <a:buChar char="○"/>
            </a:pPr>
            <a:r>
              <a:rPr lang="en"/>
              <a:t>both the same object (meaning both values reference the same object in memory)</a:t>
            </a:r>
            <a:endParaRPr/>
          </a:p>
          <a:p>
            <a:pPr marL="914400" lvl="1" indent="-310832" algn="l" rtl="0">
              <a:spcBef>
                <a:spcPts val="0"/>
              </a:spcBef>
              <a:spcAft>
                <a:spcPts val="0"/>
              </a:spcAft>
              <a:buSzPct val="100000"/>
              <a:buChar char="○"/>
            </a:pPr>
            <a:r>
              <a:rPr lang="en"/>
              <a:t>both BigInts with the same numeric value</a:t>
            </a:r>
            <a:endParaRPr/>
          </a:p>
          <a:p>
            <a:pPr marL="914400" lvl="1" indent="-310832" algn="l" rtl="0">
              <a:spcBef>
                <a:spcPts val="0"/>
              </a:spcBef>
              <a:spcAft>
                <a:spcPts val="0"/>
              </a:spcAft>
              <a:buSzPct val="100000"/>
              <a:buChar char="○"/>
            </a:pPr>
            <a:r>
              <a:rPr lang="en"/>
              <a:t>both symbols that reference the same symbol value</a:t>
            </a:r>
            <a:endParaRPr/>
          </a:p>
          <a:p>
            <a:pPr marL="914400" lvl="1" indent="-310832" algn="l" rtl="0">
              <a:spcBef>
                <a:spcPts val="0"/>
              </a:spcBef>
              <a:spcAft>
                <a:spcPts val="0"/>
              </a:spcAft>
              <a:buSzPct val="100000"/>
              <a:buChar char="○"/>
            </a:pPr>
            <a:r>
              <a:rPr lang="en"/>
              <a:t>both numbers and</a:t>
            </a:r>
            <a:endParaRPr/>
          </a:p>
          <a:p>
            <a:pPr marL="914400" lvl="1" indent="-310832" algn="l" rtl="0">
              <a:spcBef>
                <a:spcPts val="0"/>
              </a:spcBef>
              <a:spcAft>
                <a:spcPts val="0"/>
              </a:spcAft>
              <a:buSzPct val="100000"/>
              <a:buChar char="○"/>
            </a:pPr>
            <a:r>
              <a:rPr lang="en"/>
              <a:t>both +0</a:t>
            </a:r>
            <a:endParaRPr/>
          </a:p>
          <a:p>
            <a:pPr marL="914400" lvl="1" indent="-310832" algn="l" rtl="0">
              <a:spcBef>
                <a:spcPts val="0"/>
              </a:spcBef>
              <a:spcAft>
                <a:spcPts val="0"/>
              </a:spcAft>
              <a:buSzPct val="100000"/>
              <a:buChar char="○"/>
            </a:pPr>
            <a:r>
              <a:rPr lang="en"/>
              <a:t>both -0</a:t>
            </a:r>
            <a:endParaRPr/>
          </a:p>
          <a:p>
            <a:pPr marL="914400" lvl="1" indent="-310832" algn="l" rtl="0">
              <a:spcBef>
                <a:spcPts val="0"/>
              </a:spcBef>
              <a:spcAft>
                <a:spcPts val="0"/>
              </a:spcAft>
              <a:buSzPct val="100000"/>
              <a:buChar char="○"/>
            </a:pPr>
            <a:r>
              <a:rPr lang="en"/>
              <a:t>both NaN</a:t>
            </a:r>
            <a:endParaRPr/>
          </a:p>
          <a:p>
            <a:pPr marL="914400" lvl="1" indent="-310832" algn="l" rtl="0">
              <a:spcBef>
                <a:spcPts val="0"/>
              </a:spcBef>
              <a:spcAft>
                <a:spcPts val="0"/>
              </a:spcAft>
              <a:buSzPct val="100000"/>
              <a:buChar char="○"/>
            </a:pPr>
            <a:r>
              <a:rPr lang="en"/>
              <a:t>or both non-zero, not NaN, and have the same value</a:t>
            </a:r>
            <a:endParaRPr/>
          </a:p>
        </p:txBody>
      </p:sp>
      <p:sp>
        <p:nvSpPr>
          <p:cNvPr id="770" name="Google Shape;770;p10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94</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775" name="Google Shape;775;p10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Examples of Object.is()</a:t>
            </a:r>
            <a:endParaRPr/>
          </a:p>
        </p:txBody>
      </p:sp>
      <p:sp>
        <p:nvSpPr>
          <p:cNvPr id="776" name="Google Shape;776;p10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95</a:t>
            </a:fld>
            <a:endParaRPr/>
          </a:p>
        </p:txBody>
      </p:sp>
      <p:sp>
        <p:nvSpPr>
          <p:cNvPr id="777" name="Google Shape;777;p106"/>
          <p:cNvSpPr txBox="1"/>
          <p:nvPr/>
        </p:nvSpPr>
        <p:spPr>
          <a:xfrm>
            <a:off x="394187" y="1107428"/>
            <a:ext cx="4284900" cy="38172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8B949E"/>
                </a:solidFill>
                <a:highlight>
                  <a:srgbClr val="121314"/>
                </a:highlight>
                <a:latin typeface="Courier New"/>
                <a:ea typeface="Courier New"/>
                <a:cs typeface="Courier New"/>
                <a:sym typeface="Courier New"/>
              </a:rPr>
              <a:t>// Case 1: Evaluation result is the same as using ===</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Object</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is</a:t>
            </a:r>
            <a:r>
              <a:rPr lang="en" sz="1200">
                <a:solidFill>
                  <a:srgbClr val="BBBEBF"/>
                </a:solidFill>
                <a:highlight>
                  <a:srgbClr val="121314"/>
                </a:highlight>
                <a:latin typeface="Courier New"/>
                <a:ea typeface="Courier New"/>
                <a:cs typeface="Courier New"/>
                <a:sym typeface="Courier New"/>
              </a:rPr>
              <a:t>(</a:t>
            </a:r>
            <a:r>
              <a:rPr lang="en" sz="1200">
                <a:solidFill>
                  <a:srgbClr val="B5CEA8"/>
                </a:solidFill>
                <a:highlight>
                  <a:srgbClr val="121314"/>
                </a:highlight>
                <a:latin typeface="Courier New"/>
                <a:ea typeface="Courier New"/>
                <a:cs typeface="Courier New"/>
                <a:sym typeface="Courier New"/>
              </a:rPr>
              <a:t>25</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25</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true</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Object</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is</a:t>
            </a:r>
            <a:r>
              <a:rPr lang="en" sz="1200">
                <a:solidFill>
                  <a:srgbClr val="BBBEBF"/>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"foo"</a:t>
            </a:r>
            <a:r>
              <a:rPr lang="en" sz="1200">
                <a:solidFill>
                  <a:srgbClr val="BBBEBF"/>
                </a:solidFill>
                <a:highlight>
                  <a:srgbClr val="121314"/>
                </a:highlight>
                <a:latin typeface="Courier New"/>
                <a:ea typeface="Courier New"/>
                <a:cs typeface="Courier New"/>
                <a:sym typeface="Courier New"/>
              </a:rPr>
              <a:t>, </a:t>
            </a:r>
            <a:r>
              <a:rPr lang="en" sz="1200">
                <a:solidFill>
                  <a:srgbClr val="A5D6FF"/>
                </a:solidFill>
                <a:highlight>
                  <a:srgbClr val="121314"/>
                </a:highlight>
                <a:latin typeface="Courier New"/>
                <a:ea typeface="Courier New"/>
                <a:cs typeface="Courier New"/>
                <a:sym typeface="Courier New"/>
              </a:rPr>
              <a:t>"foo"</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true</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Object</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is</a:t>
            </a:r>
            <a:r>
              <a:rPr lang="en" sz="1200">
                <a:solidFill>
                  <a:srgbClr val="BBBEBF"/>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"foo"</a:t>
            </a:r>
            <a:r>
              <a:rPr lang="en" sz="1200">
                <a:solidFill>
                  <a:srgbClr val="BBBEBF"/>
                </a:solidFill>
                <a:highlight>
                  <a:srgbClr val="121314"/>
                </a:highlight>
                <a:latin typeface="Courier New"/>
                <a:ea typeface="Courier New"/>
                <a:cs typeface="Courier New"/>
                <a:sym typeface="Courier New"/>
              </a:rPr>
              <a:t>, </a:t>
            </a:r>
            <a:r>
              <a:rPr lang="en" sz="1200">
                <a:solidFill>
                  <a:srgbClr val="A5D6FF"/>
                </a:solidFill>
                <a:highlight>
                  <a:srgbClr val="121314"/>
                </a:highlight>
                <a:latin typeface="Courier New"/>
                <a:ea typeface="Courier New"/>
                <a:cs typeface="Courier New"/>
                <a:sym typeface="Courier New"/>
              </a:rPr>
              <a:t>"bar"</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false</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Object</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is</a:t>
            </a:r>
            <a:r>
              <a:rPr lang="en" sz="1200">
                <a:solidFill>
                  <a:srgbClr val="BBBEBF"/>
                </a:solidFill>
                <a:highlight>
                  <a:srgbClr val="121314"/>
                </a:highlight>
                <a:latin typeface="Courier New"/>
                <a:ea typeface="Courier New"/>
                <a:cs typeface="Courier New"/>
                <a:sym typeface="Courier New"/>
              </a:rPr>
              <a:t>(</a:t>
            </a:r>
            <a:r>
              <a:rPr lang="en" sz="1200">
                <a:solidFill>
                  <a:srgbClr val="569CD6"/>
                </a:solidFill>
                <a:highlight>
                  <a:srgbClr val="121314"/>
                </a:highlight>
                <a:latin typeface="Courier New"/>
                <a:ea typeface="Courier New"/>
                <a:cs typeface="Courier New"/>
                <a:sym typeface="Courier New"/>
              </a:rPr>
              <a:t>null</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null</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true</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Object</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is</a:t>
            </a:r>
            <a:r>
              <a:rPr lang="en" sz="1200">
                <a:solidFill>
                  <a:srgbClr val="BBBEBF"/>
                </a:solidFill>
                <a:highlight>
                  <a:srgbClr val="121314"/>
                </a:highlight>
                <a:latin typeface="Courier New"/>
                <a:ea typeface="Courier New"/>
                <a:cs typeface="Courier New"/>
                <a:sym typeface="Courier New"/>
              </a:rPr>
              <a:t>(</a:t>
            </a:r>
            <a:r>
              <a:rPr lang="en" sz="1200">
                <a:solidFill>
                  <a:srgbClr val="569CD6"/>
                </a:solidFill>
                <a:highlight>
                  <a:srgbClr val="121314"/>
                </a:highlight>
                <a:latin typeface="Courier New"/>
                <a:ea typeface="Courier New"/>
                <a:cs typeface="Courier New"/>
                <a:sym typeface="Courier New"/>
              </a:rPr>
              <a:t>undefined</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undefined</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true</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Object</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is</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window</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window</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true</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Object</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is</a:t>
            </a:r>
            <a:r>
              <a:rPr lang="en" sz="1200">
                <a:solidFill>
                  <a:srgbClr val="BBBEBF"/>
                </a:solidFill>
                <a:highlight>
                  <a:srgbClr val="121314"/>
                </a:highlight>
                <a:latin typeface="Courier New"/>
                <a:ea typeface="Courier New"/>
                <a:cs typeface="Courier New"/>
                <a:sym typeface="Courier New"/>
              </a:rPr>
              <a:t>([], []); </a:t>
            </a:r>
            <a:r>
              <a:rPr lang="en" sz="1200">
                <a:solidFill>
                  <a:srgbClr val="8B949E"/>
                </a:solidFill>
                <a:highlight>
                  <a:srgbClr val="121314"/>
                </a:highlight>
                <a:latin typeface="Courier New"/>
                <a:ea typeface="Courier New"/>
                <a:cs typeface="Courier New"/>
                <a:sym typeface="Courier New"/>
              </a:rPr>
              <a:t>// false</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foo</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 </a:t>
            </a:r>
            <a:r>
              <a:rPr lang="en" sz="1200">
                <a:solidFill>
                  <a:srgbClr val="9CDCFE"/>
                </a:solidFill>
                <a:highlight>
                  <a:srgbClr val="121314"/>
                </a:highlight>
                <a:latin typeface="Courier New"/>
                <a:ea typeface="Courier New"/>
                <a:cs typeface="Courier New"/>
                <a:sym typeface="Courier New"/>
              </a:rPr>
              <a:t>a:</a:t>
            </a:r>
            <a:r>
              <a:rPr lang="en" sz="1200">
                <a:solidFill>
                  <a:srgbClr val="C9D1D9"/>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1</a:t>
            </a:r>
            <a:r>
              <a:rPr lang="en" sz="1200">
                <a:solidFill>
                  <a:srgbClr val="C9D1D9"/>
                </a:solidFill>
                <a:highlight>
                  <a:srgbClr val="121314"/>
                </a:highlight>
                <a:latin typeface="Courier New"/>
                <a:ea typeface="Courier New"/>
                <a:cs typeface="Courier New"/>
                <a:sym typeface="Courier New"/>
              </a:rPr>
              <a:t> </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bar</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 </a:t>
            </a:r>
            <a:r>
              <a:rPr lang="en" sz="1200">
                <a:solidFill>
                  <a:srgbClr val="9CDCFE"/>
                </a:solidFill>
                <a:highlight>
                  <a:srgbClr val="121314"/>
                </a:highlight>
                <a:latin typeface="Courier New"/>
                <a:ea typeface="Courier New"/>
                <a:cs typeface="Courier New"/>
                <a:sym typeface="Courier New"/>
              </a:rPr>
              <a:t>a:</a:t>
            </a:r>
            <a:r>
              <a:rPr lang="en" sz="1200">
                <a:solidFill>
                  <a:srgbClr val="C9D1D9"/>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1</a:t>
            </a:r>
            <a:r>
              <a:rPr lang="en" sz="1200">
                <a:solidFill>
                  <a:srgbClr val="C9D1D9"/>
                </a:solidFill>
                <a:highlight>
                  <a:srgbClr val="121314"/>
                </a:highlight>
                <a:latin typeface="Courier New"/>
                <a:ea typeface="Courier New"/>
                <a:cs typeface="Courier New"/>
                <a:sym typeface="Courier New"/>
              </a:rPr>
              <a:t> </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sameFoo</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foo</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Object</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is</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foo</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foo</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true</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Object</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is</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foo</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bar</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false</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Object</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is</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foo</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sameFoo</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true</a:t>
            </a:r>
            <a:endParaRPr sz="1200">
              <a:solidFill>
                <a:srgbClr val="8B949E"/>
              </a:solidFill>
              <a:highlight>
                <a:srgbClr val="121314"/>
              </a:highlight>
              <a:latin typeface="Courier New"/>
              <a:ea typeface="Courier New"/>
              <a:cs typeface="Courier New"/>
              <a:sym typeface="Courier New"/>
            </a:endParaRPr>
          </a:p>
        </p:txBody>
      </p:sp>
      <p:sp>
        <p:nvSpPr>
          <p:cNvPr id="778" name="Google Shape;778;p106"/>
          <p:cNvSpPr txBox="1"/>
          <p:nvPr/>
        </p:nvSpPr>
        <p:spPr>
          <a:xfrm>
            <a:off x="5073387" y="1107428"/>
            <a:ext cx="3000000" cy="23397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8B949E"/>
                </a:solidFill>
                <a:highlight>
                  <a:srgbClr val="121314"/>
                </a:highlight>
                <a:latin typeface="Courier New"/>
                <a:ea typeface="Courier New"/>
                <a:cs typeface="Courier New"/>
                <a:sym typeface="Courier New"/>
              </a:rPr>
              <a:t>// Case 2: Signed zero</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Object</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is</a:t>
            </a:r>
            <a:r>
              <a:rPr lang="en" sz="1200">
                <a:solidFill>
                  <a:srgbClr val="BBBEBF"/>
                </a:solidFill>
                <a:highlight>
                  <a:srgbClr val="121314"/>
                </a:highlight>
                <a:latin typeface="Courier New"/>
                <a:ea typeface="Courier New"/>
                <a:cs typeface="Courier New"/>
                <a:sym typeface="Courier New"/>
              </a:rPr>
              <a:t>(</a:t>
            </a:r>
            <a:r>
              <a:rPr lang="en" sz="1200">
                <a:solidFill>
                  <a:srgbClr val="B5CEA8"/>
                </a:solidFill>
                <a:highlight>
                  <a:srgbClr val="121314"/>
                </a:highlight>
                <a:latin typeface="Courier New"/>
                <a:ea typeface="Courier New"/>
                <a:cs typeface="Courier New"/>
                <a:sym typeface="Courier New"/>
              </a:rPr>
              <a:t>0</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5CEA8"/>
                </a:solidFill>
                <a:highlight>
                  <a:srgbClr val="121314"/>
                </a:highlight>
                <a:latin typeface="Courier New"/>
                <a:ea typeface="Courier New"/>
                <a:cs typeface="Courier New"/>
                <a:sym typeface="Courier New"/>
              </a:rPr>
              <a:t>0</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false</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Object</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is</a:t>
            </a:r>
            <a:r>
              <a:rPr lang="en" sz="1200">
                <a:solidFill>
                  <a:srgbClr val="BBBEBF"/>
                </a:solidFill>
                <a:highlight>
                  <a:srgbClr val="121314"/>
                </a:highlight>
                <a:latin typeface="Courier New"/>
                <a:ea typeface="Courier New"/>
                <a:cs typeface="Courier New"/>
                <a:sym typeface="Courier New"/>
              </a:rPr>
              <a:t>(</a:t>
            </a:r>
            <a:r>
              <a:rPr lang="en" sz="1200">
                <a:solidFill>
                  <a:srgbClr val="D4D4D4"/>
                </a:solidFill>
                <a:highlight>
                  <a:srgbClr val="121314"/>
                </a:highlight>
                <a:latin typeface="Courier New"/>
                <a:ea typeface="Courier New"/>
                <a:cs typeface="Courier New"/>
                <a:sym typeface="Courier New"/>
              </a:rPr>
              <a:t>+</a:t>
            </a:r>
            <a:r>
              <a:rPr lang="en" sz="1200">
                <a:solidFill>
                  <a:srgbClr val="B5CEA8"/>
                </a:solidFill>
                <a:highlight>
                  <a:srgbClr val="121314"/>
                </a:highlight>
                <a:latin typeface="Courier New"/>
                <a:ea typeface="Courier New"/>
                <a:cs typeface="Courier New"/>
                <a:sym typeface="Courier New"/>
              </a:rPr>
              <a:t>0</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5CEA8"/>
                </a:solidFill>
                <a:highlight>
                  <a:srgbClr val="121314"/>
                </a:highlight>
                <a:latin typeface="Courier New"/>
                <a:ea typeface="Courier New"/>
                <a:cs typeface="Courier New"/>
                <a:sym typeface="Courier New"/>
              </a:rPr>
              <a:t>0</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false</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Object</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is</a:t>
            </a:r>
            <a:r>
              <a:rPr lang="en" sz="1200">
                <a:solidFill>
                  <a:srgbClr val="BBBEBF"/>
                </a:solidFill>
                <a:highlight>
                  <a:srgbClr val="121314"/>
                </a:highlight>
                <a:latin typeface="Courier New"/>
                <a:ea typeface="Courier New"/>
                <a:cs typeface="Courier New"/>
                <a:sym typeface="Courier New"/>
              </a:rPr>
              <a:t>(</a:t>
            </a:r>
            <a:r>
              <a:rPr lang="en" sz="1200">
                <a:solidFill>
                  <a:srgbClr val="D4D4D4"/>
                </a:solidFill>
                <a:highlight>
                  <a:srgbClr val="121314"/>
                </a:highlight>
                <a:latin typeface="Courier New"/>
                <a:ea typeface="Courier New"/>
                <a:cs typeface="Courier New"/>
                <a:sym typeface="Courier New"/>
              </a:rPr>
              <a:t>-</a:t>
            </a:r>
            <a:r>
              <a:rPr lang="en" sz="1200">
                <a:solidFill>
                  <a:srgbClr val="B5CEA8"/>
                </a:solidFill>
                <a:highlight>
                  <a:srgbClr val="121314"/>
                </a:highlight>
                <a:latin typeface="Courier New"/>
                <a:ea typeface="Courier New"/>
                <a:cs typeface="Courier New"/>
                <a:sym typeface="Courier New"/>
              </a:rPr>
              <a:t>0</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5CEA8"/>
                </a:solidFill>
                <a:highlight>
                  <a:srgbClr val="121314"/>
                </a:highlight>
                <a:latin typeface="Courier New"/>
                <a:ea typeface="Courier New"/>
                <a:cs typeface="Courier New"/>
                <a:sym typeface="Courier New"/>
              </a:rPr>
              <a:t>0</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true</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8B949E"/>
                </a:solidFill>
                <a:highlight>
                  <a:srgbClr val="121314"/>
                </a:highlight>
                <a:latin typeface="Courier New"/>
                <a:ea typeface="Courier New"/>
                <a:cs typeface="Courier New"/>
                <a:sym typeface="Courier New"/>
              </a:rPr>
              <a:t>// Case 3: NaN</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Object</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is</a:t>
            </a:r>
            <a:r>
              <a:rPr lang="en" sz="1200">
                <a:solidFill>
                  <a:srgbClr val="BBBEBF"/>
                </a:solidFill>
                <a:highlight>
                  <a:srgbClr val="121314"/>
                </a:highlight>
                <a:latin typeface="Courier New"/>
                <a:ea typeface="Courier New"/>
                <a:cs typeface="Courier New"/>
                <a:sym typeface="Courier New"/>
              </a:rPr>
              <a:t>(</a:t>
            </a:r>
            <a:r>
              <a:rPr lang="en" sz="1200">
                <a:solidFill>
                  <a:srgbClr val="569CD6"/>
                </a:solidFill>
                <a:highlight>
                  <a:srgbClr val="121314"/>
                </a:highlight>
                <a:latin typeface="Courier New"/>
                <a:ea typeface="Courier New"/>
                <a:cs typeface="Courier New"/>
                <a:sym typeface="Courier New"/>
              </a:rPr>
              <a:t>NaN</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0</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0</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true</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Object</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is</a:t>
            </a:r>
            <a:r>
              <a:rPr lang="en" sz="1200">
                <a:solidFill>
                  <a:srgbClr val="BBBEBF"/>
                </a:solidFill>
                <a:highlight>
                  <a:srgbClr val="121314"/>
                </a:highlight>
                <a:latin typeface="Courier New"/>
                <a:ea typeface="Courier New"/>
                <a:cs typeface="Courier New"/>
                <a:sym typeface="Courier New"/>
              </a:rPr>
              <a:t>(</a:t>
            </a:r>
            <a:r>
              <a:rPr lang="en" sz="1200">
                <a:solidFill>
                  <a:srgbClr val="569CD6"/>
                </a:solidFill>
                <a:highlight>
                  <a:srgbClr val="121314"/>
                </a:highlight>
                <a:latin typeface="Courier New"/>
                <a:ea typeface="Courier New"/>
                <a:cs typeface="Courier New"/>
                <a:sym typeface="Courier New"/>
              </a:rPr>
              <a:t>NaN</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Number</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NaN</a:t>
            </a:r>
            <a:r>
              <a:rPr lang="en" sz="1200">
                <a:solidFill>
                  <a:srgbClr val="BBBEBF"/>
                </a:solidFill>
                <a:highlight>
                  <a:srgbClr val="121314"/>
                </a:highlight>
                <a:latin typeface="Courier New"/>
                <a:ea typeface="Courier New"/>
                <a:cs typeface="Courier New"/>
                <a:sym typeface="Courier New"/>
              </a:rPr>
              <a:t>); </a:t>
            </a:r>
            <a:r>
              <a:rPr lang="en" sz="1200">
                <a:solidFill>
                  <a:srgbClr val="8B949E"/>
                </a:solidFill>
                <a:highlight>
                  <a:srgbClr val="121314"/>
                </a:highlight>
                <a:latin typeface="Courier New"/>
                <a:ea typeface="Courier New"/>
                <a:cs typeface="Courier New"/>
                <a:sym typeface="Courier New"/>
              </a:rPr>
              <a:t>// true</a:t>
            </a:r>
            <a:endParaRPr sz="1200">
              <a:solidFill>
                <a:srgbClr val="8B949E"/>
              </a:solidFill>
              <a:highlight>
                <a:srgbClr val="121314"/>
              </a:highlight>
              <a:latin typeface="Courier New"/>
              <a:ea typeface="Courier New"/>
              <a:cs typeface="Courier New"/>
              <a:sym typeface="Courier New"/>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p107"/>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Operators</a:t>
            </a:r>
            <a:endParaRPr/>
          </a:p>
        </p:txBody>
      </p:sp>
      <p:sp>
        <p:nvSpPr>
          <p:cNvPr id="784" name="Google Shape;784;p10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96</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p10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Assignment operators (=)</a:t>
            </a:r>
            <a:endParaRPr/>
          </a:p>
        </p:txBody>
      </p:sp>
      <p:sp>
        <p:nvSpPr>
          <p:cNvPr id="790" name="Google Shape;790;p10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97</a:t>
            </a:fld>
            <a:endParaRPr>
              <a:solidFill>
                <a:schemeClr val="lt2"/>
              </a:solidFill>
            </a:endParaRPr>
          </a:p>
        </p:txBody>
      </p:sp>
      <p:sp>
        <p:nvSpPr>
          <p:cNvPr id="791" name="Google Shape;791;p108"/>
          <p:cNvSpPr txBox="1">
            <a:spLocks noGrp="1"/>
          </p:cNvSpPr>
          <p:nvPr>
            <p:ph type="body" idx="1"/>
          </p:nvPr>
        </p:nvSpPr>
        <p:spPr>
          <a:xfrm>
            <a:off x="311700" y="1152475"/>
            <a:ext cx="8520600" cy="4950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a:t>Assigns a value to its left operand based on the value of its right operand.</a:t>
            </a:r>
            <a:endParaRPr/>
          </a:p>
        </p:txBody>
      </p:sp>
      <p:graphicFrame>
        <p:nvGraphicFramePr>
          <p:cNvPr id="792" name="Google Shape;792;p108"/>
          <p:cNvGraphicFramePr/>
          <p:nvPr/>
        </p:nvGraphicFramePr>
        <p:xfrm>
          <a:off x="849000" y="1731525"/>
          <a:ext cx="4688775" cy="3022358"/>
        </p:xfrm>
        <a:graphic>
          <a:graphicData uri="http://schemas.openxmlformats.org/drawingml/2006/table">
            <a:tbl>
              <a:tblPr>
                <a:noFill/>
                <a:tableStyleId>{160DF2F2-2E2D-4924-9058-CAD130D829AF}</a:tableStyleId>
              </a:tblPr>
              <a:tblGrid>
                <a:gridCol w="1741125">
                  <a:extLst>
                    <a:ext uri="{9D8B030D-6E8A-4147-A177-3AD203B41FA5}">
                      <a16:colId xmlns:a16="http://schemas.microsoft.com/office/drawing/2014/main" val="20000"/>
                    </a:ext>
                  </a:extLst>
                </a:gridCol>
                <a:gridCol w="1619625">
                  <a:extLst>
                    <a:ext uri="{9D8B030D-6E8A-4147-A177-3AD203B41FA5}">
                      <a16:colId xmlns:a16="http://schemas.microsoft.com/office/drawing/2014/main" val="20001"/>
                    </a:ext>
                  </a:extLst>
                </a:gridCol>
                <a:gridCol w="1328025">
                  <a:extLst>
                    <a:ext uri="{9D8B030D-6E8A-4147-A177-3AD203B41FA5}">
                      <a16:colId xmlns:a16="http://schemas.microsoft.com/office/drawing/2014/main" val="20002"/>
                    </a:ext>
                  </a:extLst>
                </a:gridCol>
              </a:tblGrid>
              <a:tr h="0">
                <a:tc>
                  <a:txBody>
                    <a:bodyPr/>
                    <a:lstStyle/>
                    <a:p>
                      <a:pPr marL="0" lvl="0" indent="0" algn="ctr" rtl="0">
                        <a:lnSpc>
                          <a:spcPct val="115000"/>
                        </a:lnSpc>
                        <a:spcBef>
                          <a:spcPts val="0"/>
                        </a:spcBef>
                        <a:spcAft>
                          <a:spcPts val="0"/>
                        </a:spcAft>
                        <a:buNone/>
                      </a:pPr>
                      <a:r>
                        <a:rPr lang="en" sz="1200" b="1"/>
                        <a:t>Name</a:t>
                      </a:r>
                      <a:endParaRPr sz="12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200" b="1"/>
                        <a:t>Shorthand operator</a:t>
                      </a:r>
                      <a:endParaRPr sz="12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200" b="1"/>
                        <a:t>Meaning</a:t>
                      </a:r>
                      <a:endParaRPr sz="12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0">
                <a:tc>
                  <a:txBody>
                    <a:bodyPr/>
                    <a:lstStyle/>
                    <a:p>
                      <a:pPr marL="0" lvl="0" indent="0" algn="l" rtl="0">
                        <a:lnSpc>
                          <a:spcPct val="115000"/>
                        </a:lnSpc>
                        <a:spcBef>
                          <a:spcPts val="0"/>
                        </a:spcBef>
                        <a:spcAft>
                          <a:spcPts val="0"/>
                        </a:spcAft>
                        <a:buNone/>
                      </a:pPr>
                      <a:r>
                        <a:rPr lang="en" sz="1000" u="sng">
                          <a:solidFill>
                            <a:schemeClr val="hlink"/>
                          </a:solidFill>
                          <a:hlinkClick r:id="rId3"/>
                        </a:rPr>
                        <a:t>Assignment</a:t>
                      </a:r>
                      <a:endParaRPr sz="1000" u="sng">
                        <a:solidFill>
                          <a:schemeClr val="hlink"/>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200"/>
                        <a:t>x = f()</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200"/>
                        <a:t>x = f()</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lnSpc>
                          <a:spcPct val="115000"/>
                        </a:lnSpc>
                        <a:spcBef>
                          <a:spcPts val="0"/>
                        </a:spcBef>
                        <a:spcAft>
                          <a:spcPts val="0"/>
                        </a:spcAft>
                        <a:buNone/>
                      </a:pPr>
                      <a:r>
                        <a:rPr lang="en" sz="1000" u="sng">
                          <a:solidFill>
                            <a:schemeClr val="hlink"/>
                          </a:solidFill>
                          <a:hlinkClick r:id="rId4"/>
                        </a:rPr>
                        <a:t>Addition assignment</a:t>
                      </a:r>
                      <a:endParaRPr sz="1000" u="sng">
                        <a:solidFill>
                          <a:schemeClr val="hlink"/>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200"/>
                        <a:t>x += f()</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200"/>
                        <a:t>x = x + f()</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lnSpc>
                          <a:spcPct val="115000"/>
                        </a:lnSpc>
                        <a:spcBef>
                          <a:spcPts val="0"/>
                        </a:spcBef>
                        <a:spcAft>
                          <a:spcPts val="0"/>
                        </a:spcAft>
                        <a:buNone/>
                      </a:pPr>
                      <a:r>
                        <a:rPr lang="en" sz="1000" u="sng">
                          <a:solidFill>
                            <a:schemeClr val="hlink"/>
                          </a:solidFill>
                          <a:hlinkClick r:id="rId5"/>
                        </a:rPr>
                        <a:t>Subtraction assignment</a:t>
                      </a:r>
                      <a:endParaRPr sz="1000" u="sng">
                        <a:solidFill>
                          <a:schemeClr val="hlink"/>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200"/>
                        <a:t>x -= f()</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200"/>
                        <a:t>x = x - f()</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l" rtl="0">
                        <a:lnSpc>
                          <a:spcPct val="115000"/>
                        </a:lnSpc>
                        <a:spcBef>
                          <a:spcPts val="0"/>
                        </a:spcBef>
                        <a:spcAft>
                          <a:spcPts val="0"/>
                        </a:spcAft>
                        <a:buNone/>
                      </a:pPr>
                      <a:r>
                        <a:rPr lang="en" sz="1000" u="sng">
                          <a:solidFill>
                            <a:schemeClr val="hlink"/>
                          </a:solidFill>
                          <a:hlinkClick r:id="rId6"/>
                        </a:rPr>
                        <a:t>Multiplication assignment</a:t>
                      </a:r>
                      <a:endParaRPr sz="1000" u="sng">
                        <a:solidFill>
                          <a:schemeClr val="hlink"/>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200"/>
                        <a:t>x *= f()</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200"/>
                        <a:t>x = x * f()</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l" rtl="0">
                        <a:lnSpc>
                          <a:spcPct val="115000"/>
                        </a:lnSpc>
                        <a:spcBef>
                          <a:spcPts val="0"/>
                        </a:spcBef>
                        <a:spcAft>
                          <a:spcPts val="0"/>
                        </a:spcAft>
                        <a:buNone/>
                      </a:pPr>
                      <a:r>
                        <a:rPr lang="en" sz="1000" u="sng">
                          <a:solidFill>
                            <a:schemeClr val="hlink"/>
                          </a:solidFill>
                          <a:hlinkClick r:id="rId7"/>
                        </a:rPr>
                        <a:t>Division assignment</a:t>
                      </a:r>
                      <a:endParaRPr sz="1000" u="sng">
                        <a:solidFill>
                          <a:schemeClr val="hlink"/>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200"/>
                        <a:t>x /= f()</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200"/>
                        <a:t>x = x / f()</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0">
                <a:tc>
                  <a:txBody>
                    <a:bodyPr/>
                    <a:lstStyle/>
                    <a:p>
                      <a:pPr marL="0" lvl="0" indent="0" algn="l" rtl="0">
                        <a:lnSpc>
                          <a:spcPct val="115000"/>
                        </a:lnSpc>
                        <a:spcBef>
                          <a:spcPts val="0"/>
                        </a:spcBef>
                        <a:spcAft>
                          <a:spcPts val="0"/>
                        </a:spcAft>
                        <a:buNone/>
                      </a:pPr>
                      <a:r>
                        <a:rPr lang="en" sz="1000" u="sng">
                          <a:solidFill>
                            <a:schemeClr val="hlink"/>
                          </a:solidFill>
                          <a:hlinkClick r:id="rId8"/>
                        </a:rPr>
                        <a:t>Remainder assignment</a:t>
                      </a:r>
                      <a:endParaRPr sz="1000" u="sng">
                        <a:solidFill>
                          <a:schemeClr val="hlink"/>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200"/>
                        <a:t>x %= f()</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200"/>
                        <a:t>x = x % f()</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95125">
                <a:tc>
                  <a:txBody>
                    <a:bodyPr/>
                    <a:lstStyle/>
                    <a:p>
                      <a:pPr marL="0" lvl="0" indent="0" algn="l" rtl="0">
                        <a:lnSpc>
                          <a:spcPct val="115000"/>
                        </a:lnSpc>
                        <a:spcBef>
                          <a:spcPts val="0"/>
                        </a:spcBef>
                        <a:spcAft>
                          <a:spcPts val="0"/>
                        </a:spcAft>
                        <a:buNone/>
                      </a:pPr>
                      <a:r>
                        <a:rPr lang="en" sz="1000" u="sng">
                          <a:solidFill>
                            <a:schemeClr val="hlink"/>
                          </a:solidFill>
                          <a:hlinkClick r:id="rId9"/>
                        </a:rPr>
                        <a:t>Exponentiation assignment</a:t>
                      </a:r>
                      <a:endParaRPr sz="1000" u="sng">
                        <a:solidFill>
                          <a:schemeClr val="hlink"/>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200"/>
                        <a:t>x **= f()</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200"/>
                        <a:t>x = x ** f()</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p10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Assignment operators (=)</a:t>
            </a:r>
            <a:endParaRPr/>
          </a:p>
          <a:p>
            <a:pPr marL="0" lvl="0" indent="0" algn="l" rtl="0">
              <a:spcBef>
                <a:spcPts val="0"/>
              </a:spcBef>
              <a:spcAft>
                <a:spcPts val="0"/>
              </a:spcAft>
              <a:buNone/>
            </a:pPr>
            <a:endParaRPr/>
          </a:p>
        </p:txBody>
      </p:sp>
      <p:sp>
        <p:nvSpPr>
          <p:cNvPr id="798" name="Google Shape;798;p10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98</a:t>
            </a:fld>
            <a:endParaRPr/>
          </a:p>
        </p:txBody>
      </p:sp>
      <p:graphicFrame>
        <p:nvGraphicFramePr>
          <p:cNvPr id="799" name="Google Shape;799;p109"/>
          <p:cNvGraphicFramePr/>
          <p:nvPr/>
        </p:nvGraphicFramePr>
        <p:xfrm>
          <a:off x="593588" y="1216550"/>
          <a:ext cx="4498125" cy="3097054"/>
        </p:xfrm>
        <a:graphic>
          <a:graphicData uri="http://schemas.openxmlformats.org/drawingml/2006/table">
            <a:tbl>
              <a:tblPr>
                <a:noFill/>
                <a:tableStyleId>{160DF2F2-2E2D-4924-9058-CAD130D829AF}</a:tableStyleId>
              </a:tblPr>
              <a:tblGrid>
                <a:gridCol w="2031200">
                  <a:extLst>
                    <a:ext uri="{9D8B030D-6E8A-4147-A177-3AD203B41FA5}">
                      <a16:colId xmlns:a16="http://schemas.microsoft.com/office/drawing/2014/main" val="20000"/>
                    </a:ext>
                  </a:extLst>
                </a:gridCol>
                <a:gridCol w="1236150">
                  <a:extLst>
                    <a:ext uri="{9D8B030D-6E8A-4147-A177-3AD203B41FA5}">
                      <a16:colId xmlns:a16="http://schemas.microsoft.com/office/drawing/2014/main" val="20001"/>
                    </a:ext>
                  </a:extLst>
                </a:gridCol>
                <a:gridCol w="1230775">
                  <a:extLst>
                    <a:ext uri="{9D8B030D-6E8A-4147-A177-3AD203B41FA5}">
                      <a16:colId xmlns:a16="http://schemas.microsoft.com/office/drawing/2014/main" val="20002"/>
                    </a:ext>
                  </a:extLst>
                </a:gridCol>
              </a:tblGrid>
              <a:tr h="278225">
                <a:tc>
                  <a:txBody>
                    <a:bodyPr/>
                    <a:lstStyle/>
                    <a:p>
                      <a:pPr marL="0" lvl="0" indent="0" algn="l" rtl="0">
                        <a:lnSpc>
                          <a:spcPct val="115000"/>
                        </a:lnSpc>
                        <a:spcBef>
                          <a:spcPts val="0"/>
                        </a:spcBef>
                        <a:spcAft>
                          <a:spcPts val="0"/>
                        </a:spcAft>
                        <a:buNone/>
                      </a:pPr>
                      <a:r>
                        <a:rPr lang="en" sz="1000" u="sng">
                          <a:solidFill>
                            <a:schemeClr val="hlink"/>
                          </a:solidFill>
                          <a:hlinkClick r:id="rId3"/>
                        </a:rPr>
                        <a:t>Left shift assignment</a:t>
                      </a:r>
                      <a:endParaRPr sz="1000" u="sng">
                        <a:solidFill>
                          <a:schemeClr val="hlink"/>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x &lt;&lt;= f()</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x = x &lt;&lt; f()</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278225">
                <a:tc>
                  <a:txBody>
                    <a:bodyPr/>
                    <a:lstStyle/>
                    <a:p>
                      <a:pPr marL="0" lvl="0" indent="0" algn="l" rtl="0">
                        <a:lnSpc>
                          <a:spcPct val="115000"/>
                        </a:lnSpc>
                        <a:spcBef>
                          <a:spcPts val="0"/>
                        </a:spcBef>
                        <a:spcAft>
                          <a:spcPts val="0"/>
                        </a:spcAft>
                        <a:buNone/>
                      </a:pPr>
                      <a:r>
                        <a:rPr lang="en" sz="1000" u="sng">
                          <a:solidFill>
                            <a:schemeClr val="hlink"/>
                          </a:solidFill>
                          <a:hlinkClick r:id="rId4"/>
                        </a:rPr>
                        <a:t>Right shift assignment</a:t>
                      </a:r>
                      <a:endParaRPr sz="1000" u="sng">
                        <a:solidFill>
                          <a:schemeClr val="hlink"/>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x &gt;&gt;= f()</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x = x &gt;&gt; f()</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78225">
                <a:tc>
                  <a:txBody>
                    <a:bodyPr/>
                    <a:lstStyle/>
                    <a:p>
                      <a:pPr marL="0" lvl="0" indent="0" algn="l" rtl="0">
                        <a:lnSpc>
                          <a:spcPct val="115000"/>
                        </a:lnSpc>
                        <a:spcBef>
                          <a:spcPts val="0"/>
                        </a:spcBef>
                        <a:spcAft>
                          <a:spcPts val="0"/>
                        </a:spcAft>
                        <a:buNone/>
                      </a:pPr>
                      <a:r>
                        <a:rPr lang="en" sz="1000" u="sng">
                          <a:solidFill>
                            <a:schemeClr val="hlink"/>
                          </a:solidFill>
                          <a:hlinkClick r:id="rId5"/>
                        </a:rPr>
                        <a:t>Unsigned right shift assignment</a:t>
                      </a:r>
                      <a:endParaRPr sz="1000" u="sng">
                        <a:solidFill>
                          <a:schemeClr val="hlink"/>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x &gt;&gt;&gt;= f()</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x = x &gt;&gt;&gt; f()</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78225">
                <a:tc>
                  <a:txBody>
                    <a:bodyPr/>
                    <a:lstStyle/>
                    <a:p>
                      <a:pPr marL="0" lvl="0" indent="0" algn="l" rtl="0">
                        <a:lnSpc>
                          <a:spcPct val="115000"/>
                        </a:lnSpc>
                        <a:spcBef>
                          <a:spcPts val="0"/>
                        </a:spcBef>
                        <a:spcAft>
                          <a:spcPts val="0"/>
                        </a:spcAft>
                        <a:buNone/>
                      </a:pPr>
                      <a:r>
                        <a:rPr lang="en" sz="1000" u="sng">
                          <a:solidFill>
                            <a:schemeClr val="hlink"/>
                          </a:solidFill>
                          <a:hlinkClick r:id="rId6"/>
                        </a:rPr>
                        <a:t>Bitwise AND assignment</a:t>
                      </a:r>
                      <a:endParaRPr sz="1000" u="sng">
                        <a:solidFill>
                          <a:schemeClr val="hlink"/>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x &amp;= f()</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x = x &amp; f()</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78225">
                <a:tc>
                  <a:txBody>
                    <a:bodyPr/>
                    <a:lstStyle/>
                    <a:p>
                      <a:pPr marL="0" lvl="0" indent="0" algn="l" rtl="0">
                        <a:lnSpc>
                          <a:spcPct val="115000"/>
                        </a:lnSpc>
                        <a:spcBef>
                          <a:spcPts val="0"/>
                        </a:spcBef>
                        <a:spcAft>
                          <a:spcPts val="0"/>
                        </a:spcAft>
                        <a:buNone/>
                      </a:pPr>
                      <a:r>
                        <a:rPr lang="en" sz="1000" u="sng">
                          <a:solidFill>
                            <a:schemeClr val="hlink"/>
                          </a:solidFill>
                          <a:hlinkClick r:id="rId7"/>
                        </a:rPr>
                        <a:t>Bitwise XOR assignment</a:t>
                      </a:r>
                      <a:endParaRPr sz="1000" u="sng">
                        <a:solidFill>
                          <a:schemeClr val="hlink"/>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x ^= f()</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x = x ^ f()</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278225">
                <a:tc>
                  <a:txBody>
                    <a:bodyPr/>
                    <a:lstStyle/>
                    <a:p>
                      <a:pPr marL="0" lvl="0" indent="0" algn="l" rtl="0">
                        <a:lnSpc>
                          <a:spcPct val="115000"/>
                        </a:lnSpc>
                        <a:spcBef>
                          <a:spcPts val="0"/>
                        </a:spcBef>
                        <a:spcAft>
                          <a:spcPts val="0"/>
                        </a:spcAft>
                        <a:buNone/>
                      </a:pPr>
                      <a:r>
                        <a:rPr lang="en" sz="1000" u="sng">
                          <a:solidFill>
                            <a:schemeClr val="hlink"/>
                          </a:solidFill>
                          <a:hlinkClick r:id="rId8"/>
                        </a:rPr>
                        <a:t>Bitwise OR assignment</a:t>
                      </a:r>
                      <a:endParaRPr sz="1000" u="sng">
                        <a:solidFill>
                          <a:schemeClr val="hlink"/>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x |= f()</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x = x | f()</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78225">
                <a:tc>
                  <a:txBody>
                    <a:bodyPr/>
                    <a:lstStyle/>
                    <a:p>
                      <a:pPr marL="0" lvl="0" indent="0" algn="l" rtl="0">
                        <a:lnSpc>
                          <a:spcPct val="115000"/>
                        </a:lnSpc>
                        <a:spcBef>
                          <a:spcPts val="0"/>
                        </a:spcBef>
                        <a:spcAft>
                          <a:spcPts val="0"/>
                        </a:spcAft>
                        <a:buNone/>
                      </a:pPr>
                      <a:r>
                        <a:rPr lang="en" sz="1000" u="sng">
                          <a:solidFill>
                            <a:schemeClr val="hlink"/>
                          </a:solidFill>
                          <a:hlinkClick r:id="rId9"/>
                        </a:rPr>
                        <a:t>Logical AND assignment</a:t>
                      </a:r>
                      <a:endParaRPr sz="1000" u="sng">
                        <a:solidFill>
                          <a:schemeClr val="hlink"/>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x &amp;&amp;= f()</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x &amp;&amp; (x = f())</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278225">
                <a:tc>
                  <a:txBody>
                    <a:bodyPr/>
                    <a:lstStyle/>
                    <a:p>
                      <a:pPr marL="0" lvl="0" indent="0" algn="l" rtl="0">
                        <a:lnSpc>
                          <a:spcPct val="115000"/>
                        </a:lnSpc>
                        <a:spcBef>
                          <a:spcPts val="0"/>
                        </a:spcBef>
                        <a:spcAft>
                          <a:spcPts val="0"/>
                        </a:spcAft>
                        <a:buNone/>
                      </a:pPr>
                      <a:r>
                        <a:rPr lang="en" sz="1000" u="sng">
                          <a:solidFill>
                            <a:schemeClr val="hlink"/>
                          </a:solidFill>
                          <a:hlinkClick r:id="rId10"/>
                        </a:rPr>
                        <a:t>Logical OR assignment</a:t>
                      </a:r>
                      <a:endParaRPr sz="1000" u="sng">
                        <a:solidFill>
                          <a:schemeClr val="hlink"/>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x ||= f()</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x || (x = f())</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351550">
                <a:tc>
                  <a:txBody>
                    <a:bodyPr/>
                    <a:lstStyle/>
                    <a:p>
                      <a:pPr marL="0" lvl="0" indent="0" algn="l" rtl="0">
                        <a:lnSpc>
                          <a:spcPct val="115000"/>
                        </a:lnSpc>
                        <a:spcBef>
                          <a:spcPts val="0"/>
                        </a:spcBef>
                        <a:spcAft>
                          <a:spcPts val="0"/>
                        </a:spcAft>
                        <a:buNone/>
                      </a:pPr>
                      <a:r>
                        <a:rPr lang="en" sz="1000" u="sng">
                          <a:solidFill>
                            <a:schemeClr val="hlink"/>
                          </a:solidFill>
                          <a:hlinkClick r:id="rId11"/>
                        </a:rPr>
                        <a:t>Nullish coalescing assignment</a:t>
                      </a:r>
                      <a:endParaRPr sz="1000" u="sng">
                        <a:solidFill>
                          <a:schemeClr val="hlink"/>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x ??= f()</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x ?? (x = f())</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p11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Destructuring</a:t>
            </a:r>
            <a:endParaRPr/>
          </a:p>
        </p:txBody>
      </p:sp>
      <p:sp>
        <p:nvSpPr>
          <p:cNvPr id="805" name="Google Shape;805;p110"/>
          <p:cNvSpPr txBox="1">
            <a:spLocks noGrp="1"/>
          </p:cNvSpPr>
          <p:nvPr>
            <p:ph type="body" idx="1"/>
          </p:nvPr>
        </p:nvSpPr>
        <p:spPr>
          <a:xfrm>
            <a:off x="311700" y="1152475"/>
            <a:ext cx="8520600" cy="10032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Extract data from arrays or objects using a syntax that mirrors the construction of array and object literals.</a:t>
            </a:r>
            <a:endParaRPr/>
          </a:p>
        </p:txBody>
      </p:sp>
      <p:sp>
        <p:nvSpPr>
          <p:cNvPr id="806" name="Google Shape;806;p11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99</a:t>
            </a:fld>
            <a:endParaRPr/>
          </a:p>
        </p:txBody>
      </p:sp>
      <p:sp>
        <p:nvSpPr>
          <p:cNvPr id="807" name="Google Shape;807;p110"/>
          <p:cNvSpPr txBox="1"/>
          <p:nvPr/>
        </p:nvSpPr>
        <p:spPr>
          <a:xfrm>
            <a:off x="814900" y="2291350"/>
            <a:ext cx="3706500" cy="13545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foo</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A5D6FF"/>
                </a:solidFill>
                <a:highlight>
                  <a:srgbClr val="121314"/>
                </a:highlight>
                <a:latin typeface="Courier New"/>
                <a:ea typeface="Courier New"/>
                <a:cs typeface="Courier New"/>
                <a:sym typeface="Courier New"/>
              </a:rPr>
              <a:t>"one"</a:t>
            </a:r>
            <a:r>
              <a:rPr lang="en" sz="1200">
                <a:solidFill>
                  <a:srgbClr val="BBBEBF"/>
                </a:solidFill>
                <a:highlight>
                  <a:srgbClr val="121314"/>
                </a:highlight>
                <a:latin typeface="Courier New"/>
                <a:ea typeface="Courier New"/>
                <a:cs typeface="Courier New"/>
                <a:sym typeface="Courier New"/>
              </a:rPr>
              <a:t>, </a:t>
            </a:r>
            <a:r>
              <a:rPr lang="en" sz="1200">
                <a:solidFill>
                  <a:srgbClr val="A5D6FF"/>
                </a:solidFill>
                <a:highlight>
                  <a:srgbClr val="121314"/>
                </a:highlight>
                <a:latin typeface="Courier New"/>
                <a:ea typeface="Courier New"/>
                <a:cs typeface="Courier New"/>
                <a:sym typeface="Courier New"/>
              </a:rPr>
              <a:t>"two"</a:t>
            </a:r>
            <a:r>
              <a:rPr lang="en" sz="1200">
                <a:solidFill>
                  <a:srgbClr val="BBBEBF"/>
                </a:solidFill>
                <a:highlight>
                  <a:srgbClr val="121314"/>
                </a:highlight>
                <a:latin typeface="Courier New"/>
                <a:ea typeface="Courier New"/>
                <a:cs typeface="Courier New"/>
                <a:sym typeface="Courier New"/>
              </a:rPr>
              <a:t>, </a:t>
            </a:r>
            <a:r>
              <a:rPr lang="en" sz="1200">
                <a:solidFill>
                  <a:srgbClr val="A5D6FF"/>
                </a:solidFill>
                <a:highlight>
                  <a:srgbClr val="121314"/>
                </a:highlight>
                <a:latin typeface="Courier New"/>
                <a:ea typeface="Courier New"/>
                <a:cs typeface="Courier New"/>
                <a:sym typeface="Courier New"/>
              </a:rPr>
              <a:t>"three"</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one</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two</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three</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foo</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one</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two</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three</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p:txBody>
      </p:sp>
      <p:pic>
        <p:nvPicPr>
          <p:cNvPr id="808" name="Google Shape;808;p110"/>
          <p:cNvPicPr preferRelativeResize="0"/>
          <p:nvPr/>
        </p:nvPicPr>
        <p:blipFill>
          <a:blip r:embed="rId3">
            <a:alphaModFix/>
          </a:blip>
          <a:stretch>
            <a:fillRect/>
          </a:stretch>
        </p:blipFill>
        <p:spPr>
          <a:xfrm>
            <a:off x="5068075" y="2291350"/>
            <a:ext cx="695325" cy="685800"/>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p11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Evaluation and nesting</a:t>
            </a:r>
            <a:endParaRPr/>
          </a:p>
        </p:txBody>
      </p:sp>
      <p:sp>
        <p:nvSpPr>
          <p:cNvPr id="814" name="Google Shape;814;p11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Chaining assignments or nesting assignments in other expressions can result in surprising behavior.</a:t>
            </a:r>
            <a:endParaRPr/>
          </a:p>
          <a:p>
            <a:pPr marL="914400" lvl="1" indent="-317500" algn="l" rtl="0">
              <a:spcBef>
                <a:spcPts val="0"/>
              </a:spcBef>
              <a:spcAft>
                <a:spcPts val="0"/>
              </a:spcAft>
              <a:buSzPts val="1400"/>
              <a:buChar char="○"/>
            </a:pPr>
            <a:r>
              <a:rPr lang="en" u="sng">
                <a:solidFill>
                  <a:schemeClr val="hlink"/>
                </a:solidFill>
                <a:hlinkClick r:id="rId3"/>
              </a:rPr>
              <a:t>https://github.com/airbnb/javascript/blob/master/README.md#variables--no-chain-assignment</a:t>
            </a:r>
            <a:r>
              <a:rPr lang="en"/>
              <a:t> </a:t>
            </a:r>
            <a:endParaRPr/>
          </a:p>
          <a:p>
            <a:pPr marL="457200" lvl="0" indent="-342900" algn="l" rtl="0">
              <a:spcBef>
                <a:spcPts val="0"/>
              </a:spcBef>
              <a:spcAft>
                <a:spcPts val="0"/>
              </a:spcAft>
              <a:buSzPts val="1800"/>
              <a:buChar char="●"/>
            </a:pPr>
            <a:r>
              <a:rPr lang="en"/>
              <a:t>When chaining these expressions without parentheses or other grouping operators like array literals, the assignment expressions are grouped right to left (they are right-associative), but they are evaluated left to right.</a:t>
            </a:r>
            <a:endParaRPr/>
          </a:p>
        </p:txBody>
      </p:sp>
      <p:sp>
        <p:nvSpPr>
          <p:cNvPr id="815" name="Google Shape;815;p11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100</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p11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Chained Expression Example</a:t>
            </a:r>
            <a:endParaRPr/>
          </a:p>
        </p:txBody>
      </p:sp>
      <p:sp>
        <p:nvSpPr>
          <p:cNvPr id="821" name="Google Shape;821;p11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101</a:t>
            </a:fld>
            <a:endParaRPr/>
          </a:p>
        </p:txBody>
      </p:sp>
      <p:sp>
        <p:nvSpPr>
          <p:cNvPr id="822" name="Google Shape;822;p112"/>
          <p:cNvSpPr txBox="1"/>
          <p:nvPr/>
        </p:nvSpPr>
        <p:spPr>
          <a:xfrm>
            <a:off x="473175" y="1364150"/>
            <a:ext cx="3000000" cy="33246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function</a:t>
            </a:r>
            <a:r>
              <a:rPr lang="en" sz="1200">
                <a:solidFill>
                  <a:srgbClr val="BBBEBF"/>
                </a:solidFill>
                <a:highlight>
                  <a:srgbClr val="121314"/>
                </a:highlight>
                <a:latin typeface="Courier New"/>
                <a:ea typeface="Courier New"/>
                <a:cs typeface="Courier New"/>
                <a:sym typeface="Courier New"/>
              </a:rPr>
              <a:t> </a:t>
            </a:r>
            <a:r>
              <a:rPr lang="en" sz="1200">
                <a:solidFill>
                  <a:srgbClr val="D2A8FF"/>
                </a:solidFill>
                <a:highlight>
                  <a:srgbClr val="121314"/>
                </a:highlight>
                <a:latin typeface="Courier New"/>
                <a:ea typeface="Courier New"/>
                <a:cs typeface="Courier New"/>
                <a:sym typeface="Courier New"/>
              </a:rPr>
              <a:t>f</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console.</a:t>
            </a:r>
            <a:r>
              <a:rPr lang="en" sz="1200">
                <a:solidFill>
                  <a:srgbClr val="D2A8FF"/>
                </a:solidFill>
                <a:highlight>
                  <a:srgbClr val="121314"/>
                </a:highlight>
                <a:latin typeface="Courier New"/>
                <a:ea typeface="Courier New"/>
                <a:cs typeface="Courier New"/>
                <a:sym typeface="Courier New"/>
              </a:rPr>
              <a:t>log</a:t>
            </a:r>
            <a:r>
              <a:rPr lang="en" sz="1200">
                <a:solidFill>
                  <a:srgbClr val="C9D1D9"/>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"F!"</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C586C0"/>
                </a:solidFill>
                <a:highlight>
                  <a:srgbClr val="121314"/>
                </a:highlight>
                <a:latin typeface="Courier New"/>
                <a:ea typeface="Courier New"/>
                <a:cs typeface="Courier New"/>
                <a:sym typeface="Courier New"/>
              </a:rPr>
              <a:t>return</a:t>
            </a:r>
            <a:r>
              <a:rPr lang="en" sz="1200">
                <a:solidFill>
                  <a:srgbClr val="C9D1D9"/>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2</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function</a:t>
            </a:r>
            <a:r>
              <a:rPr lang="en" sz="1200">
                <a:solidFill>
                  <a:srgbClr val="BBBEBF"/>
                </a:solidFill>
                <a:highlight>
                  <a:srgbClr val="121314"/>
                </a:highlight>
                <a:latin typeface="Courier New"/>
                <a:ea typeface="Courier New"/>
                <a:cs typeface="Courier New"/>
                <a:sym typeface="Courier New"/>
              </a:rPr>
              <a:t> </a:t>
            </a:r>
            <a:r>
              <a:rPr lang="en" sz="1200">
                <a:solidFill>
                  <a:srgbClr val="D2A8FF"/>
                </a:solidFill>
                <a:highlight>
                  <a:srgbClr val="121314"/>
                </a:highlight>
                <a:latin typeface="Courier New"/>
                <a:ea typeface="Courier New"/>
                <a:cs typeface="Courier New"/>
                <a:sym typeface="Courier New"/>
              </a:rPr>
              <a:t>g</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console.</a:t>
            </a:r>
            <a:r>
              <a:rPr lang="en" sz="1200">
                <a:solidFill>
                  <a:srgbClr val="D2A8FF"/>
                </a:solidFill>
                <a:highlight>
                  <a:srgbClr val="121314"/>
                </a:highlight>
                <a:latin typeface="Courier New"/>
                <a:ea typeface="Courier New"/>
                <a:cs typeface="Courier New"/>
                <a:sym typeface="Courier New"/>
              </a:rPr>
              <a:t>log</a:t>
            </a:r>
            <a:r>
              <a:rPr lang="en" sz="1200">
                <a:solidFill>
                  <a:srgbClr val="C9D1D9"/>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"G!"</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C586C0"/>
                </a:solidFill>
                <a:highlight>
                  <a:srgbClr val="121314"/>
                </a:highlight>
                <a:latin typeface="Courier New"/>
                <a:ea typeface="Courier New"/>
                <a:cs typeface="Courier New"/>
                <a:sym typeface="Courier New"/>
              </a:rPr>
              <a:t>return</a:t>
            </a:r>
            <a:r>
              <a:rPr lang="en" sz="1200">
                <a:solidFill>
                  <a:srgbClr val="C9D1D9"/>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3</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let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x</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y</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y</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x</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D2A8FF"/>
                </a:solidFill>
                <a:highlight>
                  <a:srgbClr val="121314"/>
                </a:highlight>
                <a:latin typeface="Courier New"/>
                <a:ea typeface="Courier New"/>
                <a:cs typeface="Courier New"/>
                <a:sym typeface="Courier New"/>
              </a:rPr>
              <a:t>f</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y</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D2A8FF"/>
                </a:solidFill>
                <a:highlight>
                  <a:srgbClr val="121314"/>
                </a:highlight>
                <a:latin typeface="Courier New"/>
                <a:ea typeface="Courier New"/>
                <a:cs typeface="Courier New"/>
                <a:sym typeface="Courier New"/>
              </a:rPr>
              <a:t>f</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x</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D2A8FF"/>
                </a:solidFill>
                <a:highlight>
                  <a:srgbClr val="121314"/>
                </a:highlight>
                <a:latin typeface="Courier New"/>
                <a:ea typeface="Courier New"/>
                <a:cs typeface="Courier New"/>
                <a:sym typeface="Courier New"/>
              </a:rPr>
              <a:t>g</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x</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f</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D2A8FF"/>
                </a:solidFill>
                <a:highlight>
                  <a:srgbClr val="121314"/>
                </a:highlight>
                <a:latin typeface="Courier New"/>
                <a:ea typeface="Courier New"/>
                <a:cs typeface="Courier New"/>
                <a:sym typeface="Courier New"/>
              </a:rPr>
              <a:t>g</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p:txBody>
      </p:sp>
      <p:sp>
        <p:nvSpPr>
          <p:cNvPr id="823" name="Google Shape;823;p112"/>
          <p:cNvSpPr txBox="1"/>
          <p:nvPr/>
        </p:nvSpPr>
        <p:spPr>
          <a:xfrm>
            <a:off x="3794100" y="1036250"/>
            <a:ext cx="4828200" cy="3980400"/>
          </a:xfrm>
          <a:prstGeom prst="rect">
            <a:avLst/>
          </a:prstGeom>
          <a:noFill/>
          <a:ln>
            <a:noFill/>
          </a:ln>
        </p:spPr>
        <p:txBody>
          <a:bodyPr spcFirstLastPara="1" wrap="square" lIns="91425" tIns="91425" rIns="91425" bIns="91425" anchor="t" anchorCtr="0">
            <a:spAutoFit/>
          </a:bodyPr>
          <a:lstStyle/>
          <a:p>
            <a:pPr marL="457200" lvl="0" indent="-304800" algn="l" rtl="0">
              <a:lnSpc>
                <a:spcPct val="115000"/>
              </a:lnSpc>
              <a:spcBef>
                <a:spcPts val="1200"/>
              </a:spcBef>
              <a:spcAft>
                <a:spcPts val="0"/>
              </a:spcAft>
              <a:buClr>
                <a:schemeClr val="dk2"/>
              </a:buClr>
              <a:buSzPts val="1200"/>
              <a:buAutoNum type="arabicPeriod"/>
            </a:pPr>
            <a:r>
              <a:rPr lang="en" sz="1200">
                <a:solidFill>
                  <a:schemeClr val="dk2"/>
                </a:solidFill>
              </a:rPr>
              <a:t>The assignment expression </a:t>
            </a:r>
            <a:r>
              <a:rPr lang="en" sz="1200">
                <a:solidFill>
                  <a:srgbClr val="188038"/>
                </a:solidFill>
                <a:latin typeface="Courier New"/>
                <a:ea typeface="Courier New"/>
                <a:cs typeface="Courier New"/>
                <a:sym typeface="Courier New"/>
              </a:rPr>
              <a:t>y = x = f()</a:t>
            </a:r>
            <a:r>
              <a:rPr lang="en" sz="1200">
                <a:solidFill>
                  <a:schemeClr val="dk2"/>
                </a:solidFill>
              </a:rPr>
              <a:t> starts to evaluate.</a:t>
            </a:r>
            <a:endParaRPr sz="1200">
              <a:solidFill>
                <a:schemeClr val="dk2"/>
              </a:solidFill>
            </a:endParaRPr>
          </a:p>
          <a:p>
            <a:pPr marL="914400" lvl="1" indent="-304800" algn="l" rtl="0">
              <a:lnSpc>
                <a:spcPct val="115000"/>
              </a:lnSpc>
              <a:spcBef>
                <a:spcPts val="0"/>
              </a:spcBef>
              <a:spcAft>
                <a:spcPts val="0"/>
              </a:spcAft>
              <a:buClr>
                <a:schemeClr val="dk2"/>
              </a:buClr>
              <a:buSzPts val="1200"/>
              <a:buAutoNum type="arabicPeriod"/>
            </a:pPr>
            <a:r>
              <a:rPr lang="en" sz="1200">
                <a:solidFill>
                  <a:schemeClr val="dk2"/>
                </a:solidFill>
              </a:rPr>
              <a:t>The </a:t>
            </a:r>
            <a:r>
              <a:rPr lang="en" sz="1200">
                <a:solidFill>
                  <a:srgbClr val="188038"/>
                </a:solidFill>
                <a:latin typeface="Courier New"/>
                <a:ea typeface="Courier New"/>
                <a:cs typeface="Courier New"/>
                <a:sym typeface="Courier New"/>
              </a:rPr>
              <a:t>y</a:t>
            </a:r>
            <a:r>
              <a:rPr lang="en" sz="1200">
                <a:solidFill>
                  <a:schemeClr val="dk2"/>
                </a:solidFill>
              </a:rPr>
              <a:t> on this assignment's left-hand side evaluates into a reference to the variable named </a:t>
            </a:r>
            <a:r>
              <a:rPr lang="en" sz="1200">
                <a:solidFill>
                  <a:srgbClr val="188038"/>
                </a:solidFill>
                <a:latin typeface="Courier New"/>
                <a:ea typeface="Courier New"/>
                <a:cs typeface="Courier New"/>
                <a:sym typeface="Courier New"/>
              </a:rPr>
              <a:t>y</a:t>
            </a:r>
            <a:r>
              <a:rPr lang="en" sz="1200">
                <a:solidFill>
                  <a:schemeClr val="dk2"/>
                </a:solidFill>
              </a:rPr>
              <a:t>.</a:t>
            </a:r>
            <a:endParaRPr sz="1200">
              <a:solidFill>
                <a:schemeClr val="dk2"/>
              </a:solidFill>
            </a:endParaRPr>
          </a:p>
          <a:p>
            <a:pPr marL="914400" lvl="1" indent="-304800" algn="l" rtl="0">
              <a:lnSpc>
                <a:spcPct val="115000"/>
              </a:lnSpc>
              <a:spcBef>
                <a:spcPts val="0"/>
              </a:spcBef>
              <a:spcAft>
                <a:spcPts val="0"/>
              </a:spcAft>
              <a:buClr>
                <a:schemeClr val="dk2"/>
              </a:buClr>
              <a:buSzPts val="1200"/>
              <a:buAutoNum type="arabicPeriod"/>
            </a:pPr>
            <a:r>
              <a:rPr lang="en" sz="1200">
                <a:solidFill>
                  <a:schemeClr val="dk2"/>
                </a:solidFill>
              </a:rPr>
              <a:t>The assignment expression </a:t>
            </a:r>
            <a:r>
              <a:rPr lang="en" sz="1200">
                <a:solidFill>
                  <a:srgbClr val="188038"/>
                </a:solidFill>
                <a:latin typeface="Courier New"/>
                <a:ea typeface="Courier New"/>
                <a:cs typeface="Courier New"/>
                <a:sym typeface="Courier New"/>
              </a:rPr>
              <a:t>x = f()</a:t>
            </a:r>
            <a:r>
              <a:rPr lang="en" sz="1200">
                <a:solidFill>
                  <a:schemeClr val="dk2"/>
                </a:solidFill>
              </a:rPr>
              <a:t> starts to evaluate.</a:t>
            </a:r>
            <a:endParaRPr sz="1200">
              <a:solidFill>
                <a:schemeClr val="dk2"/>
              </a:solidFill>
            </a:endParaRPr>
          </a:p>
          <a:p>
            <a:pPr marL="1371600" lvl="2" indent="-304800" algn="l" rtl="0">
              <a:lnSpc>
                <a:spcPct val="115000"/>
              </a:lnSpc>
              <a:spcBef>
                <a:spcPts val="0"/>
              </a:spcBef>
              <a:spcAft>
                <a:spcPts val="0"/>
              </a:spcAft>
              <a:buClr>
                <a:schemeClr val="dk2"/>
              </a:buClr>
              <a:buSzPts val="1200"/>
              <a:buAutoNum type="arabicPeriod"/>
            </a:pPr>
            <a:r>
              <a:rPr lang="en" sz="1200">
                <a:solidFill>
                  <a:schemeClr val="dk2"/>
                </a:solidFill>
              </a:rPr>
              <a:t>The </a:t>
            </a:r>
            <a:r>
              <a:rPr lang="en" sz="1200">
                <a:solidFill>
                  <a:srgbClr val="188038"/>
                </a:solidFill>
                <a:latin typeface="Courier New"/>
                <a:ea typeface="Courier New"/>
                <a:cs typeface="Courier New"/>
                <a:sym typeface="Courier New"/>
              </a:rPr>
              <a:t>x</a:t>
            </a:r>
            <a:r>
              <a:rPr lang="en" sz="1200">
                <a:solidFill>
                  <a:schemeClr val="dk2"/>
                </a:solidFill>
              </a:rPr>
              <a:t> on this assignment's left-hand side evaluates into a reference to the variable named </a:t>
            </a:r>
            <a:r>
              <a:rPr lang="en" sz="1200">
                <a:solidFill>
                  <a:srgbClr val="188038"/>
                </a:solidFill>
                <a:latin typeface="Courier New"/>
                <a:ea typeface="Courier New"/>
                <a:cs typeface="Courier New"/>
                <a:sym typeface="Courier New"/>
              </a:rPr>
              <a:t>x</a:t>
            </a:r>
            <a:r>
              <a:rPr lang="en" sz="1200">
                <a:solidFill>
                  <a:schemeClr val="dk2"/>
                </a:solidFill>
              </a:rPr>
              <a:t>.</a:t>
            </a:r>
            <a:endParaRPr sz="1200">
              <a:solidFill>
                <a:schemeClr val="dk2"/>
              </a:solidFill>
            </a:endParaRPr>
          </a:p>
          <a:p>
            <a:pPr marL="1371600" lvl="2" indent="-304800" algn="l" rtl="0">
              <a:lnSpc>
                <a:spcPct val="115000"/>
              </a:lnSpc>
              <a:spcBef>
                <a:spcPts val="0"/>
              </a:spcBef>
              <a:spcAft>
                <a:spcPts val="0"/>
              </a:spcAft>
              <a:buClr>
                <a:schemeClr val="dk2"/>
              </a:buClr>
              <a:buSzPts val="1200"/>
              <a:buAutoNum type="arabicPeriod"/>
            </a:pPr>
            <a:r>
              <a:rPr lang="en" sz="1200">
                <a:solidFill>
                  <a:schemeClr val="dk2"/>
                </a:solidFill>
              </a:rPr>
              <a:t>The function call </a:t>
            </a:r>
            <a:r>
              <a:rPr lang="en" sz="1200">
                <a:solidFill>
                  <a:srgbClr val="188038"/>
                </a:solidFill>
                <a:latin typeface="Courier New"/>
                <a:ea typeface="Courier New"/>
                <a:cs typeface="Courier New"/>
                <a:sym typeface="Courier New"/>
              </a:rPr>
              <a:t>f()</a:t>
            </a:r>
            <a:r>
              <a:rPr lang="en" sz="1200">
                <a:solidFill>
                  <a:schemeClr val="dk2"/>
                </a:solidFill>
              </a:rPr>
              <a:t> prints "F!" to the console and then evaluates to the number </a:t>
            </a:r>
            <a:r>
              <a:rPr lang="en" sz="1200">
                <a:solidFill>
                  <a:srgbClr val="188038"/>
                </a:solidFill>
                <a:latin typeface="Courier New"/>
                <a:ea typeface="Courier New"/>
                <a:cs typeface="Courier New"/>
                <a:sym typeface="Courier New"/>
              </a:rPr>
              <a:t>2</a:t>
            </a:r>
            <a:r>
              <a:rPr lang="en" sz="1200">
                <a:solidFill>
                  <a:schemeClr val="dk2"/>
                </a:solidFill>
              </a:rPr>
              <a:t>.</a:t>
            </a:r>
            <a:endParaRPr sz="1200">
              <a:solidFill>
                <a:schemeClr val="dk2"/>
              </a:solidFill>
            </a:endParaRPr>
          </a:p>
          <a:p>
            <a:pPr marL="1371600" lvl="2" indent="-304800" algn="l" rtl="0">
              <a:lnSpc>
                <a:spcPct val="115000"/>
              </a:lnSpc>
              <a:spcBef>
                <a:spcPts val="0"/>
              </a:spcBef>
              <a:spcAft>
                <a:spcPts val="0"/>
              </a:spcAft>
              <a:buClr>
                <a:schemeClr val="dk2"/>
              </a:buClr>
              <a:buSzPts val="1200"/>
              <a:buAutoNum type="arabicPeriod"/>
            </a:pPr>
            <a:r>
              <a:rPr lang="en" sz="1200">
                <a:solidFill>
                  <a:schemeClr val="dk2"/>
                </a:solidFill>
              </a:rPr>
              <a:t>That </a:t>
            </a:r>
            <a:r>
              <a:rPr lang="en" sz="1200">
                <a:solidFill>
                  <a:srgbClr val="188038"/>
                </a:solidFill>
                <a:latin typeface="Courier New"/>
                <a:ea typeface="Courier New"/>
                <a:cs typeface="Courier New"/>
                <a:sym typeface="Courier New"/>
              </a:rPr>
              <a:t>2</a:t>
            </a:r>
            <a:r>
              <a:rPr lang="en" sz="1200">
                <a:solidFill>
                  <a:schemeClr val="dk2"/>
                </a:solidFill>
              </a:rPr>
              <a:t> result from </a:t>
            </a:r>
            <a:r>
              <a:rPr lang="en" sz="1200">
                <a:solidFill>
                  <a:srgbClr val="188038"/>
                </a:solidFill>
                <a:latin typeface="Courier New"/>
                <a:ea typeface="Courier New"/>
                <a:cs typeface="Courier New"/>
                <a:sym typeface="Courier New"/>
              </a:rPr>
              <a:t>f()</a:t>
            </a:r>
            <a:r>
              <a:rPr lang="en" sz="1200">
                <a:solidFill>
                  <a:schemeClr val="dk2"/>
                </a:solidFill>
              </a:rPr>
              <a:t> is assigned to </a:t>
            </a:r>
            <a:r>
              <a:rPr lang="en" sz="1200">
                <a:solidFill>
                  <a:srgbClr val="188038"/>
                </a:solidFill>
                <a:latin typeface="Courier New"/>
                <a:ea typeface="Courier New"/>
                <a:cs typeface="Courier New"/>
                <a:sym typeface="Courier New"/>
              </a:rPr>
              <a:t>x</a:t>
            </a:r>
            <a:r>
              <a:rPr lang="en" sz="1200">
                <a:solidFill>
                  <a:schemeClr val="dk2"/>
                </a:solidFill>
              </a:rPr>
              <a:t>.</a:t>
            </a:r>
            <a:endParaRPr sz="1200">
              <a:solidFill>
                <a:schemeClr val="dk2"/>
              </a:solidFill>
            </a:endParaRPr>
          </a:p>
          <a:p>
            <a:pPr marL="914400" lvl="1" indent="-304800" algn="l" rtl="0">
              <a:lnSpc>
                <a:spcPct val="115000"/>
              </a:lnSpc>
              <a:spcBef>
                <a:spcPts val="0"/>
              </a:spcBef>
              <a:spcAft>
                <a:spcPts val="0"/>
              </a:spcAft>
              <a:buClr>
                <a:schemeClr val="dk2"/>
              </a:buClr>
              <a:buSzPts val="1200"/>
              <a:buAutoNum type="arabicPeriod"/>
            </a:pPr>
            <a:r>
              <a:rPr lang="en" sz="1200">
                <a:solidFill>
                  <a:schemeClr val="dk2"/>
                </a:solidFill>
              </a:rPr>
              <a:t>The assignment expression </a:t>
            </a:r>
            <a:r>
              <a:rPr lang="en" sz="1200">
                <a:solidFill>
                  <a:srgbClr val="188038"/>
                </a:solidFill>
                <a:latin typeface="Courier New"/>
                <a:ea typeface="Courier New"/>
                <a:cs typeface="Courier New"/>
                <a:sym typeface="Courier New"/>
              </a:rPr>
              <a:t>x = f()</a:t>
            </a:r>
            <a:r>
              <a:rPr lang="en" sz="1200">
                <a:solidFill>
                  <a:schemeClr val="dk2"/>
                </a:solidFill>
              </a:rPr>
              <a:t> has now finished evaluating; its result is the new value of </a:t>
            </a:r>
            <a:r>
              <a:rPr lang="en" sz="1200">
                <a:solidFill>
                  <a:srgbClr val="188038"/>
                </a:solidFill>
                <a:latin typeface="Courier New"/>
                <a:ea typeface="Courier New"/>
                <a:cs typeface="Courier New"/>
                <a:sym typeface="Courier New"/>
              </a:rPr>
              <a:t>x</a:t>
            </a:r>
            <a:r>
              <a:rPr lang="en" sz="1200">
                <a:solidFill>
                  <a:schemeClr val="dk2"/>
                </a:solidFill>
              </a:rPr>
              <a:t>, which is </a:t>
            </a:r>
            <a:r>
              <a:rPr lang="en" sz="1200">
                <a:solidFill>
                  <a:srgbClr val="188038"/>
                </a:solidFill>
                <a:latin typeface="Courier New"/>
                <a:ea typeface="Courier New"/>
                <a:cs typeface="Courier New"/>
                <a:sym typeface="Courier New"/>
              </a:rPr>
              <a:t>2</a:t>
            </a:r>
            <a:r>
              <a:rPr lang="en" sz="1200">
                <a:solidFill>
                  <a:schemeClr val="dk2"/>
                </a:solidFill>
              </a:rPr>
              <a:t>.</a:t>
            </a:r>
            <a:endParaRPr sz="1200">
              <a:solidFill>
                <a:schemeClr val="dk2"/>
              </a:solidFill>
            </a:endParaRPr>
          </a:p>
          <a:p>
            <a:pPr marL="914400" lvl="1" indent="-304800" algn="l" rtl="0">
              <a:lnSpc>
                <a:spcPct val="115000"/>
              </a:lnSpc>
              <a:spcBef>
                <a:spcPts val="0"/>
              </a:spcBef>
              <a:spcAft>
                <a:spcPts val="0"/>
              </a:spcAft>
              <a:buClr>
                <a:schemeClr val="dk2"/>
              </a:buClr>
              <a:buSzPts val="1200"/>
              <a:buAutoNum type="arabicPeriod"/>
            </a:pPr>
            <a:r>
              <a:rPr lang="en" sz="1200">
                <a:solidFill>
                  <a:schemeClr val="dk2"/>
                </a:solidFill>
              </a:rPr>
              <a:t>That </a:t>
            </a:r>
            <a:r>
              <a:rPr lang="en" sz="1200">
                <a:solidFill>
                  <a:srgbClr val="188038"/>
                </a:solidFill>
                <a:latin typeface="Courier New"/>
                <a:ea typeface="Courier New"/>
                <a:cs typeface="Courier New"/>
                <a:sym typeface="Courier New"/>
              </a:rPr>
              <a:t>2</a:t>
            </a:r>
            <a:r>
              <a:rPr lang="en" sz="1200">
                <a:solidFill>
                  <a:schemeClr val="dk2"/>
                </a:solidFill>
              </a:rPr>
              <a:t> result in turn is also assigned to </a:t>
            </a:r>
            <a:r>
              <a:rPr lang="en" sz="1200">
                <a:solidFill>
                  <a:srgbClr val="188038"/>
                </a:solidFill>
                <a:latin typeface="Courier New"/>
                <a:ea typeface="Courier New"/>
                <a:cs typeface="Courier New"/>
                <a:sym typeface="Courier New"/>
              </a:rPr>
              <a:t>y</a:t>
            </a:r>
            <a:r>
              <a:rPr lang="en" sz="1200">
                <a:solidFill>
                  <a:schemeClr val="dk2"/>
                </a:solidFill>
              </a:rPr>
              <a:t>.</a:t>
            </a:r>
            <a:endParaRPr sz="1200">
              <a:solidFill>
                <a:schemeClr val="dk2"/>
              </a:solidFill>
            </a:endParaRPr>
          </a:p>
          <a:p>
            <a:pPr marL="457200" lvl="0" indent="-304800" algn="l" rtl="0">
              <a:lnSpc>
                <a:spcPct val="115000"/>
              </a:lnSpc>
              <a:spcBef>
                <a:spcPts val="0"/>
              </a:spcBef>
              <a:spcAft>
                <a:spcPts val="0"/>
              </a:spcAft>
              <a:buClr>
                <a:schemeClr val="dk2"/>
              </a:buClr>
              <a:buSzPts val="1200"/>
              <a:buAutoNum type="arabicPeriod"/>
            </a:pPr>
            <a:r>
              <a:rPr lang="en" sz="1200">
                <a:solidFill>
                  <a:schemeClr val="dk2"/>
                </a:solidFill>
              </a:rPr>
              <a:t>The assignment expression </a:t>
            </a:r>
            <a:r>
              <a:rPr lang="en" sz="1200">
                <a:solidFill>
                  <a:srgbClr val="188038"/>
                </a:solidFill>
                <a:latin typeface="Courier New"/>
                <a:ea typeface="Courier New"/>
                <a:cs typeface="Courier New"/>
                <a:sym typeface="Courier New"/>
              </a:rPr>
              <a:t>y = x = f()</a:t>
            </a:r>
            <a:r>
              <a:rPr lang="en" sz="1200">
                <a:solidFill>
                  <a:schemeClr val="dk2"/>
                </a:solidFill>
              </a:rPr>
              <a:t> has now finished evaluating; its result is the new value of </a:t>
            </a:r>
            <a:r>
              <a:rPr lang="en" sz="1200">
                <a:solidFill>
                  <a:srgbClr val="188038"/>
                </a:solidFill>
                <a:latin typeface="Courier New"/>
                <a:ea typeface="Courier New"/>
                <a:cs typeface="Courier New"/>
                <a:sym typeface="Courier New"/>
              </a:rPr>
              <a:t>y</a:t>
            </a:r>
            <a:r>
              <a:rPr lang="en" sz="1200">
                <a:solidFill>
                  <a:schemeClr val="dk2"/>
                </a:solidFill>
              </a:rPr>
              <a:t> – which happens to be </a:t>
            </a:r>
            <a:r>
              <a:rPr lang="en" sz="1200">
                <a:solidFill>
                  <a:srgbClr val="188038"/>
                </a:solidFill>
                <a:latin typeface="Courier New"/>
                <a:ea typeface="Courier New"/>
                <a:cs typeface="Courier New"/>
                <a:sym typeface="Courier New"/>
              </a:rPr>
              <a:t>2</a:t>
            </a:r>
            <a:r>
              <a:rPr lang="en" sz="1200">
                <a:solidFill>
                  <a:schemeClr val="dk2"/>
                </a:solidFill>
              </a:rPr>
              <a:t>. </a:t>
            </a:r>
            <a:r>
              <a:rPr lang="en" sz="1200">
                <a:solidFill>
                  <a:srgbClr val="188038"/>
                </a:solidFill>
                <a:latin typeface="Courier New"/>
                <a:ea typeface="Courier New"/>
                <a:cs typeface="Courier New"/>
                <a:sym typeface="Courier New"/>
              </a:rPr>
              <a:t>x</a:t>
            </a:r>
            <a:r>
              <a:rPr lang="en" sz="1200">
                <a:solidFill>
                  <a:schemeClr val="dk2"/>
                </a:solidFill>
              </a:rPr>
              <a:t> and </a:t>
            </a:r>
            <a:r>
              <a:rPr lang="en" sz="1200">
                <a:solidFill>
                  <a:srgbClr val="188038"/>
                </a:solidFill>
                <a:latin typeface="Courier New"/>
                <a:ea typeface="Courier New"/>
                <a:cs typeface="Courier New"/>
                <a:sym typeface="Courier New"/>
              </a:rPr>
              <a:t>y</a:t>
            </a:r>
            <a:r>
              <a:rPr lang="en" sz="1200">
                <a:solidFill>
                  <a:schemeClr val="dk2"/>
                </a:solidFill>
              </a:rPr>
              <a:t> are assigned to </a:t>
            </a:r>
            <a:r>
              <a:rPr lang="en" sz="1200">
                <a:solidFill>
                  <a:srgbClr val="188038"/>
                </a:solidFill>
                <a:latin typeface="Courier New"/>
                <a:ea typeface="Courier New"/>
                <a:cs typeface="Courier New"/>
                <a:sym typeface="Courier New"/>
              </a:rPr>
              <a:t>2</a:t>
            </a:r>
            <a:r>
              <a:rPr lang="en" sz="1200">
                <a:solidFill>
                  <a:schemeClr val="dk2"/>
                </a:solidFill>
              </a:rPr>
              <a:t>, and the console has printed "F!".</a:t>
            </a:r>
            <a:endParaRPr sz="1200">
              <a:solidFill>
                <a:schemeClr val="dk2"/>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11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Comparison operators</a:t>
            </a:r>
            <a:endParaRPr/>
          </a:p>
        </p:txBody>
      </p:sp>
      <p:sp>
        <p:nvSpPr>
          <p:cNvPr id="829" name="Google Shape;829;p11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102</a:t>
            </a:fld>
            <a:endParaRPr/>
          </a:p>
        </p:txBody>
      </p:sp>
      <p:graphicFrame>
        <p:nvGraphicFramePr>
          <p:cNvPr id="830" name="Google Shape;830;p113"/>
          <p:cNvGraphicFramePr/>
          <p:nvPr/>
        </p:nvGraphicFramePr>
        <p:xfrm>
          <a:off x="209100" y="1270100"/>
          <a:ext cx="8345600" cy="3614472"/>
        </p:xfrm>
        <a:graphic>
          <a:graphicData uri="http://schemas.openxmlformats.org/drawingml/2006/table">
            <a:tbl>
              <a:tblPr>
                <a:noFill/>
                <a:tableStyleId>{160DF2F2-2E2D-4924-9058-CAD130D829AF}</a:tableStyleId>
              </a:tblPr>
              <a:tblGrid>
                <a:gridCol w="1702625">
                  <a:extLst>
                    <a:ext uri="{9D8B030D-6E8A-4147-A177-3AD203B41FA5}">
                      <a16:colId xmlns:a16="http://schemas.microsoft.com/office/drawing/2014/main" val="20000"/>
                    </a:ext>
                  </a:extLst>
                </a:gridCol>
                <a:gridCol w="5013250">
                  <a:extLst>
                    <a:ext uri="{9D8B030D-6E8A-4147-A177-3AD203B41FA5}">
                      <a16:colId xmlns:a16="http://schemas.microsoft.com/office/drawing/2014/main" val="20001"/>
                    </a:ext>
                  </a:extLst>
                </a:gridCol>
                <a:gridCol w="1629725">
                  <a:extLst>
                    <a:ext uri="{9D8B030D-6E8A-4147-A177-3AD203B41FA5}">
                      <a16:colId xmlns:a16="http://schemas.microsoft.com/office/drawing/2014/main" val="20002"/>
                    </a:ext>
                  </a:extLst>
                </a:gridCol>
              </a:tblGrid>
              <a:tr h="349475">
                <a:tc>
                  <a:txBody>
                    <a:bodyPr/>
                    <a:lstStyle/>
                    <a:p>
                      <a:pPr marL="0" lvl="0" indent="0" algn="ctr" rtl="0">
                        <a:lnSpc>
                          <a:spcPct val="115000"/>
                        </a:lnSpc>
                        <a:spcBef>
                          <a:spcPts val="0"/>
                        </a:spcBef>
                        <a:spcAft>
                          <a:spcPts val="0"/>
                        </a:spcAft>
                        <a:buNone/>
                      </a:pPr>
                      <a:r>
                        <a:rPr lang="en" sz="1000" b="1"/>
                        <a:t>Operator</a:t>
                      </a:r>
                      <a:endParaRPr sz="10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b="1"/>
                        <a:t>Description</a:t>
                      </a:r>
                      <a:endParaRPr sz="10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b="1"/>
                        <a:t>Examples returning true</a:t>
                      </a:r>
                      <a:endParaRPr sz="10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393775">
                <a:tc>
                  <a:txBody>
                    <a:bodyPr/>
                    <a:lstStyle/>
                    <a:p>
                      <a:pPr marL="0" lvl="0" indent="0" algn="r" rtl="0">
                        <a:lnSpc>
                          <a:spcPct val="115000"/>
                        </a:lnSpc>
                        <a:spcBef>
                          <a:spcPts val="0"/>
                        </a:spcBef>
                        <a:spcAft>
                          <a:spcPts val="0"/>
                        </a:spcAft>
                        <a:buNone/>
                      </a:pPr>
                      <a:r>
                        <a:rPr lang="en" sz="1000" u="sng">
                          <a:solidFill>
                            <a:schemeClr val="hlink"/>
                          </a:solidFill>
                          <a:hlinkClick r:id="rId3"/>
                        </a:rPr>
                        <a:t>Equal</a:t>
                      </a:r>
                      <a:r>
                        <a:rPr lang="en" sz="1000"/>
                        <a:t> (==)</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Returns true if the operands are equal.</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3 == var1; "3" == var1; 3 == '3'</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96950">
                <a:tc>
                  <a:txBody>
                    <a:bodyPr/>
                    <a:lstStyle/>
                    <a:p>
                      <a:pPr marL="0" lvl="0" indent="0" algn="r" rtl="0">
                        <a:lnSpc>
                          <a:spcPct val="115000"/>
                        </a:lnSpc>
                        <a:spcBef>
                          <a:spcPts val="0"/>
                        </a:spcBef>
                        <a:spcAft>
                          <a:spcPts val="0"/>
                        </a:spcAft>
                        <a:buNone/>
                      </a:pPr>
                      <a:r>
                        <a:rPr lang="en" sz="1000" u="sng">
                          <a:solidFill>
                            <a:schemeClr val="hlink"/>
                          </a:solidFill>
                          <a:hlinkClick r:id="rId4"/>
                        </a:rPr>
                        <a:t>Not equal</a:t>
                      </a:r>
                      <a:r>
                        <a:rPr lang="en" sz="1000"/>
                        <a:t> (!=)</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Returns true if the operands are not equal.</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var1 != 4; var2 != "3"</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96950">
                <a:tc>
                  <a:txBody>
                    <a:bodyPr/>
                    <a:lstStyle/>
                    <a:p>
                      <a:pPr marL="0" lvl="0" indent="0" algn="r" rtl="0">
                        <a:lnSpc>
                          <a:spcPct val="115000"/>
                        </a:lnSpc>
                        <a:spcBef>
                          <a:spcPts val="0"/>
                        </a:spcBef>
                        <a:spcAft>
                          <a:spcPts val="0"/>
                        </a:spcAft>
                        <a:buNone/>
                      </a:pPr>
                      <a:r>
                        <a:rPr lang="en" sz="1000" u="sng">
                          <a:solidFill>
                            <a:schemeClr val="hlink"/>
                          </a:solidFill>
                          <a:hlinkClick r:id="rId5"/>
                        </a:rPr>
                        <a:t>Strict equal</a:t>
                      </a:r>
                      <a:r>
                        <a:rPr lang="en" sz="1000"/>
                        <a:t> (===)</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Returns true if the operands are equal and of the same type. </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3 === var1</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49475">
                <a:tc>
                  <a:txBody>
                    <a:bodyPr/>
                    <a:lstStyle/>
                    <a:p>
                      <a:pPr marL="0" lvl="0" indent="0" algn="r" rtl="0">
                        <a:lnSpc>
                          <a:spcPct val="115000"/>
                        </a:lnSpc>
                        <a:spcBef>
                          <a:spcPts val="0"/>
                        </a:spcBef>
                        <a:spcAft>
                          <a:spcPts val="0"/>
                        </a:spcAft>
                        <a:buNone/>
                      </a:pPr>
                      <a:r>
                        <a:rPr lang="en" sz="1000" u="sng">
                          <a:solidFill>
                            <a:schemeClr val="hlink"/>
                          </a:solidFill>
                          <a:hlinkClick r:id="rId6"/>
                        </a:rPr>
                        <a:t>Strict not equal</a:t>
                      </a:r>
                      <a:r>
                        <a:rPr lang="en" sz="1000"/>
                        <a:t> (!==)</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Returns true if the operands are of the same type but not equal, or are of different type.</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var1 !== "3"; 3 !== '3'</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296950">
                <a:tc>
                  <a:txBody>
                    <a:bodyPr/>
                    <a:lstStyle/>
                    <a:p>
                      <a:pPr marL="0" lvl="0" indent="0" algn="r" rtl="0">
                        <a:lnSpc>
                          <a:spcPct val="115000"/>
                        </a:lnSpc>
                        <a:spcBef>
                          <a:spcPts val="0"/>
                        </a:spcBef>
                        <a:spcAft>
                          <a:spcPts val="0"/>
                        </a:spcAft>
                        <a:buNone/>
                      </a:pPr>
                      <a:r>
                        <a:rPr lang="en" sz="1000" u="sng">
                          <a:solidFill>
                            <a:schemeClr val="hlink"/>
                          </a:solidFill>
                          <a:hlinkClick r:id="rId7"/>
                        </a:rPr>
                        <a:t>Greater than</a:t>
                      </a:r>
                      <a:r>
                        <a:rPr lang="en" sz="1000"/>
                        <a:t> (&gt;)</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Returns true if the left operand is greater than the right operand.</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var2 &gt; var1; "12" &gt; 2</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96950">
                <a:tc>
                  <a:txBody>
                    <a:bodyPr/>
                    <a:lstStyle/>
                    <a:p>
                      <a:pPr marL="0" lvl="0" indent="0" algn="r" rtl="0">
                        <a:lnSpc>
                          <a:spcPct val="115000"/>
                        </a:lnSpc>
                        <a:spcBef>
                          <a:spcPts val="0"/>
                        </a:spcBef>
                        <a:spcAft>
                          <a:spcPts val="0"/>
                        </a:spcAft>
                        <a:buNone/>
                      </a:pPr>
                      <a:r>
                        <a:rPr lang="en" sz="1000" u="sng">
                          <a:solidFill>
                            <a:schemeClr val="hlink"/>
                          </a:solidFill>
                          <a:hlinkClick r:id="rId8"/>
                        </a:rPr>
                        <a:t>Greater than or equal</a:t>
                      </a:r>
                      <a:r>
                        <a:rPr lang="en" sz="1000"/>
                        <a:t> (&gt;=)</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Returns true if the left operand is greater than or equal to the right operand.</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var2 &gt;= var1; var1 &gt;= 3</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296950">
                <a:tc>
                  <a:txBody>
                    <a:bodyPr/>
                    <a:lstStyle/>
                    <a:p>
                      <a:pPr marL="0" lvl="0" indent="0" algn="r" rtl="0">
                        <a:lnSpc>
                          <a:spcPct val="115000"/>
                        </a:lnSpc>
                        <a:spcBef>
                          <a:spcPts val="0"/>
                        </a:spcBef>
                        <a:spcAft>
                          <a:spcPts val="0"/>
                        </a:spcAft>
                        <a:buNone/>
                      </a:pPr>
                      <a:r>
                        <a:rPr lang="en" sz="1000" u="sng">
                          <a:solidFill>
                            <a:schemeClr val="hlink"/>
                          </a:solidFill>
                          <a:hlinkClick r:id="rId9"/>
                        </a:rPr>
                        <a:t>Less than</a:t>
                      </a:r>
                      <a:r>
                        <a:rPr lang="en" sz="1000"/>
                        <a:t> (&lt;)</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Returns true if the left operand is less than the right operand.</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var1 &lt; var2; "2" &lt; 12</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296950">
                <a:tc>
                  <a:txBody>
                    <a:bodyPr/>
                    <a:lstStyle/>
                    <a:p>
                      <a:pPr marL="0" lvl="0" indent="0" algn="r" rtl="0">
                        <a:lnSpc>
                          <a:spcPct val="115000"/>
                        </a:lnSpc>
                        <a:spcBef>
                          <a:spcPts val="0"/>
                        </a:spcBef>
                        <a:spcAft>
                          <a:spcPts val="0"/>
                        </a:spcAft>
                        <a:buNone/>
                      </a:pPr>
                      <a:r>
                        <a:rPr lang="en" sz="1000" u="sng">
                          <a:solidFill>
                            <a:schemeClr val="hlink"/>
                          </a:solidFill>
                          <a:hlinkClick r:id="rId10"/>
                        </a:rPr>
                        <a:t>Less than or equal</a:t>
                      </a:r>
                      <a:r>
                        <a:rPr lang="en" sz="1000"/>
                        <a:t> (&lt;=)</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Returns true if the left operand is less than or equal to the right operand.</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var1 &lt;= var2; var2 &lt;= 5</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p1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Bitwise operators</a:t>
            </a:r>
            <a:endParaRPr/>
          </a:p>
        </p:txBody>
      </p:sp>
      <p:sp>
        <p:nvSpPr>
          <p:cNvPr id="836" name="Google Shape;836;p11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103</a:t>
            </a:fld>
            <a:endParaRPr/>
          </a:p>
        </p:txBody>
      </p:sp>
      <p:graphicFrame>
        <p:nvGraphicFramePr>
          <p:cNvPr id="837" name="Google Shape;837;p114"/>
          <p:cNvGraphicFramePr/>
          <p:nvPr/>
        </p:nvGraphicFramePr>
        <p:xfrm>
          <a:off x="176675" y="1148700"/>
          <a:ext cx="7292650" cy="3744843"/>
        </p:xfrm>
        <a:graphic>
          <a:graphicData uri="http://schemas.openxmlformats.org/drawingml/2006/table">
            <a:tbl>
              <a:tblPr>
                <a:noFill/>
                <a:tableStyleId>{160DF2F2-2E2D-4924-9058-CAD130D829AF}</a:tableStyleId>
              </a:tblPr>
              <a:tblGrid>
                <a:gridCol w="1652175">
                  <a:extLst>
                    <a:ext uri="{9D8B030D-6E8A-4147-A177-3AD203B41FA5}">
                      <a16:colId xmlns:a16="http://schemas.microsoft.com/office/drawing/2014/main" val="20000"/>
                    </a:ext>
                  </a:extLst>
                </a:gridCol>
                <a:gridCol w="782550">
                  <a:extLst>
                    <a:ext uri="{9D8B030D-6E8A-4147-A177-3AD203B41FA5}">
                      <a16:colId xmlns:a16="http://schemas.microsoft.com/office/drawing/2014/main" val="20001"/>
                    </a:ext>
                  </a:extLst>
                </a:gridCol>
                <a:gridCol w="4857925">
                  <a:extLst>
                    <a:ext uri="{9D8B030D-6E8A-4147-A177-3AD203B41FA5}">
                      <a16:colId xmlns:a16="http://schemas.microsoft.com/office/drawing/2014/main" val="20002"/>
                    </a:ext>
                  </a:extLst>
                </a:gridCol>
              </a:tblGrid>
              <a:tr h="253550">
                <a:tc>
                  <a:txBody>
                    <a:bodyPr/>
                    <a:lstStyle/>
                    <a:p>
                      <a:pPr marL="0" lvl="0" indent="0" algn="ctr" rtl="0">
                        <a:lnSpc>
                          <a:spcPct val="115000"/>
                        </a:lnSpc>
                        <a:spcBef>
                          <a:spcPts val="0"/>
                        </a:spcBef>
                        <a:spcAft>
                          <a:spcPts val="0"/>
                        </a:spcAft>
                        <a:buNone/>
                      </a:pPr>
                      <a:r>
                        <a:rPr lang="en" sz="1000" b="1"/>
                        <a:t>Operator</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b="1"/>
                        <a:t>Usage</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b="1"/>
                        <a:t>Description</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394525">
                <a:tc>
                  <a:txBody>
                    <a:bodyPr/>
                    <a:lstStyle/>
                    <a:p>
                      <a:pPr marL="0" lvl="0" indent="0" algn="r" rtl="0">
                        <a:lnSpc>
                          <a:spcPct val="115000"/>
                        </a:lnSpc>
                        <a:spcBef>
                          <a:spcPts val="0"/>
                        </a:spcBef>
                        <a:spcAft>
                          <a:spcPts val="0"/>
                        </a:spcAft>
                        <a:buNone/>
                      </a:pPr>
                      <a:r>
                        <a:rPr lang="en" sz="1000" u="sng">
                          <a:solidFill>
                            <a:schemeClr val="hlink"/>
                          </a:solidFill>
                          <a:hlinkClick r:id="rId3"/>
                        </a:rPr>
                        <a:t>Bitwise AND</a:t>
                      </a:r>
                      <a:endParaRPr sz="1000" u="sng">
                        <a:solidFill>
                          <a:schemeClr val="hlink"/>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a &amp; b</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Returns a one in each bit position for which the corresponding bits of both operands are ones.</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94525">
                <a:tc>
                  <a:txBody>
                    <a:bodyPr/>
                    <a:lstStyle/>
                    <a:p>
                      <a:pPr marL="0" lvl="0" indent="0" algn="r" rtl="0">
                        <a:lnSpc>
                          <a:spcPct val="115000"/>
                        </a:lnSpc>
                        <a:spcBef>
                          <a:spcPts val="0"/>
                        </a:spcBef>
                        <a:spcAft>
                          <a:spcPts val="0"/>
                        </a:spcAft>
                        <a:buNone/>
                      </a:pPr>
                      <a:r>
                        <a:rPr lang="en" sz="1000" u="sng">
                          <a:solidFill>
                            <a:schemeClr val="hlink"/>
                          </a:solidFill>
                          <a:hlinkClick r:id="rId4"/>
                        </a:rPr>
                        <a:t>Bitwise OR</a:t>
                      </a:r>
                      <a:endParaRPr sz="1000" u="sng">
                        <a:solidFill>
                          <a:schemeClr val="hlink"/>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a | b</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Returns a zero in each bit position for which the corresponding bits of both operands are zeros.</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639050">
                <a:tc>
                  <a:txBody>
                    <a:bodyPr/>
                    <a:lstStyle/>
                    <a:p>
                      <a:pPr marL="0" lvl="0" indent="0" algn="r" rtl="0">
                        <a:lnSpc>
                          <a:spcPct val="115000"/>
                        </a:lnSpc>
                        <a:spcBef>
                          <a:spcPts val="0"/>
                        </a:spcBef>
                        <a:spcAft>
                          <a:spcPts val="0"/>
                        </a:spcAft>
                        <a:buNone/>
                      </a:pPr>
                      <a:r>
                        <a:rPr lang="en" sz="1000" u="sng">
                          <a:solidFill>
                            <a:schemeClr val="hlink"/>
                          </a:solidFill>
                          <a:hlinkClick r:id="rId5"/>
                        </a:rPr>
                        <a:t>Bitwise XOR</a:t>
                      </a:r>
                      <a:endParaRPr sz="1000" u="sng">
                        <a:solidFill>
                          <a:schemeClr val="hlink"/>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a ^ b</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Returns a zero in each bit position for which the corresponding bits are the same. [Returns a one in each bit position for which the corresponding bits are different.]</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53550">
                <a:tc>
                  <a:txBody>
                    <a:bodyPr/>
                    <a:lstStyle/>
                    <a:p>
                      <a:pPr marL="0" lvl="0" indent="0" algn="r" rtl="0">
                        <a:lnSpc>
                          <a:spcPct val="115000"/>
                        </a:lnSpc>
                        <a:spcBef>
                          <a:spcPts val="0"/>
                        </a:spcBef>
                        <a:spcAft>
                          <a:spcPts val="0"/>
                        </a:spcAft>
                        <a:buNone/>
                      </a:pPr>
                      <a:r>
                        <a:rPr lang="en" sz="1000" u="sng">
                          <a:solidFill>
                            <a:schemeClr val="hlink"/>
                          </a:solidFill>
                          <a:hlinkClick r:id="rId6"/>
                        </a:rPr>
                        <a:t>Bitwise NOT</a:t>
                      </a:r>
                      <a:endParaRPr sz="1000" u="sng">
                        <a:solidFill>
                          <a:schemeClr val="hlink"/>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 a</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Inverts the bits of its operand.</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45625">
                <a:tc>
                  <a:txBody>
                    <a:bodyPr/>
                    <a:lstStyle/>
                    <a:p>
                      <a:pPr marL="0" lvl="0" indent="0" algn="r" rtl="0">
                        <a:lnSpc>
                          <a:spcPct val="115000"/>
                        </a:lnSpc>
                        <a:spcBef>
                          <a:spcPts val="0"/>
                        </a:spcBef>
                        <a:spcAft>
                          <a:spcPts val="0"/>
                        </a:spcAft>
                        <a:buNone/>
                      </a:pPr>
                      <a:r>
                        <a:rPr lang="en" sz="1000" u="sng">
                          <a:solidFill>
                            <a:schemeClr val="hlink"/>
                          </a:solidFill>
                          <a:hlinkClick r:id="rId7"/>
                        </a:rPr>
                        <a:t>Left shift</a:t>
                      </a:r>
                      <a:endParaRPr sz="1000" u="sng">
                        <a:solidFill>
                          <a:schemeClr val="hlink"/>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a &lt;&lt; b</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Shifts a in binary representation b bits to the left, shifting in zeros from the right.</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45625">
                <a:tc>
                  <a:txBody>
                    <a:bodyPr/>
                    <a:lstStyle/>
                    <a:p>
                      <a:pPr marL="0" lvl="0" indent="0" algn="r" rtl="0">
                        <a:lnSpc>
                          <a:spcPct val="115000"/>
                        </a:lnSpc>
                        <a:spcBef>
                          <a:spcPts val="0"/>
                        </a:spcBef>
                        <a:spcAft>
                          <a:spcPts val="0"/>
                        </a:spcAft>
                        <a:buNone/>
                      </a:pPr>
                      <a:r>
                        <a:rPr lang="en" sz="1000" u="sng">
                          <a:solidFill>
                            <a:schemeClr val="hlink"/>
                          </a:solidFill>
                          <a:hlinkClick r:id="rId8"/>
                        </a:rPr>
                        <a:t>Sign-propagating right shift</a:t>
                      </a:r>
                      <a:endParaRPr sz="1000" u="sng">
                        <a:solidFill>
                          <a:schemeClr val="hlink"/>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a &gt;&gt; b</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Shifts a in binary representation b bits to the right, discarding bits shifted off.</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92325">
                <a:tc>
                  <a:txBody>
                    <a:bodyPr/>
                    <a:lstStyle/>
                    <a:p>
                      <a:pPr marL="0" lvl="0" indent="0" algn="r" rtl="0">
                        <a:lnSpc>
                          <a:spcPct val="115000"/>
                        </a:lnSpc>
                        <a:spcBef>
                          <a:spcPts val="0"/>
                        </a:spcBef>
                        <a:spcAft>
                          <a:spcPts val="0"/>
                        </a:spcAft>
                        <a:buNone/>
                      </a:pPr>
                      <a:r>
                        <a:rPr lang="en" sz="1000" u="sng">
                          <a:solidFill>
                            <a:schemeClr val="hlink"/>
                          </a:solidFill>
                          <a:hlinkClick r:id="rId9"/>
                        </a:rPr>
                        <a:t>Zero-fill right shift</a:t>
                      </a:r>
                      <a:endParaRPr sz="1000" u="sng">
                        <a:solidFill>
                          <a:schemeClr val="hlink"/>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a &gt;&gt;&gt; b</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Shifts a in binary representation b bits to the right, discarding bits shifted off, and shifting in zeros from the left.</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838" name="Google Shape;838;p114"/>
          <p:cNvSpPr txBox="1"/>
          <p:nvPr/>
        </p:nvSpPr>
        <p:spPr>
          <a:xfrm>
            <a:off x="7500650" y="1399800"/>
            <a:ext cx="1652400" cy="338700"/>
          </a:xfrm>
          <a:prstGeom prst="rect">
            <a:avLst/>
          </a:prstGeom>
          <a:no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console</a:t>
            </a:r>
            <a:r>
              <a:rPr lang="en" sz="1000">
                <a:solidFill>
                  <a:srgbClr val="BBBEBF"/>
                </a:solidFill>
                <a:highlight>
                  <a:srgbClr val="121314"/>
                </a:highlight>
                <a:latin typeface="Courier New"/>
                <a:ea typeface="Courier New"/>
                <a:cs typeface="Courier New"/>
                <a:sym typeface="Courier New"/>
              </a:rPr>
              <a:t>.</a:t>
            </a:r>
            <a:r>
              <a:rPr lang="en" sz="1000">
                <a:solidFill>
                  <a:srgbClr val="D2A8FF"/>
                </a:solidFill>
                <a:highlight>
                  <a:srgbClr val="121314"/>
                </a:highlight>
                <a:latin typeface="Courier New"/>
                <a:ea typeface="Courier New"/>
                <a:cs typeface="Courier New"/>
                <a:sym typeface="Courier New"/>
              </a:rPr>
              <a:t>log</a:t>
            </a:r>
            <a:r>
              <a:rPr lang="en" sz="1000">
                <a:solidFill>
                  <a:srgbClr val="BBBEBF"/>
                </a:solidFill>
                <a:highlight>
                  <a:srgbClr val="121314"/>
                </a:highlight>
                <a:latin typeface="Courier New"/>
                <a:ea typeface="Courier New"/>
                <a:cs typeface="Courier New"/>
                <a:sym typeface="Courier New"/>
              </a:rPr>
              <a:t>(</a:t>
            </a:r>
            <a:r>
              <a:rPr lang="en" sz="1000">
                <a:solidFill>
                  <a:srgbClr val="B5CEA8"/>
                </a:solidFill>
                <a:highlight>
                  <a:srgbClr val="121314"/>
                </a:highlight>
                <a:latin typeface="Courier New"/>
                <a:ea typeface="Courier New"/>
                <a:cs typeface="Courier New"/>
                <a:sym typeface="Courier New"/>
              </a:rPr>
              <a:t>5</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&amp;</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3</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p:txBody>
      </p:sp>
      <p:sp>
        <p:nvSpPr>
          <p:cNvPr id="839" name="Google Shape;839;p114"/>
          <p:cNvSpPr txBox="1"/>
          <p:nvPr/>
        </p:nvSpPr>
        <p:spPr>
          <a:xfrm>
            <a:off x="7638300" y="1854900"/>
            <a:ext cx="11340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    </a:t>
            </a:r>
            <a:r>
              <a:rPr lang="en"/>
              <a:t>0101 (5) </a:t>
            </a:r>
            <a:endParaRPr/>
          </a:p>
          <a:p>
            <a:pPr marL="0" lvl="0" indent="0" algn="l" rtl="0">
              <a:spcBef>
                <a:spcPts val="0"/>
              </a:spcBef>
              <a:spcAft>
                <a:spcPts val="0"/>
              </a:spcAft>
              <a:buNone/>
            </a:pPr>
            <a:r>
              <a:rPr lang="en"/>
              <a:t>&amp; 0011 (3) </a:t>
            </a:r>
            <a:endParaRPr/>
          </a:p>
          <a:p>
            <a:pPr marL="0" lvl="0" indent="0" algn="l" rtl="0">
              <a:spcBef>
                <a:spcPts val="0"/>
              </a:spcBef>
              <a:spcAft>
                <a:spcPts val="0"/>
              </a:spcAft>
              <a:buNone/>
            </a:pPr>
            <a:r>
              <a:rPr lang="en" sz="1200"/>
              <a:t>    </a:t>
            </a:r>
            <a:r>
              <a:rPr lang="en"/>
              <a:t>------ </a:t>
            </a:r>
            <a:endParaRPr/>
          </a:p>
          <a:p>
            <a:pPr marL="0" lvl="0" indent="0" algn="l" rtl="0">
              <a:spcBef>
                <a:spcPts val="0"/>
              </a:spcBef>
              <a:spcAft>
                <a:spcPts val="0"/>
              </a:spcAft>
              <a:buNone/>
            </a:pPr>
            <a:r>
              <a:rPr lang="en" sz="1200"/>
              <a:t>    </a:t>
            </a:r>
            <a:r>
              <a:rPr lang="en"/>
              <a:t>0001 (1)</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sp>
        <p:nvSpPr>
          <p:cNvPr id="844" name="Google Shape;844;p11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Bitwise shift operators</a:t>
            </a:r>
            <a:endParaRPr/>
          </a:p>
        </p:txBody>
      </p:sp>
      <p:sp>
        <p:nvSpPr>
          <p:cNvPr id="845" name="Google Shape;845;p11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104</a:t>
            </a:fld>
            <a:endParaRPr/>
          </a:p>
        </p:txBody>
      </p:sp>
      <p:graphicFrame>
        <p:nvGraphicFramePr>
          <p:cNvPr id="846" name="Google Shape;846;p115"/>
          <p:cNvGraphicFramePr/>
          <p:nvPr/>
        </p:nvGraphicFramePr>
        <p:xfrm>
          <a:off x="522300" y="1270250"/>
          <a:ext cx="6478275" cy="3300612"/>
        </p:xfrm>
        <a:graphic>
          <a:graphicData uri="http://schemas.openxmlformats.org/drawingml/2006/table">
            <a:tbl>
              <a:tblPr>
                <a:noFill/>
                <a:tableStyleId>{160DF2F2-2E2D-4924-9058-CAD130D829AF}</a:tableStyleId>
              </a:tblPr>
              <a:tblGrid>
                <a:gridCol w="1289675">
                  <a:extLst>
                    <a:ext uri="{9D8B030D-6E8A-4147-A177-3AD203B41FA5}">
                      <a16:colId xmlns:a16="http://schemas.microsoft.com/office/drawing/2014/main" val="20000"/>
                    </a:ext>
                  </a:extLst>
                </a:gridCol>
                <a:gridCol w="2601875">
                  <a:extLst>
                    <a:ext uri="{9D8B030D-6E8A-4147-A177-3AD203B41FA5}">
                      <a16:colId xmlns:a16="http://schemas.microsoft.com/office/drawing/2014/main" val="20001"/>
                    </a:ext>
                  </a:extLst>
                </a:gridCol>
                <a:gridCol w="2586725">
                  <a:extLst>
                    <a:ext uri="{9D8B030D-6E8A-4147-A177-3AD203B41FA5}">
                      <a16:colId xmlns:a16="http://schemas.microsoft.com/office/drawing/2014/main" val="20002"/>
                    </a:ext>
                  </a:extLst>
                </a:gridCol>
              </a:tblGrid>
              <a:tr h="252375">
                <a:tc>
                  <a:txBody>
                    <a:bodyPr/>
                    <a:lstStyle/>
                    <a:p>
                      <a:pPr marL="0" lvl="0" indent="0" algn="ctr" rtl="0">
                        <a:lnSpc>
                          <a:spcPct val="115000"/>
                        </a:lnSpc>
                        <a:spcBef>
                          <a:spcPts val="0"/>
                        </a:spcBef>
                        <a:spcAft>
                          <a:spcPts val="0"/>
                        </a:spcAft>
                        <a:buNone/>
                      </a:pPr>
                      <a:r>
                        <a:rPr lang="en" sz="1000" b="1"/>
                        <a:t>Operator</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b="1"/>
                        <a:t>Description</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b="1"/>
                        <a:t>Example</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729100">
                <a:tc>
                  <a:txBody>
                    <a:bodyPr/>
                    <a:lstStyle/>
                    <a:p>
                      <a:pPr marL="0" lvl="0" indent="0" algn="r" rtl="0">
                        <a:lnSpc>
                          <a:spcPct val="115000"/>
                        </a:lnSpc>
                        <a:spcBef>
                          <a:spcPts val="0"/>
                        </a:spcBef>
                        <a:spcAft>
                          <a:spcPts val="0"/>
                        </a:spcAft>
                        <a:buNone/>
                      </a:pPr>
                      <a:r>
                        <a:rPr lang="en" sz="1000" u="sng">
                          <a:solidFill>
                            <a:schemeClr val="hlink"/>
                          </a:solidFill>
                          <a:hlinkClick r:id="rId3"/>
                        </a:rPr>
                        <a:t>Left shift</a:t>
                      </a:r>
                      <a:endParaRPr sz="1000" u="sng">
                        <a:solidFill>
                          <a:schemeClr val="hlink"/>
                        </a:solidFill>
                      </a:endParaRPr>
                    </a:p>
                    <a:p>
                      <a:pPr marL="0" lvl="0" indent="0" algn="r" rtl="0">
                        <a:lnSpc>
                          <a:spcPct val="115000"/>
                        </a:lnSpc>
                        <a:spcBef>
                          <a:spcPts val="0"/>
                        </a:spcBef>
                        <a:spcAft>
                          <a:spcPts val="0"/>
                        </a:spcAft>
                        <a:buNone/>
                      </a:pPr>
                      <a:r>
                        <a:rPr lang="en" sz="1000"/>
                        <a:t>(&lt;&lt;)</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This operator shifts the first operand the specified number of bits to the left. Excess bits shifted off to the left are discarded. Zero bits are shifted in from the right.</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9&lt;&lt;2 yields 36, because 1001 shifted 2 bits to the left becomes 100100, which is 36.</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784900">
                <a:tc>
                  <a:txBody>
                    <a:bodyPr/>
                    <a:lstStyle/>
                    <a:p>
                      <a:pPr marL="0" lvl="0" indent="0" algn="r" rtl="0">
                        <a:lnSpc>
                          <a:spcPct val="115000"/>
                        </a:lnSpc>
                        <a:spcBef>
                          <a:spcPts val="0"/>
                        </a:spcBef>
                        <a:spcAft>
                          <a:spcPts val="0"/>
                        </a:spcAft>
                        <a:buNone/>
                      </a:pPr>
                      <a:r>
                        <a:rPr lang="en" sz="1000" u="sng">
                          <a:solidFill>
                            <a:schemeClr val="hlink"/>
                          </a:solidFill>
                          <a:hlinkClick r:id="rId4"/>
                        </a:rPr>
                        <a:t>Sign-propagating right shift</a:t>
                      </a:r>
                      <a:r>
                        <a:rPr lang="en" sz="1000"/>
                        <a:t> (&gt;&gt;)</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This operator shifts the first operand the specified number of bits to the right. Excess bits shifted off to the right are discarded. Copies of the leftmost bit are shifted in from the left.</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9&gt;&gt;2 yields 2, because 1001 shifted 2 bits to the right becomes 10, which is 2. Likewise, -9&gt;&gt;2 yields -3, because the sign is preserved.</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40700">
                <a:tc>
                  <a:txBody>
                    <a:bodyPr/>
                    <a:lstStyle/>
                    <a:p>
                      <a:pPr marL="0" lvl="0" indent="0" algn="r" rtl="0">
                        <a:lnSpc>
                          <a:spcPct val="115000"/>
                        </a:lnSpc>
                        <a:spcBef>
                          <a:spcPts val="0"/>
                        </a:spcBef>
                        <a:spcAft>
                          <a:spcPts val="0"/>
                        </a:spcAft>
                        <a:buNone/>
                      </a:pPr>
                      <a:r>
                        <a:rPr lang="en" sz="1000" u="sng">
                          <a:solidFill>
                            <a:schemeClr val="hlink"/>
                          </a:solidFill>
                          <a:hlinkClick r:id="rId5"/>
                        </a:rPr>
                        <a:t>Zero-fill right shift</a:t>
                      </a:r>
                      <a:r>
                        <a:rPr lang="en" sz="1000"/>
                        <a:t> (&gt;&gt;&gt;)</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This operator shifts the first operand the specified number of bits to the right. Excess bits shifted off to the right are discarded. Zero bits are shifted in from the left.</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19&gt;&gt;&gt;2 yields 4, because 10011 shifted 2 bits to the right becomes 100, which is 4. For non-negative numbers, zero-fill right shift and sign-propagating right shift yield the same result.</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p11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Logical operators</a:t>
            </a:r>
            <a:endParaRPr/>
          </a:p>
        </p:txBody>
      </p:sp>
      <p:sp>
        <p:nvSpPr>
          <p:cNvPr id="852" name="Google Shape;852;p11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105</a:t>
            </a:fld>
            <a:endParaRPr/>
          </a:p>
        </p:txBody>
      </p:sp>
      <p:graphicFrame>
        <p:nvGraphicFramePr>
          <p:cNvPr id="853" name="Google Shape;853;p116"/>
          <p:cNvGraphicFramePr/>
          <p:nvPr/>
        </p:nvGraphicFramePr>
        <p:xfrm>
          <a:off x="417000" y="1351200"/>
          <a:ext cx="8219725" cy="2732451"/>
        </p:xfrm>
        <a:graphic>
          <a:graphicData uri="http://schemas.openxmlformats.org/drawingml/2006/table">
            <a:tbl>
              <a:tblPr>
                <a:noFill/>
                <a:tableStyleId>{160DF2F2-2E2D-4924-9058-CAD130D829AF}</a:tableStyleId>
              </a:tblPr>
              <a:tblGrid>
                <a:gridCol w="1980625">
                  <a:extLst>
                    <a:ext uri="{9D8B030D-6E8A-4147-A177-3AD203B41FA5}">
                      <a16:colId xmlns:a16="http://schemas.microsoft.com/office/drawing/2014/main" val="20000"/>
                    </a:ext>
                  </a:extLst>
                </a:gridCol>
                <a:gridCol w="1235425">
                  <a:extLst>
                    <a:ext uri="{9D8B030D-6E8A-4147-A177-3AD203B41FA5}">
                      <a16:colId xmlns:a16="http://schemas.microsoft.com/office/drawing/2014/main" val="20001"/>
                    </a:ext>
                  </a:extLst>
                </a:gridCol>
                <a:gridCol w="5003675">
                  <a:extLst>
                    <a:ext uri="{9D8B030D-6E8A-4147-A177-3AD203B41FA5}">
                      <a16:colId xmlns:a16="http://schemas.microsoft.com/office/drawing/2014/main" val="20002"/>
                    </a:ext>
                  </a:extLst>
                </a:gridCol>
              </a:tblGrid>
              <a:tr h="0">
                <a:tc>
                  <a:txBody>
                    <a:bodyPr/>
                    <a:lstStyle/>
                    <a:p>
                      <a:pPr marL="0" lvl="0" indent="0" algn="ctr" rtl="0">
                        <a:lnSpc>
                          <a:spcPct val="115000"/>
                        </a:lnSpc>
                        <a:spcBef>
                          <a:spcPts val="0"/>
                        </a:spcBef>
                        <a:spcAft>
                          <a:spcPts val="0"/>
                        </a:spcAft>
                        <a:buNone/>
                      </a:pPr>
                      <a:r>
                        <a:rPr lang="en" sz="1000" b="1"/>
                        <a:t>Operator</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b="1"/>
                        <a:t>Usage</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b="1"/>
                        <a:t>Description</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828700">
                <a:tc>
                  <a:txBody>
                    <a:bodyPr/>
                    <a:lstStyle/>
                    <a:p>
                      <a:pPr marL="0" lvl="0" indent="0" algn="r" rtl="0">
                        <a:lnSpc>
                          <a:spcPct val="115000"/>
                        </a:lnSpc>
                        <a:spcBef>
                          <a:spcPts val="0"/>
                        </a:spcBef>
                        <a:spcAft>
                          <a:spcPts val="0"/>
                        </a:spcAft>
                        <a:buNone/>
                      </a:pPr>
                      <a:r>
                        <a:rPr lang="en" sz="1000" u="sng">
                          <a:solidFill>
                            <a:schemeClr val="hlink"/>
                          </a:solidFill>
                          <a:hlinkClick r:id="rId3"/>
                        </a:rPr>
                        <a:t>Logical AND</a:t>
                      </a:r>
                      <a:r>
                        <a:rPr lang="en" sz="1000"/>
                        <a:t> (&amp;&amp;)</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expr1 &amp;&amp; expr2</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Returns expr1 if it can be converted to false; otherwise, returns expr2. Thus, when used with Boolean values, &amp;&amp; returns true if both operands are true; otherwise, returns false.</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828700">
                <a:tc>
                  <a:txBody>
                    <a:bodyPr/>
                    <a:lstStyle/>
                    <a:p>
                      <a:pPr marL="0" lvl="0" indent="0" algn="r" rtl="0">
                        <a:lnSpc>
                          <a:spcPct val="115000"/>
                        </a:lnSpc>
                        <a:spcBef>
                          <a:spcPts val="0"/>
                        </a:spcBef>
                        <a:spcAft>
                          <a:spcPts val="0"/>
                        </a:spcAft>
                        <a:buNone/>
                      </a:pPr>
                      <a:r>
                        <a:rPr lang="en" sz="1000" u="sng">
                          <a:solidFill>
                            <a:schemeClr val="hlink"/>
                          </a:solidFill>
                          <a:hlinkClick r:id="rId4"/>
                        </a:rPr>
                        <a:t>Logical OR</a:t>
                      </a:r>
                      <a:r>
                        <a:rPr lang="en" sz="1000"/>
                        <a:t> (||)</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expr1 || expr2</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Returns expr1 if it can be converted to true; otherwise, returns expr2. Thus, when used with Boolean values, || returns true if either operand is true; if both are false, returns false.</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37350">
                <a:tc>
                  <a:txBody>
                    <a:bodyPr/>
                    <a:lstStyle/>
                    <a:p>
                      <a:pPr marL="0" lvl="0" indent="0" algn="r" rtl="0">
                        <a:lnSpc>
                          <a:spcPct val="115000"/>
                        </a:lnSpc>
                        <a:spcBef>
                          <a:spcPts val="0"/>
                        </a:spcBef>
                        <a:spcAft>
                          <a:spcPts val="0"/>
                        </a:spcAft>
                        <a:buNone/>
                      </a:pPr>
                      <a:r>
                        <a:rPr lang="en" sz="1000" u="sng">
                          <a:solidFill>
                            <a:schemeClr val="hlink"/>
                          </a:solidFill>
                          <a:hlinkClick r:id="rId5"/>
                        </a:rPr>
                        <a:t>Nullish coalescing operator</a:t>
                      </a:r>
                      <a:r>
                        <a:rPr lang="en" sz="1000"/>
                        <a:t> (??)</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expr1 ?? expr2</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Returns expr1 if it is neither null nor undefined; otherwise, returns expr2.</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88675">
                <a:tc>
                  <a:txBody>
                    <a:bodyPr/>
                    <a:lstStyle/>
                    <a:p>
                      <a:pPr marL="0" lvl="0" indent="0" algn="r" rtl="0">
                        <a:lnSpc>
                          <a:spcPct val="115000"/>
                        </a:lnSpc>
                        <a:spcBef>
                          <a:spcPts val="0"/>
                        </a:spcBef>
                        <a:spcAft>
                          <a:spcPts val="0"/>
                        </a:spcAft>
                        <a:buNone/>
                      </a:pPr>
                      <a:r>
                        <a:rPr lang="en" sz="1000" u="sng">
                          <a:solidFill>
                            <a:schemeClr val="hlink"/>
                          </a:solidFill>
                          <a:hlinkClick r:id="rId6"/>
                        </a:rPr>
                        <a:t>Logical NOT</a:t>
                      </a:r>
                      <a:r>
                        <a:rPr lang="en" sz="1000"/>
                        <a:t> (!)</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!expr</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Returns false if its single operand can be converted to true; otherwise, returns true.</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p11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Conditional (ternary) operator</a:t>
            </a:r>
            <a:endParaRPr/>
          </a:p>
        </p:txBody>
      </p:sp>
      <p:sp>
        <p:nvSpPr>
          <p:cNvPr id="859" name="Google Shape;859;p11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106</a:t>
            </a:fld>
            <a:endParaRPr/>
          </a:p>
        </p:txBody>
      </p:sp>
      <p:sp>
        <p:nvSpPr>
          <p:cNvPr id="860" name="Google Shape;860;p1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condition ? val1 : val2</a:t>
            </a:r>
            <a:endParaRPr/>
          </a:p>
          <a:p>
            <a:pPr marL="457200" lvl="0" indent="-342900" algn="l" rtl="0">
              <a:spcBef>
                <a:spcPts val="0"/>
              </a:spcBef>
              <a:spcAft>
                <a:spcPts val="0"/>
              </a:spcAft>
              <a:buSzPts val="1800"/>
              <a:buChar char="●"/>
            </a:pPr>
            <a:r>
              <a:rPr lang="en"/>
              <a:t>If condition is true, the operator has the value of val1. Otherwise it has the value of val2.</a:t>
            </a:r>
            <a:endParaRPr/>
          </a:p>
          <a:p>
            <a:pPr marL="457200" lvl="0" indent="-342900" algn="l" rtl="0">
              <a:spcBef>
                <a:spcPts val="0"/>
              </a:spcBef>
              <a:spcAft>
                <a:spcPts val="0"/>
              </a:spcAft>
              <a:buSzPts val="1800"/>
              <a:buChar char="●"/>
            </a:pPr>
            <a:r>
              <a:rPr lang="en"/>
              <a:t>const status = age &gt;= 18 ? "adult" : "minor";</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118"/>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Loops and Iterations</a:t>
            </a:r>
            <a:endParaRPr/>
          </a:p>
        </p:txBody>
      </p:sp>
      <p:sp>
        <p:nvSpPr>
          <p:cNvPr id="866" name="Google Shape;866;p11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107</a:t>
            </a:fld>
            <a:endParaRPr>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p11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while loop</a:t>
            </a:r>
            <a:endParaRPr/>
          </a:p>
        </p:txBody>
      </p:sp>
      <p:sp>
        <p:nvSpPr>
          <p:cNvPr id="872" name="Google Shape;872;p11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108</a:t>
            </a:fld>
            <a:endParaRPr/>
          </a:p>
        </p:txBody>
      </p:sp>
      <p:sp>
        <p:nvSpPr>
          <p:cNvPr id="873" name="Google Shape;873;p1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a:t>The while statement creates a loop that executes a specified statement as long as the test condition evaluates to true.</a:t>
            </a:r>
            <a:endParaRPr/>
          </a:p>
          <a:p>
            <a:pPr marL="457200" lvl="0" indent="-342900" algn="l" rtl="0">
              <a:spcBef>
                <a:spcPts val="0"/>
              </a:spcBef>
              <a:spcAft>
                <a:spcPts val="0"/>
              </a:spcAft>
              <a:buSzPts val="1800"/>
              <a:buChar char="●"/>
            </a:pPr>
            <a:r>
              <a:rPr lang="en"/>
              <a:t>Syntax:</a:t>
            </a:r>
            <a:endParaRPr/>
          </a:p>
          <a:p>
            <a:pPr marL="914400" lvl="1" indent="-317500" algn="l" rtl="0">
              <a:spcBef>
                <a:spcPts val="0"/>
              </a:spcBef>
              <a:spcAft>
                <a:spcPts val="0"/>
              </a:spcAft>
              <a:buSzPts val="1400"/>
              <a:buChar char="○"/>
            </a:pPr>
            <a:r>
              <a:rPr lang="en"/>
              <a:t>while (condition)</a:t>
            </a:r>
            <a:endParaRPr/>
          </a:p>
          <a:p>
            <a:pPr marL="914400" lvl="1" indent="-317500" algn="l" rtl="0">
              <a:spcBef>
                <a:spcPts val="0"/>
              </a:spcBef>
              <a:spcAft>
                <a:spcPts val="0"/>
              </a:spcAft>
              <a:buSzPts val="1400"/>
              <a:buChar char="○"/>
            </a:pPr>
            <a:r>
              <a:rPr lang="en"/>
              <a:t>  Statement</a:t>
            </a:r>
            <a:endParaRPr/>
          </a:p>
          <a:p>
            <a:pPr marL="914400" lvl="1" indent="-317500" algn="l" rtl="0">
              <a:spcBef>
                <a:spcPts val="0"/>
              </a:spcBef>
              <a:spcAft>
                <a:spcPts val="0"/>
              </a:spcAft>
              <a:buSzPts val="1400"/>
              <a:buChar char="○"/>
            </a:pPr>
            <a:r>
              <a:rPr lang="en"/>
              <a:t>Condition</a:t>
            </a:r>
            <a:endParaRPr/>
          </a:p>
          <a:p>
            <a:pPr marL="1371600" lvl="2" indent="-317500" algn="l" rtl="0">
              <a:spcBef>
                <a:spcPts val="0"/>
              </a:spcBef>
              <a:spcAft>
                <a:spcPts val="0"/>
              </a:spcAft>
              <a:buSzPts val="1400"/>
              <a:buChar char="■"/>
            </a:pPr>
            <a:r>
              <a:rPr lang="en"/>
              <a:t>An expression evaluated before each pass through the loop. </a:t>
            </a:r>
            <a:endParaRPr/>
          </a:p>
          <a:p>
            <a:pPr marL="914400" lvl="1" indent="-317500" algn="l" rtl="0">
              <a:spcBef>
                <a:spcPts val="0"/>
              </a:spcBef>
              <a:spcAft>
                <a:spcPts val="0"/>
              </a:spcAft>
              <a:buSzPts val="1400"/>
              <a:buChar char="○"/>
            </a:pPr>
            <a:r>
              <a:rPr lang="en"/>
              <a:t>Statement</a:t>
            </a:r>
            <a:endParaRPr/>
          </a:p>
          <a:p>
            <a:pPr marL="1371600" lvl="2" indent="-317500" algn="l" rtl="0">
              <a:spcBef>
                <a:spcPts val="0"/>
              </a:spcBef>
              <a:spcAft>
                <a:spcPts val="0"/>
              </a:spcAft>
              <a:buSzPts val="1400"/>
              <a:buChar char="■"/>
            </a:pPr>
            <a:r>
              <a:rPr lang="en"/>
              <a:t>A statement that is executed as long as the condition evaluates to true. You can use a block statement to execute multiple statements.</a:t>
            </a:r>
            <a:endParaRPr/>
          </a:p>
          <a:p>
            <a:pPr marL="914400" lvl="1" indent="-317500" algn="l" rtl="0">
              <a:spcBef>
                <a:spcPts val="0"/>
              </a:spcBef>
              <a:spcAft>
                <a:spcPts val="0"/>
              </a:spcAft>
              <a:buSzPts val="1400"/>
              <a:buChar char="○"/>
            </a:pPr>
            <a:r>
              <a:rPr lang="en"/>
              <a:t>Like other looping statements, you can use control flow statements inside statement:</a:t>
            </a:r>
            <a:endParaRPr/>
          </a:p>
          <a:p>
            <a:pPr marL="1371600" lvl="2" indent="-317500" algn="l" rtl="0">
              <a:spcBef>
                <a:spcPts val="0"/>
              </a:spcBef>
              <a:spcAft>
                <a:spcPts val="0"/>
              </a:spcAft>
              <a:buSzPts val="1400"/>
              <a:buChar char="■"/>
            </a:pPr>
            <a:r>
              <a:rPr lang="en"/>
              <a:t>break stops statement execution and goes to the first statement after the loop.</a:t>
            </a:r>
            <a:endParaRPr/>
          </a:p>
          <a:p>
            <a:pPr marL="1371600" lvl="2" indent="-317500" algn="l" rtl="0">
              <a:spcBef>
                <a:spcPts val="0"/>
              </a:spcBef>
              <a:spcAft>
                <a:spcPts val="0"/>
              </a:spcAft>
              <a:buSzPts val="1400"/>
              <a:buChar char="■"/>
            </a:pPr>
            <a:r>
              <a:rPr lang="en"/>
              <a:t>continue stops statement execution and re-evaluates condition.</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2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Examples of while loop</a:t>
            </a:r>
            <a:endParaRPr/>
          </a:p>
        </p:txBody>
      </p:sp>
      <p:sp>
        <p:nvSpPr>
          <p:cNvPr id="879" name="Google Shape;879;p12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109</a:t>
            </a:fld>
            <a:endParaRPr/>
          </a:p>
        </p:txBody>
      </p:sp>
      <p:sp>
        <p:nvSpPr>
          <p:cNvPr id="880" name="Google Shape;880;p120"/>
          <p:cNvSpPr txBox="1"/>
          <p:nvPr/>
        </p:nvSpPr>
        <p:spPr>
          <a:xfrm>
            <a:off x="385550" y="1217975"/>
            <a:ext cx="1699800" cy="20934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let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n</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0</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let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x</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0</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586C0"/>
                </a:solidFill>
                <a:highlight>
                  <a:srgbClr val="121314"/>
                </a:highlight>
                <a:latin typeface="Courier New"/>
                <a:ea typeface="Courier New"/>
                <a:cs typeface="Courier New"/>
                <a:sym typeface="Courier New"/>
              </a:rPr>
              <a:t>while</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n</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&lt;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3</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n</a:t>
            </a:r>
            <a:r>
              <a:rPr lang="en" sz="1200">
                <a:solidFill>
                  <a:srgbClr val="D4D4D4"/>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x </a:t>
            </a:r>
            <a:r>
              <a:rPr lang="en" sz="1200">
                <a:solidFill>
                  <a:srgbClr val="D4D4D4"/>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 n;</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console.log(x);</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p:txBody>
      </p:sp>
      <p:pic>
        <p:nvPicPr>
          <p:cNvPr id="881" name="Google Shape;881;p120"/>
          <p:cNvPicPr preferRelativeResize="0"/>
          <p:nvPr/>
        </p:nvPicPr>
        <p:blipFill>
          <a:blip r:embed="rId3">
            <a:alphaModFix/>
          </a:blip>
          <a:stretch>
            <a:fillRect/>
          </a:stretch>
        </p:blipFill>
        <p:spPr>
          <a:xfrm>
            <a:off x="2316625" y="1217975"/>
            <a:ext cx="333375" cy="657225"/>
          </a:xfrm>
          <a:prstGeom prst="rect">
            <a:avLst/>
          </a:prstGeom>
          <a:noFill/>
          <a:ln>
            <a:noFill/>
          </a:ln>
        </p:spPr>
      </p:pic>
      <p:sp>
        <p:nvSpPr>
          <p:cNvPr id="882" name="Google Shape;882;p120"/>
          <p:cNvSpPr txBox="1"/>
          <p:nvPr/>
        </p:nvSpPr>
        <p:spPr>
          <a:xfrm>
            <a:off x="3285600" y="1217975"/>
            <a:ext cx="4651200" cy="3693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C586C0"/>
                </a:solidFill>
                <a:highlight>
                  <a:srgbClr val="121314"/>
                </a:highlight>
                <a:latin typeface="Courier New"/>
                <a:ea typeface="Courier New"/>
                <a:cs typeface="Courier New"/>
                <a:sym typeface="Courier New"/>
              </a:rPr>
              <a:t>while</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currentNode</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iterator</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nextNode</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r>
              <a:rPr lang="en" sz="1200">
                <a:solidFill>
                  <a:srgbClr val="D4D4D4"/>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p:txBody>
      </p:sp>
      <p:sp>
        <p:nvSpPr>
          <p:cNvPr id="883" name="Google Shape;883;p120"/>
          <p:cNvSpPr txBox="1"/>
          <p:nvPr/>
        </p:nvSpPr>
        <p:spPr>
          <a:xfrm>
            <a:off x="3285600" y="1854375"/>
            <a:ext cx="4810500" cy="3693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C586C0"/>
                </a:solidFill>
                <a:highlight>
                  <a:srgbClr val="121314"/>
                </a:highlight>
                <a:latin typeface="Courier New"/>
                <a:ea typeface="Courier New"/>
                <a:cs typeface="Courier New"/>
                <a:sym typeface="Courier New"/>
              </a:rPr>
              <a:t>while</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currentNode</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iterator</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nextNode</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r>
              <a:rPr lang="en" sz="1200">
                <a:solidFill>
                  <a:srgbClr val="D4D4D4"/>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p:txBody>
      </p:sp>
      <p:sp>
        <p:nvSpPr>
          <p:cNvPr id="884" name="Google Shape;884;p120"/>
          <p:cNvSpPr txBox="1"/>
          <p:nvPr/>
        </p:nvSpPr>
        <p:spPr>
          <a:xfrm>
            <a:off x="3285600" y="2476437"/>
            <a:ext cx="5546700" cy="3693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C586C0"/>
                </a:solidFill>
                <a:highlight>
                  <a:srgbClr val="121314"/>
                </a:highlight>
                <a:latin typeface="Courier New"/>
                <a:ea typeface="Courier New"/>
                <a:cs typeface="Courier New"/>
                <a:sym typeface="Courier New"/>
              </a:rPr>
              <a:t>while</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currentNode</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iterator</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nextNode</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null</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r>
              <a:rPr lang="en" sz="1200">
                <a:solidFill>
                  <a:srgbClr val="D4D4D4"/>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p12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Do...while loop</a:t>
            </a:r>
            <a:endParaRPr/>
          </a:p>
        </p:txBody>
      </p:sp>
      <p:sp>
        <p:nvSpPr>
          <p:cNvPr id="890" name="Google Shape;890;p12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110</a:t>
            </a:fld>
            <a:endParaRPr/>
          </a:p>
        </p:txBody>
      </p:sp>
      <p:sp>
        <p:nvSpPr>
          <p:cNvPr id="891" name="Google Shape;891;p121"/>
          <p:cNvSpPr txBox="1">
            <a:spLocks noGrp="1"/>
          </p:cNvSpPr>
          <p:nvPr>
            <p:ph type="body" idx="1"/>
          </p:nvPr>
        </p:nvSpPr>
        <p:spPr>
          <a:xfrm>
            <a:off x="311700" y="1152475"/>
            <a:ext cx="8520600" cy="24840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a:t>The do...while statement creates a loop that executes a specified statement as long as the test condition evaluates to true.</a:t>
            </a:r>
            <a:endParaRPr/>
          </a:p>
          <a:p>
            <a:pPr marL="457200" lvl="0" indent="-342900" algn="l" rtl="0">
              <a:spcBef>
                <a:spcPts val="0"/>
              </a:spcBef>
              <a:spcAft>
                <a:spcPts val="0"/>
              </a:spcAft>
              <a:buSzPts val="1800"/>
              <a:buChar char="●"/>
            </a:pPr>
            <a:r>
              <a:rPr lang="en"/>
              <a:t>The condition is evaluated after executing the statement, resulting in the specified statement executing at least once.</a:t>
            </a:r>
            <a:endParaRPr/>
          </a:p>
          <a:p>
            <a:pPr marL="457200" lvl="0" indent="-342900" algn="l" rtl="0">
              <a:spcBef>
                <a:spcPts val="0"/>
              </a:spcBef>
              <a:spcAft>
                <a:spcPts val="0"/>
              </a:spcAft>
              <a:buSzPts val="1800"/>
              <a:buChar char="●"/>
            </a:pPr>
            <a:r>
              <a:rPr lang="en"/>
              <a:t>Syntax:</a:t>
            </a:r>
            <a:endParaRPr/>
          </a:p>
          <a:p>
            <a:pPr marL="914400" lvl="1" indent="-317500" algn="l" rtl="0">
              <a:spcBef>
                <a:spcPts val="0"/>
              </a:spcBef>
              <a:spcAft>
                <a:spcPts val="0"/>
              </a:spcAft>
              <a:buSzPts val="1400"/>
              <a:buChar char="○"/>
            </a:pPr>
            <a:r>
              <a:rPr lang="en"/>
              <a:t>do</a:t>
            </a:r>
            <a:endParaRPr/>
          </a:p>
          <a:p>
            <a:pPr marL="914400" lvl="1" indent="-317500" algn="l" rtl="0">
              <a:spcBef>
                <a:spcPts val="0"/>
              </a:spcBef>
              <a:spcAft>
                <a:spcPts val="0"/>
              </a:spcAft>
              <a:buSzPts val="1400"/>
              <a:buChar char="○"/>
            </a:pPr>
            <a:r>
              <a:rPr lang="en"/>
              <a:t>  statement</a:t>
            </a:r>
            <a:endParaRPr/>
          </a:p>
          <a:p>
            <a:pPr marL="914400" lvl="1" indent="-317500" algn="l" rtl="0">
              <a:spcBef>
                <a:spcPts val="0"/>
              </a:spcBef>
              <a:spcAft>
                <a:spcPts val="0"/>
              </a:spcAft>
              <a:buSzPts val="1400"/>
              <a:buChar char="○"/>
            </a:pPr>
            <a:r>
              <a:rPr lang="en"/>
              <a:t>while (condition);</a:t>
            </a:r>
            <a:endParaRPr/>
          </a:p>
        </p:txBody>
      </p:sp>
      <p:sp>
        <p:nvSpPr>
          <p:cNvPr id="892" name="Google Shape;892;p121"/>
          <p:cNvSpPr txBox="1"/>
          <p:nvPr/>
        </p:nvSpPr>
        <p:spPr>
          <a:xfrm>
            <a:off x="3504925" y="2656675"/>
            <a:ext cx="2663700" cy="20934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let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result</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A5D6FF"/>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let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i</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0</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586C0"/>
                </a:solidFill>
                <a:highlight>
                  <a:srgbClr val="121314"/>
                </a:highlight>
                <a:latin typeface="Courier New"/>
                <a:ea typeface="Courier New"/>
                <a:cs typeface="Courier New"/>
                <a:sym typeface="Courier New"/>
              </a:rPr>
              <a:t>do</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i </a:t>
            </a:r>
            <a:r>
              <a:rPr lang="en" sz="1200">
                <a:solidFill>
                  <a:srgbClr val="D4D4D4"/>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1</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result </a:t>
            </a:r>
            <a:r>
              <a:rPr lang="en" sz="1200">
                <a:solidFill>
                  <a:srgbClr val="D4D4D4"/>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 </a:t>
            </a:r>
            <a:r>
              <a:rPr lang="en" sz="1200">
                <a:solidFill>
                  <a:srgbClr val="A5D6FF"/>
                </a:solidFill>
                <a:highlight>
                  <a:srgbClr val="121314"/>
                </a:highlight>
                <a:latin typeface="Courier New"/>
                <a:ea typeface="Courier New"/>
                <a:cs typeface="Courier New"/>
                <a:sym typeface="Courier New"/>
              </a:rPr>
              <a:t>`</a:t>
            </a:r>
            <a:r>
              <a:rPr lang="en" sz="1200">
                <a:solidFill>
                  <a:srgbClr val="569CD6"/>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i</a:t>
            </a:r>
            <a:r>
              <a:rPr lang="en" sz="1200">
                <a:solidFill>
                  <a:srgbClr val="569CD6"/>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586C0"/>
                </a:solidFill>
                <a:highlight>
                  <a:srgbClr val="121314"/>
                </a:highlight>
                <a:latin typeface="Courier New"/>
                <a:ea typeface="Courier New"/>
                <a:cs typeface="Courier New"/>
                <a:sym typeface="Courier New"/>
              </a:rPr>
              <a:t>while</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i</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&gt;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0</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&amp;&amp;</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i</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&lt;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5</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result</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p:txBody>
      </p:sp>
      <p:pic>
        <p:nvPicPr>
          <p:cNvPr id="893" name="Google Shape;893;p121"/>
          <p:cNvPicPr preferRelativeResize="0"/>
          <p:nvPr/>
        </p:nvPicPr>
        <p:blipFill>
          <a:blip r:embed="rId3">
            <a:alphaModFix/>
          </a:blip>
          <a:stretch>
            <a:fillRect/>
          </a:stretch>
        </p:blipFill>
        <p:spPr>
          <a:xfrm>
            <a:off x="6303575" y="4550050"/>
            <a:ext cx="1076325" cy="200025"/>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12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Examples of do…while loop</a:t>
            </a:r>
            <a:endParaRPr/>
          </a:p>
        </p:txBody>
      </p:sp>
      <p:sp>
        <p:nvSpPr>
          <p:cNvPr id="899" name="Google Shape;899;p12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111</a:t>
            </a:fld>
            <a:endParaRPr/>
          </a:p>
        </p:txBody>
      </p:sp>
      <p:sp>
        <p:nvSpPr>
          <p:cNvPr id="900" name="Google Shape;900;p122"/>
          <p:cNvSpPr txBox="1"/>
          <p:nvPr/>
        </p:nvSpPr>
        <p:spPr>
          <a:xfrm>
            <a:off x="560775" y="1270550"/>
            <a:ext cx="4056900" cy="35709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C586C0"/>
                </a:solidFill>
                <a:highlight>
                  <a:srgbClr val="121314"/>
                </a:highlight>
                <a:latin typeface="Courier New"/>
                <a:ea typeface="Courier New"/>
                <a:cs typeface="Courier New"/>
                <a:sym typeface="Courier New"/>
              </a:rPr>
              <a:t>do</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C586C0"/>
                </a:solidFill>
                <a:highlight>
                  <a:srgbClr val="121314"/>
                </a:highlight>
                <a:latin typeface="Courier New"/>
                <a:ea typeface="Courier New"/>
                <a:cs typeface="Courier New"/>
                <a:sym typeface="Courier New"/>
              </a:rPr>
              <a:t>if</a:t>
            </a:r>
            <a:r>
              <a:rPr lang="en" sz="1200">
                <a:solidFill>
                  <a:srgbClr val="C9D1D9"/>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user.loggedIn) {</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console.</a:t>
            </a:r>
            <a:r>
              <a:rPr lang="en" sz="1200">
                <a:solidFill>
                  <a:srgbClr val="D2A8FF"/>
                </a:solidFill>
                <a:highlight>
                  <a:srgbClr val="121314"/>
                </a:highlight>
                <a:latin typeface="Courier New"/>
                <a:ea typeface="Courier New"/>
                <a:cs typeface="Courier New"/>
                <a:sym typeface="Courier New"/>
              </a:rPr>
              <a:t>log</a:t>
            </a:r>
            <a:r>
              <a:rPr lang="en" sz="1200">
                <a:solidFill>
                  <a:srgbClr val="C9D1D9"/>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"You are not logged in"</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C586C0"/>
                </a:solidFill>
                <a:highlight>
                  <a:srgbClr val="121314"/>
                </a:highlight>
                <a:latin typeface="Courier New"/>
                <a:ea typeface="Courier New"/>
                <a:cs typeface="Courier New"/>
                <a:sym typeface="Courier New"/>
              </a:rPr>
              <a:t>break</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FF7B72"/>
                </a:solidFill>
                <a:highlight>
                  <a:srgbClr val="121314"/>
                </a:highlight>
                <a:latin typeface="Courier New"/>
                <a:ea typeface="Courier New"/>
                <a:cs typeface="Courier New"/>
                <a:sym typeface="Courier New"/>
              </a:rPr>
              <a:t>const</a:t>
            </a:r>
            <a:r>
              <a:rPr lang="en" sz="1200">
                <a:solidFill>
                  <a:srgbClr val="C9D1D9"/>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friends</a:t>
            </a:r>
            <a:r>
              <a:rPr lang="en" sz="1200">
                <a:solidFill>
                  <a:srgbClr val="C9D1D9"/>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 user.</a:t>
            </a:r>
            <a:r>
              <a:rPr lang="en" sz="1200">
                <a:solidFill>
                  <a:srgbClr val="D2A8FF"/>
                </a:solidFill>
                <a:highlight>
                  <a:srgbClr val="121314"/>
                </a:highlight>
                <a:latin typeface="Courier New"/>
                <a:ea typeface="Courier New"/>
                <a:cs typeface="Courier New"/>
                <a:sym typeface="Courier New"/>
              </a:rPr>
              <a:t>getFriends</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C586C0"/>
                </a:solidFill>
                <a:highlight>
                  <a:srgbClr val="121314"/>
                </a:highlight>
                <a:latin typeface="Courier New"/>
                <a:ea typeface="Courier New"/>
                <a:cs typeface="Courier New"/>
                <a:sym typeface="Courier New"/>
              </a:rPr>
              <a:t>if</a:t>
            </a:r>
            <a:r>
              <a:rPr lang="en" sz="1200">
                <a:solidFill>
                  <a:srgbClr val="C9D1D9"/>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friends.</a:t>
            </a:r>
            <a:r>
              <a:rPr lang="en" sz="1200">
                <a:solidFill>
                  <a:srgbClr val="79C0FF"/>
                </a:solidFill>
                <a:highlight>
                  <a:srgbClr val="121314"/>
                </a:highlight>
                <a:latin typeface="Courier New"/>
                <a:ea typeface="Courier New"/>
                <a:cs typeface="Courier New"/>
                <a:sym typeface="Courier New"/>
              </a:rPr>
              <a:t>length</a:t>
            </a:r>
            <a:r>
              <a:rPr lang="en" sz="1200">
                <a:solidFill>
                  <a:srgbClr val="C9D1D9"/>
                </a:solidFill>
                <a:highlight>
                  <a:srgbClr val="121314"/>
                </a:highlight>
                <a:latin typeface="Courier New"/>
                <a:ea typeface="Courier New"/>
                <a:cs typeface="Courier New"/>
                <a:sym typeface="Courier New"/>
              </a:rPr>
              <a:t>) {</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console.</a:t>
            </a:r>
            <a:r>
              <a:rPr lang="en" sz="1200">
                <a:solidFill>
                  <a:srgbClr val="D2A8FF"/>
                </a:solidFill>
                <a:highlight>
                  <a:srgbClr val="121314"/>
                </a:highlight>
                <a:latin typeface="Courier New"/>
                <a:ea typeface="Courier New"/>
                <a:cs typeface="Courier New"/>
                <a:sym typeface="Courier New"/>
              </a:rPr>
              <a:t>log</a:t>
            </a:r>
            <a:r>
              <a:rPr lang="en" sz="1200">
                <a:solidFill>
                  <a:srgbClr val="C9D1D9"/>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"No friends found"</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C586C0"/>
                </a:solidFill>
                <a:highlight>
                  <a:srgbClr val="121314"/>
                </a:highlight>
                <a:latin typeface="Courier New"/>
                <a:ea typeface="Courier New"/>
                <a:cs typeface="Courier New"/>
                <a:sym typeface="Courier New"/>
              </a:rPr>
              <a:t>break</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C586C0"/>
                </a:solidFill>
                <a:highlight>
                  <a:srgbClr val="121314"/>
                </a:highlight>
                <a:latin typeface="Courier New"/>
                <a:ea typeface="Courier New"/>
                <a:cs typeface="Courier New"/>
                <a:sym typeface="Courier New"/>
              </a:rPr>
              <a:t>for</a:t>
            </a:r>
            <a:r>
              <a:rPr lang="en" sz="1200">
                <a:solidFill>
                  <a:srgbClr val="C9D1D9"/>
                </a:solidFill>
                <a:highlight>
                  <a:srgbClr val="121314"/>
                </a:highlight>
                <a:latin typeface="Courier New"/>
                <a:ea typeface="Courier New"/>
                <a:cs typeface="Courier New"/>
                <a:sym typeface="Courier New"/>
              </a:rPr>
              <a:t> (</a:t>
            </a:r>
            <a:r>
              <a:rPr lang="en" sz="1200">
                <a:solidFill>
                  <a:srgbClr val="FF7B72"/>
                </a:solidFill>
                <a:highlight>
                  <a:srgbClr val="121314"/>
                </a:highlight>
                <a:latin typeface="Courier New"/>
                <a:ea typeface="Courier New"/>
                <a:cs typeface="Courier New"/>
                <a:sym typeface="Courier New"/>
              </a:rPr>
              <a:t>const</a:t>
            </a:r>
            <a:r>
              <a:rPr lang="en" sz="1200">
                <a:solidFill>
                  <a:srgbClr val="C9D1D9"/>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friend</a:t>
            </a:r>
            <a:r>
              <a:rPr lang="en" sz="1200">
                <a:solidFill>
                  <a:srgbClr val="C9D1D9"/>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of</a:t>
            </a:r>
            <a:r>
              <a:rPr lang="en" sz="1200">
                <a:solidFill>
                  <a:srgbClr val="C9D1D9"/>
                </a:solidFill>
                <a:highlight>
                  <a:srgbClr val="121314"/>
                </a:highlight>
                <a:latin typeface="Courier New"/>
                <a:ea typeface="Courier New"/>
                <a:cs typeface="Courier New"/>
                <a:sym typeface="Courier New"/>
              </a:rPr>
              <a:t> friends) {</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D2A8FF"/>
                </a:solidFill>
                <a:highlight>
                  <a:srgbClr val="121314"/>
                </a:highlight>
                <a:latin typeface="Courier New"/>
                <a:ea typeface="Courier New"/>
                <a:cs typeface="Courier New"/>
                <a:sym typeface="Courier New"/>
              </a:rPr>
              <a:t>handleFriend</a:t>
            </a:r>
            <a:r>
              <a:rPr lang="en" sz="1200">
                <a:solidFill>
                  <a:srgbClr val="C9D1D9"/>
                </a:solidFill>
                <a:highlight>
                  <a:srgbClr val="121314"/>
                </a:highlight>
                <a:latin typeface="Courier New"/>
                <a:ea typeface="Courier New"/>
                <a:cs typeface="Courier New"/>
                <a:sym typeface="Courier New"/>
              </a:rPr>
              <a:t>(friend);</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586C0"/>
                </a:solidFill>
                <a:highlight>
                  <a:srgbClr val="121314"/>
                </a:highlight>
                <a:latin typeface="Courier New"/>
                <a:ea typeface="Courier New"/>
                <a:cs typeface="Courier New"/>
                <a:sym typeface="Courier New"/>
              </a:rPr>
              <a:t>while</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false</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p:txBody>
      </p:sp>
      <p:sp>
        <p:nvSpPr>
          <p:cNvPr id="901" name="Google Shape;901;p122"/>
          <p:cNvSpPr txBox="1"/>
          <p:nvPr/>
        </p:nvSpPr>
        <p:spPr>
          <a:xfrm>
            <a:off x="4836825" y="1270550"/>
            <a:ext cx="3855600" cy="35709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C8C8C8"/>
                </a:solidFill>
                <a:highlight>
                  <a:srgbClr val="121314"/>
                </a:highlight>
                <a:latin typeface="Courier New"/>
                <a:ea typeface="Courier New"/>
                <a:cs typeface="Courier New"/>
                <a:sym typeface="Courier New"/>
              </a:rPr>
              <a:t>handleFriends</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C586C0"/>
                </a:solidFill>
                <a:highlight>
                  <a:srgbClr val="121314"/>
                </a:highlight>
                <a:latin typeface="Courier New"/>
                <a:ea typeface="Courier New"/>
                <a:cs typeface="Courier New"/>
                <a:sym typeface="Courier New"/>
              </a:rPr>
              <a:t>if</a:t>
            </a:r>
            <a:r>
              <a:rPr lang="en" sz="1200">
                <a:solidFill>
                  <a:srgbClr val="C9D1D9"/>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user.loggedIn) {</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console.</a:t>
            </a:r>
            <a:r>
              <a:rPr lang="en" sz="1200">
                <a:solidFill>
                  <a:srgbClr val="D2A8FF"/>
                </a:solidFill>
                <a:highlight>
                  <a:srgbClr val="121314"/>
                </a:highlight>
                <a:latin typeface="Courier New"/>
                <a:ea typeface="Courier New"/>
                <a:cs typeface="Courier New"/>
                <a:sym typeface="Courier New"/>
              </a:rPr>
              <a:t>log</a:t>
            </a:r>
            <a:r>
              <a:rPr lang="en" sz="1200">
                <a:solidFill>
                  <a:srgbClr val="C9D1D9"/>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"You are not logged in"</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C586C0"/>
                </a:solidFill>
                <a:highlight>
                  <a:srgbClr val="121314"/>
                </a:highlight>
                <a:latin typeface="Courier New"/>
                <a:ea typeface="Courier New"/>
                <a:cs typeface="Courier New"/>
                <a:sym typeface="Courier New"/>
              </a:rPr>
              <a:t>break</a:t>
            </a:r>
            <a:r>
              <a:rPr lang="en" sz="1200">
                <a:solidFill>
                  <a:srgbClr val="C9D1D9"/>
                </a:solidFill>
                <a:highlight>
                  <a:srgbClr val="121314"/>
                </a:highlight>
                <a:latin typeface="Courier New"/>
                <a:ea typeface="Courier New"/>
                <a:cs typeface="Courier New"/>
                <a:sym typeface="Courier New"/>
              </a:rPr>
              <a:t> </a:t>
            </a:r>
            <a:r>
              <a:rPr lang="en" sz="1200">
                <a:solidFill>
                  <a:srgbClr val="C8C8C8"/>
                </a:solidFill>
                <a:highlight>
                  <a:srgbClr val="121314"/>
                </a:highlight>
                <a:latin typeface="Courier New"/>
                <a:ea typeface="Courier New"/>
                <a:cs typeface="Courier New"/>
                <a:sym typeface="Courier New"/>
              </a:rPr>
              <a:t>handleFriends</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FF7B72"/>
                </a:solidFill>
                <a:highlight>
                  <a:srgbClr val="121314"/>
                </a:highlight>
                <a:latin typeface="Courier New"/>
                <a:ea typeface="Courier New"/>
                <a:cs typeface="Courier New"/>
                <a:sym typeface="Courier New"/>
              </a:rPr>
              <a:t>const</a:t>
            </a:r>
            <a:r>
              <a:rPr lang="en" sz="1200">
                <a:solidFill>
                  <a:srgbClr val="C9D1D9"/>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friends</a:t>
            </a:r>
            <a:r>
              <a:rPr lang="en" sz="1200">
                <a:solidFill>
                  <a:srgbClr val="C9D1D9"/>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 user.</a:t>
            </a:r>
            <a:r>
              <a:rPr lang="en" sz="1200">
                <a:solidFill>
                  <a:srgbClr val="D2A8FF"/>
                </a:solidFill>
                <a:highlight>
                  <a:srgbClr val="121314"/>
                </a:highlight>
                <a:latin typeface="Courier New"/>
                <a:ea typeface="Courier New"/>
                <a:cs typeface="Courier New"/>
                <a:sym typeface="Courier New"/>
              </a:rPr>
              <a:t>getFriends</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C586C0"/>
                </a:solidFill>
                <a:highlight>
                  <a:srgbClr val="121314"/>
                </a:highlight>
                <a:latin typeface="Courier New"/>
                <a:ea typeface="Courier New"/>
                <a:cs typeface="Courier New"/>
                <a:sym typeface="Courier New"/>
              </a:rPr>
              <a:t>if</a:t>
            </a:r>
            <a:r>
              <a:rPr lang="en" sz="1200">
                <a:solidFill>
                  <a:srgbClr val="C9D1D9"/>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friends.</a:t>
            </a:r>
            <a:r>
              <a:rPr lang="en" sz="1200">
                <a:solidFill>
                  <a:srgbClr val="79C0FF"/>
                </a:solidFill>
                <a:highlight>
                  <a:srgbClr val="121314"/>
                </a:highlight>
                <a:latin typeface="Courier New"/>
                <a:ea typeface="Courier New"/>
                <a:cs typeface="Courier New"/>
                <a:sym typeface="Courier New"/>
              </a:rPr>
              <a:t>length</a:t>
            </a:r>
            <a:r>
              <a:rPr lang="en" sz="1200">
                <a:solidFill>
                  <a:srgbClr val="C9D1D9"/>
                </a:solidFill>
                <a:highlight>
                  <a:srgbClr val="121314"/>
                </a:highlight>
                <a:latin typeface="Courier New"/>
                <a:ea typeface="Courier New"/>
                <a:cs typeface="Courier New"/>
                <a:sym typeface="Courier New"/>
              </a:rPr>
              <a:t>) {</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console.</a:t>
            </a:r>
            <a:r>
              <a:rPr lang="en" sz="1200">
                <a:solidFill>
                  <a:srgbClr val="D2A8FF"/>
                </a:solidFill>
                <a:highlight>
                  <a:srgbClr val="121314"/>
                </a:highlight>
                <a:latin typeface="Courier New"/>
                <a:ea typeface="Courier New"/>
                <a:cs typeface="Courier New"/>
                <a:sym typeface="Courier New"/>
              </a:rPr>
              <a:t>log</a:t>
            </a:r>
            <a:r>
              <a:rPr lang="en" sz="1200">
                <a:solidFill>
                  <a:srgbClr val="C9D1D9"/>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"No friends found"</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marR="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C586C0"/>
                </a:solidFill>
                <a:highlight>
                  <a:srgbClr val="121314"/>
                </a:highlight>
                <a:latin typeface="Courier New"/>
                <a:ea typeface="Courier New"/>
                <a:cs typeface="Courier New"/>
                <a:sym typeface="Courier New"/>
              </a:rPr>
              <a:t>break </a:t>
            </a:r>
            <a:r>
              <a:rPr lang="en" sz="1200">
                <a:solidFill>
                  <a:srgbClr val="C8C8C8"/>
                </a:solidFill>
                <a:highlight>
                  <a:srgbClr val="121314"/>
                </a:highlight>
                <a:latin typeface="Courier New"/>
                <a:ea typeface="Courier New"/>
                <a:cs typeface="Courier New"/>
                <a:sym typeface="Courier New"/>
              </a:rPr>
              <a:t>handleFriends</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C586C0"/>
                </a:solidFill>
                <a:highlight>
                  <a:srgbClr val="121314"/>
                </a:highlight>
                <a:latin typeface="Courier New"/>
                <a:ea typeface="Courier New"/>
                <a:cs typeface="Courier New"/>
                <a:sym typeface="Courier New"/>
              </a:rPr>
              <a:t>for</a:t>
            </a:r>
            <a:r>
              <a:rPr lang="en" sz="1200">
                <a:solidFill>
                  <a:srgbClr val="C9D1D9"/>
                </a:solidFill>
                <a:highlight>
                  <a:srgbClr val="121314"/>
                </a:highlight>
                <a:latin typeface="Courier New"/>
                <a:ea typeface="Courier New"/>
                <a:cs typeface="Courier New"/>
                <a:sym typeface="Courier New"/>
              </a:rPr>
              <a:t> (</a:t>
            </a:r>
            <a:r>
              <a:rPr lang="en" sz="1200">
                <a:solidFill>
                  <a:srgbClr val="FF7B72"/>
                </a:solidFill>
                <a:highlight>
                  <a:srgbClr val="121314"/>
                </a:highlight>
                <a:latin typeface="Courier New"/>
                <a:ea typeface="Courier New"/>
                <a:cs typeface="Courier New"/>
                <a:sym typeface="Courier New"/>
              </a:rPr>
              <a:t>const</a:t>
            </a:r>
            <a:r>
              <a:rPr lang="en" sz="1200">
                <a:solidFill>
                  <a:srgbClr val="C9D1D9"/>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friend</a:t>
            </a:r>
            <a:r>
              <a:rPr lang="en" sz="1200">
                <a:solidFill>
                  <a:srgbClr val="C9D1D9"/>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of</a:t>
            </a:r>
            <a:r>
              <a:rPr lang="en" sz="1200">
                <a:solidFill>
                  <a:srgbClr val="C9D1D9"/>
                </a:solidFill>
                <a:highlight>
                  <a:srgbClr val="121314"/>
                </a:highlight>
                <a:latin typeface="Courier New"/>
                <a:ea typeface="Courier New"/>
                <a:cs typeface="Courier New"/>
                <a:sym typeface="Courier New"/>
              </a:rPr>
              <a:t> friends) {</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D2A8FF"/>
                </a:solidFill>
                <a:highlight>
                  <a:srgbClr val="121314"/>
                </a:highlight>
                <a:latin typeface="Courier New"/>
                <a:ea typeface="Courier New"/>
                <a:cs typeface="Courier New"/>
                <a:sym typeface="Courier New"/>
              </a:rPr>
              <a:t>handleFriend</a:t>
            </a:r>
            <a:r>
              <a:rPr lang="en" sz="1200">
                <a:solidFill>
                  <a:srgbClr val="C9D1D9"/>
                </a:solidFill>
                <a:highlight>
                  <a:srgbClr val="121314"/>
                </a:highlight>
                <a:latin typeface="Courier New"/>
                <a:ea typeface="Courier New"/>
                <a:cs typeface="Courier New"/>
                <a:sym typeface="Courier New"/>
              </a:rPr>
              <a:t>(friend);</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p12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 loop</a:t>
            </a:r>
            <a:endParaRPr/>
          </a:p>
        </p:txBody>
      </p:sp>
      <p:sp>
        <p:nvSpPr>
          <p:cNvPr id="907" name="Google Shape;907;p12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112</a:t>
            </a:fld>
            <a:endParaRPr/>
          </a:p>
        </p:txBody>
      </p:sp>
      <p:sp>
        <p:nvSpPr>
          <p:cNvPr id="908" name="Google Shape;908;p123"/>
          <p:cNvSpPr txBox="1">
            <a:spLocks noGrp="1"/>
          </p:cNvSpPr>
          <p:nvPr>
            <p:ph type="body" idx="1"/>
          </p:nvPr>
        </p:nvSpPr>
        <p:spPr>
          <a:xfrm>
            <a:off x="311700" y="1152475"/>
            <a:ext cx="8520600" cy="1677900"/>
          </a:xfrm>
          <a:prstGeom prst="rect">
            <a:avLst/>
          </a:prstGeom>
        </p:spPr>
        <p:txBody>
          <a:bodyPr spcFirstLastPara="1" wrap="square" lIns="91425" tIns="91425" rIns="91425" bIns="91425" anchor="t" anchorCtr="0">
            <a:normAutofit fontScale="85000" lnSpcReduction="20000"/>
          </a:bodyPr>
          <a:lstStyle/>
          <a:p>
            <a:pPr marL="457200" lvl="0" indent="-325755" algn="l" rtl="0">
              <a:spcBef>
                <a:spcPts val="0"/>
              </a:spcBef>
              <a:spcAft>
                <a:spcPts val="0"/>
              </a:spcAft>
              <a:buSzPct val="100000"/>
              <a:buChar char="●"/>
            </a:pPr>
            <a:r>
              <a:rPr lang="en"/>
              <a:t>The for statement creates a loop that consists of three optional expressions, enclosed in parentheses and separated by semicolons, followed by a statement (usually a block statement) to be executed in the loop.</a:t>
            </a:r>
            <a:endParaRPr/>
          </a:p>
          <a:p>
            <a:pPr marL="457200" lvl="0" indent="-325755" algn="l" rtl="0">
              <a:spcBef>
                <a:spcPts val="0"/>
              </a:spcBef>
              <a:spcAft>
                <a:spcPts val="0"/>
              </a:spcAft>
              <a:buSzPct val="100000"/>
              <a:buChar char="●"/>
            </a:pPr>
            <a:r>
              <a:rPr lang="en"/>
              <a:t>Syntax:</a:t>
            </a:r>
            <a:endParaRPr/>
          </a:p>
          <a:p>
            <a:pPr marL="914400" lvl="1" indent="-304165" algn="l" rtl="0">
              <a:spcBef>
                <a:spcPts val="0"/>
              </a:spcBef>
              <a:spcAft>
                <a:spcPts val="0"/>
              </a:spcAft>
              <a:buSzPct val="100000"/>
              <a:buChar char="○"/>
            </a:pPr>
            <a:r>
              <a:rPr lang="en"/>
              <a:t>for (initialization; condition; afterthought)</a:t>
            </a:r>
            <a:endParaRPr/>
          </a:p>
          <a:p>
            <a:pPr marL="914400" lvl="1" indent="-304165" algn="l" rtl="0">
              <a:spcBef>
                <a:spcPts val="0"/>
              </a:spcBef>
              <a:spcAft>
                <a:spcPts val="0"/>
              </a:spcAft>
              <a:buSzPct val="100000"/>
              <a:buChar char="○"/>
            </a:pPr>
            <a:r>
              <a:rPr lang="en"/>
              <a:t>  Statement</a:t>
            </a:r>
            <a:endParaRPr/>
          </a:p>
          <a:p>
            <a:pPr marL="914400" lvl="1" indent="-304165" algn="l" rtl="0">
              <a:spcBef>
                <a:spcPts val="0"/>
              </a:spcBef>
              <a:spcAft>
                <a:spcPts val="0"/>
              </a:spcAft>
              <a:buSzPct val="100000"/>
              <a:buChar char="○"/>
            </a:pPr>
            <a:r>
              <a:rPr lang="en"/>
              <a:t>All three expressions in the head of the for loop are optional.</a:t>
            </a:r>
            <a:endParaRPr/>
          </a:p>
        </p:txBody>
      </p:sp>
      <p:sp>
        <p:nvSpPr>
          <p:cNvPr id="909" name="Google Shape;909;p123"/>
          <p:cNvSpPr txBox="1"/>
          <p:nvPr/>
        </p:nvSpPr>
        <p:spPr>
          <a:xfrm>
            <a:off x="236561" y="2830363"/>
            <a:ext cx="3000000" cy="8619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C586C0"/>
                </a:solidFill>
                <a:highlight>
                  <a:srgbClr val="121314"/>
                </a:highlight>
                <a:latin typeface="Courier New"/>
                <a:ea typeface="Courier New"/>
                <a:cs typeface="Courier New"/>
                <a:sym typeface="Courier New"/>
              </a:rPr>
              <a:t>for</a:t>
            </a:r>
            <a:r>
              <a:rPr lang="en" sz="1200">
                <a:solidFill>
                  <a:srgbClr val="BBBEBF"/>
                </a:solidFill>
                <a:highlight>
                  <a:srgbClr val="121314"/>
                </a:highlight>
                <a:latin typeface="Courier New"/>
                <a:ea typeface="Courier New"/>
                <a:cs typeface="Courier New"/>
                <a:sym typeface="Courier New"/>
              </a:rPr>
              <a:t> (</a:t>
            </a:r>
            <a:r>
              <a:rPr lang="en" sz="1200">
                <a:solidFill>
                  <a:srgbClr val="FF7B72"/>
                </a:solidFill>
                <a:highlight>
                  <a:srgbClr val="121314"/>
                </a:highlight>
                <a:latin typeface="Courier New"/>
                <a:ea typeface="Courier New"/>
                <a:cs typeface="Courier New"/>
                <a:sym typeface="Courier New"/>
              </a:rPr>
              <a:t>let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i</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0</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i</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&lt;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9</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i</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console.</a:t>
            </a:r>
            <a:r>
              <a:rPr lang="en" sz="1200">
                <a:solidFill>
                  <a:srgbClr val="D2A8FF"/>
                </a:solidFill>
                <a:highlight>
                  <a:srgbClr val="121314"/>
                </a:highlight>
                <a:latin typeface="Courier New"/>
                <a:ea typeface="Courier New"/>
                <a:cs typeface="Courier New"/>
                <a:sym typeface="Courier New"/>
              </a:rPr>
              <a:t>log</a:t>
            </a:r>
            <a:r>
              <a:rPr lang="en" sz="1200">
                <a:solidFill>
                  <a:srgbClr val="C9D1D9"/>
                </a:solidFill>
                <a:highlight>
                  <a:srgbClr val="121314"/>
                </a:highlight>
                <a:latin typeface="Courier New"/>
                <a:ea typeface="Courier New"/>
                <a:cs typeface="Courier New"/>
                <a:sym typeface="Courier New"/>
              </a:rPr>
              <a:t>(i);</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p:txBody>
      </p:sp>
      <p:sp>
        <p:nvSpPr>
          <p:cNvPr id="910" name="Google Shape;910;p123"/>
          <p:cNvSpPr txBox="1"/>
          <p:nvPr/>
        </p:nvSpPr>
        <p:spPr>
          <a:xfrm>
            <a:off x="1674204" y="3974138"/>
            <a:ext cx="2085600" cy="11082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let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i</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0</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586C0"/>
                </a:solidFill>
                <a:highlight>
                  <a:srgbClr val="121314"/>
                </a:highlight>
                <a:latin typeface="Courier New"/>
                <a:ea typeface="Courier New"/>
                <a:cs typeface="Courier New"/>
                <a:sym typeface="Courier New"/>
              </a:rPr>
              <a:t>for</a:t>
            </a:r>
            <a:r>
              <a:rPr lang="en" sz="1200">
                <a:solidFill>
                  <a:srgbClr val="BBBEBF"/>
                </a:solidFill>
                <a:highlight>
                  <a:srgbClr val="121314"/>
                </a:highlight>
                <a:latin typeface="Courier New"/>
                <a:ea typeface="Courier New"/>
                <a:cs typeface="Courier New"/>
                <a:sym typeface="Courier New"/>
              </a:rPr>
              <a:t> (; </a:t>
            </a:r>
            <a:r>
              <a:rPr lang="en" sz="1200">
                <a:solidFill>
                  <a:srgbClr val="C9D1D9"/>
                </a:solidFill>
                <a:highlight>
                  <a:srgbClr val="121314"/>
                </a:highlight>
                <a:latin typeface="Courier New"/>
                <a:ea typeface="Courier New"/>
                <a:cs typeface="Courier New"/>
                <a:sym typeface="Courier New"/>
              </a:rPr>
              <a:t>i</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&lt;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9</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i</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console.</a:t>
            </a:r>
            <a:r>
              <a:rPr lang="en" sz="1200">
                <a:solidFill>
                  <a:srgbClr val="D2A8FF"/>
                </a:solidFill>
                <a:highlight>
                  <a:srgbClr val="121314"/>
                </a:highlight>
                <a:latin typeface="Courier New"/>
                <a:ea typeface="Courier New"/>
                <a:cs typeface="Courier New"/>
                <a:sym typeface="Courier New"/>
              </a:rPr>
              <a:t>log</a:t>
            </a:r>
            <a:r>
              <a:rPr lang="en" sz="1200">
                <a:solidFill>
                  <a:srgbClr val="C9D1D9"/>
                </a:solidFill>
                <a:highlight>
                  <a:srgbClr val="121314"/>
                </a:highlight>
                <a:latin typeface="Courier New"/>
                <a:ea typeface="Courier New"/>
                <a:cs typeface="Courier New"/>
                <a:sym typeface="Courier New"/>
              </a:rPr>
              <a:t>(i);</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p:txBody>
      </p:sp>
      <p:sp>
        <p:nvSpPr>
          <p:cNvPr id="911" name="Google Shape;911;p123"/>
          <p:cNvSpPr txBox="1"/>
          <p:nvPr/>
        </p:nvSpPr>
        <p:spPr>
          <a:xfrm>
            <a:off x="3986869" y="3974150"/>
            <a:ext cx="2488500" cy="11082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C586C0"/>
                </a:solidFill>
                <a:highlight>
                  <a:srgbClr val="121314"/>
                </a:highlight>
                <a:latin typeface="Courier New"/>
                <a:ea typeface="Courier New"/>
                <a:cs typeface="Courier New"/>
                <a:sym typeface="Courier New"/>
              </a:rPr>
              <a:t>for</a:t>
            </a:r>
            <a:r>
              <a:rPr lang="en" sz="1200">
                <a:solidFill>
                  <a:srgbClr val="BBBEBF"/>
                </a:solidFill>
                <a:highlight>
                  <a:srgbClr val="121314"/>
                </a:highlight>
                <a:latin typeface="Courier New"/>
                <a:ea typeface="Courier New"/>
                <a:cs typeface="Courier New"/>
                <a:sym typeface="Courier New"/>
              </a:rPr>
              <a:t> (</a:t>
            </a:r>
            <a:r>
              <a:rPr lang="en" sz="1200">
                <a:solidFill>
                  <a:srgbClr val="FF7B72"/>
                </a:solidFill>
                <a:highlight>
                  <a:srgbClr val="121314"/>
                </a:highlight>
                <a:latin typeface="Courier New"/>
                <a:ea typeface="Courier New"/>
                <a:cs typeface="Courier New"/>
                <a:sym typeface="Courier New"/>
              </a:rPr>
              <a:t>let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i</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0</a:t>
            </a:r>
            <a:r>
              <a:rPr lang="en" sz="1200">
                <a:solidFill>
                  <a:srgbClr val="BBBEBF"/>
                </a:solidFill>
                <a:highlight>
                  <a:srgbClr val="121314"/>
                </a:highlight>
                <a:latin typeface="Courier New"/>
                <a:ea typeface="Courier New"/>
                <a:cs typeface="Courier New"/>
                <a:sym typeface="Courier New"/>
              </a:rPr>
              <a:t>; ; </a:t>
            </a:r>
            <a:r>
              <a:rPr lang="en" sz="1200">
                <a:solidFill>
                  <a:srgbClr val="C9D1D9"/>
                </a:solidFill>
                <a:highlight>
                  <a:srgbClr val="121314"/>
                </a:highlight>
                <a:latin typeface="Courier New"/>
                <a:ea typeface="Courier New"/>
                <a:cs typeface="Courier New"/>
                <a:sym typeface="Courier New"/>
              </a:rPr>
              <a:t>i</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console.</a:t>
            </a:r>
            <a:r>
              <a:rPr lang="en" sz="1200">
                <a:solidFill>
                  <a:srgbClr val="D2A8FF"/>
                </a:solidFill>
                <a:highlight>
                  <a:srgbClr val="121314"/>
                </a:highlight>
                <a:latin typeface="Courier New"/>
                <a:ea typeface="Courier New"/>
                <a:cs typeface="Courier New"/>
                <a:sym typeface="Courier New"/>
              </a:rPr>
              <a:t>log</a:t>
            </a:r>
            <a:r>
              <a:rPr lang="en" sz="1200">
                <a:solidFill>
                  <a:srgbClr val="C9D1D9"/>
                </a:solidFill>
                <a:highlight>
                  <a:srgbClr val="121314"/>
                </a:highlight>
                <a:latin typeface="Courier New"/>
                <a:ea typeface="Courier New"/>
                <a:cs typeface="Courier New"/>
                <a:sym typeface="Courier New"/>
              </a:rPr>
              <a:t>(i);</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C586C0"/>
                </a:solidFill>
                <a:highlight>
                  <a:srgbClr val="121314"/>
                </a:highlight>
                <a:latin typeface="Courier New"/>
                <a:ea typeface="Courier New"/>
                <a:cs typeface="Courier New"/>
                <a:sym typeface="Courier New"/>
              </a:rPr>
              <a:t>if</a:t>
            </a:r>
            <a:r>
              <a:rPr lang="en" sz="1200">
                <a:solidFill>
                  <a:srgbClr val="C9D1D9"/>
                </a:solidFill>
                <a:highlight>
                  <a:srgbClr val="121314"/>
                </a:highlight>
                <a:latin typeface="Courier New"/>
                <a:ea typeface="Courier New"/>
                <a:cs typeface="Courier New"/>
                <a:sym typeface="Courier New"/>
              </a:rPr>
              <a:t> (i </a:t>
            </a:r>
            <a:r>
              <a:rPr lang="en" sz="1200">
                <a:solidFill>
                  <a:srgbClr val="D4D4D4"/>
                </a:solidFill>
                <a:highlight>
                  <a:srgbClr val="121314"/>
                </a:highlight>
                <a:latin typeface="Courier New"/>
                <a:ea typeface="Courier New"/>
                <a:cs typeface="Courier New"/>
                <a:sym typeface="Courier New"/>
              </a:rPr>
              <a:t>&gt;</a:t>
            </a:r>
            <a:r>
              <a:rPr lang="en" sz="1200">
                <a:solidFill>
                  <a:srgbClr val="C9D1D9"/>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3</a:t>
            </a:r>
            <a:r>
              <a:rPr lang="en" sz="1200">
                <a:solidFill>
                  <a:srgbClr val="C9D1D9"/>
                </a:solidFill>
                <a:highlight>
                  <a:srgbClr val="121314"/>
                </a:highlight>
                <a:latin typeface="Courier New"/>
                <a:ea typeface="Courier New"/>
                <a:cs typeface="Courier New"/>
                <a:sym typeface="Courier New"/>
              </a:rPr>
              <a:t>) </a:t>
            </a:r>
            <a:r>
              <a:rPr lang="en" sz="1200">
                <a:solidFill>
                  <a:srgbClr val="C586C0"/>
                </a:solidFill>
                <a:highlight>
                  <a:srgbClr val="121314"/>
                </a:highlight>
                <a:latin typeface="Courier New"/>
                <a:ea typeface="Courier New"/>
                <a:cs typeface="Courier New"/>
                <a:sym typeface="Courier New"/>
              </a:rPr>
              <a:t>break</a:t>
            </a:r>
            <a:r>
              <a:rPr lang="en" sz="1200">
                <a:solidFill>
                  <a:srgbClr val="C9D1D9"/>
                </a:solidFill>
                <a:highlight>
                  <a:srgbClr val="121314"/>
                </a:highlight>
                <a:latin typeface="Courier New"/>
                <a:ea typeface="Courier New"/>
                <a:cs typeface="Courier New"/>
                <a:sym typeface="Courier New"/>
              </a:rPr>
              <a:t>;</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p:txBody>
      </p:sp>
      <p:sp>
        <p:nvSpPr>
          <p:cNvPr id="912" name="Google Shape;912;p123"/>
          <p:cNvSpPr txBox="1"/>
          <p:nvPr/>
        </p:nvSpPr>
        <p:spPr>
          <a:xfrm>
            <a:off x="6702444" y="3235250"/>
            <a:ext cx="1936500" cy="18471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let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i</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0</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586C0"/>
                </a:solidFill>
                <a:highlight>
                  <a:srgbClr val="121314"/>
                </a:highlight>
                <a:latin typeface="Courier New"/>
                <a:ea typeface="Courier New"/>
                <a:cs typeface="Courier New"/>
                <a:sym typeface="Courier New"/>
              </a:rPr>
              <a:t>for</a:t>
            </a:r>
            <a:r>
              <a:rPr lang="en" sz="1200">
                <a:solidFill>
                  <a:srgbClr val="BBBEBF"/>
                </a:solidFill>
                <a:highlight>
                  <a:srgbClr val="121314"/>
                </a:highlight>
                <a:latin typeface="Courier New"/>
                <a:ea typeface="Courier New"/>
                <a:cs typeface="Courier New"/>
                <a:sym typeface="Courier New"/>
              </a:rPr>
              <a:t> (;;)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C586C0"/>
                </a:solidFill>
                <a:highlight>
                  <a:srgbClr val="121314"/>
                </a:highlight>
                <a:latin typeface="Courier New"/>
                <a:ea typeface="Courier New"/>
                <a:cs typeface="Courier New"/>
                <a:sym typeface="Courier New"/>
              </a:rPr>
              <a:t>if</a:t>
            </a:r>
            <a:r>
              <a:rPr lang="en" sz="1200">
                <a:solidFill>
                  <a:srgbClr val="C9D1D9"/>
                </a:solidFill>
                <a:highlight>
                  <a:srgbClr val="121314"/>
                </a:highlight>
                <a:latin typeface="Courier New"/>
                <a:ea typeface="Courier New"/>
                <a:cs typeface="Courier New"/>
                <a:sym typeface="Courier New"/>
              </a:rPr>
              <a:t> (i </a:t>
            </a:r>
            <a:r>
              <a:rPr lang="en" sz="1200">
                <a:solidFill>
                  <a:srgbClr val="D4D4D4"/>
                </a:solidFill>
                <a:highlight>
                  <a:srgbClr val="121314"/>
                </a:highlight>
                <a:latin typeface="Courier New"/>
                <a:ea typeface="Courier New"/>
                <a:cs typeface="Courier New"/>
                <a:sym typeface="Courier New"/>
              </a:rPr>
              <a:t>&gt;</a:t>
            </a:r>
            <a:r>
              <a:rPr lang="en" sz="1200">
                <a:solidFill>
                  <a:srgbClr val="C9D1D9"/>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3</a:t>
            </a:r>
            <a:r>
              <a:rPr lang="en" sz="1200">
                <a:solidFill>
                  <a:srgbClr val="C9D1D9"/>
                </a:solidFill>
                <a:highlight>
                  <a:srgbClr val="121314"/>
                </a:highlight>
                <a:latin typeface="Courier New"/>
                <a:ea typeface="Courier New"/>
                <a:cs typeface="Courier New"/>
                <a:sym typeface="Courier New"/>
              </a:rPr>
              <a:t>) </a:t>
            </a:r>
            <a:r>
              <a:rPr lang="en" sz="1200">
                <a:solidFill>
                  <a:srgbClr val="C586C0"/>
                </a:solidFill>
                <a:highlight>
                  <a:srgbClr val="121314"/>
                </a:highlight>
                <a:latin typeface="Courier New"/>
                <a:ea typeface="Courier New"/>
                <a:cs typeface="Courier New"/>
                <a:sym typeface="Courier New"/>
              </a:rPr>
              <a:t>break</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console.</a:t>
            </a:r>
            <a:r>
              <a:rPr lang="en" sz="1200">
                <a:solidFill>
                  <a:srgbClr val="D2A8FF"/>
                </a:solidFill>
                <a:highlight>
                  <a:srgbClr val="121314"/>
                </a:highlight>
                <a:latin typeface="Courier New"/>
                <a:ea typeface="Courier New"/>
                <a:cs typeface="Courier New"/>
                <a:sym typeface="Courier New"/>
              </a:rPr>
              <a:t>log</a:t>
            </a:r>
            <a:r>
              <a:rPr lang="en" sz="1200">
                <a:solidFill>
                  <a:srgbClr val="C9D1D9"/>
                </a:solidFill>
                <a:highlight>
                  <a:srgbClr val="121314"/>
                </a:highlight>
                <a:latin typeface="Courier New"/>
                <a:ea typeface="Courier New"/>
                <a:cs typeface="Courier New"/>
                <a:sym typeface="Courier New"/>
              </a:rPr>
              <a:t>(i);</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i</a:t>
            </a:r>
            <a:r>
              <a:rPr lang="en" sz="1200">
                <a:solidFill>
                  <a:srgbClr val="D4D4D4"/>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p12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for...in loop</a:t>
            </a:r>
            <a:endParaRPr/>
          </a:p>
        </p:txBody>
      </p:sp>
      <p:sp>
        <p:nvSpPr>
          <p:cNvPr id="918" name="Google Shape;918;p12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113</a:t>
            </a:fld>
            <a:endParaRPr/>
          </a:p>
        </p:txBody>
      </p:sp>
      <p:sp>
        <p:nvSpPr>
          <p:cNvPr id="919" name="Google Shape;919;p124"/>
          <p:cNvSpPr txBox="1">
            <a:spLocks noGrp="1"/>
          </p:cNvSpPr>
          <p:nvPr>
            <p:ph type="body" idx="1"/>
          </p:nvPr>
        </p:nvSpPr>
        <p:spPr>
          <a:xfrm>
            <a:off x="311700" y="1152475"/>
            <a:ext cx="8520600" cy="19143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a:t>The for...in statement iterates over all enumerable string properties of an object (ignoring properties keyed by symbols), including inherited enumerable properties.</a:t>
            </a:r>
            <a:endParaRPr/>
          </a:p>
          <a:p>
            <a:pPr marL="457200" lvl="0" indent="-342900" algn="l" rtl="0">
              <a:spcBef>
                <a:spcPts val="0"/>
              </a:spcBef>
              <a:spcAft>
                <a:spcPts val="0"/>
              </a:spcAft>
              <a:buSzPts val="1800"/>
              <a:buChar char="●"/>
            </a:pPr>
            <a:r>
              <a:rPr lang="en"/>
              <a:t>Syntax:</a:t>
            </a:r>
            <a:endParaRPr/>
          </a:p>
          <a:p>
            <a:pPr marL="914400" lvl="1" indent="-317500" algn="l" rtl="0">
              <a:spcBef>
                <a:spcPts val="0"/>
              </a:spcBef>
              <a:spcAft>
                <a:spcPts val="0"/>
              </a:spcAft>
              <a:buSzPts val="1400"/>
              <a:buChar char="○"/>
            </a:pPr>
            <a:r>
              <a:rPr lang="en"/>
              <a:t>for (variable in object)</a:t>
            </a:r>
            <a:endParaRPr/>
          </a:p>
          <a:p>
            <a:pPr marL="914400" lvl="1" indent="-317500" algn="l" rtl="0">
              <a:spcBef>
                <a:spcPts val="0"/>
              </a:spcBef>
              <a:spcAft>
                <a:spcPts val="0"/>
              </a:spcAft>
              <a:buSzPts val="1400"/>
              <a:buChar char="○"/>
            </a:pPr>
            <a:r>
              <a:rPr lang="en"/>
              <a:t>  statement</a:t>
            </a:r>
            <a:endParaRPr/>
          </a:p>
        </p:txBody>
      </p:sp>
      <p:sp>
        <p:nvSpPr>
          <p:cNvPr id="920" name="Google Shape;920;p124"/>
          <p:cNvSpPr txBox="1"/>
          <p:nvPr/>
        </p:nvSpPr>
        <p:spPr>
          <a:xfrm>
            <a:off x="569550" y="3150825"/>
            <a:ext cx="4179600" cy="13545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obj</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 </a:t>
            </a:r>
            <a:r>
              <a:rPr lang="en" sz="1200">
                <a:solidFill>
                  <a:srgbClr val="9CDCFE"/>
                </a:solidFill>
                <a:highlight>
                  <a:srgbClr val="121314"/>
                </a:highlight>
                <a:latin typeface="Courier New"/>
                <a:ea typeface="Courier New"/>
                <a:cs typeface="Courier New"/>
                <a:sym typeface="Courier New"/>
              </a:rPr>
              <a:t>a:</a:t>
            </a:r>
            <a:r>
              <a:rPr lang="en" sz="1200">
                <a:solidFill>
                  <a:srgbClr val="C9D1D9"/>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1</a:t>
            </a:r>
            <a:r>
              <a:rPr lang="en" sz="1200">
                <a:solidFill>
                  <a:srgbClr val="BBBEBF"/>
                </a:solidFill>
                <a:highlight>
                  <a:srgbClr val="121314"/>
                </a:highlight>
                <a:latin typeface="Courier New"/>
                <a:ea typeface="Courier New"/>
                <a:cs typeface="Courier New"/>
                <a:sym typeface="Courier New"/>
              </a:rPr>
              <a:t>, </a:t>
            </a:r>
            <a:r>
              <a:rPr lang="en" sz="1200">
                <a:solidFill>
                  <a:srgbClr val="9CDCFE"/>
                </a:solidFill>
                <a:highlight>
                  <a:srgbClr val="121314"/>
                </a:highlight>
                <a:latin typeface="Courier New"/>
                <a:ea typeface="Courier New"/>
                <a:cs typeface="Courier New"/>
                <a:sym typeface="Courier New"/>
              </a:rPr>
              <a:t>b:</a:t>
            </a:r>
            <a:r>
              <a:rPr lang="en" sz="1200">
                <a:solidFill>
                  <a:srgbClr val="C9D1D9"/>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2</a:t>
            </a:r>
            <a:r>
              <a:rPr lang="en" sz="1200">
                <a:solidFill>
                  <a:srgbClr val="BBBEBF"/>
                </a:solidFill>
                <a:highlight>
                  <a:srgbClr val="121314"/>
                </a:highlight>
                <a:latin typeface="Courier New"/>
                <a:ea typeface="Courier New"/>
                <a:cs typeface="Courier New"/>
                <a:sym typeface="Courier New"/>
              </a:rPr>
              <a:t>, </a:t>
            </a:r>
            <a:r>
              <a:rPr lang="en" sz="1200">
                <a:solidFill>
                  <a:srgbClr val="9CDCFE"/>
                </a:solidFill>
                <a:highlight>
                  <a:srgbClr val="121314"/>
                </a:highlight>
                <a:latin typeface="Courier New"/>
                <a:ea typeface="Courier New"/>
                <a:cs typeface="Courier New"/>
                <a:sym typeface="Courier New"/>
              </a:rPr>
              <a:t>c:</a:t>
            </a:r>
            <a:r>
              <a:rPr lang="en" sz="1200">
                <a:solidFill>
                  <a:srgbClr val="C9D1D9"/>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3</a:t>
            </a:r>
            <a:r>
              <a:rPr lang="en" sz="1200">
                <a:solidFill>
                  <a:srgbClr val="C9D1D9"/>
                </a:solidFill>
                <a:highlight>
                  <a:srgbClr val="121314"/>
                </a:highlight>
                <a:latin typeface="Courier New"/>
                <a:ea typeface="Courier New"/>
                <a:cs typeface="Courier New"/>
                <a:sym typeface="Courier New"/>
              </a:rPr>
              <a:t> </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586C0"/>
                </a:solidFill>
                <a:highlight>
                  <a:srgbClr val="121314"/>
                </a:highlight>
                <a:latin typeface="Courier New"/>
                <a:ea typeface="Courier New"/>
                <a:cs typeface="Courier New"/>
                <a:sym typeface="Courier New"/>
              </a:rPr>
              <a:t>for</a:t>
            </a:r>
            <a:r>
              <a:rPr lang="en" sz="1200">
                <a:solidFill>
                  <a:srgbClr val="BBBEBF"/>
                </a:solidFill>
                <a:highlight>
                  <a:srgbClr val="121314"/>
                </a:highlight>
                <a:latin typeface="Courier New"/>
                <a:ea typeface="Courier New"/>
                <a:cs typeface="Courier New"/>
                <a:sym typeface="Courier New"/>
              </a:rPr>
              <a:t> (</a:t>
            </a: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prop</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in</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obj</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console.</a:t>
            </a:r>
            <a:r>
              <a:rPr lang="en" sz="1200">
                <a:solidFill>
                  <a:srgbClr val="D2A8FF"/>
                </a:solidFill>
                <a:highlight>
                  <a:srgbClr val="121314"/>
                </a:highlight>
                <a:latin typeface="Courier New"/>
                <a:ea typeface="Courier New"/>
                <a:cs typeface="Courier New"/>
                <a:sym typeface="Courier New"/>
              </a:rPr>
              <a:t>log</a:t>
            </a:r>
            <a:r>
              <a:rPr lang="en" sz="1200">
                <a:solidFill>
                  <a:srgbClr val="C9D1D9"/>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`obj.</a:t>
            </a:r>
            <a:r>
              <a:rPr lang="en" sz="1200">
                <a:solidFill>
                  <a:srgbClr val="569CD6"/>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prop</a:t>
            </a:r>
            <a:r>
              <a:rPr lang="en" sz="1200">
                <a:solidFill>
                  <a:srgbClr val="569CD6"/>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 = </a:t>
            </a:r>
            <a:r>
              <a:rPr lang="en" sz="1200">
                <a:solidFill>
                  <a:srgbClr val="569CD6"/>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obj</a:t>
            </a:r>
            <a:r>
              <a:rPr lang="en" sz="1200">
                <a:solidFill>
                  <a:srgbClr val="D4D4D4"/>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prop</a:t>
            </a:r>
            <a:r>
              <a:rPr lang="en" sz="1200">
                <a:solidFill>
                  <a:srgbClr val="D4D4D4"/>
                </a:solidFill>
                <a:highlight>
                  <a:srgbClr val="121314"/>
                </a:highlight>
                <a:latin typeface="Courier New"/>
                <a:ea typeface="Courier New"/>
                <a:cs typeface="Courier New"/>
                <a:sym typeface="Courier New"/>
              </a:rPr>
              <a:t>]</a:t>
            </a:r>
            <a:r>
              <a:rPr lang="en" sz="1200">
                <a:solidFill>
                  <a:srgbClr val="569CD6"/>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p:txBody>
      </p:sp>
      <p:sp>
        <p:nvSpPr>
          <p:cNvPr id="921" name="Google Shape;921;p124"/>
          <p:cNvSpPr txBox="1"/>
          <p:nvPr/>
        </p:nvSpPr>
        <p:spPr>
          <a:xfrm>
            <a:off x="4867100" y="3150825"/>
            <a:ext cx="4179600" cy="16008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obj</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 </a:t>
            </a:r>
            <a:r>
              <a:rPr lang="en" sz="1200">
                <a:solidFill>
                  <a:srgbClr val="9CDCFE"/>
                </a:solidFill>
                <a:highlight>
                  <a:srgbClr val="121314"/>
                </a:highlight>
                <a:latin typeface="Courier New"/>
                <a:ea typeface="Courier New"/>
                <a:cs typeface="Courier New"/>
                <a:sym typeface="Courier New"/>
              </a:rPr>
              <a:t>a:</a:t>
            </a:r>
            <a:r>
              <a:rPr lang="en" sz="1200">
                <a:solidFill>
                  <a:srgbClr val="C9D1D9"/>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1</a:t>
            </a:r>
            <a:r>
              <a:rPr lang="en" sz="1200">
                <a:solidFill>
                  <a:srgbClr val="BBBEBF"/>
                </a:solidFill>
                <a:highlight>
                  <a:srgbClr val="121314"/>
                </a:highlight>
                <a:latin typeface="Courier New"/>
                <a:ea typeface="Courier New"/>
                <a:cs typeface="Courier New"/>
                <a:sym typeface="Courier New"/>
              </a:rPr>
              <a:t>, </a:t>
            </a:r>
            <a:r>
              <a:rPr lang="en" sz="1200">
                <a:solidFill>
                  <a:srgbClr val="9CDCFE"/>
                </a:solidFill>
                <a:highlight>
                  <a:srgbClr val="121314"/>
                </a:highlight>
                <a:latin typeface="Courier New"/>
                <a:ea typeface="Courier New"/>
                <a:cs typeface="Courier New"/>
                <a:sym typeface="Courier New"/>
              </a:rPr>
              <a:t>b:</a:t>
            </a:r>
            <a:r>
              <a:rPr lang="en" sz="1200">
                <a:solidFill>
                  <a:srgbClr val="C9D1D9"/>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2</a:t>
            </a:r>
            <a:r>
              <a:rPr lang="en" sz="1200">
                <a:solidFill>
                  <a:srgbClr val="C9D1D9"/>
                </a:solidFill>
                <a:highlight>
                  <a:srgbClr val="121314"/>
                </a:highlight>
                <a:latin typeface="Courier New"/>
                <a:ea typeface="Courier New"/>
                <a:cs typeface="Courier New"/>
                <a:sym typeface="Courier New"/>
              </a:rPr>
              <a:t> </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586C0"/>
                </a:solidFill>
                <a:highlight>
                  <a:srgbClr val="121314"/>
                </a:highlight>
                <a:latin typeface="Courier New"/>
                <a:ea typeface="Courier New"/>
                <a:cs typeface="Courier New"/>
                <a:sym typeface="Courier New"/>
              </a:rPr>
              <a:t>for</a:t>
            </a:r>
            <a:r>
              <a:rPr lang="en" sz="1200">
                <a:solidFill>
                  <a:srgbClr val="BBBEBF"/>
                </a:solidFill>
                <a:highlight>
                  <a:srgbClr val="121314"/>
                </a:highlight>
                <a:latin typeface="Courier New"/>
                <a:ea typeface="Courier New"/>
                <a:cs typeface="Courier New"/>
                <a:sym typeface="Courier New"/>
              </a:rPr>
              <a:t> (</a:t>
            </a: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prop</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in</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obj</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console.</a:t>
            </a:r>
            <a:r>
              <a:rPr lang="en" sz="1200">
                <a:solidFill>
                  <a:srgbClr val="D2A8FF"/>
                </a:solidFill>
                <a:highlight>
                  <a:srgbClr val="121314"/>
                </a:highlight>
                <a:latin typeface="Courier New"/>
                <a:ea typeface="Courier New"/>
                <a:cs typeface="Courier New"/>
                <a:sym typeface="Courier New"/>
              </a:rPr>
              <a:t>log</a:t>
            </a:r>
            <a:r>
              <a:rPr lang="en" sz="1200">
                <a:solidFill>
                  <a:srgbClr val="C9D1D9"/>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`obj.</a:t>
            </a:r>
            <a:r>
              <a:rPr lang="en" sz="1200">
                <a:solidFill>
                  <a:srgbClr val="569CD6"/>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prop</a:t>
            </a:r>
            <a:r>
              <a:rPr lang="en" sz="1200">
                <a:solidFill>
                  <a:srgbClr val="569CD6"/>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 = </a:t>
            </a:r>
            <a:r>
              <a:rPr lang="en" sz="1200">
                <a:solidFill>
                  <a:srgbClr val="569CD6"/>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obj</a:t>
            </a:r>
            <a:r>
              <a:rPr lang="en" sz="1200">
                <a:solidFill>
                  <a:srgbClr val="D4D4D4"/>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prop</a:t>
            </a:r>
            <a:r>
              <a:rPr lang="en" sz="1200">
                <a:solidFill>
                  <a:srgbClr val="D4D4D4"/>
                </a:solidFill>
                <a:highlight>
                  <a:srgbClr val="121314"/>
                </a:highlight>
                <a:latin typeface="Courier New"/>
                <a:ea typeface="Courier New"/>
                <a:cs typeface="Courier New"/>
                <a:sym typeface="Courier New"/>
              </a:rPr>
              <a:t>]</a:t>
            </a:r>
            <a:r>
              <a:rPr lang="en" sz="1200">
                <a:solidFill>
                  <a:srgbClr val="569CD6"/>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obj.c </a:t>
            </a:r>
            <a:r>
              <a:rPr lang="en" sz="1200">
                <a:solidFill>
                  <a:srgbClr val="D4D4D4"/>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3</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p12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for...of loop</a:t>
            </a:r>
            <a:endParaRPr/>
          </a:p>
        </p:txBody>
      </p:sp>
      <p:sp>
        <p:nvSpPr>
          <p:cNvPr id="927" name="Google Shape;927;p12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114</a:t>
            </a:fld>
            <a:endParaRPr/>
          </a:p>
        </p:txBody>
      </p:sp>
      <p:sp>
        <p:nvSpPr>
          <p:cNvPr id="928" name="Google Shape;928;p125"/>
          <p:cNvSpPr txBox="1">
            <a:spLocks noGrp="1"/>
          </p:cNvSpPr>
          <p:nvPr>
            <p:ph type="body" idx="1"/>
          </p:nvPr>
        </p:nvSpPr>
        <p:spPr>
          <a:xfrm>
            <a:off x="311700" y="1152475"/>
            <a:ext cx="8520600" cy="2370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The for...of statement executes a loop that operates on a sequence of values sourced from an iterable object.</a:t>
            </a:r>
            <a:endParaRPr/>
          </a:p>
          <a:p>
            <a:pPr marL="914400" lvl="1" indent="-317500" algn="l" rtl="0">
              <a:spcBef>
                <a:spcPts val="0"/>
              </a:spcBef>
              <a:spcAft>
                <a:spcPts val="0"/>
              </a:spcAft>
              <a:buSzPts val="1400"/>
              <a:buChar char="○"/>
            </a:pPr>
            <a:r>
              <a:rPr lang="en"/>
              <a:t>Iterable objects include instances of built-ins such as Array, String, TypedArray, Map, Set, NodeList (and other DOM collections), as well as the arguments object, generators produced by generator functions, and user-defined iterables.</a:t>
            </a:r>
            <a:endParaRPr/>
          </a:p>
          <a:p>
            <a:pPr marL="457200" lvl="0" indent="-342900" algn="l" rtl="0">
              <a:spcBef>
                <a:spcPts val="0"/>
              </a:spcBef>
              <a:spcAft>
                <a:spcPts val="0"/>
              </a:spcAft>
              <a:buSzPts val="1800"/>
              <a:buChar char="●"/>
            </a:pPr>
            <a:r>
              <a:rPr lang="en"/>
              <a:t>Syntax:</a:t>
            </a:r>
            <a:endParaRPr/>
          </a:p>
          <a:p>
            <a:pPr marL="914400" lvl="1" indent="-317500" algn="l" rtl="0">
              <a:spcBef>
                <a:spcPts val="0"/>
              </a:spcBef>
              <a:spcAft>
                <a:spcPts val="0"/>
              </a:spcAft>
              <a:buSzPts val="1400"/>
              <a:buChar char="○"/>
            </a:pPr>
            <a:r>
              <a:rPr lang="en"/>
              <a:t>for (variable of iterable)</a:t>
            </a:r>
            <a:endParaRPr/>
          </a:p>
          <a:p>
            <a:pPr marL="914400" lvl="1" indent="-317500" algn="l" rtl="0">
              <a:spcBef>
                <a:spcPts val="0"/>
              </a:spcBef>
              <a:spcAft>
                <a:spcPts val="0"/>
              </a:spcAft>
              <a:buSzPts val="1400"/>
              <a:buChar char="○"/>
            </a:pPr>
            <a:r>
              <a:rPr lang="en"/>
              <a:t>  statement</a:t>
            </a:r>
            <a:endParaRPr/>
          </a:p>
        </p:txBody>
      </p:sp>
      <p:sp>
        <p:nvSpPr>
          <p:cNvPr id="929" name="Google Shape;929;p125"/>
          <p:cNvSpPr txBox="1"/>
          <p:nvPr/>
        </p:nvSpPr>
        <p:spPr>
          <a:xfrm>
            <a:off x="219075" y="3529250"/>
            <a:ext cx="2635200" cy="11595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iterable</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10</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20</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30</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586C0"/>
                </a:solidFill>
                <a:highlight>
                  <a:srgbClr val="121314"/>
                </a:highlight>
                <a:latin typeface="Courier New"/>
                <a:ea typeface="Courier New"/>
                <a:cs typeface="Courier New"/>
                <a:sym typeface="Courier New"/>
              </a:rPr>
              <a:t>for</a:t>
            </a:r>
            <a:r>
              <a:rPr lang="en" sz="1000">
                <a:solidFill>
                  <a:srgbClr val="BBBEBF"/>
                </a:solidFill>
                <a:highlight>
                  <a:srgbClr val="121314"/>
                </a:highlight>
                <a:latin typeface="Courier New"/>
                <a:ea typeface="Courier New"/>
                <a:cs typeface="Courier New"/>
                <a:sym typeface="Courier New"/>
              </a:rPr>
              <a:t> (</a:t>
            </a: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value</a:t>
            </a:r>
            <a:r>
              <a:rPr lang="en" sz="1000">
                <a:solidFill>
                  <a:srgbClr val="BBBEBF"/>
                </a:solidFill>
                <a:highlight>
                  <a:srgbClr val="121314"/>
                </a:highlight>
                <a:latin typeface="Courier New"/>
                <a:ea typeface="Courier New"/>
                <a:cs typeface="Courier New"/>
                <a:sym typeface="Courier New"/>
              </a:rPr>
              <a:t> </a:t>
            </a:r>
            <a:r>
              <a:rPr lang="en" sz="1000">
                <a:solidFill>
                  <a:srgbClr val="569CD6"/>
                </a:solidFill>
                <a:highlight>
                  <a:srgbClr val="121314"/>
                </a:highlight>
                <a:latin typeface="Courier New"/>
                <a:ea typeface="Courier New"/>
                <a:cs typeface="Courier New"/>
                <a:sym typeface="Courier New"/>
              </a:rPr>
              <a:t>of</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iterable</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 console.</a:t>
            </a:r>
            <a:r>
              <a:rPr lang="en" sz="1000">
                <a:solidFill>
                  <a:srgbClr val="D2A8FF"/>
                </a:solidFill>
                <a:highlight>
                  <a:srgbClr val="121314"/>
                </a:highlight>
                <a:latin typeface="Courier New"/>
                <a:ea typeface="Courier New"/>
                <a:cs typeface="Courier New"/>
                <a:sym typeface="Courier New"/>
              </a:rPr>
              <a:t>log</a:t>
            </a:r>
            <a:r>
              <a:rPr lang="en" sz="1000">
                <a:solidFill>
                  <a:srgbClr val="C9D1D9"/>
                </a:solidFill>
                <a:highlight>
                  <a:srgbClr val="121314"/>
                </a:highlight>
                <a:latin typeface="Courier New"/>
                <a:ea typeface="Courier New"/>
                <a:cs typeface="Courier New"/>
                <a:sym typeface="Courier New"/>
              </a:rPr>
              <a:t>(value);</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p:txBody>
      </p:sp>
      <p:sp>
        <p:nvSpPr>
          <p:cNvPr id="930" name="Google Shape;930;p125"/>
          <p:cNvSpPr txBox="1"/>
          <p:nvPr/>
        </p:nvSpPr>
        <p:spPr>
          <a:xfrm>
            <a:off x="3051554" y="3529250"/>
            <a:ext cx="2635200" cy="11595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iterable</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"boo"</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586C0"/>
                </a:solidFill>
                <a:highlight>
                  <a:srgbClr val="121314"/>
                </a:highlight>
                <a:latin typeface="Courier New"/>
                <a:ea typeface="Courier New"/>
                <a:cs typeface="Courier New"/>
                <a:sym typeface="Courier New"/>
              </a:rPr>
              <a:t>for</a:t>
            </a:r>
            <a:r>
              <a:rPr lang="en" sz="1000">
                <a:solidFill>
                  <a:srgbClr val="BBBEBF"/>
                </a:solidFill>
                <a:highlight>
                  <a:srgbClr val="121314"/>
                </a:highlight>
                <a:latin typeface="Courier New"/>
                <a:ea typeface="Courier New"/>
                <a:cs typeface="Courier New"/>
                <a:sym typeface="Courier New"/>
              </a:rPr>
              <a:t> (</a:t>
            </a: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value</a:t>
            </a:r>
            <a:r>
              <a:rPr lang="en" sz="1000">
                <a:solidFill>
                  <a:srgbClr val="BBBEBF"/>
                </a:solidFill>
                <a:highlight>
                  <a:srgbClr val="121314"/>
                </a:highlight>
                <a:latin typeface="Courier New"/>
                <a:ea typeface="Courier New"/>
                <a:cs typeface="Courier New"/>
                <a:sym typeface="Courier New"/>
              </a:rPr>
              <a:t> </a:t>
            </a:r>
            <a:r>
              <a:rPr lang="en" sz="1000">
                <a:solidFill>
                  <a:srgbClr val="569CD6"/>
                </a:solidFill>
                <a:highlight>
                  <a:srgbClr val="121314"/>
                </a:highlight>
                <a:latin typeface="Courier New"/>
                <a:ea typeface="Courier New"/>
                <a:cs typeface="Courier New"/>
                <a:sym typeface="Courier New"/>
              </a:rPr>
              <a:t>of</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iterable</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 console.</a:t>
            </a:r>
            <a:r>
              <a:rPr lang="en" sz="1000">
                <a:solidFill>
                  <a:srgbClr val="D2A8FF"/>
                </a:solidFill>
                <a:highlight>
                  <a:srgbClr val="121314"/>
                </a:highlight>
                <a:latin typeface="Courier New"/>
                <a:ea typeface="Courier New"/>
                <a:cs typeface="Courier New"/>
                <a:sym typeface="Courier New"/>
              </a:rPr>
              <a:t>log</a:t>
            </a:r>
            <a:r>
              <a:rPr lang="en" sz="1000">
                <a:solidFill>
                  <a:srgbClr val="C9D1D9"/>
                </a:solidFill>
                <a:highlight>
                  <a:srgbClr val="121314"/>
                </a:highlight>
                <a:latin typeface="Courier New"/>
                <a:ea typeface="Courier New"/>
                <a:cs typeface="Courier New"/>
                <a:sym typeface="Courier New"/>
              </a:rPr>
              <a:t>(value);</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p:txBody>
      </p:sp>
      <p:sp>
        <p:nvSpPr>
          <p:cNvPr id="931" name="Google Shape;931;p125"/>
          <p:cNvSpPr txBox="1"/>
          <p:nvPr/>
        </p:nvSpPr>
        <p:spPr>
          <a:xfrm>
            <a:off x="5884025" y="2708150"/>
            <a:ext cx="3000000" cy="19806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iterable</a:t>
            </a:r>
            <a:r>
              <a:rPr lang="en" sz="1000">
                <a:solidFill>
                  <a:srgbClr val="BBBEBF"/>
                </a:solidFill>
                <a:highlight>
                  <a:srgbClr val="121314"/>
                </a:highlight>
                <a:latin typeface="Courier New"/>
                <a:ea typeface="Courier New"/>
                <a:cs typeface="Courier New"/>
                <a:sym typeface="Courier New"/>
              </a:rPr>
              <a:t> </a:t>
            </a:r>
            <a:r>
              <a:rPr lang="en" sz="1000">
                <a:solidFill>
                  <a:srgbClr val="D4D4D4"/>
                </a:solidFill>
                <a:highlight>
                  <a:srgbClr val="121314"/>
                </a:highlight>
                <a:latin typeface="Courier New"/>
                <a:ea typeface="Courier New"/>
                <a:cs typeface="Courier New"/>
                <a:sym typeface="Courier New"/>
              </a:rPr>
              <a:t>=</a:t>
            </a:r>
            <a:r>
              <a:rPr lang="en" sz="1000">
                <a:solidFill>
                  <a:srgbClr val="BBBEBF"/>
                </a:solidFill>
                <a:highlight>
                  <a:srgbClr val="121314"/>
                </a:highlight>
                <a:latin typeface="Courier New"/>
                <a:ea typeface="Courier New"/>
                <a:cs typeface="Courier New"/>
                <a:sym typeface="Courier New"/>
              </a:rPr>
              <a:t> </a:t>
            </a:r>
            <a:r>
              <a:rPr lang="en" sz="1000">
                <a:solidFill>
                  <a:srgbClr val="569CD6"/>
                </a:solidFill>
                <a:highlight>
                  <a:srgbClr val="121314"/>
                </a:highlight>
                <a:latin typeface="Courier New"/>
                <a:ea typeface="Courier New"/>
                <a:cs typeface="Courier New"/>
                <a:sym typeface="Courier New"/>
              </a:rPr>
              <a:t>new</a:t>
            </a:r>
            <a:r>
              <a:rPr lang="en" sz="1000">
                <a:solidFill>
                  <a:srgbClr val="BBBEBF"/>
                </a:solidFill>
                <a:highlight>
                  <a:srgbClr val="121314"/>
                </a:highlight>
                <a:latin typeface="Courier New"/>
                <a:ea typeface="Courier New"/>
                <a:cs typeface="Courier New"/>
                <a:sym typeface="Courier New"/>
              </a:rPr>
              <a:t> </a:t>
            </a:r>
            <a:r>
              <a:rPr lang="en" sz="1000">
                <a:solidFill>
                  <a:srgbClr val="D2A8FF"/>
                </a:solidFill>
                <a:highlight>
                  <a:srgbClr val="121314"/>
                </a:highlight>
                <a:latin typeface="Courier New"/>
                <a:ea typeface="Courier New"/>
                <a:cs typeface="Courier New"/>
                <a:sym typeface="Courier New"/>
              </a:rPr>
              <a:t>Map</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"a"</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1</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"b"</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2</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 [</a:t>
            </a:r>
            <a:r>
              <a:rPr lang="en" sz="1000">
                <a:solidFill>
                  <a:srgbClr val="A5D6FF"/>
                </a:solidFill>
                <a:highlight>
                  <a:srgbClr val="121314"/>
                </a:highlight>
                <a:latin typeface="Courier New"/>
                <a:ea typeface="Courier New"/>
                <a:cs typeface="Courier New"/>
                <a:sym typeface="Courier New"/>
              </a:rPr>
              <a:t>"c"</a:t>
            </a:r>
            <a:r>
              <a:rPr lang="en" sz="1000">
                <a:solidFill>
                  <a:srgbClr val="BBBEBF"/>
                </a:solidFill>
                <a:highlight>
                  <a:srgbClr val="121314"/>
                </a:highlight>
                <a:latin typeface="Courier New"/>
                <a:ea typeface="Courier New"/>
                <a:cs typeface="Courier New"/>
                <a:sym typeface="Courier New"/>
              </a:rPr>
              <a:t>, </a:t>
            </a:r>
            <a:r>
              <a:rPr lang="en" sz="1000">
                <a:solidFill>
                  <a:srgbClr val="B5CEA8"/>
                </a:solidFill>
                <a:highlight>
                  <a:srgbClr val="121314"/>
                </a:highlight>
                <a:latin typeface="Courier New"/>
                <a:ea typeface="Courier New"/>
                <a:cs typeface="Courier New"/>
                <a:sym typeface="Courier New"/>
              </a:rPr>
              <a:t>3</a:t>
            </a: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BBBEBF"/>
                </a:solidFill>
                <a:highlight>
                  <a:srgbClr val="121314"/>
                </a:highlight>
                <a:latin typeface="Courier New"/>
                <a:ea typeface="Courier New"/>
                <a:cs typeface="Courier New"/>
                <a:sym typeface="Courier New"/>
              </a:rPr>
              <a:t>]);</a:t>
            </a:r>
            <a:endParaRPr sz="10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586C0"/>
                </a:solidFill>
                <a:highlight>
                  <a:srgbClr val="121314"/>
                </a:highlight>
                <a:latin typeface="Courier New"/>
                <a:ea typeface="Courier New"/>
                <a:cs typeface="Courier New"/>
                <a:sym typeface="Courier New"/>
              </a:rPr>
              <a:t>for</a:t>
            </a:r>
            <a:r>
              <a:rPr lang="en" sz="1000">
                <a:solidFill>
                  <a:srgbClr val="BBBEBF"/>
                </a:solidFill>
                <a:highlight>
                  <a:srgbClr val="121314"/>
                </a:highlight>
                <a:latin typeface="Courier New"/>
                <a:ea typeface="Courier New"/>
                <a:cs typeface="Courier New"/>
                <a:sym typeface="Courier New"/>
              </a:rPr>
              <a:t> (</a:t>
            </a:r>
            <a:r>
              <a:rPr lang="en" sz="1000">
                <a:solidFill>
                  <a:srgbClr val="FF7B72"/>
                </a:solidFill>
                <a:highlight>
                  <a:srgbClr val="121314"/>
                </a:highlight>
                <a:latin typeface="Courier New"/>
                <a:ea typeface="Courier New"/>
                <a:cs typeface="Courier New"/>
                <a:sym typeface="Courier New"/>
              </a:rPr>
              <a:t>const</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key</a:t>
            </a:r>
            <a:r>
              <a:rPr lang="en" sz="1000">
                <a:solidFill>
                  <a:srgbClr val="BBBEBF"/>
                </a:solidFill>
                <a:highlight>
                  <a:srgbClr val="121314"/>
                </a:highlight>
                <a:latin typeface="Courier New"/>
                <a:ea typeface="Courier New"/>
                <a:cs typeface="Courier New"/>
                <a:sym typeface="Courier New"/>
              </a:rPr>
              <a:t>, </a:t>
            </a:r>
            <a:r>
              <a:rPr lang="en" sz="1000">
                <a:solidFill>
                  <a:srgbClr val="79C0FF"/>
                </a:solidFill>
                <a:highlight>
                  <a:srgbClr val="121314"/>
                </a:highlight>
                <a:latin typeface="Courier New"/>
                <a:ea typeface="Courier New"/>
                <a:cs typeface="Courier New"/>
                <a:sym typeface="Courier New"/>
              </a:rPr>
              <a:t>value</a:t>
            </a:r>
            <a:r>
              <a:rPr lang="en" sz="1000">
                <a:solidFill>
                  <a:srgbClr val="BBBEBF"/>
                </a:solidFill>
                <a:highlight>
                  <a:srgbClr val="121314"/>
                </a:highlight>
                <a:latin typeface="Courier New"/>
                <a:ea typeface="Courier New"/>
                <a:cs typeface="Courier New"/>
                <a:sym typeface="Courier New"/>
              </a:rPr>
              <a:t>] </a:t>
            </a:r>
            <a:r>
              <a:rPr lang="en" sz="1000">
                <a:solidFill>
                  <a:srgbClr val="569CD6"/>
                </a:solidFill>
                <a:highlight>
                  <a:srgbClr val="121314"/>
                </a:highlight>
                <a:latin typeface="Courier New"/>
                <a:ea typeface="Courier New"/>
                <a:cs typeface="Courier New"/>
                <a:sym typeface="Courier New"/>
              </a:rPr>
              <a:t>of</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iterable</a:t>
            </a:r>
            <a:r>
              <a:rPr lang="en" sz="1000">
                <a:solidFill>
                  <a:srgbClr val="BBBEBF"/>
                </a:solidFill>
                <a:highlight>
                  <a:srgbClr val="121314"/>
                </a:highlight>
                <a:latin typeface="Courier New"/>
                <a:ea typeface="Courier New"/>
                <a:cs typeface="Courier New"/>
                <a:sym typeface="Courier New"/>
              </a:rPr>
              <a:t>) </a:t>
            </a: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 console.</a:t>
            </a:r>
            <a:r>
              <a:rPr lang="en" sz="1000">
                <a:solidFill>
                  <a:srgbClr val="D2A8FF"/>
                </a:solidFill>
                <a:highlight>
                  <a:srgbClr val="121314"/>
                </a:highlight>
                <a:latin typeface="Courier New"/>
                <a:ea typeface="Courier New"/>
                <a:cs typeface="Courier New"/>
                <a:sym typeface="Courier New"/>
              </a:rPr>
              <a:t>log</a:t>
            </a:r>
            <a:r>
              <a:rPr lang="en" sz="1000">
                <a:solidFill>
                  <a:srgbClr val="C9D1D9"/>
                </a:solidFill>
                <a:highlight>
                  <a:srgbClr val="121314"/>
                </a:highlight>
                <a:latin typeface="Courier New"/>
                <a:ea typeface="Courier New"/>
                <a:cs typeface="Courier New"/>
                <a:sym typeface="Courier New"/>
              </a:rPr>
              <a:t>(value);</a:t>
            </a:r>
            <a:endParaRPr sz="10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000">
                <a:solidFill>
                  <a:srgbClr val="C9D1D9"/>
                </a:solidFill>
                <a:highlight>
                  <a:srgbClr val="121314"/>
                </a:highlight>
                <a:latin typeface="Courier New"/>
                <a:ea typeface="Courier New"/>
                <a:cs typeface="Courier New"/>
                <a:sym typeface="Courier New"/>
              </a:rPr>
              <a:t>}</a:t>
            </a:r>
            <a:endParaRPr sz="1000">
              <a:solidFill>
                <a:srgbClr val="C9D1D9"/>
              </a:solidFill>
              <a:highlight>
                <a:srgbClr val="121314"/>
              </a:highlight>
              <a:latin typeface="Courier New"/>
              <a:ea typeface="Courier New"/>
              <a:cs typeface="Courier New"/>
              <a:sym typeface="Courier New"/>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p12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Difference between for...of and for...in</a:t>
            </a:r>
            <a:endParaRPr/>
          </a:p>
        </p:txBody>
      </p:sp>
      <p:sp>
        <p:nvSpPr>
          <p:cNvPr id="937" name="Google Shape;937;p12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115</a:t>
            </a:fld>
            <a:endParaRPr/>
          </a:p>
        </p:txBody>
      </p:sp>
      <p:sp>
        <p:nvSpPr>
          <p:cNvPr id="938" name="Google Shape;938;p126"/>
          <p:cNvSpPr txBox="1"/>
          <p:nvPr/>
        </p:nvSpPr>
        <p:spPr>
          <a:xfrm>
            <a:off x="408086" y="1270550"/>
            <a:ext cx="4260300" cy="13545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4EC9B0"/>
                </a:solidFill>
                <a:highlight>
                  <a:srgbClr val="121314"/>
                </a:highlight>
                <a:latin typeface="Courier New"/>
                <a:ea typeface="Courier New"/>
                <a:cs typeface="Courier New"/>
                <a:sym typeface="Courier New"/>
              </a:rPr>
              <a:t>Object</a:t>
            </a:r>
            <a:r>
              <a:rPr lang="en" sz="1200">
                <a:solidFill>
                  <a:srgbClr val="BBBEBF"/>
                </a:solidFill>
                <a:highlight>
                  <a:srgbClr val="121314"/>
                </a:highlight>
                <a:latin typeface="Courier New"/>
                <a:ea typeface="Courier New"/>
                <a:cs typeface="Courier New"/>
                <a:sym typeface="Courier New"/>
              </a:rPr>
              <a:t>.</a:t>
            </a:r>
            <a:r>
              <a:rPr lang="en" sz="1200">
                <a:solidFill>
                  <a:srgbClr val="79C0FF"/>
                </a:solidFill>
                <a:highlight>
                  <a:srgbClr val="121314"/>
                </a:highlight>
                <a:latin typeface="Courier New"/>
                <a:ea typeface="Courier New"/>
                <a:cs typeface="Courier New"/>
                <a:sym typeface="Courier New"/>
              </a:rPr>
              <a:t>prototype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objCustom</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FF7B72"/>
                </a:solidFill>
                <a:highlight>
                  <a:srgbClr val="121314"/>
                </a:highlight>
                <a:latin typeface="Courier New"/>
                <a:ea typeface="Courier New"/>
                <a:cs typeface="Courier New"/>
                <a:sym typeface="Courier New"/>
              </a:rPr>
              <a:t>function</a:t>
            </a:r>
            <a:r>
              <a:rPr lang="en" sz="1200">
                <a:solidFill>
                  <a:srgbClr val="BBBEBF"/>
                </a:solidFill>
                <a:highlight>
                  <a:srgbClr val="121314"/>
                </a:highlight>
                <a:latin typeface="Courier New"/>
                <a:ea typeface="Courier New"/>
                <a:cs typeface="Courier New"/>
                <a:sym typeface="Courier New"/>
              </a:rPr>
              <a:t> () </a:t>
            </a:r>
            <a:r>
              <a:rPr lang="en" sz="1200">
                <a:solidFill>
                  <a:srgbClr val="C9D1D9"/>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4EC9B0"/>
                </a:solidFill>
                <a:highlight>
                  <a:srgbClr val="121314"/>
                </a:highlight>
                <a:latin typeface="Courier New"/>
                <a:ea typeface="Courier New"/>
                <a:cs typeface="Courier New"/>
                <a:sym typeface="Courier New"/>
              </a:rPr>
              <a:t>Array</a:t>
            </a:r>
            <a:r>
              <a:rPr lang="en" sz="1200">
                <a:solidFill>
                  <a:srgbClr val="BBBEBF"/>
                </a:solidFill>
                <a:highlight>
                  <a:srgbClr val="121314"/>
                </a:highlight>
                <a:latin typeface="Courier New"/>
                <a:ea typeface="Courier New"/>
                <a:cs typeface="Courier New"/>
                <a:sym typeface="Courier New"/>
              </a:rPr>
              <a:t>.</a:t>
            </a:r>
            <a:r>
              <a:rPr lang="en" sz="1200">
                <a:solidFill>
                  <a:srgbClr val="79C0FF"/>
                </a:solidFill>
                <a:highlight>
                  <a:srgbClr val="121314"/>
                </a:highlight>
                <a:latin typeface="Courier New"/>
                <a:ea typeface="Courier New"/>
                <a:cs typeface="Courier New"/>
                <a:sym typeface="Courier New"/>
              </a:rPr>
              <a:t>prototype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arrCustom</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FF7B72"/>
                </a:solidFill>
                <a:highlight>
                  <a:srgbClr val="121314"/>
                </a:highlight>
                <a:latin typeface="Courier New"/>
                <a:ea typeface="Courier New"/>
                <a:cs typeface="Courier New"/>
                <a:sym typeface="Courier New"/>
              </a:rPr>
              <a:t>function</a:t>
            </a:r>
            <a:r>
              <a:rPr lang="en" sz="1200">
                <a:solidFill>
                  <a:srgbClr val="BBBEBF"/>
                </a:solidFill>
                <a:highlight>
                  <a:srgbClr val="121314"/>
                </a:highlight>
                <a:latin typeface="Courier New"/>
                <a:ea typeface="Courier New"/>
                <a:cs typeface="Courier New"/>
                <a:sym typeface="Courier New"/>
              </a:rPr>
              <a:t> () </a:t>
            </a:r>
            <a:r>
              <a:rPr lang="en" sz="1200">
                <a:solidFill>
                  <a:srgbClr val="C9D1D9"/>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iterable</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3</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5</a:t>
            </a:r>
            <a:r>
              <a:rPr lang="en" sz="1200">
                <a:solidFill>
                  <a:srgbClr val="BBBEBF"/>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7</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iterable</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foo</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A5D6FF"/>
                </a:solidFill>
                <a:highlight>
                  <a:srgbClr val="121314"/>
                </a:highlight>
                <a:latin typeface="Courier New"/>
                <a:ea typeface="Courier New"/>
                <a:cs typeface="Courier New"/>
                <a:sym typeface="Courier New"/>
              </a:rPr>
              <a:t>"hello"</a:t>
            </a:r>
            <a:r>
              <a:rPr lang="en" sz="1200">
                <a:solidFill>
                  <a:srgbClr val="BBBEBF"/>
                </a:solidFill>
                <a:highlight>
                  <a:srgbClr val="121314"/>
                </a:highlight>
                <a:latin typeface="Courier New"/>
                <a:ea typeface="Courier New"/>
                <a:cs typeface="Courier New"/>
                <a:sym typeface="Courier New"/>
              </a:rPr>
              <a:t>;</a:t>
            </a:r>
            <a:endParaRPr sz="1200">
              <a:solidFill>
                <a:srgbClr val="8B949E"/>
              </a:solidFill>
              <a:highlight>
                <a:srgbClr val="121314"/>
              </a:highlight>
              <a:latin typeface="Courier New"/>
              <a:ea typeface="Courier New"/>
              <a:cs typeface="Courier New"/>
              <a:sym typeface="Courier New"/>
            </a:endParaRPr>
          </a:p>
        </p:txBody>
      </p:sp>
      <p:sp>
        <p:nvSpPr>
          <p:cNvPr id="939" name="Google Shape;939;p126"/>
          <p:cNvSpPr txBox="1"/>
          <p:nvPr/>
        </p:nvSpPr>
        <p:spPr>
          <a:xfrm>
            <a:off x="4930838" y="1270550"/>
            <a:ext cx="3405900" cy="33246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C586C0"/>
                </a:solidFill>
                <a:highlight>
                  <a:srgbClr val="121314"/>
                </a:highlight>
                <a:latin typeface="Courier New"/>
                <a:ea typeface="Courier New"/>
                <a:cs typeface="Courier New"/>
                <a:sym typeface="Courier New"/>
              </a:rPr>
              <a:t>for</a:t>
            </a:r>
            <a:r>
              <a:rPr lang="en" sz="1200">
                <a:solidFill>
                  <a:srgbClr val="BBBEBF"/>
                </a:solidFill>
                <a:highlight>
                  <a:srgbClr val="121314"/>
                </a:highlight>
                <a:latin typeface="Courier New"/>
                <a:ea typeface="Courier New"/>
                <a:cs typeface="Courier New"/>
                <a:sym typeface="Courier New"/>
              </a:rPr>
              <a:t> (</a:t>
            </a: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i</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in</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iterable</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console.</a:t>
            </a:r>
            <a:r>
              <a:rPr lang="en" sz="1200">
                <a:solidFill>
                  <a:srgbClr val="D2A8FF"/>
                </a:solidFill>
                <a:highlight>
                  <a:srgbClr val="121314"/>
                </a:highlight>
                <a:latin typeface="Courier New"/>
                <a:ea typeface="Courier New"/>
                <a:cs typeface="Courier New"/>
                <a:sym typeface="Courier New"/>
              </a:rPr>
              <a:t>log</a:t>
            </a:r>
            <a:r>
              <a:rPr lang="en" sz="1200">
                <a:solidFill>
                  <a:srgbClr val="C9D1D9"/>
                </a:solidFill>
                <a:highlight>
                  <a:srgbClr val="121314"/>
                </a:highlight>
                <a:latin typeface="Courier New"/>
                <a:ea typeface="Courier New"/>
                <a:cs typeface="Courier New"/>
                <a:sym typeface="Courier New"/>
              </a:rPr>
              <a:t>(i);</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586C0"/>
                </a:solidFill>
                <a:highlight>
                  <a:srgbClr val="121314"/>
                </a:highlight>
                <a:latin typeface="Courier New"/>
                <a:ea typeface="Courier New"/>
                <a:cs typeface="Courier New"/>
                <a:sym typeface="Courier New"/>
              </a:rPr>
              <a:t>for</a:t>
            </a:r>
            <a:r>
              <a:rPr lang="en" sz="1200">
                <a:solidFill>
                  <a:srgbClr val="BBBEBF"/>
                </a:solidFill>
                <a:highlight>
                  <a:srgbClr val="121314"/>
                </a:highlight>
                <a:latin typeface="Courier New"/>
                <a:ea typeface="Courier New"/>
                <a:cs typeface="Courier New"/>
                <a:sym typeface="Courier New"/>
              </a:rPr>
              <a:t> (</a:t>
            </a: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i</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in</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iterable</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C586C0"/>
                </a:solidFill>
                <a:highlight>
                  <a:srgbClr val="121314"/>
                </a:highlight>
                <a:latin typeface="Courier New"/>
                <a:ea typeface="Courier New"/>
                <a:cs typeface="Courier New"/>
                <a:sym typeface="Courier New"/>
              </a:rPr>
              <a:t>if</a:t>
            </a:r>
            <a:r>
              <a:rPr lang="en" sz="1200">
                <a:solidFill>
                  <a:srgbClr val="C9D1D9"/>
                </a:solidFill>
                <a:highlight>
                  <a:srgbClr val="121314"/>
                </a:highlight>
                <a:latin typeface="Courier New"/>
                <a:ea typeface="Courier New"/>
                <a:cs typeface="Courier New"/>
                <a:sym typeface="Courier New"/>
              </a:rPr>
              <a:t> (Object.</a:t>
            </a:r>
            <a:r>
              <a:rPr lang="en" sz="1200">
                <a:solidFill>
                  <a:srgbClr val="D2A8FF"/>
                </a:solidFill>
                <a:highlight>
                  <a:srgbClr val="121314"/>
                </a:highlight>
                <a:latin typeface="Courier New"/>
                <a:ea typeface="Courier New"/>
                <a:cs typeface="Courier New"/>
                <a:sym typeface="Courier New"/>
              </a:rPr>
              <a:t>hasOwn</a:t>
            </a:r>
            <a:r>
              <a:rPr lang="en" sz="1200">
                <a:solidFill>
                  <a:srgbClr val="C9D1D9"/>
                </a:solidFill>
                <a:highlight>
                  <a:srgbClr val="121314"/>
                </a:highlight>
                <a:latin typeface="Courier New"/>
                <a:ea typeface="Courier New"/>
                <a:cs typeface="Courier New"/>
                <a:sym typeface="Courier New"/>
              </a:rPr>
              <a:t>(iterable, i)) {</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console.</a:t>
            </a:r>
            <a:r>
              <a:rPr lang="en" sz="1200">
                <a:solidFill>
                  <a:srgbClr val="D2A8FF"/>
                </a:solidFill>
                <a:highlight>
                  <a:srgbClr val="121314"/>
                </a:highlight>
                <a:latin typeface="Courier New"/>
                <a:ea typeface="Courier New"/>
                <a:cs typeface="Courier New"/>
                <a:sym typeface="Courier New"/>
              </a:rPr>
              <a:t>log</a:t>
            </a:r>
            <a:r>
              <a:rPr lang="en" sz="1200">
                <a:solidFill>
                  <a:srgbClr val="C9D1D9"/>
                </a:solidFill>
                <a:highlight>
                  <a:srgbClr val="121314"/>
                </a:highlight>
                <a:latin typeface="Courier New"/>
                <a:ea typeface="Courier New"/>
                <a:cs typeface="Courier New"/>
                <a:sym typeface="Courier New"/>
              </a:rPr>
              <a:t>(i);</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586C0"/>
                </a:solidFill>
                <a:highlight>
                  <a:srgbClr val="121314"/>
                </a:highlight>
                <a:latin typeface="Courier New"/>
                <a:ea typeface="Courier New"/>
                <a:cs typeface="Courier New"/>
                <a:sym typeface="Courier New"/>
              </a:rPr>
              <a:t>for</a:t>
            </a:r>
            <a:r>
              <a:rPr lang="en" sz="1200">
                <a:solidFill>
                  <a:srgbClr val="BBBEBF"/>
                </a:solidFill>
                <a:highlight>
                  <a:srgbClr val="121314"/>
                </a:highlight>
                <a:latin typeface="Courier New"/>
                <a:ea typeface="Courier New"/>
                <a:cs typeface="Courier New"/>
                <a:sym typeface="Courier New"/>
              </a:rPr>
              <a:t> (</a:t>
            </a:r>
            <a:r>
              <a:rPr lang="en" sz="1200">
                <a:solidFill>
                  <a:srgbClr val="FF7B72"/>
                </a:solidFill>
                <a:highlight>
                  <a:srgbClr val="121314"/>
                </a:highlight>
                <a:latin typeface="Courier New"/>
                <a:ea typeface="Courier New"/>
                <a:cs typeface="Courier New"/>
                <a:sym typeface="Courier New"/>
              </a:rPr>
              <a:t>const</a:t>
            </a:r>
            <a:r>
              <a:rPr lang="en" sz="1200">
                <a:solidFill>
                  <a:srgbClr val="BBBEBF"/>
                </a:solidFill>
                <a:highlight>
                  <a:srgbClr val="121314"/>
                </a:highlight>
                <a:latin typeface="Courier New"/>
                <a:ea typeface="Courier New"/>
                <a:cs typeface="Courier New"/>
                <a:sym typeface="Courier New"/>
              </a:rPr>
              <a:t> </a:t>
            </a:r>
            <a:r>
              <a:rPr lang="en" sz="1200">
                <a:solidFill>
                  <a:srgbClr val="79C0FF"/>
                </a:solidFill>
                <a:highlight>
                  <a:srgbClr val="121314"/>
                </a:highlight>
                <a:latin typeface="Courier New"/>
                <a:ea typeface="Courier New"/>
                <a:cs typeface="Courier New"/>
                <a:sym typeface="Courier New"/>
              </a:rPr>
              <a:t>i</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of</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iterable</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console.</a:t>
            </a:r>
            <a:r>
              <a:rPr lang="en" sz="1200">
                <a:solidFill>
                  <a:srgbClr val="D2A8FF"/>
                </a:solidFill>
                <a:highlight>
                  <a:srgbClr val="121314"/>
                </a:highlight>
                <a:latin typeface="Courier New"/>
                <a:ea typeface="Courier New"/>
                <a:cs typeface="Courier New"/>
                <a:sym typeface="Courier New"/>
              </a:rPr>
              <a:t>log</a:t>
            </a:r>
            <a:r>
              <a:rPr lang="en" sz="1200">
                <a:solidFill>
                  <a:srgbClr val="C9D1D9"/>
                </a:solidFill>
                <a:highlight>
                  <a:srgbClr val="121314"/>
                </a:highlight>
                <a:latin typeface="Courier New"/>
                <a:ea typeface="Courier New"/>
                <a:cs typeface="Courier New"/>
                <a:sym typeface="Courier New"/>
              </a:rPr>
              <a:t>(i);</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t>
            </a:r>
            <a:endParaRPr sz="1200">
              <a:solidFill>
                <a:srgbClr val="8B949E"/>
              </a:solidFill>
              <a:highlight>
                <a:srgbClr val="121314"/>
              </a:highlight>
              <a:latin typeface="Courier New"/>
              <a:ea typeface="Courier New"/>
              <a:cs typeface="Courier New"/>
              <a:sym typeface="Courier New"/>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p127"/>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Control Flow</a:t>
            </a:r>
            <a:endParaRPr/>
          </a:p>
        </p:txBody>
      </p:sp>
      <p:sp>
        <p:nvSpPr>
          <p:cNvPr id="945" name="Google Shape;945;p12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116</a:t>
            </a:fld>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p12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If...else Statements</a:t>
            </a:r>
            <a:endParaRPr/>
          </a:p>
        </p:txBody>
      </p:sp>
      <p:sp>
        <p:nvSpPr>
          <p:cNvPr id="951" name="Google Shape;951;p12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117</a:t>
            </a:fld>
            <a:endParaRPr/>
          </a:p>
        </p:txBody>
      </p:sp>
      <p:sp>
        <p:nvSpPr>
          <p:cNvPr id="952" name="Google Shape;952;p128"/>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a:t>The if...else statement executes a statement if a specified condition is truthy. If the condition is falsy, another statement in the optional else clause will be executed.</a:t>
            </a:r>
            <a:endParaRPr/>
          </a:p>
          <a:p>
            <a:pPr marL="457200" lvl="0" indent="-317500" algn="l" rtl="0">
              <a:spcBef>
                <a:spcPts val="0"/>
              </a:spcBef>
              <a:spcAft>
                <a:spcPts val="0"/>
              </a:spcAft>
              <a:buSzPts val="1400"/>
              <a:buChar char="●"/>
            </a:pPr>
            <a:r>
              <a:rPr lang="en"/>
              <a:t>Syntax:</a:t>
            </a:r>
            <a:endParaRPr/>
          </a:p>
          <a:p>
            <a:pPr marL="914400" lvl="1" indent="-304800" algn="l" rtl="0">
              <a:spcBef>
                <a:spcPts val="0"/>
              </a:spcBef>
              <a:spcAft>
                <a:spcPts val="0"/>
              </a:spcAft>
              <a:buSzPts val="1200"/>
              <a:buChar char="○"/>
            </a:pPr>
            <a:r>
              <a:rPr lang="en"/>
              <a:t>if (condition)</a:t>
            </a:r>
            <a:endParaRPr/>
          </a:p>
          <a:p>
            <a:pPr marL="914400" lvl="1" indent="-304800" algn="l" rtl="0">
              <a:spcBef>
                <a:spcPts val="0"/>
              </a:spcBef>
              <a:spcAft>
                <a:spcPts val="0"/>
              </a:spcAft>
              <a:buSzPts val="1200"/>
              <a:buChar char="○"/>
            </a:pPr>
            <a:r>
              <a:rPr lang="en"/>
              <a:t>  statement1</a:t>
            </a:r>
            <a:endParaRPr/>
          </a:p>
          <a:p>
            <a:pPr marL="914400" lvl="1" indent="-304800" algn="l" rtl="0">
              <a:spcBef>
                <a:spcPts val="0"/>
              </a:spcBef>
              <a:spcAft>
                <a:spcPts val="0"/>
              </a:spcAft>
              <a:buSzPts val="1200"/>
              <a:buChar char="○"/>
            </a:pPr>
            <a:endParaRPr/>
          </a:p>
          <a:p>
            <a:pPr marL="914400" lvl="1" indent="-304800" algn="l" rtl="0">
              <a:spcBef>
                <a:spcPts val="0"/>
              </a:spcBef>
              <a:spcAft>
                <a:spcPts val="0"/>
              </a:spcAft>
              <a:buSzPts val="1200"/>
              <a:buChar char="○"/>
            </a:pPr>
            <a:r>
              <a:rPr lang="en"/>
              <a:t>// With an else clause</a:t>
            </a:r>
            <a:endParaRPr/>
          </a:p>
          <a:p>
            <a:pPr marL="914400" lvl="1" indent="-304800" algn="l" rtl="0">
              <a:spcBef>
                <a:spcPts val="0"/>
              </a:spcBef>
              <a:spcAft>
                <a:spcPts val="0"/>
              </a:spcAft>
              <a:buSzPts val="1200"/>
              <a:buChar char="○"/>
            </a:pPr>
            <a:r>
              <a:rPr lang="en"/>
              <a:t>if (condition)</a:t>
            </a:r>
            <a:endParaRPr/>
          </a:p>
          <a:p>
            <a:pPr marL="914400" lvl="1" indent="-304800" algn="l" rtl="0">
              <a:spcBef>
                <a:spcPts val="0"/>
              </a:spcBef>
              <a:spcAft>
                <a:spcPts val="0"/>
              </a:spcAft>
              <a:buSzPts val="1200"/>
              <a:buChar char="○"/>
            </a:pPr>
            <a:r>
              <a:rPr lang="en"/>
              <a:t>  statement1</a:t>
            </a:r>
            <a:endParaRPr/>
          </a:p>
          <a:p>
            <a:pPr marL="914400" lvl="1" indent="-304800" algn="l" rtl="0">
              <a:spcBef>
                <a:spcPts val="0"/>
              </a:spcBef>
              <a:spcAft>
                <a:spcPts val="0"/>
              </a:spcAft>
              <a:buSzPts val="1200"/>
              <a:buChar char="○"/>
            </a:pPr>
            <a:r>
              <a:rPr lang="en"/>
              <a:t>else</a:t>
            </a:r>
            <a:endParaRPr/>
          </a:p>
          <a:p>
            <a:pPr marL="914400" lvl="1" indent="-304800" algn="l" rtl="0">
              <a:spcBef>
                <a:spcPts val="0"/>
              </a:spcBef>
              <a:spcAft>
                <a:spcPts val="0"/>
              </a:spcAft>
              <a:buSzPts val="1200"/>
              <a:buChar char="○"/>
            </a:pPr>
            <a:r>
              <a:rPr lang="en"/>
              <a:t>  statement2</a:t>
            </a:r>
            <a:endParaRPr/>
          </a:p>
        </p:txBody>
      </p:sp>
      <p:sp>
        <p:nvSpPr>
          <p:cNvPr id="953" name="Google Shape;953;p128"/>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fontScale="92500" lnSpcReduction="10000"/>
          </a:bodyPr>
          <a:lstStyle/>
          <a:p>
            <a:pPr marL="457200" lvl="0" indent="-317500" algn="l" rtl="0">
              <a:spcBef>
                <a:spcPts val="0"/>
              </a:spcBef>
              <a:spcAft>
                <a:spcPts val="0"/>
              </a:spcAft>
              <a:buSzPts val="1400"/>
              <a:buChar char="●"/>
            </a:pPr>
            <a:r>
              <a:rPr lang="en"/>
              <a:t>Multiple if...else statements can be nested to create an else if clause.</a:t>
            </a:r>
            <a:endParaRPr/>
          </a:p>
          <a:p>
            <a:pPr marL="914400" lvl="1" indent="-304800" algn="l" rtl="0">
              <a:spcBef>
                <a:spcPts val="0"/>
              </a:spcBef>
              <a:spcAft>
                <a:spcPts val="0"/>
              </a:spcAft>
              <a:buSzPts val="1200"/>
              <a:buChar char="○"/>
            </a:pPr>
            <a:r>
              <a:rPr lang="en"/>
              <a:t>if (condition1)</a:t>
            </a:r>
            <a:endParaRPr/>
          </a:p>
          <a:p>
            <a:pPr marL="914400" lvl="1" indent="-304800" algn="l" rtl="0">
              <a:spcBef>
                <a:spcPts val="0"/>
              </a:spcBef>
              <a:spcAft>
                <a:spcPts val="0"/>
              </a:spcAft>
              <a:buSzPts val="1200"/>
              <a:buChar char="○"/>
            </a:pPr>
            <a:r>
              <a:rPr lang="en"/>
              <a:t>  statement1</a:t>
            </a:r>
            <a:endParaRPr/>
          </a:p>
          <a:p>
            <a:pPr marL="914400" lvl="1" indent="-304800" algn="l" rtl="0">
              <a:spcBef>
                <a:spcPts val="0"/>
              </a:spcBef>
              <a:spcAft>
                <a:spcPts val="0"/>
              </a:spcAft>
              <a:buSzPts val="1200"/>
              <a:buChar char="○"/>
            </a:pPr>
            <a:r>
              <a:rPr lang="en"/>
              <a:t>else if (condition2)</a:t>
            </a:r>
            <a:endParaRPr/>
          </a:p>
          <a:p>
            <a:pPr marL="914400" lvl="1" indent="-304800" algn="l" rtl="0">
              <a:spcBef>
                <a:spcPts val="0"/>
              </a:spcBef>
              <a:spcAft>
                <a:spcPts val="0"/>
              </a:spcAft>
              <a:buSzPts val="1200"/>
              <a:buChar char="○"/>
            </a:pPr>
            <a:r>
              <a:rPr lang="en"/>
              <a:t>  statement2</a:t>
            </a:r>
            <a:endParaRPr/>
          </a:p>
          <a:p>
            <a:pPr marL="914400" lvl="1" indent="-304800" algn="l" rtl="0">
              <a:spcBef>
                <a:spcPts val="0"/>
              </a:spcBef>
              <a:spcAft>
                <a:spcPts val="0"/>
              </a:spcAft>
              <a:buSzPts val="1200"/>
              <a:buChar char="○"/>
            </a:pPr>
            <a:r>
              <a:rPr lang="en"/>
              <a:t>else if (condition3)</a:t>
            </a:r>
            <a:endParaRPr/>
          </a:p>
          <a:p>
            <a:pPr marL="914400" lvl="1" indent="-304800" algn="l" rtl="0">
              <a:spcBef>
                <a:spcPts val="0"/>
              </a:spcBef>
              <a:spcAft>
                <a:spcPts val="0"/>
              </a:spcAft>
              <a:buSzPts val="1200"/>
              <a:buChar char="○"/>
            </a:pPr>
            <a:r>
              <a:rPr lang="en"/>
              <a:t>  statement3</a:t>
            </a:r>
            <a:endParaRPr/>
          </a:p>
          <a:p>
            <a:pPr marL="914400" lvl="1" indent="-304800" algn="l" rtl="0">
              <a:spcBef>
                <a:spcPts val="0"/>
              </a:spcBef>
              <a:spcAft>
                <a:spcPts val="0"/>
              </a:spcAft>
              <a:buSzPts val="1200"/>
              <a:buChar char="○"/>
            </a:pPr>
            <a:r>
              <a:rPr lang="en"/>
              <a:t>// …</a:t>
            </a:r>
            <a:endParaRPr/>
          </a:p>
          <a:p>
            <a:pPr marL="914400" lvl="1" indent="-304800" algn="l" rtl="0">
              <a:spcBef>
                <a:spcPts val="0"/>
              </a:spcBef>
              <a:spcAft>
                <a:spcPts val="0"/>
              </a:spcAft>
              <a:buSzPts val="1200"/>
              <a:buChar char="○"/>
            </a:pPr>
            <a:r>
              <a:rPr lang="en"/>
              <a:t>else</a:t>
            </a:r>
            <a:endParaRPr/>
          </a:p>
          <a:p>
            <a:pPr marL="914400" lvl="1" indent="-304800" algn="l" rtl="0">
              <a:spcBef>
                <a:spcPts val="0"/>
              </a:spcBef>
              <a:spcAft>
                <a:spcPts val="0"/>
              </a:spcAft>
              <a:buSzPts val="1200"/>
              <a:buChar char="○"/>
            </a:pPr>
            <a:r>
              <a:rPr lang="en"/>
              <a:t>  statementN</a:t>
            </a:r>
            <a:endParaRPr/>
          </a:p>
          <a:p>
            <a:pPr marL="457200" lvl="0" indent="-317500" algn="l" rtl="0">
              <a:spcBef>
                <a:spcPts val="0"/>
              </a:spcBef>
              <a:spcAft>
                <a:spcPts val="0"/>
              </a:spcAft>
              <a:buSzPts val="1400"/>
              <a:buChar char="●"/>
            </a:pPr>
            <a:r>
              <a:rPr lang="en"/>
              <a:t>Nested</a:t>
            </a:r>
            <a:endParaRPr/>
          </a:p>
          <a:p>
            <a:pPr marL="914400" lvl="1" indent="-304800" algn="l" rtl="0">
              <a:spcBef>
                <a:spcPts val="0"/>
              </a:spcBef>
              <a:spcAft>
                <a:spcPts val="0"/>
              </a:spcAft>
              <a:buSzPts val="1200"/>
              <a:buChar char="○"/>
            </a:pPr>
            <a:r>
              <a:rPr lang="en"/>
              <a:t>if (condition1)</a:t>
            </a:r>
            <a:endParaRPr/>
          </a:p>
          <a:p>
            <a:pPr marL="914400" lvl="1" indent="-304800" algn="l" rtl="0">
              <a:spcBef>
                <a:spcPts val="0"/>
              </a:spcBef>
              <a:spcAft>
                <a:spcPts val="0"/>
              </a:spcAft>
              <a:buSzPts val="1200"/>
              <a:buChar char="○"/>
            </a:pPr>
            <a:r>
              <a:rPr lang="en"/>
              <a:t>  statement1</a:t>
            </a:r>
            <a:endParaRPr/>
          </a:p>
          <a:p>
            <a:pPr marL="914400" lvl="1" indent="-304800" algn="l" rtl="0">
              <a:spcBef>
                <a:spcPts val="0"/>
              </a:spcBef>
              <a:spcAft>
                <a:spcPts val="0"/>
              </a:spcAft>
              <a:buSzPts val="1200"/>
              <a:buChar char="○"/>
            </a:pPr>
            <a:r>
              <a:rPr lang="en"/>
              <a:t>else</a:t>
            </a:r>
            <a:endParaRPr/>
          </a:p>
          <a:p>
            <a:pPr marL="914400" lvl="1" indent="-304800" algn="l" rtl="0">
              <a:spcBef>
                <a:spcPts val="0"/>
              </a:spcBef>
              <a:spcAft>
                <a:spcPts val="0"/>
              </a:spcAft>
              <a:buSzPts val="1200"/>
              <a:buChar char="○"/>
            </a:pPr>
            <a:r>
              <a:rPr lang="en"/>
              <a:t>  if (condition2)</a:t>
            </a:r>
            <a:endParaRPr/>
          </a:p>
          <a:p>
            <a:pPr marL="914400" lvl="1" indent="-304800" algn="l" rtl="0">
              <a:spcBef>
                <a:spcPts val="0"/>
              </a:spcBef>
              <a:spcAft>
                <a:spcPts val="0"/>
              </a:spcAft>
              <a:buSzPts val="1200"/>
              <a:buChar char="○"/>
            </a:pPr>
            <a:r>
              <a:rPr lang="en"/>
              <a:t>    statement2</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p12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if…else statement example</a:t>
            </a:r>
            <a:endParaRPr/>
          </a:p>
        </p:txBody>
      </p:sp>
      <p:sp>
        <p:nvSpPr>
          <p:cNvPr id="959" name="Google Shape;959;p12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118</a:t>
            </a:fld>
            <a:endParaRPr/>
          </a:p>
        </p:txBody>
      </p:sp>
      <p:sp>
        <p:nvSpPr>
          <p:cNvPr id="960" name="Google Shape;960;p129"/>
          <p:cNvSpPr txBox="1"/>
          <p:nvPr/>
        </p:nvSpPr>
        <p:spPr>
          <a:xfrm>
            <a:off x="736050" y="1349400"/>
            <a:ext cx="4056900" cy="28323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let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shoppingDone</a:t>
            </a:r>
            <a:r>
              <a:rPr lang="en" sz="1200">
                <a:solidFill>
                  <a:srgbClr val="BBBEBF"/>
                </a:solidFill>
                <a:highlight>
                  <a:srgbClr val="121314"/>
                </a:highlight>
                <a:latin typeface="Courier New"/>
                <a:ea typeface="Courier New"/>
                <a:cs typeface="Courier New"/>
                <a:sym typeface="Courier New"/>
              </a:rPr>
              <a:t> </a:t>
            </a:r>
            <a:r>
              <a:rPr lang="en" sz="1200">
                <a:solidFill>
                  <a:srgbClr val="D4D4D4"/>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false</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8B949E"/>
                </a:solidFill>
                <a:highlight>
                  <a:srgbClr val="121314"/>
                </a:highlight>
                <a:latin typeface="Courier New"/>
                <a:ea typeface="Courier New"/>
                <a:cs typeface="Courier New"/>
                <a:sym typeface="Courier New"/>
              </a:rPr>
              <a:t>// let shoppingDone = new Boolean(false);</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let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childAllowance</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586C0"/>
                </a:solidFill>
                <a:highlight>
                  <a:srgbClr val="121314"/>
                </a:highlight>
                <a:latin typeface="Courier New"/>
                <a:ea typeface="Courier New"/>
                <a:cs typeface="Courier New"/>
                <a:sym typeface="Courier New"/>
              </a:rPr>
              <a:t>if</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shoppingDone</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childAllowance </a:t>
            </a:r>
            <a:r>
              <a:rPr lang="en" sz="1200">
                <a:solidFill>
                  <a:srgbClr val="D4D4D4"/>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10</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586C0"/>
                </a:solidFill>
                <a:highlight>
                  <a:srgbClr val="121314"/>
                </a:highlight>
                <a:latin typeface="Courier New"/>
                <a:ea typeface="Courier New"/>
                <a:cs typeface="Courier New"/>
                <a:sym typeface="Courier New"/>
              </a:rPr>
              <a:t>else</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childAllowance </a:t>
            </a:r>
            <a:r>
              <a:rPr lang="en" sz="1200">
                <a:solidFill>
                  <a:srgbClr val="D4D4D4"/>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 </a:t>
            </a:r>
            <a:r>
              <a:rPr lang="en" sz="1200">
                <a:solidFill>
                  <a:srgbClr val="B5CEA8"/>
                </a:solidFill>
                <a:highlight>
                  <a:srgbClr val="121314"/>
                </a:highlight>
                <a:latin typeface="Courier New"/>
                <a:ea typeface="Courier New"/>
                <a:cs typeface="Courier New"/>
                <a:sym typeface="Courier New"/>
              </a:rPr>
              <a:t>5</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console</a:t>
            </a:r>
            <a:r>
              <a:rPr lang="en" sz="1200">
                <a:solidFill>
                  <a:srgbClr val="BBBEBF"/>
                </a:solidFill>
                <a:highlight>
                  <a:srgbClr val="121314"/>
                </a:highlight>
                <a:latin typeface="Courier New"/>
                <a:ea typeface="Courier New"/>
                <a:cs typeface="Courier New"/>
                <a:sym typeface="Courier New"/>
              </a:rPr>
              <a:t>.</a:t>
            </a:r>
            <a:r>
              <a:rPr lang="en" sz="1200">
                <a:solidFill>
                  <a:srgbClr val="D2A8FF"/>
                </a:solidFill>
                <a:highlight>
                  <a:srgbClr val="121314"/>
                </a:highlight>
                <a:latin typeface="Courier New"/>
                <a:ea typeface="Courier New"/>
                <a:cs typeface="Courier New"/>
                <a:sym typeface="Courier New"/>
              </a:rPr>
              <a:t>log</a:t>
            </a:r>
            <a:r>
              <a:rPr lang="en" sz="1200">
                <a:solidFill>
                  <a:srgbClr val="BBBEBF"/>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childAllowance</a:t>
            </a:r>
            <a:r>
              <a:rPr lang="en" sz="1200">
                <a:solidFill>
                  <a:srgbClr val="BBBEBF"/>
                </a:solidFill>
                <a:highlight>
                  <a:srgbClr val="121314"/>
                </a:highlight>
                <a:latin typeface="Courier New"/>
                <a:ea typeface="Courier New"/>
                <a:cs typeface="Courier New"/>
                <a:sym typeface="Courier New"/>
              </a:rPr>
              <a:t>);</a:t>
            </a:r>
            <a:endParaRPr sz="1200">
              <a:solidFill>
                <a:srgbClr val="BBBEBF"/>
              </a:solidFill>
              <a:highlight>
                <a:srgbClr val="121314"/>
              </a:highlight>
              <a:latin typeface="Courier New"/>
              <a:ea typeface="Courier New"/>
              <a:cs typeface="Courier New"/>
              <a:sym typeface="Courier New"/>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p13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switch statements</a:t>
            </a:r>
            <a:endParaRPr/>
          </a:p>
        </p:txBody>
      </p:sp>
      <p:sp>
        <p:nvSpPr>
          <p:cNvPr id="966" name="Google Shape;966;p13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119</a:t>
            </a:fld>
            <a:endParaRPr/>
          </a:p>
        </p:txBody>
      </p:sp>
      <p:sp>
        <p:nvSpPr>
          <p:cNvPr id="967" name="Google Shape;967;p130"/>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a:t>The switch statement evaluates an expression, matching the expression's value against a series of case clauses, and executes statements after the first case clause with a matching value, until a break statement is encountered.</a:t>
            </a:r>
            <a:endParaRPr/>
          </a:p>
          <a:p>
            <a:pPr marL="457200" lvl="0" indent="-317500" algn="l" rtl="0">
              <a:spcBef>
                <a:spcPts val="0"/>
              </a:spcBef>
              <a:spcAft>
                <a:spcPts val="0"/>
              </a:spcAft>
              <a:buSzPts val="1400"/>
              <a:buChar char="●"/>
            </a:pPr>
            <a:r>
              <a:rPr lang="en"/>
              <a:t>The default clause of a switch statement will be jumped to if no case matches the expression's value.</a:t>
            </a:r>
            <a:endParaRPr/>
          </a:p>
        </p:txBody>
      </p:sp>
      <p:sp>
        <p:nvSpPr>
          <p:cNvPr id="968" name="Google Shape;968;p130"/>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fontScale="92500" lnSpcReduction="20000"/>
          </a:bodyPr>
          <a:lstStyle/>
          <a:p>
            <a:pPr marL="0" lvl="0" indent="0" algn="l" rtl="0">
              <a:lnSpc>
                <a:spcPct val="100000"/>
              </a:lnSpc>
              <a:spcBef>
                <a:spcPts val="0"/>
              </a:spcBef>
              <a:spcAft>
                <a:spcPts val="0"/>
              </a:spcAft>
              <a:buNone/>
            </a:pPr>
            <a:r>
              <a:rPr lang="en"/>
              <a:t>switch (expression) {</a:t>
            </a:r>
            <a:endParaRPr/>
          </a:p>
          <a:p>
            <a:pPr marL="0" lvl="0" indent="0" algn="l" rtl="0">
              <a:lnSpc>
                <a:spcPct val="100000"/>
              </a:lnSpc>
              <a:spcBef>
                <a:spcPts val="1000"/>
              </a:spcBef>
              <a:spcAft>
                <a:spcPts val="0"/>
              </a:spcAft>
              <a:buNone/>
            </a:pPr>
            <a:r>
              <a:rPr lang="en"/>
              <a:t>  case caseExpression1:</a:t>
            </a:r>
            <a:endParaRPr/>
          </a:p>
          <a:p>
            <a:pPr marL="0" lvl="0" indent="0" algn="l" rtl="0">
              <a:lnSpc>
                <a:spcPct val="100000"/>
              </a:lnSpc>
              <a:spcBef>
                <a:spcPts val="1000"/>
              </a:spcBef>
              <a:spcAft>
                <a:spcPts val="0"/>
              </a:spcAft>
              <a:buNone/>
            </a:pPr>
            <a:r>
              <a:rPr lang="en"/>
              <a:t>    statements</a:t>
            </a:r>
            <a:endParaRPr/>
          </a:p>
          <a:p>
            <a:pPr marL="0" lvl="0" indent="0" algn="l" rtl="0">
              <a:lnSpc>
                <a:spcPct val="100000"/>
              </a:lnSpc>
              <a:spcBef>
                <a:spcPts val="1000"/>
              </a:spcBef>
              <a:spcAft>
                <a:spcPts val="0"/>
              </a:spcAft>
              <a:buNone/>
            </a:pPr>
            <a:r>
              <a:rPr lang="en"/>
              <a:t>  case caseExpression2:</a:t>
            </a:r>
            <a:endParaRPr/>
          </a:p>
          <a:p>
            <a:pPr marL="0" lvl="0" indent="0" algn="l" rtl="0">
              <a:lnSpc>
                <a:spcPct val="100000"/>
              </a:lnSpc>
              <a:spcBef>
                <a:spcPts val="1000"/>
              </a:spcBef>
              <a:spcAft>
                <a:spcPts val="0"/>
              </a:spcAft>
              <a:buNone/>
            </a:pPr>
            <a:r>
              <a:rPr lang="en"/>
              <a:t>    statements</a:t>
            </a:r>
            <a:endParaRPr/>
          </a:p>
          <a:p>
            <a:pPr marL="0" lvl="0" indent="0" algn="l" rtl="0">
              <a:lnSpc>
                <a:spcPct val="100000"/>
              </a:lnSpc>
              <a:spcBef>
                <a:spcPts val="1000"/>
              </a:spcBef>
              <a:spcAft>
                <a:spcPts val="0"/>
              </a:spcAft>
              <a:buNone/>
            </a:pPr>
            <a:r>
              <a:rPr lang="en"/>
              <a:t>  // …</a:t>
            </a:r>
            <a:endParaRPr/>
          </a:p>
          <a:p>
            <a:pPr marL="0" lvl="0" indent="0" algn="l" rtl="0">
              <a:lnSpc>
                <a:spcPct val="100000"/>
              </a:lnSpc>
              <a:spcBef>
                <a:spcPts val="1000"/>
              </a:spcBef>
              <a:spcAft>
                <a:spcPts val="0"/>
              </a:spcAft>
              <a:buNone/>
            </a:pPr>
            <a:r>
              <a:rPr lang="en"/>
              <a:t>  case caseExpressionN:</a:t>
            </a:r>
            <a:endParaRPr/>
          </a:p>
          <a:p>
            <a:pPr marL="0" lvl="0" indent="0" algn="l" rtl="0">
              <a:lnSpc>
                <a:spcPct val="100000"/>
              </a:lnSpc>
              <a:spcBef>
                <a:spcPts val="1000"/>
              </a:spcBef>
              <a:spcAft>
                <a:spcPts val="0"/>
              </a:spcAft>
              <a:buNone/>
            </a:pPr>
            <a:r>
              <a:rPr lang="en"/>
              <a:t>    statements</a:t>
            </a:r>
            <a:endParaRPr/>
          </a:p>
          <a:p>
            <a:pPr marL="0" lvl="0" indent="0" algn="l" rtl="0">
              <a:lnSpc>
                <a:spcPct val="100000"/>
              </a:lnSpc>
              <a:spcBef>
                <a:spcPts val="1000"/>
              </a:spcBef>
              <a:spcAft>
                <a:spcPts val="0"/>
              </a:spcAft>
              <a:buNone/>
            </a:pPr>
            <a:r>
              <a:rPr lang="en"/>
              <a:t>  default:</a:t>
            </a:r>
            <a:endParaRPr/>
          </a:p>
          <a:p>
            <a:pPr marL="0" lvl="0" indent="0" algn="l" rtl="0">
              <a:lnSpc>
                <a:spcPct val="100000"/>
              </a:lnSpc>
              <a:spcBef>
                <a:spcPts val="1000"/>
              </a:spcBef>
              <a:spcAft>
                <a:spcPts val="0"/>
              </a:spcAft>
              <a:buNone/>
            </a:pPr>
            <a:r>
              <a:rPr lang="en"/>
              <a:t>    statements</a:t>
            </a:r>
            <a:endParaRPr/>
          </a:p>
          <a:p>
            <a:pPr marL="0" lvl="0" indent="0" algn="l" rtl="0">
              <a:lnSpc>
                <a:spcPct val="100000"/>
              </a:lnSpc>
              <a:spcBef>
                <a:spcPts val="1000"/>
              </a:spcBef>
              <a:spcAft>
                <a:spcPts val="1000"/>
              </a:spcAft>
              <a:buNone/>
            </a:pPr>
            <a:r>
              <a:rPr lang="en"/>
              <a:t>}</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p13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switch statements Example</a:t>
            </a:r>
            <a:endParaRPr/>
          </a:p>
        </p:txBody>
      </p:sp>
      <p:sp>
        <p:nvSpPr>
          <p:cNvPr id="974" name="Google Shape;974;p13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120</a:t>
            </a:fld>
            <a:endParaRPr/>
          </a:p>
        </p:txBody>
      </p:sp>
      <p:sp>
        <p:nvSpPr>
          <p:cNvPr id="975" name="Google Shape;975;p131"/>
          <p:cNvSpPr txBox="1"/>
          <p:nvPr/>
        </p:nvSpPr>
        <p:spPr>
          <a:xfrm>
            <a:off x="832425" y="1217400"/>
            <a:ext cx="4030800" cy="37404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100">
                <a:solidFill>
                  <a:srgbClr val="FF7B72"/>
                </a:solidFill>
                <a:highlight>
                  <a:srgbClr val="121314"/>
                </a:highlight>
                <a:latin typeface="Courier New"/>
                <a:ea typeface="Courier New"/>
                <a:cs typeface="Courier New"/>
                <a:sym typeface="Courier New"/>
              </a:rPr>
              <a:t>const</a:t>
            </a:r>
            <a:r>
              <a:rPr lang="en" sz="1100">
                <a:solidFill>
                  <a:srgbClr val="BBBEBF"/>
                </a:solidFill>
                <a:highlight>
                  <a:srgbClr val="121314"/>
                </a:highlight>
                <a:latin typeface="Courier New"/>
                <a:ea typeface="Courier New"/>
                <a:cs typeface="Courier New"/>
                <a:sym typeface="Courier New"/>
              </a:rPr>
              <a:t> </a:t>
            </a:r>
            <a:r>
              <a:rPr lang="en" sz="1100">
                <a:solidFill>
                  <a:srgbClr val="79C0FF"/>
                </a:solidFill>
                <a:highlight>
                  <a:srgbClr val="121314"/>
                </a:highlight>
                <a:latin typeface="Courier New"/>
                <a:ea typeface="Courier New"/>
                <a:cs typeface="Courier New"/>
                <a:sym typeface="Courier New"/>
              </a:rPr>
              <a:t>action</a:t>
            </a:r>
            <a:r>
              <a:rPr lang="en" sz="1100">
                <a:solidFill>
                  <a:srgbClr val="BBBEBF"/>
                </a:solidFill>
                <a:highlight>
                  <a:srgbClr val="121314"/>
                </a:highlight>
                <a:latin typeface="Courier New"/>
                <a:ea typeface="Courier New"/>
                <a:cs typeface="Courier New"/>
                <a:sym typeface="Courier New"/>
              </a:rPr>
              <a:t> </a:t>
            </a:r>
            <a:r>
              <a:rPr lang="en" sz="1100">
                <a:solidFill>
                  <a:srgbClr val="D4D4D4"/>
                </a:solidFill>
                <a:highlight>
                  <a:srgbClr val="121314"/>
                </a:highlight>
                <a:latin typeface="Courier New"/>
                <a:ea typeface="Courier New"/>
                <a:cs typeface="Courier New"/>
                <a:sym typeface="Courier New"/>
              </a:rPr>
              <a:t>=</a:t>
            </a:r>
            <a:r>
              <a:rPr lang="en" sz="1100">
                <a:solidFill>
                  <a:srgbClr val="BBBEBF"/>
                </a:solidFill>
                <a:highlight>
                  <a:srgbClr val="121314"/>
                </a:highlight>
                <a:latin typeface="Courier New"/>
                <a:ea typeface="Courier New"/>
                <a:cs typeface="Courier New"/>
                <a:sym typeface="Courier New"/>
              </a:rPr>
              <a:t> </a:t>
            </a:r>
            <a:r>
              <a:rPr lang="en" sz="1100">
                <a:solidFill>
                  <a:srgbClr val="A5D6FF"/>
                </a:solidFill>
                <a:highlight>
                  <a:srgbClr val="121314"/>
                </a:highlight>
                <a:latin typeface="Courier New"/>
                <a:ea typeface="Courier New"/>
                <a:cs typeface="Courier New"/>
                <a:sym typeface="Courier New"/>
              </a:rPr>
              <a:t>"say_hello"</a:t>
            </a:r>
            <a:r>
              <a:rPr lang="en" sz="1100">
                <a:solidFill>
                  <a:srgbClr val="BBBEBF"/>
                </a:solidFill>
                <a:highlight>
                  <a:srgbClr val="121314"/>
                </a:highlight>
                <a:latin typeface="Courier New"/>
                <a:ea typeface="Courier New"/>
                <a:cs typeface="Courier New"/>
                <a:sym typeface="Courier New"/>
              </a:rPr>
              <a:t>;</a:t>
            </a:r>
            <a:endParaRPr sz="11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C586C0"/>
                </a:solidFill>
                <a:highlight>
                  <a:srgbClr val="121314"/>
                </a:highlight>
                <a:latin typeface="Courier New"/>
                <a:ea typeface="Courier New"/>
                <a:cs typeface="Courier New"/>
                <a:sym typeface="Courier New"/>
              </a:rPr>
              <a:t>switch</a:t>
            </a:r>
            <a:r>
              <a:rPr lang="en" sz="1100">
                <a:solidFill>
                  <a:srgbClr val="BBBEBF"/>
                </a:solidFill>
                <a:highlight>
                  <a:srgbClr val="121314"/>
                </a:highlight>
                <a:latin typeface="Courier New"/>
                <a:ea typeface="Courier New"/>
                <a:cs typeface="Courier New"/>
                <a:sym typeface="Courier New"/>
              </a:rPr>
              <a:t> (</a:t>
            </a:r>
            <a:r>
              <a:rPr lang="en" sz="1100">
                <a:solidFill>
                  <a:srgbClr val="C9D1D9"/>
                </a:solidFill>
                <a:highlight>
                  <a:srgbClr val="121314"/>
                </a:highlight>
                <a:latin typeface="Courier New"/>
                <a:ea typeface="Courier New"/>
                <a:cs typeface="Courier New"/>
                <a:sym typeface="Courier New"/>
              </a:rPr>
              <a:t>action</a:t>
            </a:r>
            <a:r>
              <a:rPr lang="en" sz="1100">
                <a:solidFill>
                  <a:srgbClr val="BBBEBF"/>
                </a:solidFill>
                <a:highlight>
                  <a:srgbClr val="121314"/>
                </a:highlight>
                <a:latin typeface="Courier New"/>
                <a:ea typeface="Courier New"/>
                <a:cs typeface="Courier New"/>
                <a:sym typeface="Courier New"/>
              </a:rPr>
              <a:t>) {</a:t>
            </a:r>
            <a:endParaRPr sz="11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BBBEBF"/>
                </a:solidFill>
                <a:highlight>
                  <a:srgbClr val="121314"/>
                </a:highlight>
                <a:latin typeface="Courier New"/>
                <a:ea typeface="Courier New"/>
                <a:cs typeface="Courier New"/>
                <a:sym typeface="Courier New"/>
              </a:rPr>
              <a:t> </a:t>
            </a:r>
            <a:r>
              <a:rPr lang="en" sz="1100">
                <a:solidFill>
                  <a:srgbClr val="C586C0"/>
                </a:solidFill>
                <a:highlight>
                  <a:srgbClr val="121314"/>
                </a:highlight>
                <a:latin typeface="Courier New"/>
                <a:ea typeface="Courier New"/>
                <a:cs typeface="Courier New"/>
                <a:sym typeface="Courier New"/>
              </a:rPr>
              <a:t>case</a:t>
            </a:r>
            <a:r>
              <a:rPr lang="en" sz="1100">
                <a:solidFill>
                  <a:srgbClr val="BBBEBF"/>
                </a:solidFill>
                <a:highlight>
                  <a:srgbClr val="121314"/>
                </a:highlight>
                <a:latin typeface="Courier New"/>
                <a:ea typeface="Courier New"/>
                <a:cs typeface="Courier New"/>
                <a:sym typeface="Courier New"/>
              </a:rPr>
              <a:t> </a:t>
            </a:r>
            <a:r>
              <a:rPr lang="en" sz="1100">
                <a:solidFill>
                  <a:srgbClr val="A5D6FF"/>
                </a:solidFill>
                <a:highlight>
                  <a:srgbClr val="121314"/>
                </a:highlight>
                <a:latin typeface="Courier New"/>
                <a:ea typeface="Courier New"/>
                <a:cs typeface="Courier New"/>
                <a:sym typeface="Courier New"/>
              </a:rPr>
              <a:t>"say_hello"</a:t>
            </a:r>
            <a:r>
              <a:rPr lang="en" sz="1100">
                <a:solidFill>
                  <a:srgbClr val="BBBEBF"/>
                </a:solidFill>
                <a:highlight>
                  <a:srgbClr val="121314"/>
                </a:highlight>
                <a:latin typeface="Courier New"/>
                <a:ea typeface="Courier New"/>
                <a:cs typeface="Courier New"/>
                <a:sym typeface="Courier New"/>
              </a:rPr>
              <a:t>: </a:t>
            </a:r>
            <a:r>
              <a:rPr lang="en" sz="1100">
                <a:solidFill>
                  <a:srgbClr val="C9D1D9"/>
                </a:solidFill>
                <a:highlight>
                  <a:srgbClr val="121314"/>
                </a:highlight>
                <a:latin typeface="Courier New"/>
                <a:ea typeface="Courier New"/>
                <a:cs typeface="Courier New"/>
                <a:sym typeface="Courier New"/>
              </a:rPr>
              <a:t>{</a:t>
            </a:r>
            <a:endParaRPr sz="11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C9D1D9"/>
                </a:solidFill>
                <a:highlight>
                  <a:srgbClr val="121314"/>
                </a:highlight>
                <a:latin typeface="Courier New"/>
                <a:ea typeface="Courier New"/>
                <a:cs typeface="Courier New"/>
                <a:sym typeface="Courier New"/>
              </a:rPr>
              <a:t>   </a:t>
            </a:r>
            <a:r>
              <a:rPr lang="en" sz="1100">
                <a:solidFill>
                  <a:srgbClr val="FF7B72"/>
                </a:solidFill>
                <a:highlight>
                  <a:srgbClr val="121314"/>
                </a:highlight>
                <a:latin typeface="Courier New"/>
                <a:ea typeface="Courier New"/>
                <a:cs typeface="Courier New"/>
                <a:sym typeface="Courier New"/>
              </a:rPr>
              <a:t>const</a:t>
            </a:r>
            <a:r>
              <a:rPr lang="en" sz="1100">
                <a:solidFill>
                  <a:srgbClr val="C9D1D9"/>
                </a:solidFill>
                <a:highlight>
                  <a:srgbClr val="121314"/>
                </a:highlight>
                <a:latin typeface="Courier New"/>
                <a:ea typeface="Courier New"/>
                <a:cs typeface="Courier New"/>
                <a:sym typeface="Courier New"/>
              </a:rPr>
              <a:t> </a:t>
            </a:r>
            <a:r>
              <a:rPr lang="en" sz="1100">
                <a:solidFill>
                  <a:srgbClr val="79C0FF"/>
                </a:solidFill>
                <a:highlight>
                  <a:srgbClr val="121314"/>
                </a:highlight>
                <a:latin typeface="Courier New"/>
                <a:ea typeface="Courier New"/>
                <a:cs typeface="Courier New"/>
                <a:sym typeface="Courier New"/>
              </a:rPr>
              <a:t>message</a:t>
            </a:r>
            <a:r>
              <a:rPr lang="en" sz="1100">
                <a:solidFill>
                  <a:srgbClr val="C9D1D9"/>
                </a:solidFill>
                <a:highlight>
                  <a:srgbClr val="121314"/>
                </a:highlight>
                <a:latin typeface="Courier New"/>
                <a:ea typeface="Courier New"/>
                <a:cs typeface="Courier New"/>
                <a:sym typeface="Courier New"/>
              </a:rPr>
              <a:t> </a:t>
            </a:r>
            <a:r>
              <a:rPr lang="en" sz="1100">
                <a:solidFill>
                  <a:srgbClr val="D4D4D4"/>
                </a:solidFill>
                <a:highlight>
                  <a:srgbClr val="121314"/>
                </a:highlight>
                <a:latin typeface="Courier New"/>
                <a:ea typeface="Courier New"/>
                <a:cs typeface="Courier New"/>
                <a:sym typeface="Courier New"/>
              </a:rPr>
              <a:t>=</a:t>
            </a:r>
            <a:r>
              <a:rPr lang="en" sz="1100">
                <a:solidFill>
                  <a:srgbClr val="C9D1D9"/>
                </a:solidFill>
                <a:highlight>
                  <a:srgbClr val="121314"/>
                </a:highlight>
                <a:latin typeface="Courier New"/>
                <a:ea typeface="Courier New"/>
                <a:cs typeface="Courier New"/>
                <a:sym typeface="Courier New"/>
              </a:rPr>
              <a:t> </a:t>
            </a:r>
            <a:r>
              <a:rPr lang="en" sz="1100">
                <a:solidFill>
                  <a:srgbClr val="A5D6FF"/>
                </a:solidFill>
                <a:highlight>
                  <a:srgbClr val="121314"/>
                </a:highlight>
                <a:latin typeface="Courier New"/>
                <a:ea typeface="Courier New"/>
                <a:cs typeface="Courier New"/>
                <a:sym typeface="Courier New"/>
              </a:rPr>
              <a:t>"hello"</a:t>
            </a:r>
            <a:r>
              <a:rPr lang="en" sz="1100">
                <a:solidFill>
                  <a:srgbClr val="C9D1D9"/>
                </a:solidFill>
                <a:highlight>
                  <a:srgbClr val="121314"/>
                </a:highlight>
                <a:latin typeface="Courier New"/>
                <a:ea typeface="Courier New"/>
                <a:cs typeface="Courier New"/>
                <a:sym typeface="Courier New"/>
              </a:rPr>
              <a:t>;</a:t>
            </a:r>
            <a:endParaRPr sz="11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C9D1D9"/>
                </a:solidFill>
                <a:highlight>
                  <a:srgbClr val="121314"/>
                </a:highlight>
                <a:latin typeface="Courier New"/>
                <a:ea typeface="Courier New"/>
                <a:cs typeface="Courier New"/>
                <a:sym typeface="Courier New"/>
              </a:rPr>
              <a:t>   console.</a:t>
            </a:r>
            <a:r>
              <a:rPr lang="en" sz="1100">
                <a:solidFill>
                  <a:srgbClr val="D2A8FF"/>
                </a:solidFill>
                <a:highlight>
                  <a:srgbClr val="121314"/>
                </a:highlight>
                <a:latin typeface="Courier New"/>
                <a:ea typeface="Courier New"/>
                <a:cs typeface="Courier New"/>
                <a:sym typeface="Courier New"/>
              </a:rPr>
              <a:t>log</a:t>
            </a:r>
            <a:r>
              <a:rPr lang="en" sz="1100">
                <a:solidFill>
                  <a:srgbClr val="C9D1D9"/>
                </a:solidFill>
                <a:highlight>
                  <a:srgbClr val="121314"/>
                </a:highlight>
                <a:latin typeface="Courier New"/>
                <a:ea typeface="Courier New"/>
                <a:cs typeface="Courier New"/>
                <a:sym typeface="Courier New"/>
              </a:rPr>
              <a:t>(message);</a:t>
            </a:r>
            <a:endParaRPr sz="11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C9D1D9"/>
                </a:solidFill>
                <a:highlight>
                  <a:srgbClr val="121314"/>
                </a:highlight>
                <a:latin typeface="Courier New"/>
                <a:ea typeface="Courier New"/>
                <a:cs typeface="Courier New"/>
                <a:sym typeface="Courier New"/>
              </a:rPr>
              <a:t>   </a:t>
            </a:r>
            <a:r>
              <a:rPr lang="en" sz="1100">
                <a:solidFill>
                  <a:srgbClr val="C586C0"/>
                </a:solidFill>
                <a:highlight>
                  <a:srgbClr val="121314"/>
                </a:highlight>
                <a:latin typeface="Courier New"/>
                <a:ea typeface="Courier New"/>
                <a:cs typeface="Courier New"/>
                <a:sym typeface="Courier New"/>
              </a:rPr>
              <a:t>break</a:t>
            </a:r>
            <a:r>
              <a:rPr lang="en" sz="1100">
                <a:solidFill>
                  <a:srgbClr val="C9D1D9"/>
                </a:solidFill>
                <a:highlight>
                  <a:srgbClr val="121314"/>
                </a:highlight>
                <a:latin typeface="Courier New"/>
                <a:ea typeface="Courier New"/>
                <a:cs typeface="Courier New"/>
                <a:sym typeface="Courier New"/>
              </a:rPr>
              <a:t>;</a:t>
            </a:r>
            <a:endParaRPr sz="11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C9D1D9"/>
                </a:solidFill>
                <a:highlight>
                  <a:srgbClr val="121314"/>
                </a:highlight>
                <a:latin typeface="Courier New"/>
                <a:ea typeface="Courier New"/>
                <a:cs typeface="Courier New"/>
                <a:sym typeface="Courier New"/>
              </a:rPr>
              <a:t> }</a:t>
            </a:r>
            <a:endParaRPr sz="11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BBBEBF"/>
                </a:solidFill>
                <a:highlight>
                  <a:srgbClr val="121314"/>
                </a:highlight>
                <a:latin typeface="Courier New"/>
                <a:ea typeface="Courier New"/>
                <a:cs typeface="Courier New"/>
                <a:sym typeface="Courier New"/>
              </a:rPr>
              <a:t> </a:t>
            </a:r>
            <a:r>
              <a:rPr lang="en" sz="1100">
                <a:solidFill>
                  <a:srgbClr val="C586C0"/>
                </a:solidFill>
                <a:highlight>
                  <a:srgbClr val="121314"/>
                </a:highlight>
                <a:latin typeface="Courier New"/>
                <a:ea typeface="Courier New"/>
                <a:cs typeface="Courier New"/>
                <a:sym typeface="Courier New"/>
              </a:rPr>
              <a:t>case</a:t>
            </a:r>
            <a:r>
              <a:rPr lang="en" sz="1100">
                <a:solidFill>
                  <a:srgbClr val="BBBEBF"/>
                </a:solidFill>
                <a:highlight>
                  <a:srgbClr val="121314"/>
                </a:highlight>
                <a:latin typeface="Courier New"/>
                <a:ea typeface="Courier New"/>
                <a:cs typeface="Courier New"/>
                <a:sym typeface="Courier New"/>
              </a:rPr>
              <a:t> </a:t>
            </a:r>
            <a:r>
              <a:rPr lang="en" sz="1100">
                <a:solidFill>
                  <a:srgbClr val="A5D6FF"/>
                </a:solidFill>
                <a:highlight>
                  <a:srgbClr val="121314"/>
                </a:highlight>
                <a:latin typeface="Courier New"/>
                <a:ea typeface="Courier New"/>
                <a:cs typeface="Courier New"/>
                <a:sym typeface="Courier New"/>
              </a:rPr>
              <a:t>"say_hi"</a:t>
            </a:r>
            <a:r>
              <a:rPr lang="en" sz="1100">
                <a:solidFill>
                  <a:srgbClr val="BBBEBF"/>
                </a:solidFill>
                <a:highlight>
                  <a:srgbClr val="121314"/>
                </a:highlight>
                <a:latin typeface="Courier New"/>
                <a:ea typeface="Courier New"/>
                <a:cs typeface="Courier New"/>
                <a:sym typeface="Courier New"/>
              </a:rPr>
              <a:t>: </a:t>
            </a:r>
            <a:r>
              <a:rPr lang="en" sz="1100">
                <a:solidFill>
                  <a:srgbClr val="C9D1D9"/>
                </a:solidFill>
                <a:highlight>
                  <a:srgbClr val="121314"/>
                </a:highlight>
                <a:latin typeface="Courier New"/>
                <a:ea typeface="Courier New"/>
                <a:cs typeface="Courier New"/>
                <a:sym typeface="Courier New"/>
              </a:rPr>
              <a:t>{</a:t>
            </a:r>
            <a:endParaRPr sz="11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C9D1D9"/>
                </a:solidFill>
                <a:highlight>
                  <a:srgbClr val="121314"/>
                </a:highlight>
                <a:latin typeface="Courier New"/>
                <a:ea typeface="Courier New"/>
                <a:cs typeface="Courier New"/>
                <a:sym typeface="Courier New"/>
              </a:rPr>
              <a:t>   </a:t>
            </a:r>
            <a:r>
              <a:rPr lang="en" sz="1100">
                <a:solidFill>
                  <a:srgbClr val="FF7B72"/>
                </a:solidFill>
                <a:highlight>
                  <a:srgbClr val="121314"/>
                </a:highlight>
                <a:latin typeface="Courier New"/>
                <a:ea typeface="Courier New"/>
                <a:cs typeface="Courier New"/>
                <a:sym typeface="Courier New"/>
              </a:rPr>
              <a:t>const</a:t>
            </a:r>
            <a:r>
              <a:rPr lang="en" sz="1100">
                <a:solidFill>
                  <a:srgbClr val="C9D1D9"/>
                </a:solidFill>
                <a:highlight>
                  <a:srgbClr val="121314"/>
                </a:highlight>
                <a:latin typeface="Courier New"/>
                <a:ea typeface="Courier New"/>
                <a:cs typeface="Courier New"/>
                <a:sym typeface="Courier New"/>
              </a:rPr>
              <a:t> </a:t>
            </a:r>
            <a:r>
              <a:rPr lang="en" sz="1100">
                <a:solidFill>
                  <a:srgbClr val="79C0FF"/>
                </a:solidFill>
                <a:highlight>
                  <a:srgbClr val="121314"/>
                </a:highlight>
                <a:latin typeface="Courier New"/>
                <a:ea typeface="Courier New"/>
                <a:cs typeface="Courier New"/>
                <a:sym typeface="Courier New"/>
              </a:rPr>
              <a:t>message</a:t>
            </a:r>
            <a:r>
              <a:rPr lang="en" sz="1100">
                <a:solidFill>
                  <a:srgbClr val="C9D1D9"/>
                </a:solidFill>
                <a:highlight>
                  <a:srgbClr val="121314"/>
                </a:highlight>
                <a:latin typeface="Courier New"/>
                <a:ea typeface="Courier New"/>
                <a:cs typeface="Courier New"/>
                <a:sym typeface="Courier New"/>
              </a:rPr>
              <a:t> </a:t>
            </a:r>
            <a:r>
              <a:rPr lang="en" sz="1100">
                <a:solidFill>
                  <a:srgbClr val="D4D4D4"/>
                </a:solidFill>
                <a:highlight>
                  <a:srgbClr val="121314"/>
                </a:highlight>
                <a:latin typeface="Courier New"/>
                <a:ea typeface="Courier New"/>
                <a:cs typeface="Courier New"/>
                <a:sym typeface="Courier New"/>
              </a:rPr>
              <a:t>=</a:t>
            </a:r>
            <a:r>
              <a:rPr lang="en" sz="1100">
                <a:solidFill>
                  <a:srgbClr val="C9D1D9"/>
                </a:solidFill>
                <a:highlight>
                  <a:srgbClr val="121314"/>
                </a:highlight>
                <a:latin typeface="Courier New"/>
                <a:ea typeface="Courier New"/>
                <a:cs typeface="Courier New"/>
                <a:sym typeface="Courier New"/>
              </a:rPr>
              <a:t> </a:t>
            </a:r>
            <a:r>
              <a:rPr lang="en" sz="1100">
                <a:solidFill>
                  <a:srgbClr val="A5D6FF"/>
                </a:solidFill>
                <a:highlight>
                  <a:srgbClr val="121314"/>
                </a:highlight>
                <a:latin typeface="Courier New"/>
                <a:ea typeface="Courier New"/>
                <a:cs typeface="Courier New"/>
                <a:sym typeface="Courier New"/>
              </a:rPr>
              <a:t>"hi"</a:t>
            </a:r>
            <a:r>
              <a:rPr lang="en" sz="1100">
                <a:solidFill>
                  <a:srgbClr val="C9D1D9"/>
                </a:solidFill>
                <a:highlight>
                  <a:srgbClr val="121314"/>
                </a:highlight>
                <a:latin typeface="Courier New"/>
                <a:ea typeface="Courier New"/>
                <a:cs typeface="Courier New"/>
                <a:sym typeface="Courier New"/>
              </a:rPr>
              <a:t>;</a:t>
            </a:r>
            <a:endParaRPr sz="11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C9D1D9"/>
                </a:solidFill>
                <a:highlight>
                  <a:srgbClr val="121314"/>
                </a:highlight>
                <a:latin typeface="Courier New"/>
                <a:ea typeface="Courier New"/>
                <a:cs typeface="Courier New"/>
                <a:sym typeface="Courier New"/>
              </a:rPr>
              <a:t>   console.</a:t>
            </a:r>
            <a:r>
              <a:rPr lang="en" sz="1100">
                <a:solidFill>
                  <a:srgbClr val="D2A8FF"/>
                </a:solidFill>
                <a:highlight>
                  <a:srgbClr val="121314"/>
                </a:highlight>
                <a:latin typeface="Courier New"/>
                <a:ea typeface="Courier New"/>
                <a:cs typeface="Courier New"/>
                <a:sym typeface="Courier New"/>
              </a:rPr>
              <a:t>log</a:t>
            </a:r>
            <a:r>
              <a:rPr lang="en" sz="1100">
                <a:solidFill>
                  <a:srgbClr val="C9D1D9"/>
                </a:solidFill>
                <a:highlight>
                  <a:srgbClr val="121314"/>
                </a:highlight>
                <a:latin typeface="Courier New"/>
                <a:ea typeface="Courier New"/>
                <a:cs typeface="Courier New"/>
                <a:sym typeface="Courier New"/>
              </a:rPr>
              <a:t>(message);</a:t>
            </a:r>
            <a:endParaRPr sz="11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C9D1D9"/>
                </a:solidFill>
                <a:highlight>
                  <a:srgbClr val="121314"/>
                </a:highlight>
                <a:latin typeface="Courier New"/>
                <a:ea typeface="Courier New"/>
                <a:cs typeface="Courier New"/>
                <a:sym typeface="Courier New"/>
              </a:rPr>
              <a:t>   </a:t>
            </a:r>
            <a:r>
              <a:rPr lang="en" sz="1100">
                <a:solidFill>
                  <a:srgbClr val="C586C0"/>
                </a:solidFill>
                <a:highlight>
                  <a:srgbClr val="121314"/>
                </a:highlight>
                <a:latin typeface="Courier New"/>
                <a:ea typeface="Courier New"/>
                <a:cs typeface="Courier New"/>
                <a:sym typeface="Courier New"/>
              </a:rPr>
              <a:t>break</a:t>
            </a:r>
            <a:r>
              <a:rPr lang="en" sz="1100">
                <a:solidFill>
                  <a:srgbClr val="C9D1D9"/>
                </a:solidFill>
                <a:highlight>
                  <a:srgbClr val="121314"/>
                </a:highlight>
                <a:latin typeface="Courier New"/>
                <a:ea typeface="Courier New"/>
                <a:cs typeface="Courier New"/>
                <a:sym typeface="Courier New"/>
              </a:rPr>
              <a:t>;</a:t>
            </a:r>
            <a:endParaRPr sz="11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C9D1D9"/>
                </a:solidFill>
                <a:highlight>
                  <a:srgbClr val="121314"/>
                </a:highlight>
                <a:latin typeface="Courier New"/>
                <a:ea typeface="Courier New"/>
                <a:cs typeface="Courier New"/>
                <a:sym typeface="Courier New"/>
              </a:rPr>
              <a:t> }</a:t>
            </a:r>
            <a:endParaRPr sz="11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BBBEBF"/>
                </a:solidFill>
                <a:highlight>
                  <a:srgbClr val="121314"/>
                </a:highlight>
                <a:latin typeface="Courier New"/>
                <a:ea typeface="Courier New"/>
                <a:cs typeface="Courier New"/>
                <a:sym typeface="Courier New"/>
              </a:rPr>
              <a:t> </a:t>
            </a:r>
            <a:r>
              <a:rPr lang="en" sz="1100">
                <a:solidFill>
                  <a:srgbClr val="C586C0"/>
                </a:solidFill>
                <a:highlight>
                  <a:srgbClr val="121314"/>
                </a:highlight>
                <a:latin typeface="Courier New"/>
                <a:ea typeface="Courier New"/>
                <a:cs typeface="Courier New"/>
                <a:sym typeface="Courier New"/>
              </a:rPr>
              <a:t>default</a:t>
            </a:r>
            <a:r>
              <a:rPr lang="en" sz="1100">
                <a:solidFill>
                  <a:srgbClr val="BBBEBF"/>
                </a:solidFill>
                <a:highlight>
                  <a:srgbClr val="121314"/>
                </a:highlight>
                <a:latin typeface="Courier New"/>
                <a:ea typeface="Courier New"/>
                <a:cs typeface="Courier New"/>
                <a:sym typeface="Courier New"/>
              </a:rPr>
              <a:t>: </a:t>
            </a:r>
            <a:r>
              <a:rPr lang="en" sz="1100">
                <a:solidFill>
                  <a:srgbClr val="C9D1D9"/>
                </a:solidFill>
                <a:highlight>
                  <a:srgbClr val="121314"/>
                </a:highlight>
                <a:latin typeface="Courier New"/>
                <a:ea typeface="Courier New"/>
                <a:cs typeface="Courier New"/>
                <a:sym typeface="Courier New"/>
              </a:rPr>
              <a:t>{</a:t>
            </a:r>
            <a:endParaRPr sz="11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C9D1D9"/>
                </a:solidFill>
                <a:highlight>
                  <a:srgbClr val="121314"/>
                </a:highlight>
                <a:latin typeface="Courier New"/>
                <a:ea typeface="Courier New"/>
                <a:cs typeface="Courier New"/>
                <a:sym typeface="Courier New"/>
              </a:rPr>
              <a:t>   console.</a:t>
            </a:r>
            <a:r>
              <a:rPr lang="en" sz="1100">
                <a:solidFill>
                  <a:srgbClr val="D2A8FF"/>
                </a:solidFill>
                <a:highlight>
                  <a:srgbClr val="121314"/>
                </a:highlight>
                <a:latin typeface="Courier New"/>
                <a:ea typeface="Courier New"/>
                <a:cs typeface="Courier New"/>
                <a:sym typeface="Courier New"/>
              </a:rPr>
              <a:t>log</a:t>
            </a:r>
            <a:r>
              <a:rPr lang="en" sz="1100">
                <a:solidFill>
                  <a:srgbClr val="C9D1D9"/>
                </a:solidFill>
                <a:highlight>
                  <a:srgbClr val="121314"/>
                </a:highlight>
                <a:latin typeface="Courier New"/>
                <a:ea typeface="Courier New"/>
                <a:cs typeface="Courier New"/>
                <a:sym typeface="Courier New"/>
              </a:rPr>
              <a:t>(</a:t>
            </a:r>
            <a:r>
              <a:rPr lang="en" sz="1100">
                <a:solidFill>
                  <a:srgbClr val="A5D6FF"/>
                </a:solidFill>
                <a:highlight>
                  <a:srgbClr val="121314"/>
                </a:highlight>
                <a:latin typeface="Courier New"/>
                <a:ea typeface="Courier New"/>
                <a:cs typeface="Courier New"/>
                <a:sym typeface="Courier New"/>
              </a:rPr>
              <a:t>"Empty action received."</a:t>
            </a:r>
            <a:r>
              <a:rPr lang="en" sz="1100">
                <a:solidFill>
                  <a:srgbClr val="C9D1D9"/>
                </a:solidFill>
                <a:highlight>
                  <a:srgbClr val="121314"/>
                </a:highlight>
                <a:latin typeface="Courier New"/>
                <a:ea typeface="Courier New"/>
                <a:cs typeface="Courier New"/>
                <a:sym typeface="Courier New"/>
              </a:rPr>
              <a:t>);</a:t>
            </a:r>
            <a:endParaRPr sz="11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C9D1D9"/>
                </a:solidFill>
                <a:highlight>
                  <a:srgbClr val="121314"/>
                </a:highlight>
                <a:latin typeface="Courier New"/>
                <a:ea typeface="Courier New"/>
                <a:cs typeface="Courier New"/>
                <a:sym typeface="Courier New"/>
              </a:rPr>
              <a:t> }</a:t>
            </a:r>
            <a:endParaRPr sz="11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BBBEBF"/>
                </a:solidFill>
                <a:highlight>
                  <a:srgbClr val="121314"/>
                </a:highlight>
                <a:latin typeface="Courier New"/>
                <a:ea typeface="Courier New"/>
                <a:cs typeface="Courier New"/>
                <a:sym typeface="Courier New"/>
              </a:rPr>
              <a:t>}</a:t>
            </a:r>
            <a:endParaRPr sz="1100">
              <a:solidFill>
                <a:srgbClr val="BBBEBF"/>
              </a:solidFill>
              <a:highlight>
                <a:srgbClr val="121314"/>
              </a:highlight>
              <a:latin typeface="Courier New"/>
              <a:ea typeface="Courier New"/>
              <a:cs typeface="Courier New"/>
              <a:sym typeface="Courier New"/>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p13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Breaking and fall-through</a:t>
            </a:r>
            <a:endParaRPr/>
          </a:p>
        </p:txBody>
      </p:sp>
      <p:sp>
        <p:nvSpPr>
          <p:cNvPr id="981" name="Google Shape;981;p1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You can use the break statement within a switch statement's body to break out early, often when all statements between two case clauses have been executed. Execution will continue at the first statement following switch.</a:t>
            </a:r>
            <a:endParaRPr/>
          </a:p>
          <a:p>
            <a:pPr marL="457200" lvl="0" indent="-342900" algn="l" rtl="0">
              <a:spcBef>
                <a:spcPts val="0"/>
              </a:spcBef>
              <a:spcAft>
                <a:spcPts val="0"/>
              </a:spcAft>
              <a:buSzPts val="1800"/>
              <a:buChar char="●"/>
            </a:pPr>
            <a:r>
              <a:rPr lang="en"/>
              <a:t>If break is omitted, execution will proceed to the next case clause, even to the default clause, regardless of whether the value of that clause's expression matches. This behavior is called "fall-through".</a:t>
            </a:r>
            <a:endParaRPr/>
          </a:p>
        </p:txBody>
      </p:sp>
      <p:sp>
        <p:nvSpPr>
          <p:cNvPr id="982" name="Google Shape;982;p13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121</a:t>
            </a:fld>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p13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Breaking and fall-through Example</a:t>
            </a:r>
            <a:endParaRPr/>
          </a:p>
        </p:txBody>
      </p:sp>
      <p:sp>
        <p:nvSpPr>
          <p:cNvPr id="988" name="Google Shape;988;p13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122</a:t>
            </a:fld>
            <a:endParaRPr/>
          </a:p>
        </p:txBody>
      </p:sp>
      <p:sp>
        <p:nvSpPr>
          <p:cNvPr id="989" name="Google Shape;989;p133"/>
          <p:cNvSpPr txBox="1"/>
          <p:nvPr/>
        </p:nvSpPr>
        <p:spPr>
          <a:xfrm>
            <a:off x="823650" y="1296250"/>
            <a:ext cx="4363800" cy="37404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100">
                <a:solidFill>
                  <a:srgbClr val="FF7B72"/>
                </a:solidFill>
                <a:highlight>
                  <a:srgbClr val="121314"/>
                </a:highlight>
                <a:latin typeface="Courier New"/>
                <a:ea typeface="Courier New"/>
                <a:cs typeface="Courier New"/>
                <a:sym typeface="Courier New"/>
              </a:rPr>
              <a:t>const</a:t>
            </a:r>
            <a:r>
              <a:rPr lang="en" sz="1100">
                <a:solidFill>
                  <a:srgbClr val="BBBEBF"/>
                </a:solidFill>
                <a:highlight>
                  <a:srgbClr val="121314"/>
                </a:highlight>
                <a:latin typeface="Courier New"/>
                <a:ea typeface="Courier New"/>
                <a:cs typeface="Courier New"/>
                <a:sym typeface="Courier New"/>
              </a:rPr>
              <a:t> </a:t>
            </a:r>
            <a:r>
              <a:rPr lang="en" sz="1100">
                <a:solidFill>
                  <a:srgbClr val="79C0FF"/>
                </a:solidFill>
                <a:highlight>
                  <a:srgbClr val="121314"/>
                </a:highlight>
                <a:latin typeface="Courier New"/>
                <a:ea typeface="Courier New"/>
                <a:cs typeface="Courier New"/>
                <a:sym typeface="Courier New"/>
              </a:rPr>
              <a:t>foo</a:t>
            </a:r>
            <a:r>
              <a:rPr lang="en" sz="1100">
                <a:solidFill>
                  <a:srgbClr val="BBBEBF"/>
                </a:solidFill>
                <a:highlight>
                  <a:srgbClr val="121314"/>
                </a:highlight>
                <a:latin typeface="Courier New"/>
                <a:ea typeface="Courier New"/>
                <a:cs typeface="Courier New"/>
                <a:sym typeface="Courier New"/>
              </a:rPr>
              <a:t> </a:t>
            </a:r>
            <a:r>
              <a:rPr lang="en" sz="1100">
                <a:solidFill>
                  <a:srgbClr val="D4D4D4"/>
                </a:solidFill>
                <a:highlight>
                  <a:srgbClr val="121314"/>
                </a:highlight>
                <a:latin typeface="Courier New"/>
                <a:ea typeface="Courier New"/>
                <a:cs typeface="Courier New"/>
                <a:sym typeface="Courier New"/>
              </a:rPr>
              <a:t>=</a:t>
            </a:r>
            <a:r>
              <a:rPr lang="en" sz="1100">
                <a:solidFill>
                  <a:srgbClr val="BBBEBF"/>
                </a:solidFill>
                <a:highlight>
                  <a:srgbClr val="121314"/>
                </a:highlight>
                <a:latin typeface="Courier New"/>
                <a:ea typeface="Courier New"/>
                <a:cs typeface="Courier New"/>
                <a:sym typeface="Courier New"/>
              </a:rPr>
              <a:t> </a:t>
            </a:r>
            <a:r>
              <a:rPr lang="en" sz="1100">
                <a:solidFill>
                  <a:srgbClr val="B5CEA8"/>
                </a:solidFill>
                <a:highlight>
                  <a:srgbClr val="121314"/>
                </a:highlight>
                <a:latin typeface="Courier New"/>
                <a:ea typeface="Courier New"/>
                <a:cs typeface="Courier New"/>
                <a:sym typeface="Courier New"/>
              </a:rPr>
              <a:t>0</a:t>
            </a:r>
            <a:r>
              <a:rPr lang="en" sz="1100">
                <a:solidFill>
                  <a:srgbClr val="BBBEBF"/>
                </a:solidFill>
                <a:highlight>
                  <a:srgbClr val="121314"/>
                </a:highlight>
                <a:latin typeface="Courier New"/>
                <a:ea typeface="Courier New"/>
                <a:cs typeface="Courier New"/>
                <a:sym typeface="Courier New"/>
              </a:rPr>
              <a:t>;</a:t>
            </a:r>
            <a:endParaRPr sz="11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C586C0"/>
                </a:solidFill>
                <a:highlight>
                  <a:srgbClr val="121314"/>
                </a:highlight>
                <a:latin typeface="Courier New"/>
                <a:ea typeface="Courier New"/>
                <a:cs typeface="Courier New"/>
                <a:sym typeface="Courier New"/>
              </a:rPr>
              <a:t>switch</a:t>
            </a:r>
            <a:r>
              <a:rPr lang="en" sz="1100">
                <a:solidFill>
                  <a:srgbClr val="BBBEBF"/>
                </a:solidFill>
                <a:highlight>
                  <a:srgbClr val="121314"/>
                </a:highlight>
                <a:latin typeface="Courier New"/>
                <a:ea typeface="Courier New"/>
                <a:cs typeface="Courier New"/>
                <a:sym typeface="Courier New"/>
              </a:rPr>
              <a:t> (</a:t>
            </a:r>
            <a:r>
              <a:rPr lang="en" sz="1100">
                <a:solidFill>
                  <a:srgbClr val="C9D1D9"/>
                </a:solidFill>
                <a:highlight>
                  <a:srgbClr val="121314"/>
                </a:highlight>
                <a:latin typeface="Courier New"/>
                <a:ea typeface="Courier New"/>
                <a:cs typeface="Courier New"/>
                <a:sym typeface="Courier New"/>
              </a:rPr>
              <a:t>foo</a:t>
            </a:r>
            <a:r>
              <a:rPr lang="en" sz="1100">
                <a:solidFill>
                  <a:srgbClr val="BBBEBF"/>
                </a:solidFill>
                <a:highlight>
                  <a:srgbClr val="121314"/>
                </a:highlight>
                <a:latin typeface="Courier New"/>
                <a:ea typeface="Courier New"/>
                <a:cs typeface="Courier New"/>
                <a:sym typeface="Courier New"/>
              </a:rPr>
              <a:t>) {</a:t>
            </a:r>
            <a:endParaRPr sz="11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BBBEBF"/>
                </a:solidFill>
                <a:highlight>
                  <a:srgbClr val="121314"/>
                </a:highlight>
                <a:latin typeface="Courier New"/>
                <a:ea typeface="Courier New"/>
                <a:cs typeface="Courier New"/>
                <a:sym typeface="Courier New"/>
              </a:rPr>
              <a:t> </a:t>
            </a:r>
            <a:r>
              <a:rPr lang="en" sz="1100">
                <a:solidFill>
                  <a:srgbClr val="C586C0"/>
                </a:solidFill>
                <a:highlight>
                  <a:srgbClr val="121314"/>
                </a:highlight>
                <a:latin typeface="Courier New"/>
                <a:ea typeface="Courier New"/>
                <a:cs typeface="Courier New"/>
                <a:sym typeface="Courier New"/>
              </a:rPr>
              <a:t>case</a:t>
            </a:r>
            <a:r>
              <a:rPr lang="en" sz="1100">
                <a:solidFill>
                  <a:srgbClr val="BBBEBF"/>
                </a:solidFill>
                <a:highlight>
                  <a:srgbClr val="121314"/>
                </a:highlight>
                <a:latin typeface="Courier New"/>
                <a:ea typeface="Courier New"/>
                <a:cs typeface="Courier New"/>
                <a:sym typeface="Courier New"/>
              </a:rPr>
              <a:t> </a:t>
            </a:r>
            <a:r>
              <a:rPr lang="en" sz="1100">
                <a:solidFill>
                  <a:srgbClr val="D4D4D4"/>
                </a:solidFill>
                <a:highlight>
                  <a:srgbClr val="121314"/>
                </a:highlight>
                <a:latin typeface="Courier New"/>
                <a:ea typeface="Courier New"/>
                <a:cs typeface="Courier New"/>
                <a:sym typeface="Courier New"/>
              </a:rPr>
              <a:t>-</a:t>
            </a:r>
            <a:r>
              <a:rPr lang="en" sz="1100">
                <a:solidFill>
                  <a:srgbClr val="B5CEA8"/>
                </a:solidFill>
                <a:highlight>
                  <a:srgbClr val="121314"/>
                </a:highlight>
                <a:latin typeface="Courier New"/>
                <a:ea typeface="Courier New"/>
                <a:cs typeface="Courier New"/>
                <a:sym typeface="Courier New"/>
              </a:rPr>
              <a:t>1</a:t>
            </a:r>
            <a:r>
              <a:rPr lang="en" sz="1100">
                <a:solidFill>
                  <a:srgbClr val="BBBEBF"/>
                </a:solidFill>
                <a:highlight>
                  <a:srgbClr val="121314"/>
                </a:highlight>
                <a:latin typeface="Courier New"/>
                <a:ea typeface="Courier New"/>
                <a:cs typeface="Courier New"/>
                <a:sym typeface="Courier New"/>
              </a:rPr>
              <a:t>:</a:t>
            </a:r>
            <a:endParaRPr sz="11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BBBEBF"/>
                </a:solidFill>
                <a:highlight>
                  <a:srgbClr val="121314"/>
                </a:highlight>
                <a:latin typeface="Courier New"/>
                <a:ea typeface="Courier New"/>
                <a:cs typeface="Courier New"/>
                <a:sym typeface="Courier New"/>
              </a:rPr>
              <a:t>   </a:t>
            </a:r>
            <a:r>
              <a:rPr lang="en" sz="1100">
                <a:solidFill>
                  <a:srgbClr val="C9D1D9"/>
                </a:solidFill>
                <a:highlight>
                  <a:srgbClr val="121314"/>
                </a:highlight>
                <a:latin typeface="Courier New"/>
                <a:ea typeface="Courier New"/>
                <a:cs typeface="Courier New"/>
                <a:sym typeface="Courier New"/>
              </a:rPr>
              <a:t>console</a:t>
            </a:r>
            <a:r>
              <a:rPr lang="en" sz="1100">
                <a:solidFill>
                  <a:srgbClr val="BBBEBF"/>
                </a:solidFill>
                <a:highlight>
                  <a:srgbClr val="121314"/>
                </a:highlight>
                <a:latin typeface="Courier New"/>
                <a:ea typeface="Courier New"/>
                <a:cs typeface="Courier New"/>
                <a:sym typeface="Courier New"/>
              </a:rPr>
              <a:t>.</a:t>
            </a:r>
            <a:r>
              <a:rPr lang="en" sz="1100">
                <a:solidFill>
                  <a:srgbClr val="D2A8FF"/>
                </a:solidFill>
                <a:highlight>
                  <a:srgbClr val="121314"/>
                </a:highlight>
                <a:latin typeface="Courier New"/>
                <a:ea typeface="Courier New"/>
                <a:cs typeface="Courier New"/>
                <a:sym typeface="Courier New"/>
              </a:rPr>
              <a:t>log</a:t>
            </a:r>
            <a:r>
              <a:rPr lang="en" sz="1100">
                <a:solidFill>
                  <a:srgbClr val="BBBEBF"/>
                </a:solidFill>
                <a:highlight>
                  <a:srgbClr val="121314"/>
                </a:highlight>
                <a:latin typeface="Courier New"/>
                <a:ea typeface="Courier New"/>
                <a:cs typeface="Courier New"/>
                <a:sym typeface="Courier New"/>
              </a:rPr>
              <a:t>(</a:t>
            </a:r>
            <a:r>
              <a:rPr lang="en" sz="1100">
                <a:solidFill>
                  <a:srgbClr val="A5D6FF"/>
                </a:solidFill>
                <a:highlight>
                  <a:srgbClr val="121314"/>
                </a:highlight>
                <a:latin typeface="Courier New"/>
                <a:ea typeface="Courier New"/>
                <a:cs typeface="Courier New"/>
                <a:sym typeface="Courier New"/>
              </a:rPr>
              <a:t>"negative 1"</a:t>
            </a:r>
            <a:r>
              <a:rPr lang="en" sz="1100">
                <a:solidFill>
                  <a:srgbClr val="BBBEBF"/>
                </a:solidFill>
                <a:highlight>
                  <a:srgbClr val="121314"/>
                </a:highlight>
                <a:latin typeface="Courier New"/>
                <a:ea typeface="Courier New"/>
                <a:cs typeface="Courier New"/>
                <a:sym typeface="Courier New"/>
              </a:rPr>
              <a:t>);</a:t>
            </a:r>
            <a:endParaRPr sz="11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BBBEBF"/>
                </a:solidFill>
                <a:highlight>
                  <a:srgbClr val="121314"/>
                </a:highlight>
                <a:latin typeface="Courier New"/>
                <a:ea typeface="Courier New"/>
                <a:cs typeface="Courier New"/>
                <a:sym typeface="Courier New"/>
              </a:rPr>
              <a:t>   </a:t>
            </a:r>
            <a:r>
              <a:rPr lang="en" sz="1100">
                <a:solidFill>
                  <a:srgbClr val="C586C0"/>
                </a:solidFill>
                <a:highlight>
                  <a:srgbClr val="121314"/>
                </a:highlight>
                <a:latin typeface="Courier New"/>
                <a:ea typeface="Courier New"/>
                <a:cs typeface="Courier New"/>
                <a:sym typeface="Courier New"/>
              </a:rPr>
              <a:t>break</a:t>
            </a:r>
            <a:r>
              <a:rPr lang="en" sz="1100">
                <a:solidFill>
                  <a:srgbClr val="BBBEBF"/>
                </a:solidFill>
                <a:highlight>
                  <a:srgbClr val="121314"/>
                </a:highlight>
                <a:latin typeface="Courier New"/>
                <a:ea typeface="Courier New"/>
                <a:cs typeface="Courier New"/>
                <a:sym typeface="Courier New"/>
              </a:rPr>
              <a:t>;</a:t>
            </a:r>
            <a:endParaRPr sz="11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BBBEBF"/>
                </a:solidFill>
                <a:highlight>
                  <a:srgbClr val="121314"/>
                </a:highlight>
                <a:latin typeface="Courier New"/>
                <a:ea typeface="Courier New"/>
                <a:cs typeface="Courier New"/>
                <a:sym typeface="Courier New"/>
              </a:rPr>
              <a:t> </a:t>
            </a:r>
            <a:r>
              <a:rPr lang="en" sz="1100">
                <a:solidFill>
                  <a:srgbClr val="C586C0"/>
                </a:solidFill>
                <a:highlight>
                  <a:srgbClr val="121314"/>
                </a:highlight>
                <a:latin typeface="Courier New"/>
                <a:ea typeface="Courier New"/>
                <a:cs typeface="Courier New"/>
                <a:sym typeface="Courier New"/>
              </a:rPr>
              <a:t>case</a:t>
            </a:r>
            <a:r>
              <a:rPr lang="en" sz="1100">
                <a:solidFill>
                  <a:srgbClr val="BBBEBF"/>
                </a:solidFill>
                <a:highlight>
                  <a:srgbClr val="121314"/>
                </a:highlight>
                <a:latin typeface="Courier New"/>
                <a:ea typeface="Courier New"/>
                <a:cs typeface="Courier New"/>
                <a:sym typeface="Courier New"/>
              </a:rPr>
              <a:t> </a:t>
            </a:r>
            <a:r>
              <a:rPr lang="en" sz="1100">
                <a:solidFill>
                  <a:srgbClr val="B5CEA8"/>
                </a:solidFill>
                <a:highlight>
                  <a:srgbClr val="121314"/>
                </a:highlight>
                <a:latin typeface="Courier New"/>
                <a:ea typeface="Courier New"/>
                <a:cs typeface="Courier New"/>
                <a:sym typeface="Courier New"/>
              </a:rPr>
              <a:t>0</a:t>
            </a:r>
            <a:r>
              <a:rPr lang="en" sz="1100">
                <a:solidFill>
                  <a:srgbClr val="BBBEBF"/>
                </a:solidFill>
                <a:highlight>
                  <a:srgbClr val="121314"/>
                </a:highlight>
                <a:latin typeface="Courier New"/>
                <a:ea typeface="Courier New"/>
                <a:cs typeface="Courier New"/>
                <a:sym typeface="Courier New"/>
              </a:rPr>
              <a:t>:</a:t>
            </a:r>
            <a:endParaRPr sz="11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BBBEBF"/>
                </a:solidFill>
                <a:highlight>
                  <a:srgbClr val="121314"/>
                </a:highlight>
                <a:latin typeface="Courier New"/>
                <a:ea typeface="Courier New"/>
                <a:cs typeface="Courier New"/>
                <a:sym typeface="Courier New"/>
              </a:rPr>
              <a:t>   </a:t>
            </a:r>
            <a:r>
              <a:rPr lang="en" sz="1100">
                <a:solidFill>
                  <a:srgbClr val="C9D1D9"/>
                </a:solidFill>
                <a:highlight>
                  <a:srgbClr val="121314"/>
                </a:highlight>
                <a:latin typeface="Courier New"/>
                <a:ea typeface="Courier New"/>
                <a:cs typeface="Courier New"/>
                <a:sym typeface="Courier New"/>
              </a:rPr>
              <a:t>console</a:t>
            </a:r>
            <a:r>
              <a:rPr lang="en" sz="1100">
                <a:solidFill>
                  <a:srgbClr val="BBBEBF"/>
                </a:solidFill>
                <a:highlight>
                  <a:srgbClr val="121314"/>
                </a:highlight>
                <a:latin typeface="Courier New"/>
                <a:ea typeface="Courier New"/>
                <a:cs typeface="Courier New"/>
                <a:sym typeface="Courier New"/>
              </a:rPr>
              <a:t>.</a:t>
            </a:r>
            <a:r>
              <a:rPr lang="en" sz="1100">
                <a:solidFill>
                  <a:srgbClr val="D2A8FF"/>
                </a:solidFill>
                <a:highlight>
                  <a:srgbClr val="121314"/>
                </a:highlight>
                <a:latin typeface="Courier New"/>
                <a:ea typeface="Courier New"/>
                <a:cs typeface="Courier New"/>
                <a:sym typeface="Courier New"/>
              </a:rPr>
              <a:t>log</a:t>
            </a:r>
            <a:r>
              <a:rPr lang="en" sz="1100">
                <a:solidFill>
                  <a:srgbClr val="BBBEBF"/>
                </a:solidFill>
                <a:highlight>
                  <a:srgbClr val="121314"/>
                </a:highlight>
                <a:latin typeface="Courier New"/>
                <a:ea typeface="Courier New"/>
                <a:cs typeface="Courier New"/>
                <a:sym typeface="Courier New"/>
              </a:rPr>
              <a:t>(</a:t>
            </a:r>
            <a:r>
              <a:rPr lang="en" sz="1100">
                <a:solidFill>
                  <a:srgbClr val="B5CEA8"/>
                </a:solidFill>
                <a:highlight>
                  <a:srgbClr val="121314"/>
                </a:highlight>
                <a:latin typeface="Courier New"/>
                <a:ea typeface="Courier New"/>
                <a:cs typeface="Courier New"/>
                <a:sym typeface="Courier New"/>
              </a:rPr>
              <a:t>0</a:t>
            </a:r>
            <a:r>
              <a:rPr lang="en" sz="1100">
                <a:solidFill>
                  <a:srgbClr val="BBBEBF"/>
                </a:solidFill>
                <a:highlight>
                  <a:srgbClr val="121314"/>
                </a:highlight>
                <a:latin typeface="Courier New"/>
                <a:ea typeface="Courier New"/>
                <a:cs typeface="Courier New"/>
                <a:sym typeface="Courier New"/>
              </a:rPr>
              <a:t>);</a:t>
            </a:r>
            <a:endParaRPr sz="11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BBBEBF"/>
                </a:solidFill>
                <a:highlight>
                  <a:srgbClr val="121314"/>
                </a:highlight>
                <a:latin typeface="Courier New"/>
                <a:ea typeface="Courier New"/>
                <a:cs typeface="Courier New"/>
                <a:sym typeface="Courier New"/>
              </a:rPr>
              <a:t> </a:t>
            </a:r>
            <a:r>
              <a:rPr lang="en" sz="1100">
                <a:solidFill>
                  <a:srgbClr val="C586C0"/>
                </a:solidFill>
                <a:highlight>
                  <a:srgbClr val="121314"/>
                </a:highlight>
                <a:latin typeface="Courier New"/>
                <a:ea typeface="Courier New"/>
                <a:cs typeface="Courier New"/>
                <a:sym typeface="Courier New"/>
              </a:rPr>
              <a:t>case</a:t>
            </a:r>
            <a:r>
              <a:rPr lang="en" sz="1100">
                <a:solidFill>
                  <a:srgbClr val="BBBEBF"/>
                </a:solidFill>
                <a:highlight>
                  <a:srgbClr val="121314"/>
                </a:highlight>
                <a:latin typeface="Courier New"/>
                <a:ea typeface="Courier New"/>
                <a:cs typeface="Courier New"/>
                <a:sym typeface="Courier New"/>
              </a:rPr>
              <a:t> </a:t>
            </a:r>
            <a:r>
              <a:rPr lang="en" sz="1100">
                <a:solidFill>
                  <a:srgbClr val="B5CEA8"/>
                </a:solidFill>
                <a:highlight>
                  <a:srgbClr val="121314"/>
                </a:highlight>
                <a:latin typeface="Courier New"/>
                <a:ea typeface="Courier New"/>
                <a:cs typeface="Courier New"/>
                <a:sym typeface="Courier New"/>
              </a:rPr>
              <a:t>1</a:t>
            </a:r>
            <a:r>
              <a:rPr lang="en" sz="1100">
                <a:solidFill>
                  <a:srgbClr val="BBBEBF"/>
                </a:solidFill>
                <a:highlight>
                  <a:srgbClr val="121314"/>
                </a:highlight>
                <a:latin typeface="Courier New"/>
                <a:ea typeface="Courier New"/>
                <a:cs typeface="Courier New"/>
                <a:sym typeface="Courier New"/>
              </a:rPr>
              <a:t>: </a:t>
            </a:r>
            <a:endParaRPr sz="11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BBBEBF"/>
                </a:solidFill>
                <a:highlight>
                  <a:srgbClr val="121314"/>
                </a:highlight>
                <a:latin typeface="Courier New"/>
                <a:ea typeface="Courier New"/>
                <a:cs typeface="Courier New"/>
                <a:sym typeface="Courier New"/>
              </a:rPr>
              <a:t>   </a:t>
            </a:r>
            <a:r>
              <a:rPr lang="en" sz="1100">
                <a:solidFill>
                  <a:srgbClr val="C9D1D9"/>
                </a:solidFill>
                <a:highlight>
                  <a:srgbClr val="121314"/>
                </a:highlight>
                <a:latin typeface="Courier New"/>
                <a:ea typeface="Courier New"/>
                <a:cs typeface="Courier New"/>
                <a:sym typeface="Courier New"/>
              </a:rPr>
              <a:t>console</a:t>
            </a:r>
            <a:r>
              <a:rPr lang="en" sz="1100">
                <a:solidFill>
                  <a:srgbClr val="BBBEBF"/>
                </a:solidFill>
                <a:highlight>
                  <a:srgbClr val="121314"/>
                </a:highlight>
                <a:latin typeface="Courier New"/>
                <a:ea typeface="Courier New"/>
                <a:cs typeface="Courier New"/>
                <a:sym typeface="Courier New"/>
              </a:rPr>
              <a:t>.</a:t>
            </a:r>
            <a:r>
              <a:rPr lang="en" sz="1100">
                <a:solidFill>
                  <a:srgbClr val="D2A8FF"/>
                </a:solidFill>
                <a:highlight>
                  <a:srgbClr val="121314"/>
                </a:highlight>
                <a:latin typeface="Courier New"/>
                <a:ea typeface="Courier New"/>
                <a:cs typeface="Courier New"/>
                <a:sym typeface="Courier New"/>
              </a:rPr>
              <a:t>log</a:t>
            </a:r>
            <a:r>
              <a:rPr lang="en" sz="1100">
                <a:solidFill>
                  <a:srgbClr val="BBBEBF"/>
                </a:solidFill>
                <a:highlight>
                  <a:srgbClr val="121314"/>
                </a:highlight>
                <a:latin typeface="Courier New"/>
                <a:ea typeface="Courier New"/>
                <a:cs typeface="Courier New"/>
                <a:sym typeface="Courier New"/>
              </a:rPr>
              <a:t>(</a:t>
            </a:r>
            <a:r>
              <a:rPr lang="en" sz="1100">
                <a:solidFill>
                  <a:srgbClr val="B5CEA8"/>
                </a:solidFill>
                <a:highlight>
                  <a:srgbClr val="121314"/>
                </a:highlight>
                <a:latin typeface="Courier New"/>
                <a:ea typeface="Courier New"/>
                <a:cs typeface="Courier New"/>
                <a:sym typeface="Courier New"/>
              </a:rPr>
              <a:t>1</a:t>
            </a:r>
            <a:r>
              <a:rPr lang="en" sz="1100">
                <a:solidFill>
                  <a:srgbClr val="BBBEBF"/>
                </a:solidFill>
                <a:highlight>
                  <a:srgbClr val="121314"/>
                </a:highlight>
                <a:latin typeface="Courier New"/>
                <a:ea typeface="Courier New"/>
                <a:cs typeface="Courier New"/>
                <a:sym typeface="Courier New"/>
              </a:rPr>
              <a:t>);</a:t>
            </a:r>
            <a:endParaRPr sz="11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BBBEBF"/>
                </a:solidFill>
                <a:highlight>
                  <a:srgbClr val="121314"/>
                </a:highlight>
                <a:latin typeface="Courier New"/>
                <a:ea typeface="Courier New"/>
                <a:cs typeface="Courier New"/>
                <a:sym typeface="Courier New"/>
              </a:rPr>
              <a:t>   </a:t>
            </a:r>
            <a:r>
              <a:rPr lang="en" sz="1100">
                <a:solidFill>
                  <a:srgbClr val="C586C0"/>
                </a:solidFill>
                <a:highlight>
                  <a:srgbClr val="121314"/>
                </a:highlight>
                <a:latin typeface="Courier New"/>
                <a:ea typeface="Courier New"/>
                <a:cs typeface="Courier New"/>
                <a:sym typeface="Courier New"/>
              </a:rPr>
              <a:t>break</a:t>
            </a:r>
            <a:r>
              <a:rPr lang="en" sz="1100">
                <a:solidFill>
                  <a:srgbClr val="BBBEBF"/>
                </a:solidFill>
                <a:highlight>
                  <a:srgbClr val="121314"/>
                </a:highlight>
                <a:latin typeface="Courier New"/>
                <a:ea typeface="Courier New"/>
                <a:cs typeface="Courier New"/>
                <a:sym typeface="Courier New"/>
              </a:rPr>
              <a:t>; </a:t>
            </a:r>
            <a:endParaRPr sz="11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BBBEBF"/>
                </a:solidFill>
                <a:highlight>
                  <a:srgbClr val="121314"/>
                </a:highlight>
                <a:latin typeface="Courier New"/>
                <a:ea typeface="Courier New"/>
                <a:cs typeface="Courier New"/>
                <a:sym typeface="Courier New"/>
              </a:rPr>
              <a:t> </a:t>
            </a:r>
            <a:r>
              <a:rPr lang="en" sz="1100">
                <a:solidFill>
                  <a:srgbClr val="C586C0"/>
                </a:solidFill>
                <a:highlight>
                  <a:srgbClr val="121314"/>
                </a:highlight>
                <a:latin typeface="Courier New"/>
                <a:ea typeface="Courier New"/>
                <a:cs typeface="Courier New"/>
                <a:sym typeface="Courier New"/>
              </a:rPr>
              <a:t>case</a:t>
            </a:r>
            <a:r>
              <a:rPr lang="en" sz="1100">
                <a:solidFill>
                  <a:srgbClr val="BBBEBF"/>
                </a:solidFill>
                <a:highlight>
                  <a:srgbClr val="121314"/>
                </a:highlight>
                <a:latin typeface="Courier New"/>
                <a:ea typeface="Courier New"/>
                <a:cs typeface="Courier New"/>
                <a:sym typeface="Courier New"/>
              </a:rPr>
              <a:t> </a:t>
            </a:r>
            <a:r>
              <a:rPr lang="en" sz="1100">
                <a:solidFill>
                  <a:srgbClr val="B5CEA8"/>
                </a:solidFill>
                <a:highlight>
                  <a:srgbClr val="121314"/>
                </a:highlight>
                <a:latin typeface="Courier New"/>
                <a:ea typeface="Courier New"/>
                <a:cs typeface="Courier New"/>
                <a:sym typeface="Courier New"/>
              </a:rPr>
              <a:t>2</a:t>
            </a:r>
            <a:r>
              <a:rPr lang="en" sz="1100">
                <a:solidFill>
                  <a:srgbClr val="BBBEBF"/>
                </a:solidFill>
                <a:highlight>
                  <a:srgbClr val="121314"/>
                </a:highlight>
                <a:latin typeface="Courier New"/>
                <a:ea typeface="Courier New"/>
                <a:cs typeface="Courier New"/>
                <a:sym typeface="Courier New"/>
              </a:rPr>
              <a:t>:</a:t>
            </a:r>
            <a:endParaRPr sz="11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BBBEBF"/>
                </a:solidFill>
                <a:highlight>
                  <a:srgbClr val="121314"/>
                </a:highlight>
                <a:latin typeface="Courier New"/>
                <a:ea typeface="Courier New"/>
                <a:cs typeface="Courier New"/>
                <a:sym typeface="Courier New"/>
              </a:rPr>
              <a:t>   </a:t>
            </a:r>
            <a:r>
              <a:rPr lang="en" sz="1100">
                <a:solidFill>
                  <a:srgbClr val="C9D1D9"/>
                </a:solidFill>
                <a:highlight>
                  <a:srgbClr val="121314"/>
                </a:highlight>
                <a:latin typeface="Courier New"/>
                <a:ea typeface="Courier New"/>
                <a:cs typeface="Courier New"/>
                <a:sym typeface="Courier New"/>
              </a:rPr>
              <a:t>console</a:t>
            </a:r>
            <a:r>
              <a:rPr lang="en" sz="1100">
                <a:solidFill>
                  <a:srgbClr val="BBBEBF"/>
                </a:solidFill>
                <a:highlight>
                  <a:srgbClr val="121314"/>
                </a:highlight>
                <a:latin typeface="Courier New"/>
                <a:ea typeface="Courier New"/>
                <a:cs typeface="Courier New"/>
                <a:sym typeface="Courier New"/>
              </a:rPr>
              <a:t>.</a:t>
            </a:r>
            <a:r>
              <a:rPr lang="en" sz="1100">
                <a:solidFill>
                  <a:srgbClr val="D2A8FF"/>
                </a:solidFill>
                <a:highlight>
                  <a:srgbClr val="121314"/>
                </a:highlight>
                <a:latin typeface="Courier New"/>
                <a:ea typeface="Courier New"/>
                <a:cs typeface="Courier New"/>
                <a:sym typeface="Courier New"/>
              </a:rPr>
              <a:t>log</a:t>
            </a:r>
            <a:r>
              <a:rPr lang="en" sz="1100">
                <a:solidFill>
                  <a:srgbClr val="BBBEBF"/>
                </a:solidFill>
                <a:highlight>
                  <a:srgbClr val="121314"/>
                </a:highlight>
                <a:latin typeface="Courier New"/>
                <a:ea typeface="Courier New"/>
                <a:cs typeface="Courier New"/>
                <a:sym typeface="Courier New"/>
              </a:rPr>
              <a:t>(</a:t>
            </a:r>
            <a:r>
              <a:rPr lang="en" sz="1100">
                <a:solidFill>
                  <a:srgbClr val="B5CEA8"/>
                </a:solidFill>
                <a:highlight>
                  <a:srgbClr val="121314"/>
                </a:highlight>
                <a:latin typeface="Courier New"/>
                <a:ea typeface="Courier New"/>
                <a:cs typeface="Courier New"/>
                <a:sym typeface="Courier New"/>
              </a:rPr>
              <a:t>2</a:t>
            </a:r>
            <a:r>
              <a:rPr lang="en" sz="1100">
                <a:solidFill>
                  <a:srgbClr val="BBBEBF"/>
                </a:solidFill>
                <a:highlight>
                  <a:srgbClr val="121314"/>
                </a:highlight>
                <a:latin typeface="Courier New"/>
                <a:ea typeface="Courier New"/>
                <a:cs typeface="Courier New"/>
                <a:sym typeface="Courier New"/>
              </a:rPr>
              <a:t>);</a:t>
            </a:r>
            <a:endParaRPr sz="11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BBBEBF"/>
                </a:solidFill>
                <a:highlight>
                  <a:srgbClr val="121314"/>
                </a:highlight>
                <a:latin typeface="Courier New"/>
                <a:ea typeface="Courier New"/>
                <a:cs typeface="Courier New"/>
                <a:sym typeface="Courier New"/>
              </a:rPr>
              <a:t>   </a:t>
            </a:r>
            <a:r>
              <a:rPr lang="en" sz="1100">
                <a:solidFill>
                  <a:srgbClr val="C586C0"/>
                </a:solidFill>
                <a:highlight>
                  <a:srgbClr val="121314"/>
                </a:highlight>
                <a:latin typeface="Courier New"/>
                <a:ea typeface="Courier New"/>
                <a:cs typeface="Courier New"/>
                <a:sym typeface="Courier New"/>
              </a:rPr>
              <a:t>break</a:t>
            </a:r>
            <a:r>
              <a:rPr lang="en" sz="1100">
                <a:solidFill>
                  <a:srgbClr val="BBBEBF"/>
                </a:solidFill>
                <a:highlight>
                  <a:srgbClr val="121314"/>
                </a:highlight>
                <a:latin typeface="Courier New"/>
                <a:ea typeface="Courier New"/>
                <a:cs typeface="Courier New"/>
                <a:sym typeface="Courier New"/>
              </a:rPr>
              <a:t>;</a:t>
            </a:r>
            <a:endParaRPr sz="11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BBBEBF"/>
                </a:solidFill>
                <a:highlight>
                  <a:srgbClr val="121314"/>
                </a:highlight>
                <a:latin typeface="Courier New"/>
                <a:ea typeface="Courier New"/>
                <a:cs typeface="Courier New"/>
                <a:sym typeface="Courier New"/>
              </a:rPr>
              <a:t> </a:t>
            </a:r>
            <a:r>
              <a:rPr lang="en" sz="1100">
                <a:solidFill>
                  <a:srgbClr val="C586C0"/>
                </a:solidFill>
                <a:highlight>
                  <a:srgbClr val="121314"/>
                </a:highlight>
                <a:latin typeface="Courier New"/>
                <a:ea typeface="Courier New"/>
                <a:cs typeface="Courier New"/>
                <a:sym typeface="Courier New"/>
              </a:rPr>
              <a:t>default</a:t>
            </a:r>
            <a:r>
              <a:rPr lang="en" sz="1100">
                <a:solidFill>
                  <a:srgbClr val="BBBEBF"/>
                </a:solidFill>
                <a:highlight>
                  <a:srgbClr val="121314"/>
                </a:highlight>
                <a:latin typeface="Courier New"/>
                <a:ea typeface="Courier New"/>
                <a:cs typeface="Courier New"/>
                <a:sym typeface="Courier New"/>
              </a:rPr>
              <a:t>:</a:t>
            </a:r>
            <a:endParaRPr sz="11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BBBEBF"/>
                </a:solidFill>
                <a:highlight>
                  <a:srgbClr val="121314"/>
                </a:highlight>
                <a:latin typeface="Courier New"/>
                <a:ea typeface="Courier New"/>
                <a:cs typeface="Courier New"/>
                <a:sym typeface="Courier New"/>
              </a:rPr>
              <a:t>   </a:t>
            </a:r>
            <a:r>
              <a:rPr lang="en" sz="1100">
                <a:solidFill>
                  <a:srgbClr val="C9D1D9"/>
                </a:solidFill>
                <a:highlight>
                  <a:srgbClr val="121314"/>
                </a:highlight>
                <a:latin typeface="Courier New"/>
                <a:ea typeface="Courier New"/>
                <a:cs typeface="Courier New"/>
                <a:sym typeface="Courier New"/>
              </a:rPr>
              <a:t>console</a:t>
            </a:r>
            <a:r>
              <a:rPr lang="en" sz="1100">
                <a:solidFill>
                  <a:srgbClr val="BBBEBF"/>
                </a:solidFill>
                <a:highlight>
                  <a:srgbClr val="121314"/>
                </a:highlight>
                <a:latin typeface="Courier New"/>
                <a:ea typeface="Courier New"/>
                <a:cs typeface="Courier New"/>
                <a:sym typeface="Courier New"/>
              </a:rPr>
              <a:t>.</a:t>
            </a:r>
            <a:r>
              <a:rPr lang="en" sz="1100">
                <a:solidFill>
                  <a:srgbClr val="D2A8FF"/>
                </a:solidFill>
                <a:highlight>
                  <a:srgbClr val="121314"/>
                </a:highlight>
                <a:latin typeface="Courier New"/>
                <a:ea typeface="Courier New"/>
                <a:cs typeface="Courier New"/>
                <a:sym typeface="Courier New"/>
              </a:rPr>
              <a:t>log</a:t>
            </a:r>
            <a:r>
              <a:rPr lang="en" sz="1100">
                <a:solidFill>
                  <a:srgbClr val="BBBEBF"/>
                </a:solidFill>
                <a:highlight>
                  <a:srgbClr val="121314"/>
                </a:highlight>
                <a:latin typeface="Courier New"/>
                <a:ea typeface="Courier New"/>
                <a:cs typeface="Courier New"/>
                <a:sym typeface="Courier New"/>
              </a:rPr>
              <a:t>(</a:t>
            </a:r>
            <a:r>
              <a:rPr lang="en" sz="1100">
                <a:solidFill>
                  <a:srgbClr val="A5D6FF"/>
                </a:solidFill>
                <a:highlight>
                  <a:srgbClr val="121314"/>
                </a:highlight>
                <a:latin typeface="Courier New"/>
                <a:ea typeface="Courier New"/>
                <a:cs typeface="Courier New"/>
                <a:sym typeface="Courier New"/>
              </a:rPr>
              <a:t>"default"</a:t>
            </a:r>
            <a:r>
              <a:rPr lang="en" sz="1100">
                <a:solidFill>
                  <a:srgbClr val="BBBEBF"/>
                </a:solidFill>
                <a:highlight>
                  <a:srgbClr val="121314"/>
                </a:highlight>
                <a:latin typeface="Courier New"/>
                <a:ea typeface="Courier New"/>
                <a:cs typeface="Courier New"/>
                <a:sym typeface="Courier New"/>
              </a:rPr>
              <a:t>);</a:t>
            </a:r>
            <a:endParaRPr sz="11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100">
                <a:solidFill>
                  <a:srgbClr val="BBBEBF"/>
                </a:solidFill>
                <a:highlight>
                  <a:srgbClr val="121314"/>
                </a:highlight>
                <a:latin typeface="Courier New"/>
                <a:ea typeface="Courier New"/>
                <a:cs typeface="Courier New"/>
                <a:sym typeface="Courier New"/>
              </a:rPr>
              <a:t>}</a:t>
            </a:r>
            <a:endParaRPr sz="1100">
              <a:solidFill>
                <a:srgbClr val="BBBEBF"/>
              </a:solidFill>
              <a:highlight>
                <a:srgbClr val="121314"/>
              </a:highlight>
              <a:latin typeface="Courier New"/>
              <a:ea typeface="Courier New"/>
              <a:cs typeface="Courier New"/>
              <a:sym typeface="Courier New"/>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p134"/>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Exception Handling</a:t>
            </a:r>
            <a:endParaRPr/>
          </a:p>
        </p:txBody>
      </p:sp>
      <p:sp>
        <p:nvSpPr>
          <p:cNvPr id="995" name="Google Shape;995;p13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123</a:t>
            </a:fld>
            <a:endParaRPr>
              <a:solidFill>
                <a:schemeClr val="lt1"/>
              </a:solidFill>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999"/>
        <p:cNvGrpSpPr/>
        <p:nvPr/>
      </p:nvGrpSpPr>
      <p:grpSpPr>
        <a:xfrm>
          <a:off x="0" y="0"/>
          <a:ext cx="0" cy="0"/>
          <a:chOff x="0" y="0"/>
          <a:chExt cx="0" cy="0"/>
        </a:xfrm>
      </p:grpSpPr>
      <p:sp>
        <p:nvSpPr>
          <p:cNvPr id="1000" name="Google Shape;1000;p13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throw Statements</a:t>
            </a:r>
            <a:endParaRPr/>
          </a:p>
        </p:txBody>
      </p:sp>
      <p:sp>
        <p:nvSpPr>
          <p:cNvPr id="1001" name="Google Shape;1001;p1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The throw statement throws a user-defined exception.</a:t>
            </a:r>
            <a:endParaRPr/>
          </a:p>
          <a:p>
            <a:pPr marL="457200" lvl="0" indent="-342900" algn="l" rtl="0">
              <a:spcBef>
                <a:spcPts val="0"/>
              </a:spcBef>
              <a:spcAft>
                <a:spcPts val="0"/>
              </a:spcAft>
              <a:buSzPts val="1800"/>
              <a:buChar char="●"/>
            </a:pPr>
            <a:r>
              <a:rPr lang="en"/>
              <a:t>Execution of the current function will stop (the statements after throw won't be executed), and control will be passed to the first catch block in the call stack.</a:t>
            </a:r>
            <a:endParaRPr/>
          </a:p>
          <a:p>
            <a:pPr marL="457200" lvl="0" indent="-342900" algn="l" rtl="0">
              <a:spcBef>
                <a:spcPts val="0"/>
              </a:spcBef>
              <a:spcAft>
                <a:spcPts val="0"/>
              </a:spcAft>
              <a:buSzPts val="1800"/>
              <a:buChar char="●"/>
            </a:pPr>
            <a:r>
              <a:rPr lang="en"/>
              <a:t>If no catch block exists among caller functions, the program will terminate.</a:t>
            </a:r>
            <a:endParaRPr/>
          </a:p>
          <a:p>
            <a:pPr marL="457200" lvl="0" indent="-342900" algn="l" rtl="0">
              <a:spcBef>
                <a:spcPts val="0"/>
              </a:spcBef>
              <a:spcAft>
                <a:spcPts val="0"/>
              </a:spcAft>
              <a:buSzPts val="1800"/>
              <a:buChar char="●"/>
            </a:pPr>
            <a:r>
              <a:rPr lang="en"/>
              <a:t>The throw statement is valid in all contexts where statements can be used.</a:t>
            </a:r>
            <a:endParaRPr/>
          </a:p>
          <a:p>
            <a:pPr marL="457200" lvl="0" indent="-342900" algn="l" rtl="0">
              <a:spcBef>
                <a:spcPts val="0"/>
              </a:spcBef>
              <a:spcAft>
                <a:spcPts val="0"/>
              </a:spcAft>
              <a:buSzPts val="1800"/>
              <a:buChar char="●"/>
            </a:pPr>
            <a:r>
              <a:rPr lang="en"/>
              <a:t>In practice, the exception you throw should always be an Error object or an instance of an Error subclass.</a:t>
            </a:r>
            <a:endParaRPr/>
          </a:p>
          <a:p>
            <a:pPr marL="914400" lvl="1" indent="-317500" algn="l" rtl="0">
              <a:spcBef>
                <a:spcPts val="0"/>
              </a:spcBef>
              <a:spcAft>
                <a:spcPts val="0"/>
              </a:spcAft>
              <a:buSzPts val="1400"/>
              <a:buChar char="○"/>
            </a:pPr>
            <a:r>
              <a:rPr lang="en" u="sng">
                <a:solidFill>
                  <a:schemeClr val="hlink"/>
                </a:solidFill>
                <a:hlinkClick r:id="rId3"/>
              </a:rPr>
              <a:t>https://developer.mozilla.org/en-US/docs/Web/JavaScript/Reference/Global_Objects/Error</a:t>
            </a:r>
            <a:r>
              <a:rPr lang="en"/>
              <a:t> </a:t>
            </a:r>
            <a:endParaRPr/>
          </a:p>
        </p:txBody>
      </p:sp>
      <p:sp>
        <p:nvSpPr>
          <p:cNvPr id="1002" name="Google Shape;1002;p13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124</a:t>
            </a:fld>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p13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throw statement Example</a:t>
            </a:r>
            <a:endParaRPr/>
          </a:p>
        </p:txBody>
      </p:sp>
      <p:sp>
        <p:nvSpPr>
          <p:cNvPr id="1008" name="Google Shape;1008;p13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125</a:t>
            </a:fld>
            <a:endParaRPr/>
          </a:p>
        </p:txBody>
      </p:sp>
      <p:sp>
        <p:nvSpPr>
          <p:cNvPr id="1009" name="Google Shape;1009;p136"/>
          <p:cNvSpPr txBox="1"/>
          <p:nvPr/>
        </p:nvSpPr>
        <p:spPr>
          <a:xfrm>
            <a:off x="516975" y="1340650"/>
            <a:ext cx="5844600" cy="2832300"/>
          </a:xfrm>
          <a:prstGeom prst="rect">
            <a:avLst/>
          </a:prstGeom>
          <a:solidFill>
            <a:schemeClr val="dk2"/>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1200">
                <a:solidFill>
                  <a:srgbClr val="FF7B72"/>
                </a:solidFill>
                <a:highlight>
                  <a:srgbClr val="121314"/>
                </a:highlight>
                <a:latin typeface="Courier New"/>
                <a:ea typeface="Courier New"/>
                <a:cs typeface="Courier New"/>
                <a:sym typeface="Courier New"/>
              </a:rPr>
              <a:t>function</a:t>
            </a:r>
            <a:r>
              <a:rPr lang="en" sz="1200">
                <a:solidFill>
                  <a:srgbClr val="BBBEBF"/>
                </a:solidFill>
                <a:highlight>
                  <a:srgbClr val="121314"/>
                </a:highlight>
                <a:latin typeface="Courier New"/>
                <a:ea typeface="Courier New"/>
                <a:cs typeface="Courier New"/>
                <a:sym typeface="Courier New"/>
              </a:rPr>
              <a:t> </a:t>
            </a:r>
            <a:r>
              <a:rPr lang="en" sz="1200">
                <a:solidFill>
                  <a:srgbClr val="D2A8FF"/>
                </a:solidFill>
                <a:highlight>
                  <a:srgbClr val="121314"/>
                </a:highlight>
                <a:latin typeface="Courier New"/>
                <a:ea typeface="Courier New"/>
                <a:cs typeface="Courier New"/>
                <a:sym typeface="Courier New"/>
              </a:rPr>
              <a:t>getRectArea</a:t>
            </a:r>
            <a:r>
              <a:rPr lang="en" sz="1200">
                <a:solidFill>
                  <a:srgbClr val="BBBEBF"/>
                </a:solidFill>
                <a:highlight>
                  <a:srgbClr val="121314"/>
                </a:highlight>
                <a:latin typeface="Courier New"/>
                <a:ea typeface="Courier New"/>
                <a:cs typeface="Courier New"/>
                <a:sym typeface="Courier New"/>
              </a:rPr>
              <a:t>(</a:t>
            </a:r>
            <a:r>
              <a:rPr lang="en" sz="1200">
                <a:solidFill>
                  <a:srgbClr val="FFA657"/>
                </a:solidFill>
                <a:highlight>
                  <a:srgbClr val="121314"/>
                </a:highlight>
                <a:latin typeface="Courier New"/>
                <a:ea typeface="Courier New"/>
                <a:cs typeface="Courier New"/>
                <a:sym typeface="Courier New"/>
              </a:rPr>
              <a:t>width</a:t>
            </a:r>
            <a:r>
              <a:rPr lang="en" sz="1200">
                <a:solidFill>
                  <a:srgbClr val="BBBEBF"/>
                </a:solidFill>
                <a:highlight>
                  <a:srgbClr val="121314"/>
                </a:highlight>
                <a:latin typeface="Courier New"/>
                <a:ea typeface="Courier New"/>
                <a:cs typeface="Courier New"/>
                <a:sym typeface="Courier New"/>
              </a:rPr>
              <a:t>, </a:t>
            </a:r>
            <a:r>
              <a:rPr lang="en" sz="1200">
                <a:solidFill>
                  <a:srgbClr val="FFA657"/>
                </a:solidFill>
                <a:highlight>
                  <a:srgbClr val="121314"/>
                </a:highlight>
                <a:latin typeface="Courier New"/>
                <a:ea typeface="Courier New"/>
                <a:cs typeface="Courier New"/>
                <a:sym typeface="Courier New"/>
              </a:rPr>
              <a:t>height</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C586C0"/>
                </a:solidFill>
                <a:highlight>
                  <a:srgbClr val="121314"/>
                </a:highlight>
                <a:latin typeface="Courier New"/>
                <a:ea typeface="Courier New"/>
                <a:cs typeface="Courier New"/>
                <a:sym typeface="Courier New"/>
              </a:rPr>
              <a:t>if</a:t>
            </a:r>
            <a:r>
              <a:rPr lang="en" sz="1200">
                <a:solidFill>
                  <a:srgbClr val="C9D1D9"/>
                </a:solidFill>
                <a:highlight>
                  <a:srgbClr val="121314"/>
                </a:highlight>
                <a:latin typeface="Courier New"/>
                <a:ea typeface="Courier New"/>
                <a:cs typeface="Courier New"/>
                <a:sym typeface="Courier New"/>
              </a:rPr>
              <a:t> (</a:t>
            </a:r>
            <a:r>
              <a:rPr lang="en" sz="1200">
                <a:solidFill>
                  <a:srgbClr val="D2A8FF"/>
                </a:solidFill>
                <a:highlight>
                  <a:srgbClr val="121314"/>
                </a:highlight>
                <a:latin typeface="Courier New"/>
                <a:ea typeface="Courier New"/>
                <a:cs typeface="Courier New"/>
                <a:sym typeface="Courier New"/>
              </a:rPr>
              <a:t>isNaN</a:t>
            </a:r>
            <a:r>
              <a:rPr lang="en" sz="1200">
                <a:solidFill>
                  <a:srgbClr val="C9D1D9"/>
                </a:solidFill>
                <a:highlight>
                  <a:srgbClr val="121314"/>
                </a:highlight>
                <a:latin typeface="Courier New"/>
                <a:ea typeface="Courier New"/>
                <a:cs typeface="Courier New"/>
                <a:sym typeface="Courier New"/>
              </a:rPr>
              <a:t>(width) </a:t>
            </a:r>
            <a:r>
              <a:rPr lang="en" sz="1200">
                <a:solidFill>
                  <a:srgbClr val="D4D4D4"/>
                </a:solidFill>
                <a:highlight>
                  <a:srgbClr val="121314"/>
                </a:highlight>
                <a:latin typeface="Courier New"/>
                <a:ea typeface="Courier New"/>
                <a:cs typeface="Courier New"/>
                <a:sym typeface="Courier New"/>
              </a:rPr>
              <a:t>||</a:t>
            </a:r>
            <a:r>
              <a:rPr lang="en" sz="1200">
                <a:solidFill>
                  <a:srgbClr val="C9D1D9"/>
                </a:solidFill>
                <a:highlight>
                  <a:srgbClr val="121314"/>
                </a:highlight>
                <a:latin typeface="Courier New"/>
                <a:ea typeface="Courier New"/>
                <a:cs typeface="Courier New"/>
                <a:sym typeface="Courier New"/>
              </a:rPr>
              <a:t> </a:t>
            </a:r>
            <a:r>
              <a:rPr lang="en" sz="1200">
                <a:solidFill>
                  <a:srgbClr val="D2A8FF"/>
                </a:solidFill>
                <a:highlight>
                  <a:srgbClr val="121314"/>
                </a:highlight>
                <a:latin typeface="Courier New"/>
                <a:ea typeface="Courier New"/>
                <a:cs typeface="Courier New"/>
                <a:sym typeface="Courier New"/>
              </a:rPr>
              <a:t>isNaN</a:t>
            </a:r>
            <a:r>
              <a:rPr lang="en" sz="1200">
                <a:solidFill>
                  <a:srgbClr val="C9D1D9"/>
                </a:solidFill>
                <a:highlight>
                  <a:srgbClr val="121314"/>
                </a:highlight>
                <a:latin typeface="Courier New"/>
                <a:ea typeface="Courier New"/>
                <a:cs typeface="Courier New"/>
                <a:sym typeface="Courier New"/>
              </a:rPr>
              <a:t>(height)) {</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C586C0"/>
                </a:solidFill>
                <a:highlight>
                  <a:srgbClr val="121314"/>
                </a:highlight>
                <a:latin typeface="Courier New"/>
                <a:ea typeface="Courier New"/>
                <a:cs typeface="Courier New"/>
                <a:sym typeface="Courier New"/>
              </a:rPr>
              <a:t>throw</a:t>
            </a:r>
            <a:r>
              <a:rPr lang="en" sz="1200">
                <a:solidFill>
                  <a:srgbClr val="C9D1D9"/>
                </a:solidFill>
                <a:highlight>
                  <a:srgbClr val="121314"/>
                </a:highlight>
                <a:latin typeface="Courier New"/>
                <a:ea typeface="Courier New"/>
                <a:cs typeface="Courier New"/>
                <a:sym typeface="Courier New"/>
              </a:rPr>
              <a:t> </a:t>
            </a:r>
            <a:r>
              <a:rPr lang="en" sz="1200">
                <a:solidFill>
                  <a:srgbClr val="569CD6"/>
                </a:solidFill>
                <a:highlight>
                  <a:srgbClr val="121314"/>
                </a:highlight>
                <a:latin typeface="Courier New"/>
                <a:ea typeface="Courier New"/>
                <a:cs typeface="Courier New"/>
                <a:sym typeface="Courier New"/>
              </a:rPr>
              <a:t>new</a:t>
            </a:r>
            <a:r>
              <a:rPr lang="en" sz="1200">
                <a:solidFill>
                  <a:srgbClr val="C9D1D9"/>
                </a:solidFill>
                <a:highlight>
                  <a:srgbClr val="121314"/>
                </a:highlight>
                <a:latin typeface="Courier New"/>
                <a:ea typeface="Courier New"/>
                <a:cs typeface="Courier New"/>
                <a:sym typeface="Courier New"/>
              </a:rPr>
              <a:t> </a:t>
            </a:r>
            <a:r>
              <a:rPr lang="en" sz="1200">
                <a:solidFill>
                  <a:srgbClr val="D2A8FF"/>
                </a:solidFill>
                <a:highlight>
                  <a:srgbClr val="121314"/>
                </a:highlight>
                <a:latin typeface="Courier New"/>
                <a:ea typeface="Courier New"/>
                <a:cs typeface="Courier New"/>
                <a:sym typeface="Courier New"/>
              </a:rPr>
              <a:t>Error</a:t>
            </a:r>
            <a:r>
              <a:rPr lang="en" sz="1200">
                <a:solidFill>
                  <a:srgbClr val="C9D1D9"/>
                </a:solidFill>
                <a:highlight>
                  <a:srgbClr val="121314"/>
                </a:highlight>
                <a:latin typeface="Courier New"/>
                <a:ea typeface="Courier New"/>
                <a:cs typeface="Courier New"/>
                <a:sym typeface="Courier New"/>
              </a:rPr>
              <a:t>(</a:t>
            </a:r>
            <a:r>
              <a:rPr lang="en" sz="1200">
                <a:solidFill>
                  <a:srgbClr val="A5D6FF"/>
                </a:solidFill>
                <a:highlight>
                  <a:srgbClr val="121314"/>
                </a:highlight>
                <a:latin typeface="Courier New"/>
                <a:ea typeface="Courier New"/>
                <a:cs typeface="Courier New"/>
                <a:sym typeface="Courier New"/>
              </a:rPr>
              <a:t>"Parameter is not a number!"</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endParaRPr sz="1200">
              <a:solidFill>
                <a:srgbClr val="BBBEBF"/>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586C0"/>
                </a:solidFill>
                <a:highlight>
                  <a:srgbClr val="121314"/>
                </a:highlight>
                <a:latin typeface="Courier New"/>
                <a:ea typeface="Courier New"/>
                <a:cs typeface="Courier New"/>
                <a:sym typeface="Courier New"/>
              </a:rPr>
              <a:t>try</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a:t>
            </a:r>
            <a:r>
              <a:rPr lang="en" sz="1200">
                <a:solidFill>
                  <a:srgbClr val="D2A8FF"/>
                </a:solidFill>
                <a:highlight>
                  <a:srgbClr val="121314"/>
                </a:highlight>
                <a:latin typeface="Courier New"/>
                <a:ea typeface="Courier New"/>
                <a:cs typeface="Courier New"/>
                <a:sym typeface="Courier New"/>
              </a:rPr>
              <a:t>getRectArea</a:t>
            </a:r>
            <a:r>
              <a:rPr lang="en" sz="1200">
                <a:solidFill>
                  <a:srgbClr val="C9D1D9"/>
                </a:solidFill>
                <a:highlight>
                  <a:srgbClr val="121314"/>
                </a:highlight>
                <a:latin typeface="Courier New"/>
                <a:ea typeface="Courier New"/>
                <a:cs typeface="Courier New"/>
                <a:sym typeface="Courier New"/>
              </a:rPr>
              <a:t>(</a:t>
            </a:r>
            <a:r>
              <a:rPr lang="en" sz="1200">
                <a:solidFill>
                  <a:srgbClr val="B5CEA8"/>
                </a:solidFill>
                <a:highlight>
                  <a:srgbClr val="121314"/>
                </a:highlight>
                <a:latin typeface="Courier New"/>
                <a:ea typeface="Courier New"/>
                <a:cs typeface="Courier New"/>
                <a:sym typeface="Courier New"/>
              </a:rPr>
              <a:t>3</a:t>
            </a:r>
            <a:r>
              <a:rPr lang="en" sz="1200">
                <a:solidFill>
                  <a:srgbClr val="C9D1D9"/>
                </a:solidFill>
                <a:highlight>
                  <a:srgbClr val="121314"/>
                </a:highlight>
                <a:latin typeface="Courier New"/>
                <a:ea typeface="Courier New"/>
                <a:cs typeface="Courier New"/>
                <a:sym typeface="Courier New"/>
              </a:rPr>
              <a:t>, </a:t>
            </a:r>
            <a:r>
              <a:rPr lang="en" sz="1200">
                <a:solidFill>
                  <a:srgbClr val="A5D6FF"/>
                </a:solidFill>
                <a:highlight>
                  <a:srgbClr val="121314"/>
                </a:highlight>
                <a:latin typeface="Courier New"/>
                <a:ea typeface="Courier New"/>
                <a:cs typeface="Courier New"/>
                <a:sym typeface="Courier New"/>
              </a:rPr>
              <a:t>"A"</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t>
            </a:r>
            <a:r>
              <a:rPr lang="en" sz="1200">
                <a:solidFill>
                  <a:srgbClr val="BBBEBF"/>
                </a:solidFill>
                <a:highlight>
                  <a:srgbClr val="121314"/>
                </a:highlight>
                <a:latin typeface="Courier New"/>
                <a:ea typeface="Courier New"/>
                <a:cs typeface="Courier New"/>
                <a:sym typeface="Courier New"/>
              </a:rPr>
              <a:t> </a:t>
            </a:r>
            <a:r>
              <a:rPr lang="en" sz="1200">
                <a:solidFill>
                  <a:srgbClr val="C586C0"/>
                </a:solidFill>
                <a:highlight>
                  <a:srgbClr val="121314"/>
                </a:highlight>
                <a:latin typeface="Courier New"/>
                <a:ea typeface="Courier New"/>
                <a:cs typeface="Courier New"/>
                <a:sym typeface="Courier New"/>
              </a:rPr>
              <a:t>catch</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e</a:t>
            </a:r>
            <a:r>
              <a:rPr lang="en" sz="1200">
                <a:solidFill>
                  <a:srgbClr val="BBBEBF"/>
                </a:solidFill>
                <a:highlight>
                  <a:srgbClr val="121314"/>
                </a:highlight>
                <a:latin typeface="Courier New"/>
                <a:ea typeface="Courier New"/>
                <a:cs typeface="Courier New"/>
                <a:sym typeface="Courier New"/>
              </a:rPr>
              <a:t>) </a:t>
            </a: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 console.</a:t>
            </a:r>
            <a:r>
              <a:rPr lang="en" sz="1200">
                <a:solidFill>
                  <a:srgbClr val="D2A8FF"/>
                </a:solidFill>
                <a:highlight>
                  <a:srgbClr val="121314"/>
                </a:highlight>
                <a:latin typeface="Courier New"/>
                <a:ea typeface="Courier New"/>
                <a:cs typeface="Courier New"/>
                <a:sym typeface="Courier New"/>
              </a:rPr>
              <a:t>error</a:t>
            </a:r>
            <a:r>
              <a:rPr lang="en" sz="1200">
                <a:solidFill>
                  <a:srgbClr val="C9D1D9"/>
                </a:solidFill>
                <a:highlight>
                  <a:srgbClr val="121314"/>
                </a:highlight>
                <a:latin typeface="Courier New"/>
                <a:ea typeface="Courier New"/>
                <a:cs typeface="Courier New"/>
                <a:sym typeface="Courier New"/>
              </a:rPr>
              <a:t>(e);</a:t>
            </a:r>
            <a:endParaRPr sz="1200">
              <a:solidFill>
                <a:srgbClr val="8B949E"/>
              </a:solidFill>
              <a:highlight>
                <a:srgbClr val="12131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1200">
                <a:solidFill>
                  <a:srgbClr val="C9D1D9"/>
                </a:solidFill>
                <a:highlight>
                  <a:srgbClr val="121314"/>
                </a:highlight>
                <a:latin typeface="Courier New"/>
                <a:ea typeface="Courier New"/>
                <a:cs typeface="Courier New"/>
                <a:sym typeface="Courier New"/>
              </a:rPr>
              <a:t>}</a:t>
            </a:r>
            <a:endParaRPr sz="1200">
              <a:solidFill>
                <a:srgbClr val="C9D1D9"/>
              </a:solidFill>
              <a:highlight>
                <a:srgbClr val="121314"/>
              </a:highlight>
              <a:latin typeface="Courier New"/>
              <a:ea typeface="Courier New"/>
              <a:cs typeface="Courier New"/>
              <a:sym typeface="Courier New"/>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p13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try...catch Statements</a:t>
            </a:r>
            <a:endParaRPr/>
          </a:p>
        </p:txBody>
      </p:sp>
      <p:sp>
        <p:nvSpPr>
          <p:cNvPr id="1015" name="Google Shape;1015;p1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a:t>The try...catch statement is comprised of a try block and either a catch block, a finally block, or both.</a:t>
            </a:r>
            <a:endParaRPr/>
          </a:p>
          <a:p>
            <a:pPr marL="914400" lvl="1" indent="-317500" algn="l" rtl="0">
              <a:spcBef>
                <a:spcPts val="0"/>
              </a:spcBef>
              <a:spcAft>
                <a:spcPts val="0"/>
              </a:spcAft>
              <a:buSzPts val="1400"/>
              <a:buChar char="○"/>
            </a:pPr>
            <a:r>
              <a:rPr lang="en"/>
              <a:t>try...catch</a:t>
            </a:r>
            <a:endParaRPr/>
          </a:p>
          <a:p>
            <a:pPr marL="914400" lvl="1" indent="-317500" algn="l" rtl="0">
              <a:spcBef>
                <a:spcPts val="0"/>
              </a:spcBef>
              <a:spcAft>
                <a:spcPts val="0"/>
              </a:spcAft>
              <a:buSzPts val="1400"/>
              <a:buChar char="○"/>
            </a:pPr>
            <a:r>
              <a:rPr lang="en"/>
              <a:t>try...finally</a:t>
            </a:r>
            <a:endParaRPr/>
          </a:p>
          <a:p>
            <a:pPr marL="914400" lvl="1" indent="-317500" algn="l" rtl="0">
              <a:spcBef>
                <a:spcPts val="0"/>
              </a:spcBef>
              <a:spcAft>
                <a:spcPts val="0"/>
              </a:spcAft>
              <a:buSzPts val="1400"/>
              <a:buChar char="○"/>
            </a:pPr>
            <a:r>
              <a:rPr lang="en"/>
              <a:t>try...catch...finally</a:t>
            </a:r>
            <a:endParaRPr/>
          </a:p>
          <a:p>
            <a:pPr marL="457200" lvl="0" indent="-342900" algn="l" rtl="0">
              <a:spcBef>
                <a:spcPts val="0"/>
              </a:spcBef>
              <a:spcAft>
                <a:spcPts val="0"/>
              </a:spcAft>
              <a:buSzPts val="1800"/>
              <a:buChar char="●"/>
            </a:pPr>
            <a:r>
              <a:rPr lang="en"/>
              <a:t>The try, catch, and finally blocks must be blocks, instead of single statements.</a:t>
            </a:r>
            <a:endParaRPr/>
          </a:p>
          <a:p>
            <a:pPr marL="457200" lvl="0" indent="-342900" algn="l" rtl="0">
              <a:spcBef>
                <a:spcPts val="0"/>
              </a:spcBef>
              <a:spcAft>
                <a:spcPts val="0"/>
              </a:spcAft>
              <a:buSzPts val="1800"/>
              <a:buChar char="●"/>
            </a:pPr>
            <a:r>
              <a:rPr lang="en"/>
              <a:t>The code in the try block is executed first, and if it throws an exception, the code in the catch block will be executed. The code in the finally block will always be executed before control flow exits the entire construct.</a:t>
            </a:r>
            <a:endParaRPr/>
          </a:p>
          <a:p>
            <a:pPr marL="457200" lvl="0" indent="-342900" algn="l" rtl="0">
              <a:spcBef>
                <a:spcPts val="0"/>
              </a:spcBef>
              <a:spcAft>
                <a:spcPts val="0"/>
              </a:spcAft>
              <a:buSzPts val="1800"/>
              <a:buChar char="●"/>
            </a:pPr>
            <a:r>
              <a:rPr lang="en" u="sng">
                <a:solidFill>
                  <a:schemeClr val="hlink"/>
                </a:solidFill>
                <a:hlinkClick r:id="rId3"/>
              </a:rPr>
              <a:t>https://developer.mozilla.org/en-US/docs/Web/JavaScript/Reference/Statements/try...catch</a:t>
            </a:r>
            <a:r>
              <a:rPr lang="en"/>
              <a:t> </a:t>
            </a:r>
            <a:endParaRPr/>
          </a:p>
        </p:txBody>
      </p:sp>
      <p:sp>
        <p:nvSpPr>
          <p:cNvPr id="1016" name="Google Shape;1016;p13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126</a:t>
            </a:fld>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1020"/>
        <p:cNvGrpSpPr/>
        <p:nvPr/>
      </p:nvGrpSpPr>
      <p:grpSpPr>
        <a:xfrm>
          <a:off x="0" y="0"/>
          <a:ext cx="0" cy="0"/>
          <a:chOff x="0" y="0"/>
          <a:chExt cx="0" cy="0"/>
        </a:xfrm>
      </p:grpSpPr>
      <p:sp>
        <p:nvSpPr>
          <p:cNvPr id="1021" name="Google Shape;1021;p138"/>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Questions?</a:t>
            </a:r>
            <a:endParaRPr/>
          </a:p>
        </p:txBody>
      </p:sp>
      <p:sp>
        <p:nvSpPr>
          <p:cNvPr id="1022" name="Google Shape;1022;p13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127</a:t>
            </a:fld>
            <a:endParaRPr/>
          </a:p>
        </p:txBody>
      </p:sp>
      <p:pic>
        <p:nvPicPr>
          <p:cNvPr id="1023" name="Google Shape;1023;p138"/>
          <p:cNvPicPr preferRelativeResize="0"/>
          <p:nvPr/>
        </p:nvPicPr>
        <p:blipFill>
          <a:blip r:embed="rId3">
            <a:alphaModFix/>
          </a:blip>
          <a:stretch>
            <a:fillRect/>
          </a:stretch>
        </p:blipFill>
        <p:spPr>
          <a:xfrm>
            <a:off x="2752075" y="1678825"/>
            <a:ext cx="4156800" cy="2663225"/>
          </a:xfrm>
          <a:prstGeom prst="rect">
            <a:avLst/>
          </a:prstGeom>
          <a:noFill/>
          <a:ln>
            <a:noFill/>
          </a:ln>
        </p:spPr>
      </p:pic>
    </p:spTree>
  </p:cSld>
  <p:clrMapOvr>
    <a:masterClrMapping/>
  </p:clrMapOvr>
</p:sld>
</file>

<file path=ppt/theme/theme1.xml><?xml version="1.0" encoding="utf-8"?>
<a:theme xmlns:a="http://schemas.openxmlformats.org/drawingml/2006/main"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269</TotalTime>
  <Words>13599</Words>
  <Application>Microsoft Office PowerPoint</Application>
  <PresentationFormat>如螢幕大小 (16:9)</PresentationFormat>
  <Paragraphs>1719</Paragraphs>
  <Slides>127</Slides>
  <Notes>126</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127</vt:i4>
      </vt:variant>
    </vt:vector>
  </HeadingPairs>
  <TitlesOfParts>
    <vt:vector size="135" baseType="lpstr">
      <vt:lpstr>Raleway</vt:lpstr>
      <vt:lpstr>Courier New</vt:lpstr>
      <vt:lpstr>Verdana</vt:lpstr>
      <vt:lpstr>Calibri</vt:lpstr>
      <vt:lpstr>Source Sans Pro</vt:lpstr>
      <vt:lpstr>Consolas</vt:lpstr>
      <vt:lpstr>Arial</vt:lpstr>
      <vt:lpstr>Plum</vt:lpstr>
      <vt:lpstr>Javascript - 2026 Fall</vt:lpstr>
      <vt:lpstr>Course Outline</vt:lpstr>
      <vt:lpstr>JavaScript Overview</vt:lpstr>
      <vt:lpstr>Short History of Javascript</vt:lpstr>
      <vt:lpstr>Add JavaScripts to HTML</vt:lpstr>
      <vt:lpstr>An Example of Javascript</vt:lpstr>
      <vt:lpstr>Variables</vt:lpstr>
      <vt:lpstr>Variables and Declaration</vt:lpstr>
      <vt:lpstr>Variable Naming Rules</vt:lpstr>
      <vt:lpstr>Variable Scopes</vt:lpstr>
      <vt:lpstr>Scope Examples</vt:lpstr>
      <vt:lpstr>Variable Declaration and Assignment</vt:lpstr>
      <vt:lpstr>Automatically Global &amp; Strict Mode</vt:lpstr>
      <vt:lpstr>Hoisting</vt:lpstr>
      <vt:lpstr>Function Hoisting</vt:lpstr>
      <vt:lpstr>Primitive Data Types</vt:lpstr>
      <vt:lpstr>Primitive Data Types</vt:lpstr>
      <vt:lpstr>Auto-Boxing Illustration Example</vt:lpstr>
      <vt:lpstr>Overview of Primitive Data Types</vt:lpstr>
      <vt:lpstr>Number &amp; BigInt</vt:lpstr>
      <vt:lpstr>Quirks in JS Number</vt:lpstr>
      <vt:lpstr>String &amp; Boolean</vt:lpstr>
      <vt:lpstr>Null, Undefined, &amp; Symbol</vt:lpstr>
      <vt:lpstr>Common Pitfalls</vt:lpstr>
      <vt:lpstr>Check Data Type by typeof Operator</vt:lpstr>
      <vt:lpstr>JavaScript Operator ─ typeof</vt:lpstr>
      <vt:lpstr>typeof ─ Notes and Practices</vt:lpstr>
      <vt:lpstr>Type Casting</vt:lpstr>
      <vt:lpstr>Implicit Type Conversion (Coercion)</vt:lpstr>
      <vt:lpstr>Explicit Type Conversion</vt:lpstr>
      <vt:lpstr>Conversion Table in JavaScript</vt:lpstr>
      <vt:lpstr>Data Type ─ Object</vt:lpstr>
      <vt:lpstr>Javascript Object</vt:lpstr>
      <vt:lpstr>Creating new objects ─ Using object initializers</vt:lpstr>
      <vt:lpstr>Creating new objects ─ Using a constructor function</vt:lpstr>
      <vt:lpstr>Creating new objects ─ Using Object.create()</vt:lpstr>
      <vt:lpstr>Javascript Object ─ Accessing properties</vt:lpstr>
      <vt:lpstr>Javascript Object ─ Deleting properties </vt:lpstr>
      <vt:lpstr>Object Inheritance</vt:lpstr>
      <vt:lpstr>An Example of Object Inheritance </vt:lpstr>
      <vt:lpstr>Object getters and setters Functions ─ Object literal</vt:lpstr>
      <vt:lpstr>Object getters and setters Functions ─ defineProperties</vt:lpstr>
      <vt:lpstr>Standard Built-in Objects and Global Properties</vt:lpstr>
      <vt:lpstr>Global Properties</vt:lpstr>
      <vt:lpstr>Math Object</vt:lpstr>
      <vt:lpstr>Math Object Methods</vt:lpstr>
      <vt:lpstr>Math Object Methods (Cont.)</vt:lpstr>
      <vt:lpstr>Math Static properties</vt:lpstr>
      <vt:lpstr>String Object</vt:lpstr>
      <vt:lpstr>String Object Methods</vt:lpstr>
      <vt:lpstr>String Object Methods (Cont.)</vt:lpstr>
      <vt:lpstr>String Object Methods (Cont.)</vt:lpstr>
      <vt:lpstr>Character Processing Methods</vt:lpstr>
      <vt:lpstr>String Search Methods</vt:lpstr>
      <vt:lpstr>String Split and Substring</vt:lpstr>
      <vt:lpstr>Date Object</vt:lpstr>
      <vt:lpstr>Date Object (Cont.)</vt:lpstr>
      <vt:lpstr>Date Object Methods</vt:lpstr>
      <vt:lpstr>Date Object Methods (Cont.)</vt:lpstr>
      <vt:lpstr>Date Object Methods (Cont.)</vt:lpstr>
      <vt:lpstr>Date Object Methods (Cont.)</vt:lpstr>
      <vt:lpstr>Object Type ─ Arrays Data Structure</vt:lpstr>
      <vt:lpstr>Array Object</vt:lpstr>
      <vt:lpstr>Array Examples</vt:lpstr>
      <vt:lpstr>Array Element and Element Access</vt:lpstr>
      <vt:lpstr>A Simple Array Illustration</vt:lpstr>
      <vt:lpstr>Array Reallocation</vt:lpstr>
      <vt:lpstr>Array Creation Approaches</vt:lpstr>
      <vt:lpstr>References and Reference Parameters</vt:lpstr>
      <vt:lpstr>Passing Arrays to Functions</vt:lpstr>
      <vt:lpstr>References Examples</vt:lpstr>
      <vt:lpstr>Default Sort Mechanics</vt:lpstr>
      <vt:lpstr>Custom Comparator Rules</vt:lpstr>
      <vt:lpstr>Custom Comparator Examples</vt:lpstr>
      <vt:lpstr>toSorted() (ES2023)</vt:lpstr>
      <vt:lpstr>Examples of toSorted() (ES2023)</vt:lpstr>
      <vt:lpstr>Sorting Arrays of Objects</vt:lpstr>
      <vt:lpstr>Examples of Dynamic Sorting</vt:lpstr>
      <vt:lpstr>Multi-Dimensional Arrays</vt:lpstr>
      <vt:lpstr>Examples of Multi-Dimensional Arrays</vt:lpstr>
      <vt:lpstr>Object Type ─ JSON Data Structure</vt:lpstr>
      <vt:lpstr>JavaScript Object Notation (JSON)</vt:lpstr>
      <vt:lpstr>JSON Examples</vt:lpstr>
      <vt:lpstr>JSON syntax restrictions</vt:lpstr>
      <vt:lpstr>Converting between objects and text</vt:lpstr>
      <vt:lpstr>Object Type ─ Map Data Structure</vt:lpstr>
      <vt:lpstr>Map object</vt:lpstr>
      <vt:lpstr>Objects vs. Maps</vt:lpstr>
      <vt:lpstr>Examples of Map Object</vt:lpstr>
      <vt:lpstr>Equality Comparisons</vt:lpstr>
      <vt:lpstr>Equality (==) and Inequality (!=)</vt:lpstr>
      <vt:lpstr>Equality (==) and Inequality (!=) Quizzes</vt:lpstr>
      <vt:lpstr>Strict equality (===) and Strict inequality (!==)</vt:lpstr>
      <vt:lpstr>Object.is()</vt:lpstr>
      <vt:lpstr>Examples of Object.is()</vt:lpstr>
      <vt:lpstr>Operators</vt:lpstr>
      <vt:lpstr>Assignment operators (=)</vt:lpstr>
      <vt:lpstr>Assignment operators (=) </vt:lpstr>
      <vt:lpstr>Destructuring</vt:lpstr>
      <vt:lpstr>Evaluation and nesting</vt:lpstr>
      <vt:lpstr>Chained Expression Example</vt:lpstr>
      <vt:lpstr>Comparison operators</vt:lpstr>
      <vt:lpstr>Bitwise operators</vt:lpstr>
      <vt:lpstr>Bitwise shift operators</vt:lpstr>
      <vt:lpstr>Logical operators</vt:lpstr>
      <vt:lpstr>Conditional (ternary) operator</vt:lpstr>
      <vt:lpstr>Loops and Iterations</vt:lpstr>
      <vt:lpstr>while loop</vt:lpstr>
      <vt:lpstr>Examples of while loop</vt:lpstr>
      <vt:lpstr>Do...while loop</vt:lpstr>
      <vt:lpstr>Examples of do…while loop</vt:lpstr>
      <vt:lpstr>for loop</vt:lpstr>
      <vt:lpstr>for...in loop</vt:lpstr>
      <vt:lpstr>for...of loop</vt:lpstr>
      <vt:lpstr>Difference between for...of and for...in</vt:lpstr>
      <vt:lpstr>Control Flow</vt:lpstr>
      <vt:lpstr>If...else Statements</vt:lpstr>
      <vt:lpstr>if…else statement example</vt:lpstr>
      <vt:lpstr>switch statements</vt:lpstr>
      <vt:lpstr>switch statements Example</vt:lpstr>
      <vt:lpstr>Breaking and fall-through</vt:lpstr>
      <vt:lpstr>Breaking and fall-through Example</vt:lpstr>
      <vt:lpstr>Exception Handling</vt:lpstr>
      <vt:lpstr>throw Statements</vt:lpstr>
      <vt:lpstr>throw statement Example</vt:lpstr>
      <vt:lpstr>try...catch Statements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Javascript - 2026 Fall</dc:title>
  <cp:lastModifiedBy>LanCi-Wei</cp:lastModifiedBy>
  <cp:revision>21</cp:revision>
  <dcterms:modified xsi:type="dcterms:W3CDTF">2026-10-19T16:18:54Z</dcterms:modified>
</cp:coreProperties>
</file>