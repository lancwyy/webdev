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7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9" r:id="rId70"/>
    <p:sldId id="328" r:id="rId71"/>
  </p:sldIdLst>
  <p:sldSz cx="9144000" cy="5143500" type="screen16x9"/>
  <p:notesSz cx="6858000" cy="9144000"/>
  <p:embeddedFontLst>
    <p:embeddedFont>
      <p:font typeface="Raleway" pitchFamily="2" charset="0"/>
      <p:regular r:id="rId73"/>
      <p:bold r:id="rId74"/>
      <p:italic r:id="rId75"/>
      <p:boldItalic r:id="rId76"/>
    </p:embeddedFont>
    <p:embeddedFont>
      <p:font typeface="Source Sans Pro" panose="020B0503030403020204" pitchFamily="34" charset="0"/>
      <p:regular r:id="rId77"/>
      <p:bold r:id="rId78"/>
      <p:italic r:id="rId79"/>
      <p:boldItalic r:id="rId8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EE5C1D8-EC83-4F6E-A83C-C6FD04C83F62}">
  <a:tblStyle styleId="{EEE5C1D8-EC83-4F6E-A83C-C6FD04C83F62}"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6" d="100"/>
          <a:sy n="106" d="100"/>
        </p:scale>
        <p:origin x="778" y="67"/>
      </p:cViewPr>
      <p:guideLst>
        <p:guide orient="horz" pos="162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2.fntdata"/><Relationship Id="rId79" Type="http://schemas.openxmlformats.org/officeDocument/2006/relationships/font" Target="fonts/font7.fntdata"/><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font" Target="fonts/font5.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80" Type="http://schemas.openxmlformats.org/officeDocument/2006/relationships/font" Target="fonts/font8.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font" Target="fonts/font3.fntdata"/><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1.fntdata"/><Relationship Id="rId78" Type="http://schemas.openxmlformats.org/officeDocument/2006/relationships/font" Target="fonts/font6.fntdata"/><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4.fntdata"/><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c6f9544c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c6f9544c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3f21d7a6c3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f21d7a6c3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e893ceafed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e893ceafe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f24b8bf02c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3f24b8bf02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3ec0d26fe9b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 name="Google Shape;85;g3ec0d26fe9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c6f9544c1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c6f9544c1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f24b8bf02c_0_8: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f24b8bf02c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3f24b8bf02c_0_14: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3f24b8bf02c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f24b8bf02c_0_30: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3f24b8bf02c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3f26127df02_0_18: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3f26127df02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3f26127df02_0_7: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3f26127df02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3f27355ebdc_0_4: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3f27355ebdc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3f27355ebdc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3f27355ebdc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f27355ebdc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3f27355ebdc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f27355ebdc_0_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3f27355ebdc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f27355ebdc_0_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3f27355ebdc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3f02729a53a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3f02729a53a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3f27355ebdc_0_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3f27355ebdc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3f2a8c2ed48_0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3f2a8c2ed48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3f2a8c2ed48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 name="Google Shape;213;g3f2a8c2ed48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3f2a8c2ed48_0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3f2a8c2ed48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3f2a8c2ed48_0_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 name="Google Shape;229;g3f2a8c2ed48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3f2a8c2ed48_0_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f2a8c2ed48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3f2bdc0e876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 name="Google Shape;246;g3f2bdc0e876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3f2bdc0e876_0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 name="Google Shape;253;g3f2bdc0e876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3f2bdc0e876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3f2bdc0e876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3f2bdc0e876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3f2bdc0e876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g3f2c8b10b7c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7" name="Google Shape;277;g3f2c8b10b7c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3f2c8b10b7c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3f2c8b10b7c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3f2c8b10b7c_0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3f2c8b10b7c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3f2c8b10b7c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3f2c8b10b7c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3f02729a53a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3" name="Google Shape;313;g3f02729a53a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3f02729a53a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3" name="Google Shape;323;g3f02729a53a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3f02729a53a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0" name="Google Shape;330;g3f02729a53a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g3f02729a53a_0_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7" name="Google Shape;337;g3f02729a53a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g3f02729a53a_0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4" name="Google Shape;344;g3f02729a53a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3f2bdc0e876_0_30: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 name="Google Shape;351;g3f2bdc0e876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3f02729a53a_0_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3f02729a53a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g3f02729a53a_0_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4" name="Google Shape;364;g3f02729a53a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g3f02729a53a_0_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3" name="Google Shape;373;g3f02729a53a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g3f02729a53a_0_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2" name="Google Shape;382;g3f02729a53a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3f02729a53a_0_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3f02729a53a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g3f059969618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9" name="Google Shape;399;g3f059969618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3f059969618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 name="Google Shape;405;g3f059969618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g3f059969618_0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2" name="Google Shape;412;g3f059969618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g3f059969618_0_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0" name="Google Shape;420;g3f059969618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g3f059969618_0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8" name="Google Shape;428;g3f059969618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g3f059969618_0_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6" name="Google Shape;436;g3f059969618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g3f059969618_0_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3" name="Google Shape;443;g3f059969618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g3f059969618_0_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1" name="Google Shape;451;g3f059969618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3f059969618_0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7" name="Google Shape;457;g3f059969618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g3f08641ac3a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 name="Google Shape;464;g3f08641ac3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p:cNvGrpSpPr/>
        <p:nvPr/>
      </p:nvGrpSpPr>
      <p:grpSpPr>
        <a:xfrm>
          <a:off x="0" y="0"/>
          <a:ext cx="0" cy="0"/>
          <a:chOff x="0" y="0"/>
          <a:chExt cx="0" cy="0"/>
        </a:xfrm>
      </p:grpSpPr>
      <p:sp>
        <p:nvSpPr>
          <p:cNvPr id="474" name="Google Shape;474;g3f08641ac3a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5" name="Google Shape;475;g3f08641ac3a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g3f08641ac3a_0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4" name="Google Shape;484;g3f08641ac3a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g3f2c8b10b7c_0_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1" name="Google Shape;491;g3f2c8b10b7c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g3f08641ac3a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9" name="Google Shape;499;g3f08641ac3a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g3f08641ac3a_0_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6" name="Google Shape;506;g3f08641ac3a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3f08641ac3a_0_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 name="Google Shape;514;g3f08641ac3a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g3f08641ac3a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3f08641ac3a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g3f08641ac3a_0_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9" name="Google Shape;529;g3f08641ac3a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g3f08641ac3a_0_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5" name="Google Shape;535;g3f08641ac3a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3f0d53ea97c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2" name="Google Shape;542;g3f0d53ea97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g3f08641ac3a_0_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0" name="Google Shape;550;g3f08641ac3a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g3f0d53ea97c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g3f0d53ea97c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3"/>
        <p:cNvGrpSpPr/>
        <p:nvPr/>
      </p:nvGrpSpPr>
      <p:grpSpPr>
        <a:xfrm>
          <a:off x="0" y="0"/>
          <a:ext cx="0" cy="0"/>
          <a:chOff x="0" y="0"/>
          <a:chExt cx="0" cy="0"/>
        </a:xfrm>
      </p:grpSpPr>
      <p:sp>
        <p:nvSpPr>
          <p:cNvPr id="564" name="Google Shape;564;g3f0d53ea97c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5" name="Google Shape;565;g3f0d53ea97c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1"/>
        <p:cNvGrpSpPr/>
        <p:nvPr/>
      </p:nvGrpSpPr>
      <p:grpSpPr>
        <a:xfrm>
          <a:off x="0" y="0"/>
          <a:ext cx="0" cy="0"/>
          <a:chOff x="0" y="0"/>
          <a:chExt cx="0" cy="0"/>
        </a:xfrm>
      </p:grpSpPr>
      <p:sp>
        <p:nvSpPr>
          <p:cNvPr id="572" name="Google Shape;572;g3f0d53ea97c_0_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3" name="Google Shape;573;g3f0d53ea97c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9"/>
        <p:cNvGrpSpPr/>
        <p:nvPr/>
      </p:nvGrpSpPr>
      <p:grpSpPr>
        <a:xfrm>
          <a:off x="0" y="0"/>
          <a:ext cx="0" cy="0"/>
          <a:chOff x="0" y="0"/>
          <a:chExt cx="0" cy="0"/>
        </a:xfrm>
      </p:grpSpPr>
      <p:sp>
        <p:nvSpPr>
          <p:cNvPr id="580" name="Google Shape;580;g3f0d53ea97c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1" name="Google Shape;581;g3f0d53ea97c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7"/>
        <p:cNvGrpSpPr/>
        <p:nvPr/>
      </p:nvGrpSpPr>
      <p:grpSpPr>
        <a:xfrm>
          <a:off x="0" y="0"/>
          <a:ext cx="0" cy="0"/>
          <a:chOff x="0" y="0"/>
          <a:chExt cx="0" cy="0"/>
        </a:xfrm>
      </p:grpSpPr>
      <p:sp>
        <p:nvSpPr>
          <p:cNvPr id="588" name="Google Shape;588;g3f059969618_0_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9" name="Google Shape;589;g3f059969618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3"/>
        <p:cNvGrpSpPr/>
        <p:nvPr/>
      </p:nvGrpSpPr>
      <p:grpSpPr>
        <a:xfrm>
          <a:off x="0" y="0"/>
          <a:ext cx="0" cy="0"/>
          <a:chOff x="0" y="0"/>
          <a:chExt cx="0" cy="0"/>
        </a:xfrm>
      </p:grpSpPr>
      <p:sp>
        <p:nvSpPr>
          <p:cNvPr id="624" name="Google Shape;624;gc6f9544c1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5" name="Google Shape;625;gc6f9544c1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85875" y="264475"/>
            <a:ext cx="8183700" cy="1281600"/>
          </a:xfrm>
          <a:prstGeom prst="rect">
            <a:avLst/>
          </a:prstGeom>
        </p:spPr>
        <p:txBody>
          <a:bodyPr spcFirstLastPara="1" wrap="square" lIns="91425" tIns="91425" rIns="91425" bIns="91425" anchor="b" anchorCtr="0">
            <a:no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1" name="Google Shape;11;p2"/>
          <p:cNvSpPr txBox="1">
            <a:spLocks noGrp="1"/>
          </p:cNvSpPr>
          <p:nvPr>
            <p:ph type="subTitle" idx="1"/>
          </p:nvPr>
        </p:nvSpPr>
        <p:spPr>
          <a:xfrm>
            <a:off x="485875" y="1595275"/>
            <a:ext cx="8183700" cy="10038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rgbClr val="434343"/>
              </a:buClr>
              <a:buSzPts val="2400"/>
              <a:buNone/>
              <a:defRPr sz="2400">
                <a:solidFill>
                  <a:srgbClr val="434343"/>
                </a:solidFill>
              </a:defRPr>
            </a:lvl1pPr>
            <a:lvl2pPr lvl="1">
              <a:lnSpc>
                <a:spcPct val="100000"/>
              </a:lnSpc>
              <a:spcBef>
                <a:spcPts val="0"/>
              </a:spcBef>
              <a:spcAft>
                <a:spcPts val="0"/>
              </a:spcAft>
              <a:buSzPts val="2400"/>
              <a:buNone/>
              <a:defRPr sz="2400"/>
            </a:lvl2pPr>
            <a:lvl3pPr lvl="2">
              <a:lnSpc>
                <a:spcPct val="100000"/>
              </a:lnSpc>
              <a:spcBef>
                <a:spcPts val="0"/>
              </a:spcBef>
              <a:spcAft>
                <a:spcPts val="0"/>
              </a:spcAft>
              <a:buSzPts val="2400"/>
              <a:buNone/>
              <a:defRPr sz="2400"/>
            </a:lvl3pPr>
            <a:lvl4pPr lvl="3">
              <a:lnSpc>
                <a:spcPct val="100000"/>
              </a:lnSpc>
              <a:spcBef>
                <a:spcPts val="0"/>
              </a:spcBef>
              <a:spcAft>
                <a:spcPts val="0"/>
              </a:spcAft>
              <a:buSzPts val="2400"/>
              <a:buNone/>
              <a:defRPr sz="2400"/>
            </a:lvl4pPr>
            <a:lvl5pPr lvl="4">
              <a:lnSpc>
                <a:spcPct val="100000"/>
              </a:lnSpc>
              <a:spcBef>
                <a:spcPts val="0"/>
              </a:spcBef>
              <a:spcAft>
                <a:spcPts val="0"/>
              </a:spcAft>
              <a:buSzPts val="2400"/>
              <a:buNone/>
              <a:defRPr sz="2400"/>
            </a:lvl5pPr>
            <a:lvl6pPr lvl="5">
              <a:lnSpc>
                <a:spcPct val="100000"/>
              </a:lnSpc>
              <a:spcBef>
                <a:spcPts val="0"/>
              </a:spcBef>
              <a:spcAft>
                <a:spcPts val="0"/>
              </a:spcAft>
              <a:buSzPts val="2400"/>
              <a:buNone/>
              <a:defRPr sz="2400"/>
            </a:lvl6pPr>
            <a:lvl7pPr lvl="6">
              <a:lnSpc>
                <a:spcPct val="100000"/>
              </a:lnSpc>
              <a:spcBef>
                <a:spcPts val="0"/>
              </a:spcBef>
              <a:spcAft>
                <a:spcPts val="0"/>
              </a:spcAft>
              <a:buSzPts val="2400"/>
              <a:buNone/>
              <a:defRPr sz="2400"/>
            </a:lvl7pPr>
            <a:lvl8pPr lvl="7">
              <a:lnSpc>
                <a:spcPct val="100000"/>
              </a:lnSpc>
              <a:spcBef>
                <a:spcPts val="0"/>
              </a:spcBef>
              <a:spcAft>
                <a:spcPts val="0"/>
              </a:spcAft>
              <a:buSzPts val="2400"/>
              <a:buNone/>
              <a:defRPr sz="2400"/>
            </a:lvl8pPr>
            <a:lvl9pPr lvl="8">
              <a:lnSpc>
                <a:spcPct val="100000"/>
              </a:lnSpc>
              <a:spcBef>
                <a:spcPts val="0"/>
              </a:spcBef>
              <a:spcAft>
                <a:spcPts val="0"/>
              </a:spcAft>
              <a:buSzPts val="2400"/>
              <a:buNone/>
              <a:defRPr sz="2400"/>
            </a:lvl9pPr>
          </a:lstStyle>
          <a:p>
            <a:endParaRPr/>
          </a:p>
        </p:txBody>
      </p:sp>
      <p:sp>
        <p:nvSpPr>
          <p:cNvPr id="12" name="Google Shape;12;p2"/>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pic>
        <p:nvPicPr>
          <p:cNvPr id="13" name="Google Shape;13;p2" title="Gemini_Generated_Image_r9brlcr9brlcr9br.png"/>
          <p:cNvPicPr preferRelativeResize="0"/>
          <p:nvPr/>
        </p:nvPicPr>
        <p:blipFill>
          <a:blip r:embed="rId2">
            <a:alphaModFix/>
          </a:blip>
          <a:stretch>
            <a:fillRect/>
          </a:stretch>
        </p:blipFill>
        <p:spPr>
          <a:xfrm>
            <a:off x="190672" y="2684196"/>
            <a:ext cx="8680715" cy="2271762"/>
          </a:xfrm>
          <a:prstGeom prst="rect">
            <a:avLst/>
          </a:prstGeom>
          <a:solidFill>
            <a:srgbClr val="CFE2F3"/>
          </a:solid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
        <p:cNvGrpSpPr/>
        <p:nvPr/>
      </p:nvGrpSpPr>
      <p:grpSpPr>
        <a:xfrm>
          <a:off x="0" y="0"/>
          <a:ext cx="0" cy="0"/>
          <a:chOff x="0" y="0"/>
          <a:chExt cx="0" cy="0"/>
        </a:xfrm>
      </p:grpSpPr>
      <p:sp>
        <p:nvSpPr>
          <p:cNvPr id="15" name="Google Shape;15;p3"/>
          <p:cNvSpPr/>
          <p:nvPr/>
        </p:nvSpPr>
        <p:spPr>
          <a:xfrm>
            <a:off x="80700" y="2651100"/>
            <a:ext cx="8982600" cy="24117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3"/>
          <p:cNvSpPr txBox="1">
            <a:spLocks noGrp="1"/>
          </p:cNvSpPr>
          <p:nvPr>
            <p:ph type="title"/>
          </p:nvPr>
        </p:nvSpPr>
        <p:spPr>
          <a:xfrm>
            <a:off x="485875" y="1714500"/>
            <a:ext cx="8183700" cy="7857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7" name="Google Shape;17;p3"/>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0" name="Google Shape;20;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1" name="Google Shape;21;p4"/>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2"/>
        <p:cNvGrpSpPr/>
        <p:nvPr/>
      </p:nvGrpSpPr>
      <p:grpSpPr>
        <a:xfrm>
          <a:off x="0" y="0"/>
          <a:ext cx="0" cy="0"/>
          <a:chOff x="0" y="0"/>
          <a:chExt cx="0" cy="0"/>
        </a:xfrm>
      </p:grpSpPr>
      <p:sp>
        <p:nvSpPr>
          <p:cNvPr id="23" name="Google Shape;23;p5"/>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4" name="Google Shape;24;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5" name="Google Shape;25;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6" name="Google Shape;26;p5"/>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
        <p:cNvGrpSpPr/>
        <p:nvPr/>
      </p:nvGrpSpPr>
      <p:grpSpPr>
        <a:xfrm>
          <a:off x="0" y="0"/>
          <a:ext cx="0" cy="0"/>
          <a:chOff x="0" y="0"/>
          <a:chExt cx="0" cy="0"/>
        </a:xfrm>
      </p:grpSpPr>
      <p:sp>
        <p:nvSpPr>
          <p:cNvPr id="28" name="Google Shape;28;p6"/>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9" name="Google Shape;29;p6"/>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
        <p:cNvGrpSpPr/>
        <p:nvPr/>
      </p:nvGrpSpPr>
      <p:grpSpPr>
        <a:xfrm>
          <a:off x="0" y="0"/>
          <a:ext cx="0" cy="0"/>
          <a:chOff x="0" y="0"/>
          <a:chExt cx="0" cy="0"/>
        </a:xfrm>
      </p:grpSpPr>
      <p:sp>
        <p:nvSpPr>
          <p:cNvPr id="31" name="Google Shape;31;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2" name="Google Shape;32;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3" name="Google Shape;33;p7"/>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rgbClr val="CFE2F3"/>
        </a:solidFill>
        <a:effectLst/>
      </p:bgPr>
    </p:bg>
    <p:spTree>
      <p:nvGrpSpPr>
        <p:cNvPr id="1" name="Shape 34"/>
        <p:cNvGrpSpPr/>
        <p:nvPr/>
      </p:nvGrpSpPr>
      <p:grpSpPr>
        <a:xfrm>
          <a:off x="0" y="0"/>
          <a:ext cx="0" cy="0"/>
          <a:chOff x="0" y="0"/>
          <a:chExt cx="0" cy="0"/>
        </a:xfrm>
      </p:grpSpPr>
      <p:sp>
        <p:nvSpPr>
          <p:cNvPr id="35" name="Google Shape;35;p8"/>
          <p:cNvSpPr txBox="1">
            <a:spLocks noGrp="1"/>
          </p:cNvSpPr>
          <p:nvPr>
            <p:ph type="title"/>
          </p:nvPr>
        </p:nvSpPr>
        <p:spPr>
          <a:xfrm>
            <a:off x="490250" y="526350"/>
            <a:ext cx="5604000" cy="4090800"/>
          </a:xfrm>
          <a:prstGeom prst="rect">
            <a:avLst/>
          </a:prstGeom>
        </p:spPr>
        <p:txBody>
          <a:bodyPr spcFirstLastPara="1" wrap="square" lIns="91425" tIns="91425" rIns="91425" bIns="91425" anchor="ctr" anchorCtr="0">
            <a:noAutofit/>
          </a:bodyPr>
          <a:lstStyle>
            <a:lvl1pPr lvl="0">
              <a:spcBef>
                <a:spcPts val="0"/>
              </a:spcBef>
              <a:spcAft>
                <a:spcPts val="0"/>
              </a:spcAft>
              <a:buClr>
                <a:srgbClr val="434343"/>
              </a:buClr>
              <a:buSzPts val="4800"/>
              <a:buNone/>
              <a:defRPr sz="4800">
                <a:solidFill>
                  <a:srgbClr val="434343"/>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36" name="Google Shape;36;p8"/>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7"/>
        <p:cNvGrpSpPr/>
        <p:nvPr/>
      </p:nvGrpSpPr>
      <p:grpSpPr>
        <a:xfrm>
          <a:off x="0" y="0"/>
          <a:ext cx="0" cy="0"/>
          <a:chOff x="0" y="0"/>
          <a:chExt cx="0" cy="0"/>
        </a:xfrm>
      </p:grpSpPr>
      <p:sp>
        <p:nvSpPr>
          <p:cNvPr id="38" name="Google Shape;38;p9"/>
          <p:cNvSpPr/>
          <p:nvPr/>
        </p:nvSpPr>
        <p:spPr>
          <a:xfrm>
            <a:off x="4636800" y="80700"/>
            <a:ext cx="4426500" cy="49821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9" name="Google Shape;39;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0" name="Google Shape;40;p9"/>
          <p:cNvSpPr txBox="1">
            <a:spLocks noGrp="1"/>
          </p:cNvSpPr>
          <p:nvPr>
            <p:ph type="title"/>
          </p:nvPr>
        </p:nvSpPr>
        <p:spPr>
          <a:xfrm>
            <a:off x="265500" y="1181700"/>
            <a:ext cx="4045200" cy="1533600"/>
          </a:xfrm>
          <a:prstGeom prst="rect">
            <a:avLst/>
          </a:prstGeom>
        </p:spPr>
        <p:txBody>
          <a:bodyPr spcFirstLastPara="1" wrap="square" lIns="91425" tIns="91425" rIns="91425" bIns="91425" anchor="b" anchorCtr="0">
            <a:no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a:endParaRPr/>
          </a:p>
        </p:txBody>
      </p:sp>
      <p:sp>
        <p:nvSpPr>
          <p:cNvPr id="41" name="Google Shape;41;p9"/>
          <p:cNvSpPr txBox="1">
            <a:spLocks noGrp="1"/>
          </p:cNvSpPr>
          <p:nvPr>
            <p:ph type="subTitle" idx="1"/>
          </p:nvPr>
        </p:nvSpPr>
        <p:spPr>
          <a:xfrm>
            <a:off x="265500" y="2769001"/>
            <a:ext cx="4045200" cy="13455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2" name="Google Shape;42;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rgbClr val="434343"/>
              </a:buClr>
              <a:buSzPts val="1800"/>
              <a:buChar char="●"/>
              <a:defRPr>
                <a:solidFill>
                  <a:srgbClr val="434343"/>
                </a:solidFill>
              </a:defRPr>
            </a:lvl1pPr>
            <a:lvl2pPr marL="914400" lvl="1" indent="-317500">
              <a:spcBef>
                <a:spcPts val="1600"/>
              </a:spcBef>
              <a:spcAft>
                <a:spcPts val="0"/>
              </a:spcAft>
              <a:buClr>
                <a:srgbClr val="434343"/>
              </a:buClr>
              <a:buSzPts val="1400"/>
              <a:buChar char="○"/>
              <a:defRPr>
                <a:solidFill>
                  <a:srgbClr val="434343"/>
                </a:solidFill>
              </a:defRPr>
            </a:lvl2pPr>
            <a:lvl3pPr marL="1371600" lvl="2" indent="-317500">
              <a:spcBef>
                <a:spcPts val="1600"/>
              </a:spcBef>
              <a:spcAft>
                <a:spcPts val="0"/>
              </a:spcAft>
              <a:buClr>
                <a:srgbClr val="434343"/>
              </a:buClr>
              <a:buSzPts val="1400"/>
              <a:buChar char="■"/>
              <a:defRPr>
                <a:solidFill>
                  <a:srgbClr val="434343"/>
                </a:solidFill>
              </a:defRPr>
            </a:lvl3pPr>
            <a:lvl4pPr marL="1828800" lvl="3" indent="-317500">
              <a:spcBef>
                <a:spcPts val="1600"/>
              </a:spcBef>
              <a:spcAft>
                <a:spcPts val="0"/>
              </a:spcAft>
              <a:buClr>
                <a:srgbClr val="434343"/>
              </a:buClr>
              <a:buSzPts val="1400"/>
              <a:buChar char="●"/>
              <a:defRPr>
                <a:solidFill>
                  <a:srgbClr val="434343"/>
                </a:solidFill>
              </a:defRPr>
            </a:lvl4pPr>
            <a:lvl5pPr marL="2286000" lvl="4" indent="-317500">
              <a:spcBef>
                <a:spcPts val="1600"/>
              </a:spcBef>
              <a:spcAft>
                <a:spcPts val="0"/>
              </a:spcAft>
              <a:buClr>
                <a:srgbClr val="434343"/>
              </a:buClr>
              <a:buSzPts val="1400"/>
              <a:buChar char="○"/>
              <a:defRPr>
                <a:solidFill>
                  <a:srgbClr val="434343"/>
                </a:solidFill>
              </a:defRPr>
            </a:lvl5pPr>
            <a:lvl6pPr marL="2743200" lvl="5" indent="-317500">
              <a:spcBef>
                <a:spcPts val="1600"/>
              </a:spcBef>
              <a:spcAft>
                <a:spcPts val="0"/>
              </a:spcAft>
              <a:buClr>
                <a:srgbClr val="434343"/>
              </a:buClr>
              <a:buSzPts val="1400"/>
              <a:buChar char="■"/>
              <a:defRPr>
                <a:solidFill>
                  <a:srgbClr val="434343"/>
                </a:solidFill>
              </a:defRPr>
            </a:lvl6pPr>
            <a:lvl7pPr marL="3200400" lvl="6" indent="-317500">
              <a:spcBef>
                <a:spcPts val="1600"/>
              </a:spcBef>
              <a:spcAft>
                <a:spcPts val="0"/>
              </a:spcAft>
              <a:buClr>
                <a:srgbClr val="434343"/>
              </a:buClr>
              <a:buSzPts val="1400"/>
              <a:buChar char="●"/>
              <a:defRPr>
                <a:solidFill>
                  <a:srgbClr val="434343"/>
                </a:solidFill>
              </a:defRPr>
            </a:lvl7pPr>
            <a:lvl8pPr marL="3657600" lvl="7" indent="-317500">
              <a:spcBef>
                <a:spcPts val="1600"/>
              </a:spcBef>
              <a:spcAft>
                <a:spcPts val="0"/>
              </a:spcAft>
              <a:buClr>
                <a:srgbClr val="434343"/>
              </a:buClr>
              <a:buSzPts val="1400"/>
              <a:buChar char="○"/>
              <a:defRPr>
                <a:solidFill>
                  <a:srgbClr val="434343"/>
                </a:solidFill>
              </a:defRPr>
            </a:lvl8pPr>
            <a:lvl9pPr marL="4114800" lvl="8" indent="-317500">
              <a:spcBef>
                <a:spcPts val="1600"/>
              </a:spcBef>
              <a:spcAft>
                <a:spcPts val="1600"/>
              </a:spcAft>
              <a:buClr>
                <a:srgbClr val="434343"/>
              </a:buClr>
              <a:buSzPts val="1400"/>
              <a:buChar char="■"/>
              <a:defRPr>
                <a:solidFill>
                  <a:srgbClr val="434343"/>
                </a:solidFill>
              </a:defRPr>
            </a:lvl9pPr>
          </a:lstStyle>
          <a:p>
            <a:endParaRPr/>
          </a:p>
        </p:txBody>
      </p:sp>
      <p:sp>
        <p:nvSpPr>
          <p:cNvPr id="43" name="Google Shape;43;p9"/>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4"/>
        <p:cNvGrpSpPr/>
        <p:nvPr/>
      </p:nvGrpSpPr>
      <p:grpSpPr>
        <a:xfrm>
          <a:off x="0" y="0"/>
          <a:ext cx="0" cy="0"/>
          <a:chOff x="0" y="0"/>
          <a:chExt cx="0" cy="0"/>
        </a:xfrm>
      </p:grpSpPr>
      <p:sp>
        <p:nvSpPr>
          <p:cNvPr id="45" name="Google Shape;45;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100"/>
              <a:buNone/>
              <a:defRPr sz="2100"/>
            </a:lvl1pPr>
          </a:lstStyle>
          <a:p>
            <a:endParaRPr/>
          </a:p>
        </p:txBody>
      </p:sp>
      <p:sp>
        <p:nvSpPr>
          <p:cNvPr id="46" name="Google Shape;46;p10"/>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7"/>
        <p:cNvGrpSpPr/>
        <p:nvPr/>
      </p:nvGrpSpPr>
      <p:grpSpPr>
        <a:xfrm>
          <a:off x="0" y="0"/>
          <a:ext cx="0" cy="0"/>
          <a:chOff x="0" y="0"/>
          <a:chExt cx="0" cy="0"/>
        </a:xfrm>
      </p:grpSpPr>
      <p:sp>
        <p:nvSpPr>
          <p:cNvPr id="48" name="Google Shape;48;p11"/>
          <p:cNvSpPr/>
          <p:nvPr/>
        </p:nvSpPr>
        <p:spPr>
          <a:xfrm>
            <a:off x="80700" y="2651100"/>
            <a:ext cx="8982600" cy="24117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11"/>
          <p:cNvSpPr txBox="1">
            <a:spLocks noGrp="1"/>
          </p:cNvSpPr>
          <p:nvPr>
            <p:ph type="title" hasCustomPrompt="1"/>
          </p:nvPr>
        </p:nvSpPr>
        <p:spPr>
          <a:xfrm>
            <a:off x="311700" y="743001"/>
            <a:ext cx="8520600" cy="20064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Font typeface="Source Sans Pro"/>
              <a:buNone/>
              <a:defRPr sz="12000">
                <a:latin typeface="Source Sans Pro"/>
                <a:ea typeface="Source Sans Pro"/>
                <a:cs typeface="Source Sans Pro"/>
                <a:sym typeface="Source Sans Pro"/>
              </a:defRPr>
            </a:lvl1pPr>
            <a:lvl2pPr lvl="1" algn="ctr">
              <a:spcBef>
                <a:spcPts val="0"/>
              </a:spcBef>
              <a:spcAft>
                <a:spcPts val="0"/>
              </a:spcAft>
              <a:buSzPts val="12000"/>
              <a:buFont typeface="Source Sans Pro"/>
              <a:buNone/>
              <a:defRPr sz="12000">
                <a:latin typeface="Source Sans Pro"/>
                <a:ea typeface="Source Sans Pro"/>
                <a:cs typeface="Source Sans Pro"/>
                <a:sym typeface="Source Sans Pro"/>
              </a:defRPr>
            </a:lvl2pPr>
            <a:lvl3pPr lvl="2" algn="ctr">
              <a:spcBef>
                <a:spcPts val="0"/>
              </a:spcBef>
              <a:spcAft>
                <a:spcPts val="0"/>
              </a:spcAft>
              <a:buSzPts val="12000"/>
              <a:buFont typeface="Source Sans Pro"/>
              <a:buNone/>
              <a:defRPr sz="12000">
                <a:latin typeface="Source Sans Pro"/>
                <a:ea typeface="Source Sans Pro"/>
                <a:cs typeface="Source Sans Pro"/>
                <a:sym typeface="Source Sans Pro"/>
              </a:defRPr>
            </a:lvl3pPr>
            <a:lvl4pPr lvl="3" algn="ctr">
              <a:spcBef>
                <a:spcPts val="0"/>
              </a:spcBef>
              <a:spcAft>
                <a:spcPts val="0"/>
              </a:spcAft>
              <a:buSzPts val="12000"/>
              <a:buFont typeface="Source Sans Pro"/>
              <a:buNone/>
              <a:defRPr sz="12000">
                <a:latin typeface="Source Sans Pro"/>
                <a:ea typeface="Source Sans Pro"/>
                <a:cs typeface="Source Sans Pro"/>
                <a:sym typeface="Source Sans Pro"/>
              </a:defRPr>
            </a:lvl4pPr>
            <a:lvl5pPr lvl="4" algn="ctr">
              <a:spcBef>
                <a:spcPts val="0"/>
              </a:spcBef>
              <a:spcAft>
                <a:spcPts val="0"/>
              </a:spcAft>
              <a:buSzPts val="12000"/>
              <a:buFont typeface="Source Sans Pro"/>
              <a:buNone/>
              <a:defRPr sz="12000">
                <a:latin typeface="Source Sans Pro"/>
                <a:ea typeface="Source Sans Pro"/>
                <a:cs typeface="Source Sans Pro"/>
                <a:sym typeface="Source Sans Pro"/>
              </a:defRPr>
            </a:lvl5pPr>
            <a:lvl6pPr lvl="5" algn="ctr">
              <a:spcBef>
                <a:spcPts val="0"/>
              </a:spcBef>
              <a:spcAft>
                <a:spcPts val="0"/>
              </a:spcAft>
              <a:buSzPts val="12000"/>
              <a:buFont typeface="Source Sans Pro"/>
              <a:buNone/>
              <a:defRPr sz="12000">
                <a:latin typeface="Source Sans Pro"/>
                <a:ea typeface="Source Sans Pro"/>
                <a:cs typeface="Source Sans Pro"/>
                <a:sym typeface="Source Sans Pro"/>
              </a:defRPr>
            </a:lvl6pPr>
            <a:lvl7pPr lvl="6" algn="ctr">
              <a:spcBef>
                <a:spcPts val="0"/>
              </a:spcBef>
              <a:spcAft>
                <a:spcPts val="0"/>
              </a:spcAft>
              <a:buSzPts val="12000"/>
              <a:buFont typeface="Source Sans Pro"/>
              <a:buNone/>
              <a:defRPr sz="12000">
                <a:latin typeface="Source Sans Pro"/>
                <a:ea typeface="Source Sans Pro"/>
                <a:cs typeface="Source Sans Pro"/>
                <a:sym typeface="Source Sans Pro"/>
              </a:defRPr>
            </a:lvl7pPr>
            <a:lvl8pPr lvl="7" algn="ctr">
              <a:spcBef>
                <a:spcPts val="0"/>
              </a:spcBef>
              <a:spcAft>
                <a:spcPts val="0"/>
              </a:spcAft>
              <a:buSzPts val="12000"/>
              <a:buFont typeface="Source Sans Pro"/>
              <a:buNone/>
              <a:defRPr sz="12000">
                <a:latin typeface="Source Sans Pro"/>
                <a:ea typeface="Source Sans Pro"/>
                <a:cs typeface="Source Sans Pro"/>
                <a:sym typeface="Source Sans Pro"/>
              </a:defRPr>
            </a:lvl8pPr>
            <a:lvl9pPr lvl="8" algn="ctr">
              <a:spcBef>
                <a:spcPts val="0"/>
              </a:spcBef>
              <a:spcAft>
                <a:spcPts val="0"/>
              </a:spcAft>
              <a:buSzPts val="12000"/>
              <a:buFont typeface="Source Sans Pro"/>
              <a:buNone/>
              <a:defRPr sz="12000">
                <a:latin typeface="Source Sans Pro"/>
                <a:ea typeface="Source Sans Pro"/>
                <a:cs typeface="Source Sans Pro"/>
                <a:sym typeface="Source Sans Pro"/>
              </a:defRPr>
            </a:lvl9pPr>
          </a:lstStyle>
          <a:p>
            <a:r>
              <a:t>xx%</a:t>
            </a:r>
          </a:p>
        </p:txBody>
      </p:sp>
      <p:sp>
        <p:nvSpPr>
          <p:cNvPr id="50" name="Google Shape;50;p11"/>
          <p:cNvSpPr txBox="1">
            <a:spLocks noGrp="1"/>
          </p:cNvSpPr>
          <p:nvPr>
            <p:ph type="body" idx="1"/>
          </p:nvPr>
        </p:nvSpPr>
        <p:spPr>
          <a:xfrm>
            <a:off x="311700" y="2845182"/>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Clr>
                <a:srgbClr val="434343"/>
              </a:buClr>
              <a:buSzPts val="1800"/>
              <a:buChar char="●"/>
              <a:defRPr>
                <a:solidFill>
                  <a:srgbClr val="434343"/>
                </a:solidFill>
              </a:defRPr>
            </a:lvl1pPr>
            <a:lvl2pPr marL="914400" lvl="1" indent="-317500" algn="ctr">
              <a:spcBef>
                <a:spcPts val="1600"/>
              </a:spcBef>
              <a:spcAft>
                <a:spcPts val="0"/>
              </a:spcAft>
              <a:buClr>
                <a:srgbClr val="434343"/>
              </a:buClr>
              <a:buSzPts val="1400"/>
              <a:buChar char="○"/>
              <a:defRPr>
                <a:solidFill>
                  <a:srgbClr val="434343"/>
                </a:solidFill>
              </a:defRPr>
            </a:lvl2pPr>
            <a:lvl3pPr marL="1371600" lvl="2" indent="-317500" algn="ctr">
              <a:spcBef>
                <a:spcPts val="1600"/>
              </a:spcBef>
              <a:spcAft>
                <a:spcPts val="0"/>
              </a:spcAft>
              <a:buClr>
                <a:srgbClr val="434343"/>
              </a:buClr>
              <a:buSzPts val="1400"/>
              <a:buChar char="■"/>
              <a:defRPr>
                <a:solidFill>
                  <a:srgbClr val="434343"/>
                </a:solidFill>
              </a:defRPr>
            </a:lvl3pPr>
            <a:lvl4pPr marL="1828800" lvl="3" indent="-317500" algn="ctr">
              <a:spcBef>
                <a:spcPts val="1600"/>
              </a:spcBef>
              <a:spcAft>
                <a:spcPts val="0"/>
              </a:spcAft>
              <a:buClr>
                <a:srgbClr val="434343"/>
              </a:buClr>
              <a:buSzPts val="1400"/>
              <a:buChar char="●"/>
              <a:defRPr>
                <a:solidFill>
                  <a:srgbClr val="434343"/>
                </a:solidFill>
              </a:defRPr>
            </a:lvl4pPr>
            <a:lvl5pPr marL="2286000" lvl="4" indent="-317500" algn="ctr">
              <a:spcBef>
                <a:spcPts val="1600"/>
              </a:spcBef>
              <a:spcAft>
                <a:spcPts val="0"/>
              </a:spcAft>
              <a:buClr>
                <a:srgbClr val="434343"/>
              </a:buClr>
              <a:buSzPts val="1400"/>
              <a:buChar char="○"/>
              <a:defRPr>
                <a:solidFill>
                  <a:srgbClr val="434343"/>
                </a:solidFill>
              </a:defRPr>
            </a:lvl5pPr>
            <a:lvl6pPr marL="2743200" lvl="5" indent="-317500" algn="ctr">
              <a:spcBef>
                <a:spcPts val="1600"/>
              </a:spcBef>
              <a:spcAft>
                <a:spcPts val="0"/>
              </a:spcAft>
              <a:buClr>
                <a:schemeClr val="lt1"/>
              </a:buClr>
              <a:buSzPts val="1400"/>
              <a:buChar char="■"/>
              <a:defRPr>
                <a:solidFill>
                  <a:schemeClr val="lt1"/>
                </a:solidFill>
              </a:defRPr>
            </a:lvl6pPr>
            <a:lvl7pPr marL="3200400" lvl="6" indent="-317500" algn="ctr">
              <a:spcBef>
                <a:spcPts val="1600"/>
              </a:spcBef>
              <a:spcAft>
                <a:spcPts val="0"/>
              </a:spcAft>
              <a:buClr>
                <a:schemeClr val="lt1"/>
              </a:buClr>
              <a:buSzPts val="1400"/>
              <a:buChar char="●"/>
              <a:defRPr>
                <a:solidFill>
                  <a:schemeClr val="lt1"/>
                </a:solidFill>
              </a:defRPr>
            </a:lvl7pPr>
            <a:lvl8pPr marL="3657600" lvl="7" indent="-317500" algn="ctr">
              <a:spcBef>
                <a:spcPts val="1600"/>
              </a:spcBef>
              <a:spcAft>
                <a:spcPts val="0"/>
              </a:spcAft>
              <a:buClr>
                <a:schemeClr val="lt1"/>
              </a:buClr>
              <a:buSzPts val="1400"/>
              <a:buChar char="○"/>
              <a:defRPr>
                <a:solidFill>
                  <a:schemeClr val="lt1"/>
                </a:solidFill>
              </a:defRPr>
            </a:lvl8pPr>
            <a:lvl9pPr marL="4114800" lvl="8" indent="-317500" algn="ctr">
              <a:spcBef>
                <a:spcPts val="1600"/>
              </a:spcBef>
              <a:spcAft>
                <a:spcPts val="1600"/>
              </a:spcAft>
              <a:buClr>
                <a:schemeClr val="lt1"/>
              </a:buClr>
              <a:buSzPts val="1400"/>
              <a:buChar char="■"/>
              <a:defRPr>
                <a:solidFill>
                  <a:schemeClr val="lt1"/>
                </a:solidFill>
              </a:defRPr>
            </a:lvl9pPr>
          </a:lstStyle>
          <a:p>
            <a:endParaRPr/>
          </a:p>
        </p:txBody>
      </p:sp>
      <p:sp>
        <p:nvSpPr>
          <p:cNvPr id="51" name="Google Shape;51;p11"/>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2"/>
        <p:cNvGrpSpPr/>
        <p:nvPr/>
      </p:nvGrpSpPr>
      <p:grpSpPr>
        <a:xfrm>
          <a:off x="0" y="0"/>
          <a:ext cx="0" cy="0"/>
          <a:chOff x="0" y="0"/>
          <a:chExt cx="0" cy="0"/>
        </a:xfrm>
      </p:grpSpPr>
      <p:sp>
        <p:nvSpPr>
          <p:cNvPr id="53" name="Google Shape;53;p12"/>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lu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6234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1pPr>
            <a:lvl2pPr lvl="1">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2pPr>
            <a:lvl3pPr lvl="2">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3pPr>
            <a:lvl4pPr lvl="3">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4pPr>
            <a:lvl5pPr lvl="4">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5pPr>
            <a:lvl6pPr lvl="5">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6pPr>
            <a:lvl7pPr lvl="6">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7pPr>
            <a:lvl8pPr lvl="7">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8pPr>
            <a:lvl9pPr lvl="8">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rgbClr val="434343"/>
              </a:buClr>
              <a:buSzPts val="1800"/>
              <a:buFont typeface="Source Sans Pro"/>
              <a:buChar char="●"/>
              <a:defRPr sz="1800">
                <a:solidFill>
                  <a:srgbClr val="434343"/>
                </a:solidFill>
                <a:latin typeface="Source Sans Pro"/>
                <a:ea typeface="Source Sans Pro"/>
                <a:cs typeface="Source Sans Pro"/>
                <a:sym typeface="Source Sans Pro"/>
              </a:defRPr>
            </a:lvl1pPr>
            <a:lvl2pPr marL="914400" lvl="1" indent="-317500">
              <a:lnSpc>
                <a:spcPct val="115000"/>
              </a:lnSpc>
              <a:spcBef>
                <a:spcPts val="1600"/>
              </a:spcBef>
              <a:spcAft>
                <a:spcPts val="0"/>
              </a:spcAft>
              <a:buClr>
                <a:srgbClr val="434343"/>
              </a:buClr>
              <a:buSzPts val="1400"/>
              <a:buFont typeface="Source Sans Pro"/>
              <a:buChar char="○"/>
              <a:defRPr>
                <a:solidFill>
                  <a:srgbClr val="434343"/>
                </a:solidFill>
                <a:latin typeface="Source Sans Pro"/>
                <a:ea typeface="Source Sans Pro"/>
                <a:cs typeface="Source Sans Pro"/>
                <a:sym typeface="Source Sans Pro"/>
              </a:defRPr>
            </a:lvl2pPr>
            <a:lvl3pPr marL="1371600" lvl="2" indent="-317500">
              <a:lnSpc>
                <a:spcPct val="115000"/>
              </a:lnSpc>
              <a:spcBef>
                <a:spcPts val="1600"/>
              </a:spcBef>
              <a:spcAft>
                <a:spcPts val="0"/>
              </a:spcAft>
              <a:buClr>
                <a:srgbClr val="434343"/>
              </a:buClr>
              <a:buSzPts val="1400"/>
              <a:buFont typeface="Source Sans Pro"/>
              <a:buChar char="■"/>
              <a:defRPr>
                <a:solidFill>
                  <a:srgbClr val="434343"/>
                </a:solidFill>
                <a:latin typeface="Source Sans Pro"/>
                <a:ea typeface="Source Sans Pro"/>
                <a:cs typeface="Source Sans Pro"/>
                <a:sym typeface="Source Sans Pro"/>
              </a:defRPr>
            </a:lvl3pPr>
            <a:lvl4pPr marL="1828800" lvl="3" indent="-317500">
              <a:lnSpc>
                <a:spcPct val="115000"/>
              </a:lnSpc>
              <a:spcBef>
                <a:spcPts val="1600"/>
              </a:spcBef>
              <a:spcAft>
                <a:spcPts val="0"/>
              </a:spcAft>
              <a:buClr>
                <a:srgbClr val="434343"/>
              </a:buClr>
              <a:buSzPts val="1400"/>
              <a:buFont typeface="Source Sans Pro"/>
              <a:buChar char="●"/>
              <a:defRPr>
                <a:solidFill>
                  <a:srgbClr val="434343"/>
                </a:solidFill>
                <a:latin typeface="Source Sans Pro"/>
                <a:ea typeface="Source Sans Pro"/>
                <a:cs typeface="Source Sans Pro"/>
                <a:sym typeface="Source Sans Pro"/>
              </a:defRPr>
            </a:lvl4pPr>
            <a:lvl5pPr marL="2286000" lvl="4" indent="-317500">
              <a:lnSpc>
                <a:spcPct val="115000"/>
              </a:lnSpc>
              <a:spcBef>
                <a:spcPts val="1600"/>
              </a:spcBef>
              <a:spcAft>
                <a:spcPts val="0"/>
              </a:spcAft>
              <a:buClr>
                <a:srgbClr val="434343"/>
              </a:buClr>
              <a:buSzPts val="1400"/>
              <a:buFont typeface="Source Sans Pro"/>
              <a:buChar char="○"/>
              <a:defRPr>
                <a:solidFill>
                  <a:srgbClr val="434343"/>
                </a:solidFill>
                <a:latin typeface="Source Sans Pro"/>
                <a:ea typeface="Source Sans Pro"/>
                <a:cs typeface="Source Sans Pro"/>
                <a:sym typeface="Source Sans Pro"/>
              </a:defRPr>
            </a:lvl5pPr>
            <a:lvl6pPr marL="2743200" lvl="5" indent="-317500">
              <a:lnSpc>
                <a:spcPct val="115000"/>
              </a:lnSpc>
              <a:spcBef>
                <a:spcPts val="1600"/>
              </a:spcBef>
              <a:spcAft>
                <a:spcPts val="0"/>
              </a:spcAft>
              <a:buClr>
                <a:srgbClr val="434343"/>
              </a:buClr>
              <a:buSzPts val="1400"/>
              <a:buFont typeface="Source Sans Pro"/>
              <a:buChar char="■"/>
              <a:defRPr>
                <a:solidFill>
                  <a:srgbClr val="434343"/>
                </a:solidFill>
                <a:latin typeface="Source Sans Pro"/>
                <a:ea typeface="Source Sans Pro"/>
                <a:cs typeface="Source Sans Pro"/>
                <a:sym typeface="Source Sans Pro"/>
              </a:defRPr>
            </a:lvl6pPr>
            <a:lvl7pPr marL="3200400" lvl="6" indent="-317500">
              <a:lnSpc>
                <a:spcPct val="115000"/>
              </a:lnSpc>
              <a:spcBef>
                <a:spcPts val="1600"/>
              </a:spcBef>
              <a:spcAft>
                <a:spcPts val="0"/>
              </a:spcAft>
              <a:buClr>
                <a:srgbClr val="434343"/>
              </a:buClr>
              <a:buSzPts val="1400"/>
              <a:buFont typeface="Source Sans Pro"/>
              <a:buChar char="●"/>
              <a:defRPr>
                <a:solidFill>
                  <a:srgbClr val="434343"/>
                </a:solidFill>
                <a:latin typeface="Source Sans Pro"/>
                <a:ea typeface="Source Sans Pro"/>
                <a:cs typeface="Source Sans Pro"/>
                <a:sym typeface="Source Sans Pro"/>
              </a:defRPr>
            </a:lvl7pPr>
            <a:lvl8pPr marL="3657600" lvl="7" indent="-317500">
              <a:lnSpc>
                <a:spcPct val="115000"/>
              </a:lnSpc>
              <a:spcBef>
                <a:spcPts val="1600"/>
              </a:spcBef>
              <a:spcAft>
                <a:spcPts val="0"/>
              </a:spcAft>
              <a:buClr>
                <a:srgbClr val="434343"/>
              </a:buClr>
              <a:buSzPts val="1400"/>
              <a:buFont typeface="Source Sans Pro"/>
              <a:buChar char="○"/>
              <a:defRPr>
                <a:solidFill>
                  <a:srgbClr val="434343"/>
                </a:solidFill>
                <a:latin typeface="Source Sans Pro"/>
                <a:ea typeface="Source Sans Pro"/>
                <a:cs typeface="Source Sans Pro"/>
                <a:sym typeface="Source Sans Pro"/>
              </a:defRPr>
            </a:lvl8pPr>
            <a:lvl9pPr marL="4114800" lvl="8" indent="-317500">
              <a:lnSpc>
                <a:spcPct val="115000"/>
              </a:lnSpc>
              <a:spcBef>
                <a:spcPts val="1600"/>
              </a:spcBef>
              <a:spcAft>
                <a:spcPts val="1600"/>
              </a:spcAft>
              <a:buClr>
                <a:srgbClr val="434343"/>
              </a:buClr>
              <a:buSzPts val="1400"/>
              <a:buFont typeface="Source Sans Pro"/>
              <a:buChar char="■"/>
              <a:defRPr>
                <a:solidFill>
                  <a:srgbClr val="434343"/>
                </a:solidFill>
                <a:latin typeface="Source Sans Pro"/>
                <a:ea typeface="Source Sans Pro"/>
                <a:cs typeface="Source Sans Pro"/>
                <a:sym typeface="Source Sans Pro"/>
              </a:defRPr>
            </a:lvl9pPr>
          </a:lstStyle>
          <a:p>
            <a:endParaRPr/>
          </a:p>
        </p:txBody>
      </p:sp>
      <p:sp>
        <p:nvSpPr>
          <p:cNvPr id="8" name="Google Shape;8;p1"/>
          <p:cNvSpPr txBox="1">
            <a:spLocks noGrp="1"/>
          </p:cNvSpPr>
          <p:nvPr>
            <p:ph type="sldNum" idx="12"/>
          </p:nvPr>
        </p:nvSpPr>
        <p:spPr>
          <a:xfrm>
            <a:off x="8497999" y="4688759"/>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lt2"/>
                </a:solidFill>
                <a:latin typeface="Source Sans Pro"/>
                <a:ea typeface="Source Sans Pro"/>
                <a:cs typeface="Source Sans Pro"/>
                <a:sym typeface="Source Sans Pro"/>
              </a:defRPr>
            </a:lvl1pPr>
            <a:lvl2pPr lvl="1" algn="r">
              <a:buNone/>
              <a:defRPr sz="1000">
                <a:solidFill>
                  <a:schemeClr val="lt2"/>
                </a:solidFill>
                <a:latin typeface="Source Sans Pro"/>
                <a:ea typeface="Source Sans Pro"/>
                <a:cs typeface="Source Sans Pro"/>
                <a:sym typeface="Source Sans Pro"/>
              </a:defRPr>
            </a:lvl2pPr>
            <a:lvl3pPr lvl="2" algn="r">
              <a:buNone/>
              <a:defRPr sz="1000">
                <a:solidFill>
                  <a:schemeClr val="lt2"/>
                </a:solidFill>
                <a:latin typeface="Source Sans Pro"/>
                <a:ea typeface="Source Sans Pro"/>
                <a:cs typeface="Source Sans Pro"/>
                <a:sym typeface="Source Sans Pro"/>
              </a:defRPr>
            </a:lvl3pPr>
            <a:lvl4pPr lvl="3" algn="r">
              <a:buNone/>
              <a:defRPr sz="1000">
                <a:solidFill>
                  <a:schemeClr val="lt2"/>
                </a:solidFill>
                <a:latin typeface="Source Sans Pro"/>
                <a:ea typeface="Source Sans Pro"/>
                <a:cs typeface="Source Sans Pro"/>
                <a:sym typeface="Source Sans Pro"/>
              </a:defRPr>
            </a:lvl4pPr>
            <a:lvl5pPr lvl="4" algn="r">
              <a:buNone/>
              <a:defRPr sz="1000">
                <a:solidFill>
                  <a:schemeClr val="lt2"/>
                </a:solidFill>
                <a:latin typeface="Source Sans Pro"/>
                <a:ea typeface="Source Sans Pro"/>
                <a:cs typeface="Source Sans Pro"/>
                <a:sym typeface="Source Sans Pro"/>
              </a:defRPr>
            </a:lvl5pPr>
            <a:lvl6pPr lvl="5" algn="r">
              <a:buNone/>
              <a:defRPr sz="1000">
                <a:solidFill>
                  <a:schemeClr val="lt2"/>
                </a:solidFill>
                <a:latin typeface="Source Sans Pro"/>
                <a:ea typeface="Source Sans Pro"/>
                <a:cs typeface="Source Sans Pro"/>
                <a:sym typeface="Source Sans Pro"/>
              </a:defRPr>
            </a:lvl6pPr>
            <a:lvl7pPr lvl="6" algn="r">
              <a:buNone/>
              <a:defRPr sz="1000">
                <a:solidFill>
                  <a:schemeClr val="lt2"/>
                </a:solidFill>
                <a:latin typeface="Source Sans Pro"/>
                <a:ea typeface="Source Sans Pro"/>
                <a:cs typeface="Source Sans Pro"/>
                <a:sym typeface="Source Sans Pro"/>
              </a:defRPr>
            </a:lvl7pPr>
            <a:lvl8pPr lvl="7" algn="r">
              <a:buNone/>
              <a:defRPr sz="1000">
                <a:solidFill>
                  <a:schemeClr val="lt2"/>
                </a:solidFill>
                <a:latin typeface="Source Sans Pro"/>
                <a:ea typeface="Source Sans Pro"/>
                <a:cs typeface="Source Sans Pro"/>
                <a:sym typeface="Source Sans Pro"/>
              </a:defRPr>
            </a:lvl8pPr>
            <a:lvl9pPr lvl="8" algn="r">
              <a:buNone/>
              <a:defRPr sz="1000">
                <a:solidFill>
                  <a:schemeClr val="lt2"/>
                </a:solidFill>
                <a:latin typeface="Source Sans Pro"/>
                <a:ea typeface="Source Sans Pro"/>
                <a:cs typeface="Source Sans Pro"/>
                <a:sym typeface="Source Sans Pr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hyperlink" Target="https://en.wikipedia.org/wiki/Markup_language"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hyperlink" Target="https://www.semrush.com/blog/markup-language/" TargetMode="Externa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hyperlink" Target="https://validator.w3.org/nu" TargetMode="External"/><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hyperlink" Target="http://www.w3.org/TR/html4/strict.dtd" TargetMode="External"/><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hyperlink" Target="https://www.freecodecamp.org/news/what-is-the-doctype-declaration-in-html/" TargetMode="External"/><Relationship Id="rId4" Type="http://schemas.openxmlformats.org/officeDocument/2006/relationships/hyperlink" Target="https://developer.mozilla.org/en-US/docs/Web/HTML/Guides/Quirks_mode_and_standards_mode"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hyperlink" Target="https://developer.mozilla.org/en-US/docs/Learn_web_development/Core/Structuring_content/Webpage_metadata" TargetMode="External"/><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5.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5.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hyperlink" Target="https://developer.mozilla.org/en-US/docs/Web/HTML/Reference/Global_attributes/data-" TargetMode="External"/><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9.xml"/><Relationship Id="rId1" Type="http://schemas.openxmlformats.org/officeDocument/2006/relationships/slideLayout" Target="../slideLayouts/slideLayout5.xml"/><Relationship Id="rId5" Type="http://schemas.openxmlformats.org/officeDocument/2006/relationships/image" Target="../media/image28.png"/><Relationship Id="rId4" Type="http://schemas.openxmlformats.org/officeDocument/2006/relationships/image" Target="../media/image27.png"/></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0.xml"/><Relationship Id="rId1" Type="http://schemas.openxmlformats.org/officeDocument/2006/relationships/slideLayout" Target="../slideLayouts/slideLayout5.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1.xml"/><Relationship Id="rId1" Type="http://schemas.openxmlformats.org/officeDocument/2006/relationships/slideLayout" Target="../slideLayouts/slideLayout5.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3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2.xml"/><Relationship Id="rId1" Type="http://schemas.openxmlformats.org/officeDocument/2006/relationships/slideLayout" Target="../slideLayouts/slideLayout5.xml"/><Relationship Id="rId4" Type="http://schemas.openxmlformats.org/officeDocument/2006/relationships/image" Target="../media/image38.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9.xml"/><Relationship Id="rId1" Type="http://schemas.openxmlformats.org/officeDocument/2006/relationships/slideLayout" Target="../slideLayouts/slideLayout3.xml"/><Relationship Id="rId4" Type="http://schemas.openxmlformats.org/officeDocument/2006/relationships/image" Target="../media/image40.png"/></Relationships>
</file>

<file path=ppt/slides/_rels/slide4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0.xml"/><Relationship Id="rId1" Type="http://schemas.openxmlformats.org/officeDocument/2006/relationships/slideLayout" Target="../slideLayouts/slideLayout3.xml"/><Relationship Id="rId4" Type="http://schemas.openxmlformats.org/officeDocument/2006/relationships/image" Target="../media/image42.png"/></Relationships>
</file>

<file path=ppt/slides/_rels/slide4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1.xml"/><Relationship Id="rId1" Type="http://schemas.openxmlformats.org/officeDocument/2006/relationships/slideLayout" Target="../slideLayouts/slideLayout3.xml"/><Relationship Id="rId4" Type="http://schemas.openxmlformats.org/officeDocument/2006/relationships/image" Target="../media/image44.png"/></Relationships>
</file>

<file path=ppt/slides/_rels/slide4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2.xml"/><Relationship Id="rId1" Type="http://schemas.openxmlformats.org/officeDocument/2006/relationships/slideLayout" Target="../slideLayouts/slideLayout5.xml"/><Relationship Id="rId4" Type="http://schemas.openxmlformats.org/officeDocument/2006/relationships/image" Target="../media/image46.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5.xml"/><Relationship Id="rId1" Type="http://schemas.openxmlformats.org/officeDocument/2006/relationships/slideLayout" Target="../slideLayouts/slideLayout5.xml"/><Relationship Id="rId4" Type="http://schemas.openxmlformats.org/officeDocument/2006/relationships/image" Target="../media/image48.png"/></Relationships>
</file>

<file path=ppt/slides/_rels/slide4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6.xml"/><Relationship Id="rId1" Type="http://schemas.openxmlformats.org/officeDocument/2006/relationships/slideLayout" Target="../slideLayouts/slideLayout5.xml"/><Relationship Id="rId4" Type="http://schemas.openxmlformats.org/officeDocument/2006/relationships/image" Target="../media/image50.png"/></Relationships>
</file>

<file path=ppt/slides/_rels/slide4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7.xml"/><Relationship Id="rId1" Type="http://schemas.openxmlformats.org/officeDocument/2006/relationships/slideLayout" Target="../slideLayouts/slideLayout5.xml"/><Relationship Id="rId4" Type="http://schemas.openxmlformats.org/officeDocument/2006/relationships/image" Target="../media/image52.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2.xml"/><Relationship Id="rId1" Type="http://schemas.openxmlformats.org/officeDocument/2006/relationships/slideLayout" Target="../slideLayouts/slideLayout5.xml"/><Relationship Id="rId5" Type="http://schemas.openxmlformats.org/officeDocument/2006/relationships/image" Target="../media/image56.png"/><Relationship Id="rId4" Type="http://schemas.openxmlformats.org/officeDocument/2006/relationships/image" Target="../media/image55.png"/></Relationships>
</file>

<file path=ppt/slides/_rels/slide5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3.xml"/><Relationship Id="rId1" Type="http://schemas.openxmlformats.org/officeDocument/2006/relationships/slideLayout" Target="../slideLayouts/slideLayout3.xml"/><Relationship Id="rId4" Type="http://schemas.openxmlformats.org/officeDocument/2006/relationships/image" Target="../media/image58.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55.xml"/><Relationship Id="rId1" Type="http://schemas.openxmlformats.org/officeDocument/2006/relationships/slideLayout" Target="../slideLayouts/slideLayout5.xml"/><Relationship Id="rId4" Type="http://schemas.openxmlformats.org/officeDocument/2006/relationships/image" Target="../media/image60.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57.xml"/><Relationship Id="rId1" Type="http://schemas.openxmlformats.org/officeDocument/2006/relationships/slideLayout" Target="../slideLayouts/slideLayout5.xml"/><Relationship Id="rId4" Type="http://schemas.openxmlformats.org/officeDocument/2006/relationships/image" Target="../media/image62.png"/></Relationships>
</file>

<file path=ppt/slides/_rels/slide5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58.xml"/><Relationship Id="rId1" Type="http://schemas.openxmlformats.org/officeDocument/2006/relationships/slideLayout" Target="../slideLayouts/slideLayout5.xml"/><Relationship Id="rId4" Type="http://schemas.openxmlformats.org/officeDocument/2006/relationships/image" Target="../media/image64.png"/></Relationships>
</file>

<file path=ppt/slides/_rels/slide59.xml.rels><?xml version="1.0" encoding="UTF-8" standalone="yes"?>
<Relationships xmlns="http://schemas.openxmlformats.org/package/2006/relationships"><Relationship Id="rId3" Type="http://schemas.openxmlformats.org/officeDocument/2006/relationships/hyperlink" Target="https://developer.mozilla.org/en-US/docs/Web/HTML/Reference/Elements/picture" TargetMode="External"/><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62.xml"/><Relationship Id="rId1" Type="http://schemas.openxmlformats.org/officeDocument/2006/relationships/slideLayout" Target="../slideLayouts/slideLayout5.xml"/><Relationship Id="rId4" Type="http://schemas.openxmlformats.org/officeDocument/2006/relationships/image" Target="../media/image66.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64.xml"/><Relationship Id="rId1" Type="http://schemas.openxmlformats.org/officeDocument/2006/relationships/slideLayout" Target="../slideLayouts/slideLayout5.xml"/><Relationship Id="rId4" Type="http://schemas.openxmlformats.org/officeDocument/2006/relationships/image" Target="../media/image68.png"/></Relationships>
</file>

<file path=ppt/slides/_rels/slide6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65.xml"/><Relationship Id="rId1" Type="http://schemas.openxmlformats.org/officeDocument/2006/relationships/slideLayout" Target="../slideLayouts/slideLayout5.xml"/><Relationship Id="rId4" Type="http://schemas.openxmlformats.org/officeDocument/2006/relationships/image" Target="../media/image70.png"/></Relationships>
</file>

<file path=ppt/slides/_rels/slide6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66.xml"/><Relationship Id="rId1" Type="http://schemas.openxmlformats.org/officeDocument/2006/relationships/slideLayout" Target="../slideLayouts/slideLayout5.xml"/><Relationship Id="rId4" Type="http://schemas.openxmlformats.org/officeDocument/2006/relationships/image" Target="../media/image72.png"/></Relationships>
</file>

<file path=ppt/slides/_rels/slide6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67.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hyperlink" Target="https://docs.apigee.com/api-platform/publish/portal/markdown-reference?hl=zh-tw" TargetMode="Externa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6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p13"/>
          <p:cNvSpPr txBox="1">
            <a:spLocks noGrp="1"/>
          </p:cNvSpPr>
          <p:nvPr>
            <p:ph type="ctrTitle"/>
          </p:nvPr>
        </p:nvSpPr>
        <p:spPr>
          <a:xfrm>
            <a:off x="485875" y="264475"/>
            <a:ext cx="8183700" cy="1281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HTML5 Basics</a:t>
            </a:r>
            <a:endParaRPr/>
          </a:p>
        </p:txBody>
      </p:sp>
      <p:sp>
        <p:nvSpPr>
          <p:cNvPr id="59" name="Google Shape;59;p13"/>
          <p:cNvSpPr txBox="1">
            <a:spLocks noGrp="1"/>
          </p:cNvSpPr>
          <p:nvPr>
            <p:ph type="subTitle" idx="1"/>
          </p:nvPr>
        </p:nvSpPr>
        <p:spPr>
          <a:xfrm>
            <a:off x="485875" y="1595275"/>
            <a:ext cx="8183700" cy="1003800"/>
          </a:xfrm>
          <a:prstGeom prst="rect">
            <a:avLst/>
          </a:prstGeom>
        </p:spPr>
        <p:txBody>
          <a:bodyPr spcFirstLastPara="1" wrap="square" lIns="91425" tIns="91425" rIns="91425" bIns="91425" anchor="t" anchorCtr="0">
            <a:normAutofit lnSpcReduction="10000"/>
          </a:bodyPr>
          <a:lstStyle/>
          <a:p>
            <a:pPr marL="0" lvl="0" indent="0" algn="l" rtl="0">
              <a:lnSpc>
                <a:spcPct val="115000"/>
              </a:lnSpc>
              <a:spcBef>
                <a:spcPts val="0"/>
              </a:spcBef>
              <a:spcAft>
                <a:spcPts val="0"/>
              </a:spcAft>
              <a:buNone/>
            </a:pPr>
            <a:r>
              <a:rPr lang="en"/>
              <a:t>Ci-Wei Lan 藍啟維</a:t>
            </a:r>
            <a:endParaRPr/>
          </a:p>
          <a:p>
            <a:pPr marL="0" lvl="0" indent="0" algn="l" rtl="0">
              <a:lnSpc>
                <a:spcPct val="150000"/>
              </a:lnSpc>
              <a:spcBef>
                <a:spcPts val="0"/>
              </a:spcBef>
              <a:spcAft>
                <a:spcPts val="0"/>
              </a:spcAft>
              <a:buNone/>
            </a:pPr>
            <a:r>
              <a:rPr lang="en" sz="2000"/>
              <a:t>Dept. of CSE, NTOU</a:t>
            </a:r>
            <a:endParaRPr sz="2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Outline</a:t>
            </a:r>
            <a:endParaRPr/>
          </a:p>
        </p:txBody>
      </p:sp>
      <p:sp>
        <p:nvSpPr>
          <p:cNvPr id="65" name="Google Shape;65;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Tx/>
              <a:buSzPts val="1800"/>
              <a:buChar char="●"/>
            </a:pPr>
            <a:r>
              <a:rPr lang="en" dirty="0">
                <a:solidFill>
                  <a:schemeClr val="bg2"/>
                </a:solidFill>
              </a:rPr>
              <a:t>Understand foundational components of HTML5 documents</a:t>
            </a:r>
            <a:endParaRPr dirty="0">
              <a:solidFill>
                <a:schemeClr val="bg2"/>
              </a:solidFill>
            </a:endParaRPr>
          </a:p>
          <a:p>
            <a:pPr lvl="1" indent="-342900">
              <a:spcBef>
                <a:spcPts val="0"/>
              </a:spcBef>
              <a:buClrTx/>
              <a:buSzPts val="1800"/>
              <a:buChar char="●"/>
            </a:pPr>
            <a:r>
              <a:rPr lang="en-US" dirty="0">
                <a:solidFill>
                  <a:schemeClr val="bg2"/>
                </a:solidFill>
              </a:rPr>
              <a:t>Create and use hyperlinks to help users navigate web pages.</a:t>
            </a:r>
          </a:p>
          <a:p>
            <a:pPr lvl="1" indent="-342900">
              <a:spcBef>
                <a:spcPts val="0"/>
              </a:spcBef>
              <a:buClrTx/>
              <a:buSzPts val="1800"/>
              <a:buChar char="●"/>
            </a:pPr>
            <a:r>
              <a:rPr lang="en-US" dirty="0">
                <a:solidFill>
                  <a:schemeClr val="bg2"/>
                </a:solidFill>
              </a:rPr>
              <a:t>Mark up lists of information.</a:t>
            </a:r>
          </a:p>
          <a:p>
            <a:pPr lvl="1" indent="-342900">
              <a:spcBef>
                <a:spcPts val="0"/>
              </a:spcBef>
              <a:buClrTx/>
              <a:buSzPts val="1800"/>
              <a:buChar char="●"/>
            </a:pPr>
            <a:r>
              <a:rPr lang="en-US" dirty="0">
                <a:solidFill>
                  <a:schemeClr val="bg2"/>
                </a:solidFill>
              </a:rPr>
              <a:t>Create tables with rows and columns of data.</a:t>
            </a:r>
            <a:endParaRPr lang="en" dirty="0">
              <a:solidFill>
                <a:schemeClr val="bg2"/>
              </a:solidFill>
            </a:endParaRPr>
          </a:p>
          <a:p>
            <a:pPr marL="457200" lvl="0" indent="-342900" algn="l" rtl="0">
              <a:spcBef>
                <a:spcPts val="0"/>
              </a:spcBef>
              <a:spcAft>
                <a:spcPts val="0"/>
              </a:spcAft>
              <a:buClrTx/>
              <a:buSzPts val="1800"/>
              <a:buChar char="●"/>
            </a:pPr>
            <a:r>
              <a:rPr lang="en" dirty="0">
                <a:solidFill>
                  <a:schemeClr val="bg2"/>
                </a:solidFill>
              </a:rPr>
              <a:t>Use HTML5 to create semantic web pages</a:t>
            </a:r>
          </a:p>
          <a:p>
            <a:pPr marL="457200" lvl="0" indent="-342900" algn="l" rtl="0">
              <a:spcBef>
                <a:spcPts val="0"/>
              </a:spcBef>
              <a:spcAft>
                <a:spcPts val="0"/>
              </a:spcAft>
              <a:buClrTx/>
              <a:buSzPts val="1800"/>
              <a:buChar char="●"/>
            </a:pPr>
            <a:r>
              <a:rPr lang="en-US" altLang="zh-TW" dirty="0">
                <a:solidFill>
                  <a:schemeClr val="bg2"/>
                </a:solidFill>
              </a:rPr>
              <a:t>Code Examples Download</a:t>
            </a:r>
          </a:p>
          <a:p>
            <a:pPr lvl="1" indent="-342900">
              <a:spcBef>
                <a:spcPts val="0"/>
              </a:spcBef>
              <a:buClrTx/>
              <a:buSzPts val="1800"/>
              <a:buChar char="●"/>
            </a:pPr>
            <a:r>
              <a:rPr lang="en-US">
                <a:solidFill>
                  <a:schemeClr val="bg2"/>
                </a:solidFill>
              </a:rPr>
              <a:t>`git clone https://github.com/lancwyy/WebDev.git`</a:t>
            </a:r>
            <a:endParaRPr dirty="0">
              <a:solidFill>
                <a:schemeClr val="bg2"/>
              </a:solidFill>
            </a:endParaRPr>
          </a:p>
        </p:txBody>
      </p:sp>
      <p:sp>
        <p:nvSpPr>
          <p:cNvPr id="66" name="Google Shape;66;p14"/>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5"/>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Hypertext Markup Language (HTML)</a:t>
            </a:r>
            <a:endParaRPr/>
          </a:p>
        </p:txBody>
      </p:sp>
      <p:sp>
        <p:nvSpPr>
          <p:cNvPr id="72" name="Google Shape;72;p15"/>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a:t>
            </a:fld>
            <a:endParaRPr/>
          </a:p>
        </p:txBody>
      </p:sp>
      <p:sp>
        <p:nvSpPr>
          <p:cNvPr id="73" name="Google Shape;73;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Original needs of HTML</a:t>
            </a:r>
            <a:endParaRPr/>
          </a:p>
          <a:p>
            <a:pPr marL="914400" lvl="1" indent="-317500" algn="l" rtl="0">
              <a:spcBef>
                <a:spcPts val="0"/>
              </a:spcBef>
              <a:spcAft>
                <a:spcPts val="0"/>
              </a:spcAft>
              <a:buSzPts val="1400"/>
              <a:buChar char="○"/>
            </a:pPr>
            <a:r>
              <a:rPr lang="en"/>
              <a:t>Hypertext: Allows the creation of cross-document links within files.</a:t>
            </a:r>
            <a:endParaRPr/>
          </a:p>
          <a:p>
            <a:pPr marL="914400" lvl="1" indent="-317500" algn="l" rtl="0">
              <a:spcBef>
                <a:spcPts val="0"/>
              </a:spcBef>
              <a:spcAft>
                <a:spcPts val="0"/>
              </a:spcAft>
              <a:buSzPts val="1400"/>
              <a:buChar char="○"/>
            </a:pPr>
            <a:r>
              <a:rPr lang="en"/>
              <a:t>Markup Language: Uses tags to describe the structure and content of a document.</a:t>
            </a:r>
            <a:endParaRPr/>
          </a:p>
          <a:p>
            <a:pPr marL="914400" lvl="1" indent="-317500" algn="l" rtl="0">
              <a:spcBef>
                <a:spcPts val="0"/>
              </a:spcBef>
              <a:spcAft>
                <a:spcPts val="0"/>
              </a:spcAft>
              <a:buSzPts val="1400"/>
              <a:buChar char="○"/>
            </a:pPr>
            <a:r>
              <a:rPr lang="en"/>
              <a:t>Cross-platform display: Any computer with a browser can display HTML documents.</a:t>
            </a:r>
            <a:endParaRPr/>
          </a:p>
          <a:p>
            <a:pPr marL="457200" lvl="0" indent="-342900" algn="l" rtl="0">
              <a:spcBef>
                <a:spcPts val="0"/>
              </a:spcBef>
              <a:spcAft>
                <a:spcPts val="0"/>
              </a:spcAft>
              <a:buSzPts val="1800"/>
              <a:buChar char="●"/>
            </a:pPr>
            <a:r>
              <a:rPr lang="en"/>
              <a:t>HTML is a declarative language</a:t>
            </a:r>
            <a:endParaRPr/>
          </a:p>
          <a:p>
            <a:pPr marL="457200" lvl="0" indent="-342900" algn="l" rtl="0">
              <a:spcBef>
                <a:spcPts val="0"/>
              </a:spcBef>
              <a:spcAft>
                <a:spcPts val="0"/>
              </a:spcAft>
              <a:buSzPts val="1800"/>
              <a:buChar char="●"/>
            </a:pPr>
            <a:r>
              <a:rPr lang="en"/>
              <a:t>Markup language is a text-encoding system</a:t>
            </a:r>
            <a:endParaRPr/>
          </a:p>
          <a:p>
            <a:pPr marL="914400" lvl="1" indent="-317500" algn="l" rtl="0">
              <a:spcBef>
                <a:spcPts val="0"/>
              </a:spcBef>
              <a:spcAft>
                <a:spcPts val="0"/>
              </a:spcAft>
              <a:buSzPts val="1400"/>
              <a:buChar char="○"/>
            </a:pPr>
            <a:r>
              <a:rPr lang="en">
                <a:solidFill>
                  <a:srgbClr val="0000FF"/>
                </a:solidFill>
              </a:rPr>
              <a:t>“</a:t>
            </a:r>
            <a:r>
              <a:rPr lang="en" i="1">
                <a:solidFill>
                  <a:srgbClr val="0000FF"/>
                </a:solidFill>
              </a:rPr>
              <a:t>A set of rules</a:t>
            </a:r>
            <a:r>
              <a:rPr lang="en" i="1"/>
              <a:t> governing what markup information may be included in a document and how it is combined with the content of the document in a way to facilitate use by humans and computer programs.</a:t>
            </a:r>
            <a:r>
              <a:rPr lang="en"/>
              <a:t>” — Wikipedia, "Markup language", </a:t>
            </a:r>
            <a:r>
              <a:rPr lang="en" u="sng">
                <a:solidFill>
                  <a:schemeClr val="hlink"/>
                </a:solidFill>
                <a:hlinkClick r:id="rId3"/>
              </a:rPr>
              <a:t>https://en.wikipedia.org/wiki/Markup_language</a:t>
            </a:r>
            <a:r>
              <a:rPr lang="en"/>
              <a:t> </a:t>
            </a:r>
            <a:endParaRPr/>
          </a:p>
          <a:p>
            <a:pPr marL="914400" lvl="1" indent="-317500" algn="l" rtl="0">
              <a:spcBef>
                <a:spcPts val="0"/>
              </a:spcBef>
              <a:spcAft>
                <a:spcPts val="0"/>
              </a:spcAft>
              <a:buSzPts val="1400"/>
              <a:buChar char="○"/>
            </a:pPr>
            <a:r>
              <a:rPr lang="en"/>
              <a:t>&lt;h1&gt;NTOU&lt;/h1&gt; vs &lt;b&gt;NTOU&lt;/b&gt;</a:t>
            </a:r>
            <a:endParaRPr/>
          </a:p>
        </p:txBody>
      </p:sp>
      <p:pic>
        <p:nvPicPr>
          <p:cNvPr id="74" name="Google Shape;74;p15"/>
          <p:cNvPicPr preferRelativeResize="0"/>
          <p:nvPr/>
        </p:nvPicPr>
        <p:blipFill>
          <a:blip r:embed="rId4">
            <a:alphaModFix/>
          </a:blip>
          <a:stretch>
            <a:fillRect/>
          </a:stretch>
        </p:blipFill>
        <p:spPr>
          <a:xfrm>
            <a:off x="1323963" y="3982764"/>
            <a:ext cx="1571625" cy="733425"/>
          </a:xfrm>
          <a:prstGeom prst="rect">
            <a:avLst/>
          </a:prstGeom>
          <a:noFill/>
          <a:ln w="9525" cap="flat" cmpd="sng">
            <a:solidFill>
              <a:srgbClr val="FF9900"/>
            </a:solidFill>
            <a:prstDash val="solid"/>
            <a:round/>
            <a:headEnd type="none" w="sm" len="sm"/>
            <a:tailEnd type="none" w="sm" len="sm"/>
          </a:ln>
        </p:spPr>
      </p:pic>
      <p:sp>
        <p:nvSpPr>
          <p:cNvPr id="75" name="Google Shape;75;p15"/>
          <p:cNvSpPr txBox="1"/>
          <p:nvPr/>
        </p:nvSpPr>
        <p:spPr>
          <a:xfrm>
            <a:off x="4153347" y="4716211"/>
            <a:ext cx="39870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t>*Check it out! </a:t>
            </a:r>
            <a:r>
              <a:rPr lang="en" sz="1000" u="sng">
                <a:solidFill>
                  <a:schemeClr val="hlink"/>
                </a:solidFill>
                <a:hlinkClick r:id="rId5"/>
              </a:rPr>
              <a:t>https://www.semrush.com/blog/markup-language/</a:t>
            </a:r>
            <a:r>
              <a:rPr lang="en" sz="1000"/>
              <a:t> </a:t>
            </a:r>
            <a:endParaRPr sz="1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6"/>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HTML General Rules</a:t>
            </a:r>
            <a:endParaRPr/>
          </a:p>
        </p:txBody>
      </p:sp>
      <p:sp>
        <p:nvSpPr>
          <p:cNvPr id="81" name="Google Shape;81;p16"/>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a:t>
            </a:fld>
            <a:endParaRPr/>
          </a:p>
        </p:txBody>
      </p:sp>
      <p:sp>
        <p:nvSpPr>
          <p:cNvPr id="82" name="Google Shape;82;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85000" lnSpcReduction="20000"/>
          </a:bodyPr>
          <a:lstStyle/>
          <a:p>
            <a:pPr marL="457200" lvl="0" indent="-325755" algn="l" rtl="0">
              <a:spcBef>
                <a:spcPts val="0"/>
              </a:spcBef>
              <a:spcAft>
                <a:spcPts val="0"/>
              </a:spcAft>
              <a:buSzPct val="100000"/>
              <a:buChar char="●"/>
            </a:pPr>
            <a:r>
              <a:rPr lang="en"/>
              <a:t>Markup is enabled by defined tags</a:t>
            </a:r>
            <a:endParaRPr/>
          </a:p>
          <a:p>
            <a:pPr marL="914400" lvl="1" indent="-304165" algn="l" rtl="0">
              <a:spcBef>
                <a:spcPts val="0"/>
              </a:spcBef>
              <a:spcAft>
                <a:spcPts val="0"/>
              </a:spcAft>
              <a:buSzPct val="100000"/>
              <a:buChar char="○"/>
            </a:pPr>
            <a:r>
              <a:rPr lang="en"/>
              <a:t>Tags usually come in pairs</a:t>
            </a:r>
            <a:endParaRPr/>
          </a:p>
          <a:p>
            <a:pPr marL="914400" lvl="1" indent="-304165" algn="l" rtl="0">
              <a:spcBef>
                <a:spcPts val="0"/>
              </a:spcBef>
              <a:spcAft>
                <a:spcPts val="0"/>
              </a:spcAft>
              <a:buSzPct val="100000"/>
              <a:buChar char="○"/>
            </a:pPr>
            <a:r>
              <a:rPr lang="en"/>
              <a:t>Nesting is valid</a:t>
            </a:r>
            <a:endParaRPr/>
          </a:p>
          <a:p>
            <a:pPr marL="457200" lvl="0" indent="-325755" algn="l" rtl="0">
              <a:spcBef>
                <a:spcPts val="0"/>
              </a:spcBef>
              <a:spcAft>
                <a:spcPts val="0"/>
              </a:spcAft>
              <a:buSzPct val="100000"/>
              <a:buChar char="●"/>
            </a:pPr>
            <a:r>
              <a:rPr lang="en"/>
              <a:t>Case in-sensitive</a:t>
            </a:r>
            <a:endParaRPr/>
          </a:p>
          <a:p>
            <a:pPr marL="914400" lvl="1" indent="-304165" algn="l" rtl="0">
              <a:spcBef>
                <a:spcPts val="0"/>
              </a:spcBef>
              <a:spcAft>
                <a:spcPts val="0"/>
              </a:spcAft>
              <a:buSzPct val="100000"/>
              <a:buChar char="○"/>
            </a:pPr>
            <a:r>
              <a:rPr lang="en"/>
              <a:t>Strongly recommended lowercase</a:t>
            </a:r>
            <a:endParaRPr/>
          </a:p>
          <a:p>
            <a:pPr marL="457200" lvl="0" indent="-325755" algn="l" rtl="0">
              <a:spcBef>
                <a:spcPts val="0"/>
              </a:spcBef>
              <a:spcAft>
                <a:spcPts val="0"/>
              </a:spcAft>
              <a:buSzPct val="100000"/>
              <a:buChar char="●"/>
            </a:pPr>
            <a:r>
              <a:rPr lang="en"/>
              <a:t>Reserved characters</a:t>
            </a:r>
            <a:endParaRPr/>
          </a:p>
          <a:p>
            <a:pPr marL="914400" lvl="1" indent="-304165" algn="l" rtl="0">
              <a:spcBef>
                <a:spcPts val="0"/>
              </a:spcBef>
              <a:spcAft>
                <a:spcPts val="0"/>
              </a:spcAft>
              <a:buSzPct val="100000"/>
              <a:buChar char="○"/>
            </a:pPr>
            <a:r>
              <a:rPr lang="en"/>
              <a:t>Instead of direct typing in standard keyboard, special characters are used.</a:t>
            </a:r>
            <a:endParaRPr/>
          </a:p>
          <a:p>
            <a:pPr marL="914400" lvl="1" indent="-304165" algn="l" rtl="0">
              <a:spcBef>
                <a:spcPts val="0"/>
              </a:spcBef>
              <a:spcAft>
                <a:spcPts val="0"/>
              </a:spcAft>
              <a:buSzPct val="100000"/>
              <a:buChar char="○"/>
            </a:pPr>
            <a:r>
              <a:rPr lang="en">
                <a:solidFill>
                  <a:srgbClr val="0000FF"/>
                </a:solidFill>
              </a:rPr>
              <a:t>&amp;lt;</a:t>
            </a:r>
            <a:r>
              <a:rPr lang="en"/>
              <a:t> in HTML file is displayed as </a:t>
            </a:r>
            <a:r>
              <a:rPr lang="en">
                <a:solidFill>
                  <a:srgbClr val="0000FF"/>
                </a:solidFill>
              </a:rPr>
              <a:t>&lt;</a:t>
            </a:r>
            <a:r>
              <a:rPr lang="en"/>
              <a:t> in browsers.</a:t>
            </a:r>
            <a:endParaRPr/>
          </a:p>
          <a:p>
            <a:pPr marL="457200" lvl="0" indent="-325755" algn="l" rtl="0">
              <a:spcBef>
                <a:spcPts val="0"/>
              </a:spcBef>
              <a:spcAft>
                <a:spcPts val="0"/>
              </a:spcAft>
              <a:buSzPct val="100000"/>
              <a:buChar char="●"/>
            </a:pPr>
            <a:r>
              <a:rPr lang="en"/>
              <a:t>Whitespace collapse</a:t>
            </a:r>
            <a:endParaRPr/>
          </a:p>
          <a:p>
            <a:pPr marL="914400" lvl="1" indent="-304165" algn="l" rtl="0">
              <a:spcBef>
                <a:spcPts val="0"/>
              </a:spcBef>
              <a:spcAft>
                <a:spcPts val="0"/>
              </a:spcAft>
              <a:buSzPct val="100000"/>
              <a:buChar char="○"/>
            </a:pPr>
            <a:r>
              <a:rPr lang="en"/>
              <a:t>Browsers ignore extra spaces and line breaks in your source code.</a:t>
            </a:r>
            <a:endParaRPr/>
          </a:p>
          <a:p>
            <a:pPr marL="914400" lvl="1" indent="-304165" algn="l" rtl="0">
              <a:spcBef>
                <a:spcPts val="0"/>
              </a:spcBef>
              <a:spcAft>
                <a:spcPts val="0"/>
              </a:spcAft>
              <a:buSzPct val="100000"/>
              <a:buChar char="○"/>
            </a:pPr>
            <a:r>
              <a:rPr lang="en"/>
              <a:t>Using special characters or CSS for spacing.</a:t>
            </a:r>
            <a:endParaRPr/>
          </a:p>
          <a:p>
            <a:pPr marL="457200" lvl="0" indent="-325755" algn="l" rtl="0">
              <a:spcBef>
                <a:spcPts val="0"/>
              </a:spcBef>
              <a:spcAft>
                <a:spcPts val="0"/>
              </a:spcAft>
              <a:buSzPct val="100000"/>
              <a:buChar char="●"/>
            </a:pPr>
            <a:r>
              <a:rPr lang="en"/>
              <a:t>HTML is highly forgiving</a:t>
            </a:r>
            <a:endParaRPr/>
          </a:p>
          <a:p>
            <a:pPr marL="914400" lvl="1" indent="-304165" algn="l" rtl="0">
              <a:spcBef>
                <a:spcPts val="0"/>
              </a:spcBef>
              <a:spcAft>
                <a:spcPts val="0"/>
              </a:spcAft>
              <a:buSzPct val="100000"/>
              <a:buChar char="○"/>
            </a:pPr>
            <a:r>
              <a:rPr lang="en"/>
              <a:t>By modern powerful browser rendering engine, invalid HTML could be displayed with the best effort rather than crashing.</a:t>
            </a:r>
            <a:endParaRPr/>
          </a:p>
          <a:p>
            <a:pPr marL="914400" lvl="1" indent="-304165" algn="l" rtl="0">
              <a:spcBef>
                <a:spcPts val="0"/>
              </a:spcBef>
              <a:spcAft>
                <a:spcPts val="0"/>
              </a:spcAft>
              <a:buSzPct val="100000"/>
              <a:buChar char="○"/>
            </a:pPr>
            <a:r>
              <a:rPr lang="en"/>
              <a:t>Keep HTML contents valid as much as possible for deterministic presentation.</a:t>
            </a:r>
            <a:endParaRPr/>
          </a:p>
          <a:p>
            <a:pPr marL="914400" lvl="1" indent="-304165" algn="l" rtl="0">
              <a:spcBef>
                <a:spcPts val="0"/>
              </a:spcBef>
              <a:spcAft>
                <a:spcPts val="0"/>
              </a:spcAft>
              <a:buSzPct val="100000"/>
              <a:buChar char="○"/>
            </a:pPr>
            <a:r>
              <a:rPr lang="en"/>
              <a:t>Validate your HTML by W3 Nu HTML Checker: </a:t>
            </a:r>
            <a:r>
              <a:rPr lang="en" u="sng">
                <a:solidFill>
                  <a:schemeClr val="hlink"/>
                </a:solidFill>
                <a:hlinkClick r:id="rId3"/>
              </a:rPr>
              <a:t>https://validator.w3.org/nu</a:t>
            </a:r>
            <a:r>
              <a:rPr lang="en"/>
              <a:t>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7"/>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HTML5 Code Example</a:t>
            </a:r>
            <a:endParaRPr/>
          </a:p>
        </p:txBody>
      </p:sp>
      <p:sp>
        <p:nvSpPr>
          <p:cNvPr id="88" name="Google Shape;88;p17"/>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a:t>
            </a:fld>
            <a:endParaRPr/>
          </a:p>
        </p:txBody>
      </p:sp>
      <p:pic>
        <p:nvPicPr>
          <p:cNvPr id="89" name="Google Shape;89;p17"/>
          <p:cNvPicPr preferRelativeResize="0"/>
          <p:nvPr/>
        </p:nvPicPr>
        <p:blipFill>
          <a:blip r:embed="rId3">
            <a:alphaModFix/>
          </a:blip>
          <a:stretch>
            <a:fillRect/>
          </a:stretch>
        </p:blipFill>
        <p:spPr>
          <a:xfrm>
            <a:off x="322500" y="1220825"/>
            <a:ext cx="4012776" cy="3169375"/>
          </a:xfrm>
          <a:prstGeom prst="rect">
            <a:avLst/>
          </a:prstGeom>
          <a:noFill/>
          <a:ln w="9525" cap="flat" cmpd="sng">
            <a:solidFill>
              <a:schemeClr val="dk2"/>
            </a:solidFill>
            <a:prstDash val="solid"/>
            <a:round/>
            <a:headEnd type="none" w="sm" len="sm"/>
            <a:tailEnd type="none" w="sm" len="sm"/>
          </a:ln>
        </p:spPr>
      </p:pic>
      <p:pic>
        <p:nvPicPr>
          <p:cNvPr id="90" name="Google Shape;90;p17"/>
          <p:cNvPicPr preferRelativeResize="0"/>
          <p:nvPr/>
        </p:nvPicPr>
        <p:blipFill>
          <a:blip r:embed="rId4">
            <a:alphaModFix/>
          </a:blip>
          <a:stretch>
            <a:fillRect/>
          </a:stretch>
        </p:blipFill>
        <p:spPr>
          <a:xfrm>
            <a:off x="4466700" y="1220825"/>
            <a:ext cx="4572000" cy="1371600"/>
          </a:xfrm>
          <a:prstGeom prst="rect">
            <a:avLst/>
          </a:prstGeom>
          <a:noFill/>
          <a:ln w="9525" cap="flat" cmpd="sng">
            <a:solidFill>
              <a:srgbClr val="FF9900"/>
            </a:solidFill>
            <a:prstDash val="solid"/>
            <a:round/>
            <a:headEnd type="none" w="sm" len="sm"/>
            <a:tailEnd type="none" w="sm" len="sm"/>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8"/>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Document Type Declaration (DTD)</a:t>
            </a:r>
            <a:endParaRPr/>
          </a:p>
        </p:txBody>
      </p:sp>
      <p:sp>
        <p:nvSpPr>
          <p:cNvPr id="96" name="Google Shape;96;p18"/>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a:t>
            </a:fld>
            <a:endParaRPr/>
          </a:p>
        </p:txBody>
      </p:sp>
      <p:sp>
        <p:nvSpPr>
          <p:cNvPr id="97" name="Google Shape;97;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dirty="0"/>
              <a:t>The document type declaration (DOCTYPE) is required in HTML5 documents so that browsers render the page in standards mode.</a:t>
            </a:r>
          </a:p>
          <a:p>
            <a:pPr lvl="1" indent="-342900">
              <a:spcBef>
                <a:spcPts val="0"/>
              </a:spcBef>
              <a:buSzPts val="1800"/>
              <a:buFont typeface="Source Sans Pro"/>
              <a:buChar char="●"/>
            </a:pPr>
            <a:r>
              <a:rPr lang="en-US" altLang="zh-TW" i="1" dirty="0">
                <a:solidFill>
                  <a:srgbClr val="0000FF"/>
                </a:solidFill>
              </a:rPr>
              <a:t>&lt;!DOCTYPE html&gt;</a:t>
            </a:r>
            <a:endParaRPr dirty="0"/>
          </a:p>
          <a:p>
            <a:pPr marL="457200" lvl="0" indent="-342900" algn="l" rtl="0">
              <a:spcBef>
                <a:spcPts val="0"/>
              </a:spcBef>
              <a:spcAft>
                <a:spcPts val="0"/>
              </a:spcAft>
              <a:buSzPts val="1800"/>
              <a:buChar char="●"/>
            </a:pPr>
            <a:r>
              <a:rPr lang="en" dirty="0"/>
              <a:t>Some browsers operate in quirks mode to maintain backward compatibility with web pages that are not up-to-date with the latest standards.</a:t>
            </a:r>
            <a:endParaRPr dirty="0"/>
          </a:p>
          <a:p>
            <a:pPr marL="457200" lvl="0" indent="-342900" algn="l" rtl="0">
              <a:spcBef>
                <a:spcPts val="0"/>
              </a:spcBef>
              <a:spcAft>
                <a:spcPts val="0"/>
              </a:spcAft>
              <a:buSzPts val="1800"/>
              <a:buChar char="●"/>
            </a:pPr>
            <a:r>
              <a:rPr lang="en" dirty="0"/>
              <a:t>Historically HTML 4.01 required a specific DTD for validation (derived from SGML).</a:t>
            </a:r>
            <a:endParaRPr dirty="0"/>
          </a:p>
          <a:p>
            <a:pPr marL="914400" lvl="1" indent="-317500" algn="l" rtl="0">
              <a:spcBef>
                <a:spcPts val="0"/>
              </a:spcBef>
              <a:spcAft>
                <a:spcPts val="0"/>
              </a:spcAft>
              <a:buClr>
                <a:srgbClr val="0000FF"/>
              </a:buClr>
              <a:buSzPts val="1400"/>
              <a:buChar char="○"/>
            </a:pPr>
            <a:r>
              <a:rPr lang="en" i="1" dirty="0">
                <a:solidFill>
                  <a:srgbClr val="0000FF"/>
                </a:solidFill>
              </a:rPr>
              <a:t>&lt;!DOCTYPE HTML PUBLIC "-//W3C//DTD HTML 4.01//EN" "</a:t>
            </a:r>
            <a:r>
              <a:rPr lang="en" i="1" u="sng" dirty="0">
                <a:solidFill>
                  <a:srgbClr val="0000FF"/>
                </a:solidFill>
                <a:hlinkClick r:id="rId3">
                  <a:extLst>
                    <a:ext uri="{A12FA001-AC4F-418D-AE19-62706E023703}">
                      <ahyp:hlinkClr xmlns:ahyp="http://schemas.microsoft.com/office/drawing/2018/hyperlinkcolor" val="tx"/>
                    </a:ext>
                  </a:extLst>
                </a:hlinkClick>
              </a:rPr>
              <a:t>http://www.w3.org/TR/html4/strict.dtd</a:t>
            </a:r>
            <a:r>
              <a:rPr lang="en" i="1" dirty="0">
                <a:solidFill>
                  <a:srgbClr val="0000FF"/>
                </a:solidFill>
              </a:rPr>
              <a:t>"&gt;</a:t>
            </a:r>
            <a:endParaRPr i="1" dirty="0">
              <a:solidFill>
                <a:srgbClr val="0000FF"/>
              </a:solidFill>
            </a:endParaRPr>
          </a:p>
          <a:p>
            <a:pPr marL="1371600" lvl="2" indent="-304800" algn="l" rtl="0">
              <a:spcBef>
                <a:spcPts val="0"/>
              </a:spcBef>
              <a:spcAft>
                <a:spcPts val="0"/>
              </a:spcAft>
              <a:buSzPts val="1200"/>
              <a:buChar char="■"/>
            </a:pPr>
            <a:r>
              <a:rPr lang="en" sz="1200" dirty="0"/>
              <a:t>Ref: </a:t>
            </a:r>
            <a:r>
              <a:rPr lang="en" sz="1200" u="sng" dirty="0">
                <a:solidFill>
                  <a:schemeClr val="hlink"/>
                </a:solidFill>
                <a:hlinkClick r:id="rId4"/>
              </a:rPr>
              <a:t>https://developer.mozilla.org/en-US/docs/Web/HTML/Guides/Quirks_mode_and_standards_mode</a:t>
            </a:r>
            <a:r>
              <a:rPr lang="en" sz="1200" dirty="0"/>
              <a:t> </a:t>
            </a:r>
            <a:endParaRPr sz="1200" dirty="0"/>
          </a:p>
          <a:p>
            <a:pPr marL="1371600" lvl="2" indent="-304800" algn="l" rtl="0">
              <a:spcBef>
                <a:spcPts val="0"/>
              </a:spcBef>
              <a:spcAft>
                <a:spcPts val="0"/>
              </a:spcAft>
              <a:buSzPts val="1200"/>
              <a:buChar char="■"/>
            </a:pPr>
            <a:r>
              <a:rPr lang="en" sz="1200" dirty="0"/>
              <a:t>Ref: </a:t>
            </a:r>
            <a:r>
              <a:rPr lang="en" sz="1200" u="sng" dirty="0">
                <a:solidFill>
                  <a:schemeClr val="hlink"/>
                </a:solidFill>
                <a:hlinkClick r:id="rId5"/>
              </a:rPr>
              <a:t>https://www.freecodecamp.org/news/what-is-the-doctype-declaration-in-html/</a:t>
            </a:r>
            <a:r>
              <a:rPr lang="en" sz="1200" dirty="0"/>
              <a:t> </a:t>
            </a:r>
            <a:endParaRPr sz="1200" dirty="0"/>
          </a:p>
          <a:p>
            <a:pPr marL="457200" lvl="0" indent="-342900" algn="l" rtl="0">
              <a:spcBef>
                <a:spcPts val="0"/>
              </a:spcBef>
              <a:spcAft>
                <a:spcPts val="0"/>
              </a:spcAft>
              <a:buClr>
                <a:srgbClr val="000000"/>
              </a:buClr>
              <a:buSzPts val="1800"/>
              <a:buChar char="●"/>
            </a:pPr>
            <a:r>
              <a:rPr lang="en" dirty="0">
                <a:solidFill>
                  <a:srgbClr val="000000"/>
                </a:solidFill>
              </a:rPr>
              <a:t>Though HTML is case-insensitive, strongly recommended uppercase for DTD declaration.</a:t>
            </a:r>
            <a:endParaRPr dirty="0">
              <a:solidFill>
                <a:srgbClr val="00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9"/>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Comments in HTML</a:t>
            </a:r>
            <a:endParaRPr/>
          </a:p>
        </p:txBody>
      </p:sp>
      <p:sp>
        <p:nvSpPr>
          <p:cNvPr id="103" name="Google Shape;103;p19"/>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a:t>
            </a:fld>
            <a:endParaRPr/>
          </a:p>
        </p:txBody>
      </p:sp>
      <p:sp>
        <p:nvSpPr>
          <p:cNvPr id="104" name="Google Shape;104;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rgbClr val="000000"/>
              </a:buClr>
              <a:buSzPts val="1800"/>
              <a:buChar char="●"/>
            </a:pPr>
            <a:r>
              <a:rPr lang="en"/>
              <a:t>Insert comments in your HTML5 markup to improve readability and describe the content of a document.</a:t>
            </a:r>
            <a:endParaRPr/>
          </a:p>
          <a:p>
            <a:pPr marL="457200" lvl="0" indent="-342900" algn="l" rtl="0">
              <a:spcBef>
                <a:spcPts val="0"/>
              </a:spcBef>
              <a:spcAft>
                <a:spcPts val="0"/>
              </a:spcAft>
              <a:buSzPts val="1800"/>
              <a:buChar char="●"/>
            </a:pPr>
            <a:r>
              <a:rPr lang="en"/>
              <a:t>The browser ignores comments when your document is rendered.</a:t>
            </a:r>
            <a:endParaRPr/>
          </a:p>
          <a:p>
            <a:pPr marL="457200" lvl="0" indent="-342900" algn="l" rtl="0">
              <a:spcBef>
                <a:spcPts val="0"/>
              </a:spcBef>
              <a:spcAft>
                <a:spcPts val="0"/>
              </a:spcAft>
              <a:buSzPts val="1800"/>
              <a:buChar char="●"/>
            </a:pPr>
            <a:r>
              <a:rPr lang="en"/>
              <a:t>Comments start with </a:t>
            </a:r>
            <a:r>
              <a:rPr lang="en">
                <a:solidFill>
                  <a:srgbClr val="0000FF"/>
                </a:solidFill>
              </a:rPr>
              <a:t>&lt;!--</a:t>
            </a:r>
            <a:r>
              <a:rPr lang="en"/>
              <a:t> and end with </a:t>
            </a:r>
            <a:r>
              <a:rPr lang="en">
                <a:solidFill>
                  <a:srgbClr val="0000FF"/>
                </a:solidFill>
              </a:rPr>
              <a:t>--&gt;</a:t>
            </a:r>
            <a:r>
              <a:rPr lang="en"/>
              <a:t>.</a:t>
            </a:r>
            <a:endParaRPr/>
          </a:p>
        </p:txBody>
      </p:sp>
      <p:grpSp>
        <p:nvGrpSpPr>
          <p:cNvPr id="105" name="Google Shape;105;p19"/>
          <p:cNvGrpSpPr/>
          <p:nvPr/>
        </p:nvGrpSpPr>
        <p:grpSpPr>
          <a:xfrm>
            <a:off x="902512" y="2571750"/>
            <a:ext cx="3020913" cy="2383626"/>
            <a:chOff x="902512" y="2571750"/>
            <a:chExt cx="3020913" cy="2383626"/>
          </a:xfrm>
        </p:grpSpPr>
        <p:pic>
          <p:nvPicPr>
            <p:cNvPr id="106" name="Google Shape;106;p19"/>
            <p:cNvPicPr preferRelativeResize="0"/>
            <p:nvPr/>
          </p:nvPicPr>
          <p:blipFill>
            <a:blip r:embed="rId3">
              <a:alphaModFix/>
            </a:blip>
            <a:stretch>
              <a:fillRect/>
            </a:stretch>
          </p:blipFill>
          <p:spPr>
            <a:xfrm>
              <a:off x="905500" y="2571750"/>
              <a:ext cx="3017925" cy="2383626"/>
            </a:xfrm>
            <a:prstGeom prst="rect">
              <a:avLst/>
            </a:prstGeom>
            <a:noFill/>
            <a:ln w="9525" cap="flat" cmpd="sng">
              <a:solidFill>
                <a:schemeClr val="dk2"/>
              </a:solidFill>
              <a:prstDash val="solid"/>
              <a:round/>
              <a:headEnd type="none" w="sm" len="sm"/>
              <a:tailEnd type="none" w="sm" len="sm"/>
            </a:ln>
          </p:spPr>
        </p:pic>
        <p:sp>
          <p:nvSpPr>
            <p:cNvPr id="107" name="Google Shape;107;p19"/>
            <p:cNvSpPr/>
            <p:nvPr/>
          </p:nvSpPr>
          <p:spPr>
            <a:xfrm>
              <a:off x="902512" y="2865300"/>
              <a:ext cx="3018000" cy="201600"/>
            </a:xfrm>
            <a:prstGeom prst="rect">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urce Sans Pro"/>
                <a:ea typeface="Source Sans Pro"/>
                <a:cs typeface="Source Sans Pro"/>
                <a:sym typeface="Source Sans Pro"/>
              </a:endParaRPr>
            </a:p>
          </p:txBody>
        </p:sp>
      </p:grpSp>
      <p:pic>
        <p:nvPicPr>
          <p:cNvPr id="108" name="Google Shape;108;p19"/>
          <p:cNvPicPr preferRelativeResize="0"/>
          <p:nvPr/>
        </p:nvPicPr>
        <p:blipFill>
          <a:blip r:embed="rId4">
            <a:alphaModFix/>
          </a:blip>
          <a:stretch>
            <a:fillRect/>
          </a:stretch>
        </p:blipFill>
        <p:spPr>
          <a:xfrm>
            <a:off x="4598281" y="2571750"/>
            <a:ext cx="2399280" cy="2383624"/>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0"/>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HTML Required Elements</a:t>
            </a:r>
            <a:endParaRPr/>
          </a:p>
        </p:txBody>
      </p:sp>
      <p:sp>
        <p:nvSpPr>
          <p:cNvPr id="114" name="Google Shape;114;p20"/>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8</a:t>
            </a:fld>
            <a:endParaRPr/>
          </a:p>
        </p:txBody>
      </p:sp>
      <p:sp>
        <p:nvSpPr>
          <p:cNvPr id="115" name="Google Shape;115;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&lt;html&gt; </a:t>
            </a:r>
            <a:endParaRPr/>
          </a:p>
          <a:p>
            <a:pPr marL="914400" lvl="1" indent="-317500" algn="l" rtl="0">
              <a:spcBef>
                <a:spcPts val="0"/>
              </a:spcBef>
              <a:spcAft>
                <a:spcPts val="0"/>
              </a:spcAft>
              <a:buSzPts val="1400"/>
              <a:buChar char="○"/>
            </a:pPr>
            <a:r>
              <a:rPr lang="en"/>
              <a:t>The root element in an HTML file, enclosing the head section and the body section.</a:t>
            </a:r>
            <a:endParaRPr/>
          </a:p>
          <a:p>
            <a:pPr marL="457200" lvl="0" indent="-342900" algn="l" rtl="0">
              <a:spcBef>
                <a:spcPts val="0"/>
              </a:spcBef>
              <a:spcAft>
                <a:spcPts val="0"/>
              </a:spcAft>
              <a:buSzPts val="1800"/>
              <a:buChar char="●"/>
            </a:pPr>
            <a:r>
              <a:rPr lang="en"/>
              <a:t>&lt;head&gt;</a:t>
            </a:r>
            <a:endParaRPr/>
          </a:p>
          <a:p>
            <a:pPr marL="914400" lvl="1" indent="-317500" algn="l" rtl="0">
              <a:spcBef>
                <a:spcPts val="0"/>
              </a:spcBef>
              <a:spcAft>
                <a:spcPts val="0"/>
              </a:spcAft>
              <a:buSzPts val="1400"/>
              <a:buChar char="○"/>
            </a:pPr>
            <a:r>
              <a:rPr lang="en"/>
              <a:t>A container holding metadata of the HTML file.</a:t>
            </a:r>
            <a:endParaRPr/>
          </a:p>
          <a:p>
            <a:pPr marL="914400" lvl="1" indent="-317500" algn="l" rtl="0">
              <a:spcBef>
                <a:spcPts val="0"/>
              </a:spcBef>
              <a:spcAft>
                <a:spcPts val="0"/>
              </a:spcAft>
              <a:buSzPts val="1400"/>
              <a:buChar char="○"/>
            </a:pPr>
            <a:r>
              <a:rPr lang="en"/>
              <a:t>Contents are not displayed to the end user.</a:t>
            </a:r>
            <a:endParaRPr/>
          </a:p>
          <a:p>
            <a:pPr marL="914400" lvl="1" indent="-317500" algn="l" rtl="0">
              <a:spcBef>
                <a:spcPts val="0"/>
              </a:spcBef>
              <a:spcAft>
                <a:spcPts val="0"/>
              </a:spcAft>
              <a:buSzPts val="1400"/>
              <a:buChar char="○"/>
            </a:pPr>
            <a:r>
              <a:rPr lang="en"/>
              <a:t>Contents specify document's title, character set, linked stylesheets, scripts etc. Each is specified with defined tags, e.g. &lt;title&gt;&lt;/title&gt;, &lt;meta&gt;, &lt;link&gt;,&lt;script&gt;&lt;/script&gt; etc.</a:t>
            </a:r>
            <a:endParaRPr/>
          </a:p>
          <a:p>
            <a:pPr marL="457200" lvl="0" indent="-342900" algn="l" rtl="0">
              <a:spcBef>
                <a:spcPts val="0"/>
              </a:spcBef>
              <a:spcAft>
                <a:spcPts val="0"/>
              </a:spcAft>
              <a:buSzPts val="1800"/>
              <a:buChar char="●"/>
            </a:pPr>
            <a:r>
              <a:rPr lang="en"/>
              <a:t>&lt;body&gt;</a:t>
            </a:r>
            <a:endParaRPr/>
          </a:p>
          <a:p>
            <a:pPr marL="914400" lvl="1" indent="-317500" algn="l" rtl="0">
              <a:spcBef>
                <a:spcPts val="0"/>
              </a:spcBef>
              <a:spcAft>
                <a:spcPts val="0"/>
              </a:spcAft>
              <a:buSzPts val="1400"/>
              <a:buChar char="○"/>
            </a:pPr>
            <a:r>
              <a:rPr lang="en"/>
              <a:t>All the visible elements of a webpage.</a:t>
            </a:r>
            <a:endParaRPr/>
          </a:p>
        </p:txBody>
      </p:sp>
      <p:grpSp>
        <p:nvGrpSpPr>
          <p:cNvPr id="116" name="Google Shape;116;p20"/>
          <p:cNvGrpSpPr/>
          <p:nvPr/>
        </p:nvGrpSpPr>
        <p:grpSpPr>
          <a:xfrm>
            <a:off x="5090926" y="3154450"/>
            <a:ext cx="2451349" cy="1871000"/>
            <a:chOff x="5090926" y="3154450"/>
            <a:chExt cx="2451349" cy="1871000"/>
          </a:xfrm>
        </p:grpSpPr>
        <p:pic>
          <p:nvPicPr>
            <p:cNvPr id="117" name="Google Shape;117;p20"/>
            <p:cNvPicPr preferRelativeResize="0"/>
            <p:nvPr/>
          </p:nvPicPr>
          <p:blipFill>
            <a:blip r:embed="rId3">
              <a:alphaModFix/>
            </a:blip>
            <a:stretch>
              <a:fillRect/>
            </a:stretch>
          </p:blipFill>
          <p:spPr>
            <a:xfrm>
              <a:off x="5173400" y="3154450"/>
              <a:ext cx="2368874" cy="1871000"/>
            </a:xfrm>
            <a:prstGeom prst="rect">
              <a:avLst/>
            </a:prstGeom>
            <a:noFill/>
            <a:ln w="9525" cap="flat" cmpd="sng">
              <a:solidFill>
                <a:schemeClr val="dk2"/>
              </a:solidFill>
              <a:prstDash val="solid"/>
              <a:round/>
              <a:headEnd type="none" w="sm" len="sm"/>
              <a:tailEnd type="none" w="sm" len="sm"/>
            </a:ln>
          </p:spPr>
        </p:pic>
        <p:sp>
          <p:nvSpPr>
            <p:cNvPr id="118" name="Google Shape;118;p20"/>
            <p:cNvSpPr/>
            <p:nvPr/>
          </p:nvSpPr>
          <p:spPr>
            <a:xfrm>
              <a:off x="5090926" y="3601325"/>
              <a:ext cx="280500" cy="1358100"/>
            </a:xfrm>
            <a:prstGeom prst="leftBracket">
              <a:avLst>
                <a:gd name="adj" fmla="val 8333"/>
              </a:avLst>
            </a:prstGeom>
            <a:noFill/>
            <a:ln w="28575"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urce Sans Pro"/>
                <a:ea typeface="Source Sans Pro"/>
                <a:cs typeface="Source Sans Pro"/>
                <a:sym typeface="Source Sans Pro"/>
              </a:endParaRPr>
            </a:p>
          </p:txBody>
        </p:sp>
        <p:sp>
          <p:nvSpPr>
            <p:cNvPr id="119" name="Google Shape;119;p20"/>
            <p:cNvSpPr/>
            <p:nvPr/>
          </p:nvSpPr>
          <p:spPr>
            <a:xfrm>
              <a:off x="5222350" y="3841350"/>
              <a:ext cx="149100" cy="393600"/>
            </a:xfrm>
            <a:prstGeom prst="leftBracket">
              <a:avLst>
                <a:gd name="adj" fmla="val 8333"/>
              </a:avLst>
            </a:prstGeom>
            <a:noFill/>
            <a:ln w="28575"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urce Sans Pro"/>
                <a:ea typeface="Source Sans Pro"/>
                <a:cs typeface="Source Sans Pro"/>
                <a:sym typeface="Source Sans Pro"/>
              </a:endParaRPr>
            </a:p>
          </p:txBody>
        </p:sp>
        <p:sp>
          <p:nvSpPr>
            <p:cNvPr id="120" name="Google Shape;120;p20"/>
            <p:cNvSpPr/>
            <p:nvPr/>
          </p:nvSpPr>
          <p:spPr>
            <a:xfrm>
              <a:off x="5222350" y="4466900"/>
              <a:ext cx="149100" cy="273600"/>
            </a:xfrm>
            <a:prstGeom prst="leftBracket">
              <a:avLst>
                <a:gd name="adj" fmla="val 8333"/>
              </a:avLst>
            </a:prstGeom>
            <a:noFill/>
            <a:ln w="2857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urce Sans Pro"/>
                <a:ea typeface="Source Sans Pro"/>
                <a:cs typeface="Source Sans Pro"/>
                <a:sym typeface="Source Sans Pro"/>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1"/>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Document Metadata ─ &lt;meta&gt;</a:t>
            </a:r>
            <a:endParaRPr/>
          </a:p>
        </p:txBody>
      </p:sp>
      <p:sp>
        <p:nvSpPr>
          <p:cNvPr id="126" name="Google Shape;126;p21"/>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9</a:t>
            </a:fld>
            <a:endParaRPr/>
          </a:p>
        </p:txBody>
      </p:sp>
      <p:sp>
        <p:nvSpPr>
          <p:cNvPr id="127" name="Google Shape;127;p2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A valid way of adding metadata to a HTML document, supporting browsers, search engines, and other web services to understand the content and purpose of the web page.</a:t>
            </a:r>
            <a:endParaRPr/>
          </a:p>
          <a:p>
            <a:pPr marL="457200" lvl="0" indent="-342900" algn="l" rtl="0">
              <a:spcBef>
                <a:spcPts val="0"/>
              </a:spcBef>
              <a:spcAft>
                <a:spcPts val="0"/>
              </a:spcAft>
              <a:buSzPts val="1800"/>
              <a:buChar char="●"/>
            </a:pPr>
            <a:r>
              <a:rPr lang="en"/>
              <a:t>&lt;meta&gt; is a void element</a:t>
            </a:r>
            <a:endParaRPr/>
          </a:p>
          <a:p>
            <a:pPr marL="914400" lvl="1" indent="-317500" algn="l" rtl="0">
              <a:spcBef>
                <a:spcPts val="0"/>
              </a:spcBef>
              <a:spcAft>
                <a:spcPts val="0"/>
              </a:spcAft>
              <a:buSzPts val="1400"/>
              <a:buChar char="○"/>
            </a:pPr>
            <a:r>
              <a:rPr lang="en"/>
              <a:t>Cannot have any child nodes (i.e., nested elements or text nodes).</a:t>
            </a:r>
            <a:endParaRPr/>
          </a:p>
          <a:p>
            <a:pPr marL="914400" lvl="1" indent="-317500" algn="l" rtl="0">
              <a:spcBef>
                <a:spcPts val="0"/>
              </a:spcBef>
              <a:spcAft>
                <a:spcPts val="0"/>
              </a:spcAft>
              <a:buSzPts val="1400"/>
              <a:buChar char="○"/>
            </a:pPr>
            <a:r>
              <a:rPr lang="en"/>
              <a:t>It’s self-closing, no closing tag is required.</a:t>
            </a:r>
            <a:endParaRPr/>
          </a:p>
          <a:p>
            <a:pPr marL="457200" lvl="0" indent="-342900" algn="l" rtl="0">
              <a:spcBef>
                <a:spcPts val="0"/>
              </a:spcBef>
              <a:spcAft>
                <a:spcPts val="0"/>
              </a:spcAft>
              <a:buSzPts val="1800"/>
              <a:buChar char="●"/>
            </a:pPr>
            <a:r>
              <a:rPr lang="en"/>
              <a:t>&lt;meta&gt; is a nested element given charset attribute is presented</a:t>
            </a:r>
            <a:endParaRPr/>
          </a:p>
          <a:p>
            <a:pPr marL="914400" lvl="1" indent="-317500" algn="l" rtl="0">
              <a:spcBef>
                <a:spcPts val="0"/>
              </a:spcBef>
              <a:spcAft>
                <a:spcPts val="0"/>
              </a:spcAft>
              <a:buSzPts val="1400"/>
              <a:buChar char="○"/>
            </a:pPr>
            <a:r>
              <a:rPr lang="en"/>
              <a:t>&lt;meta charset=”</a:t>
            </a:r>
            <a:r>
              <a:rPr lang="en" i="1"/>
              <a:t>UTF-8</a:t>
            </a:r>
            <a:r>
              <a:rPr lang="en"/>
              <a:t>”&gt; is always enclosed by &lt;head&gt;&lt;/head&gt;</a:t>
            </a:r>
            <a:endParaRPr/>
          </a:p>
          <a:p>
            <a:pPr marL="914400" lvl="1" indent="-317500" algn="l" rtl="0">
              <a:spcBef>
                <a:spcPts val="0"/>
              </a:spcBef>
              <a:spcAft>
                <a:spcPts val="0"/>
              </a:spcAft>
              <a:buSzPts val="1400"/>
              <a:buChar char="○"/>
            </a:pPr>
            <a:r>
              <a:rPr lang="en"/>
              <a:t>UTF-8 (8-bit Unicode Transformation Format) is the dominant character encoding standard for the internet, used by nearly all websites.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2"/>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Document Metadata ─ &lt;meta&gt; Example</a:t>
            </a:r>
            <a:endParaRPr/>
          </a:p>
        </p:txBody>
      </p:sp>
      <p:sp>
        <p:nvSpPr>
          <p:cNvPr id="133" name="Google Shape;133;p22"/>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10</a:t>
            </a:fld>
            <a:endParaRPr/>
          </a:p>
        </p:txBody>
      </p:sp>
      <p:pic>
        <p:nvPicPr>
          <p:cNvPr id="134" name="Google Shape;134;p22"/>
          <p:cNvPicPr preferRelativeResize="0"/>
          <p:nvPr/>
        </p:nvPicPr>
        <p:blipFill>
          <a:blip r:embed="rId3">
            <a:alphaModFix/>
          </a:blip>
          <a:stretch>
            <a:fillRect/>
          </a:stretch>
        </p:blipFill>
        <p:spPr>
          <a:xfrm>
            <a:off x="905275" y="1245125"/>
            <a:ext cx="2924178" cy="2419350"/>
          </a:xfrm>
          <a:prstGeom prst="rect">
            <a:avLst/>
          </a:prstGeom>
          <a:noFill/>
          <a:ln w="9525" cap="flat" cmpd="sng">
            <a:solidFill>
              <a:srgbClr val="FF0000"/>
            </a:solidFill>
            <a:prstDash val="solid"/>
            <a:round/>
            <a:headEnd type="none" w="sm" len="sm"/>
            <a:tailEnd type="none" w="sm" len="sm"/>
          </a:ln>
        </p:spPr>
      </p:pic>
      <p:pic>
        <p:nvPicPr>
          <p:cNvPr id="135" name="Google Shape;135;p22"/>
          <p:cNvPicPr preferRelativeResize="0"/>
          <p:nvPr/>
        </p:nvPicPr>
        <p:blipFill>
          <a:blip r:embed="rId4">
            <a:alphaModFix/>
          </a:blip>
          <a:stretch>
            <a:fillRect/>
          </a:stretch>
        </p:blipFill>
        <p:spPr>
          <a:xfrm>
            <a:off x="905272" y="4007225"/>
            <a:ext cx="1428750" cy="590550"/>
          </a:xfrm>
          <a:prstGeom prst="rect">
            <a:avLst/>
          </a:prstGeom>
          <a:noFill/>
          <a:ln w="9525" cap="flat" cmpd="sng">
            <a:solidFill>
              <a:srgbClr val="FF9900"/>
            </a:solidFill>
            <a:prstDash val="solid"/>
            <a:round/>
            <a:headEnd type="none" w="sm" len="sm"/>
            <a:tailEnd type="none" w="sm" len="sm"/>
          </a:ln>
        </p:spPr>
      </p:pic>
      <p:pic>
        <p:nvPicPr>
          <p:cNvPr id="136" name="Google Shape;136;p22"/>
          <p:cNvPicPr preferRelativeResize="0"/>
          <p:nvPr/>
        </p:nvPicPr>
        <p:blipFill>
          <a:blip r:embed="rId5">
            <a:alphaModFix/>
          </a:blip>
          <a:stretch>
            <a:fillRect/>
          </a:stretch>
        </p:blipFill>
        <p:spPr>
          <a:xfrm>
            <a:off x="4674950" y="1245125"/>
            <a:ext cx="2869127" cy="2419350"/>
          </a:xfrm>
          <a:prstGeom prst="rect">
            <a:avLst/>
          </a:prstGeom>
          <a:noFill/>
          <a:ln w="9525" cap="flat" cmpd="sng">
            <a:solidFill>
              <a:schemeClr val="dk2"/>
            </a:solidFill>
            <a:prstDash val="solid"/>
            <a:round/>
            <a:headEnd type="none" w="sm" len="sm"/>
            <a:tailEnd type="none" w="sm" len="sm"/>
          </a:ln>
        </p:spPr>
      </p:pic>
      <p:pic>
        <p:nvPicPr>
          <p:cNvPr id="137" name="Google Shape;137;p22"/>
          <p:cNvPicPr preferRelativeResize="0"/>
          <p:nvPr/>
        </p:nvPicPr>
        <p:blipFill>
          <a:blip r:embed="rId6">
            <a:alphaModFix/>
          </a:blip>
          <a:stretch>
            <a:fillRect/>
          </a:stretch>
        </p:blipFill>
        <p:spPr>
          <a:xfrm>
            <a:off x="4674947" y="3964363"/>
            <a:ext cx="1390650" cy="676275"/>
          </a:xfrm>
          <a:prstGeom prst="rect">
            <a:avLst/>
          </a:prstGeom>
          <a:noFill/>
          <a:ln w="9525" cap="flat" cmpd="sng">
            <a:solidFill>
              <a:srgbClr val="FF9900"/>
            </a:solidFill>
            <a:prstDash val="solid"/>
            <a:round/>
            <a:headEnd type="none" w="sm" len="sm"/>
            <a:tailEnd type="none" w="sm" len="sm"/>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3"/>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Document Metadata ─ &lt;title&gt;</a:t>
            </a:r>
            <a:endParaRPr/>
          </a:p>
        </p:txBody>
      </p:sp>
      <p:sp>
        <p:nvSpPr>
          <p:cNvPr id="143" name="Google Shape;143;p23"/>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11</a:t>
            </a:fld>
            <a:endParaRPr/>
          </a:p>
        </p:txBody>
      </p:sp>
      <p:sp>
        <p:nvSpPr>
          <p:cNvPr id="144" name="Google Shape;144;p2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&lt;title&gt; is a nested element, always enclosed by &lt;head&gt;&lt;/head&gt;.</a:t>
            </a:r>
            <a:endParaRPr/>
          </a:p>
          <a:p>
            <a:pPr marL="457200" lvl="0" indent="-342900" algn="l" rtl="0">
              <a:spcBef>
                <a:spcPts val="0"/>
              </a:spcBef>
              <a:spcAft>
                <a:spcPts val="0"/>
              </a:spcAft>
              <a:buSzPts val="1800"/>
              <a:buChar char="●"/>
            </a:pPr>
            <a:r>
              <a:rPr lang="en"/>
              <a:t>Defines the document's title that is shown in a browser's title bar or a page's tab and also as the text identifying a page when users add the page to their list of Favorites or Bookmarks.</a:t>
            </a:r>
            <a:endParaRPr/>
          </a:p>
          <a:p>
            <a:pPr marL="457200" lvl="0" indent="-342900" algn="l" rtl="0">
              <a:spcBef>
                <a:spcPts val="0"/>
              </a:spcBef>
              <a:spcAft>
                <a:spcPts val="0"/>
              </a:spcAft>
              <a:buSzPts val="1800"/>
              <a:buChar char="●"/>
            </a:pPr>
            <a:r>
              <a:rPr lang="en"/>
              <a:t>Search engines use the title for indexing purposes and when displaying results.</a:t>
            </a:r>
            <a:endParaRPr/>
          </a:p>
          <a:p>
            <a:pPr marL="457200" lvl="0" indent="-342900" algn="l" rtl="0">
              <a:spcBef>
                <a:spcPts val="0"/>
              </a:spcBef>
              <a:spcAft>
                <a:spcPts val="0"/>
              </a:spcAft>
              <a:buSzPts val="1800"/>
              <a:buChar char="●"/>
            </a:pPr>
            <a:r>
              <a:rPr lang="en"/>
              <a:t>It only contains text; HTML tags within the element, if any, are also treated as plain text.</a:t>
            </a:r>
            <a:endParaRPr/>
          </a:p>
        </p:txBody>
      </p:sp>
      <p:grpSp>
        <p:nvGrpSpPr>
          <p:cNvPr id="145" name="Google Shape;145;p23"/>
          <p:cNvGrpSpPr/>
          <p:nvPr/>
        </p:nvGrpSpPr>
        <p:grpSpPr>
          <a:xfrm>
            <a:off x="877226" y="3513698"/>
            <a:ext cx="2568675" cy="1484725"/>
            <a:chOff x="877226" y="3513698"/>
            <a:chExt cx="2568675" cy="1484725"/>
          </a:xfrm>
        </p:grpSpPr>
        <p:pic>
          <p:nvPicPr>
            <p:cNvPr id="146" name="Google Shape;146;p23"/>
            <p:cNvPicPr preferRelativeResize="0"/>
            <p:nvPr/>
          </p:nvPicPr>
          <p:blipFill>
            <a:blip r:embed="rId3">
              <a:alphaModFix/>
            </a:blip>
            <a:stretch>
              <a:fillRect/>
            </a:stretch>
          </p:blipFill>
          <p:spPr>
            <a:xfrm>
              <a:off x="877226" y="3513698"/>
              <a:ext cx="2568675" cy="1484725"/>
            </a:xfrm>
            <a:prstGeom prst="rect">
              <a:avLst/>
            </a:prstGeom>
            <a:noFill/>
            <a:ln w="9525" cap="flat" cmpd="sng">
              <a:solidFill>
                <a:srgbClr val="FF9900"/>
              </a:solidFill>
              <a:prstDash val="solid"/>
              <a:round/>
              <a:headEnd type="none" w="sm" len="sm"/>
              <a:tailEnd type="none" w="sm" len="sm"/>
            </a:ln>
          </p:spPr>
        </p:pic>
        <p:cxnSp>
          <p:nvCxnSpPr>
            <p:cNvPr id="147" name="Google Shape;147;p23"/>
            <p:cNvCxnSpPr/>
            <p:nvPr/>
          </p:nvCxnSpPr>
          <p:spPr>
            <a:xfrm>
              <a:off x="1529310" y="3793183"/>
              <a:ext cx="1318500" cy="900"/>
            </a:xfrm>
            <a:prstGeom prst="straightConnector1">
              <a:avLst/>
            </a:prstGeom>
            <a:noFill/>
            <a:ln w="28575" cap="flat" cmpd="sng">
              <a:solidFill>
                <a:srgbClr val="FF0000"/>
              </a:solidFill>
              <a:prstDash val="solid"/>
              <a:round/>
              <a:headEnd type="none" w="med" len="med"/>
              <a:tailEnd type="none" w="med" len="med"/>
            </a:ln>
          </p:spPr>
        </p:cxn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Try it Yourself ─ Metadata Practices</a:t>
            </a:r>
            <a:endParaRPr/>
          </a:p>
        </p:txBody>
      </p:sp>
      <p:sp>
        <p:nvSpPr>
          <p:cNvPr id="153" name="Google Shape;153;p24"/>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12</a:t>
            </a:fld>
            <a:endParaRPr/>
          </a:p>
        </p:txBody>
      </p:sp>
      <p:sp>
        <p:nvSpPr>
          <p:cNvPr id="154" name="Google Shape;154;p2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AutoNum type="arabicPeriod"/>
            </a:pPr>
            <a:r>
              <a:rPr lang="en" dirty="0"/>
              <a:t>&lt;html&gt; attribute</a:t>
            </a:r>
            <a:endParaRPr dirty="0"/>
          </a:p>
          <a:p>
            <a:pPr marL="914400" lvl="1" indent="-317500" algn="l" rtl="0">
              <a:spcBef>
                <a:spcPts val="0"/>
              </a:spcBef>
              <a:spcAft>
                <a:spcPts val="0"/>
              </a:spcAft>
              <a:buSzPts val="1400"/>
              <a:buChar char="○"/>
            </a:pPr>
            <a:r>
              <a:rPr lang="en" dirty="0"/>
              <a:t>Learn what ‘lang’ attribute is and what’s difference between ‘lang’ and ‘charset’</a:t>
            </a:r>
            <a:endParaRPr dirty="0"/>
          </a:p>
          <a:p>
            <a:pPr marL="457200" lvl="0" indent="-342900" algn="l" rtl="0">
              <a:spcBef>
                <a:spcPts val="0"/>
              </a:spcBef>
              <a:spcAft>
                <a:spcPts val="0"/>
              </a:spcAft>
              <a:buSzPts val="1800"/>
              <a:buAutoNum type="arabicPeriod"/>
            </a:pPr>
            <a:r>
              <a:rPr lang="en" dirty="0"/>
              <a:t>Texts in &lt;title&gt;</a:t>
            </a:r>
            <a:endParaRPr dirty="0"/>
          </a:p>
          <a:p>
            <a:pPr marL="914400" lvl="1" indent="-317500" algn="l" rtl="0">
              <a:spcBef>
                <a:spcPts val="0"/>
              </a:spcBef>
              <a:spcAft>
                <a:spcPts val="0"/>
              </a:spcAft>
              <a:buSzPts val="1400"/>
              <a:buChar char="○"/>
            </a:pPr>
            <a:r>
              <a:rPr lang="en" dirty="0"/>
              <a:t>Put an &lt;h1&gt; along with texts within &lt;title&gt;&lt;/title&gt;</a:t>
            </a:r>
            <a:endParaRPr dirty="0"/>
          </a:p>
          <a:p>
            <a:pPr marL="457200" lvl="0" indent="-342900" algn="l" rtl="0">
              <a:spcBef>
                <a:spcPts val="0"/>
              </a:spcBef>
              <a:spcAft>
                <a:spcPts val="0"/>
              </a:spcAft>
              <a:buSzPts val="1800"/>
              <a:buAutoNum type="arabicPeriod"/>
            </a:pPr>
            <a:r>
              <a:rPr lang="en" dirty="0"/>
              <a:t>Add a custom favorite icon</a:t>
            </a:r>
            <a:endParaRPr dirty="0"/>
          </a:p>
          <a:p>
            <a:pPr marL="914400" lvl="1" indent="-317500" algn="l" rtl="0">
              <a:spcBef>
                <a:spcPts val="0"/>
              </a:spcBef>
              <a:spcAft>
                <a:spcPts val="0"/>
              </a:spcAft>
              <a:buSzPts val="1400"/>
              <a:buChar char="○"/>
            </a:pPr>
            <a:r>
              <a:rPr lang="en" dirty="0"/>
              <a:t>Learn external resource link element by &lt;link rel="icon" href="</a:t>
            </a:r>
            <a:r>
              <a:rPr lang="en" dirty="0">
                <a:solidFill>
                  <a:srgbClr val="FF0000"/>
                </a:solidFill>
              </a:rPr>
              <a:t>favicon.ico</a:t>
            </a:r>
            <a:r>
              <a:rPr lang="en" dirty="0"/>
              <a:t>" type="image/x-icon" /&gt;</a:t>
            </a:r>
            <a:endParaRPr dirty="0"/>
          </a:p>
          <a:p>
            <a:pPr marL="914400" lvl="1" indent="-317500" algn="l" rtl="0">
              <a:spcBef>
                <a:spcPts val="0"/>
              </a:spcBef>
              <a:spcAft>
                <a:spcPts val="0"/>
              </a:spcAft>
              <a:buSzPts val="1400"/>
              <a:buChar char="○"/>
            </a:pPr>
            <a:r>
              <a:rPr lang="en" i="1" u="sng" dirty="0">
                <a:solidFill>
                  <a:schemeClr val="hlink"/>
                </a:solidFill>
                <a:hlinkClick r:id="rId3"/>
              </a:rPr>
              <a:t>https://developer.mozilla.org/en-US/docs/Learn_web_development/Core/Structuring_content/Webpage_metadata</a:t>
            </a:r>
            <a:r>
              <a:rPr lang="en" i="1" dirty="0"/>
              <a:t> </a:t>
            </a:r>
            <a:endParaRPr i="1"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5"/>
          <p:cNvSpPr txBox="1">
            <a:spLocks noGrp="1"/>
          </p:cNvSpPr>
          <p:nvPr>
            <p:ph type="title"/>
          </p:nvPr>
        </p:nvSpPr>
        <p:spPr>
          <a:xfrm>
            <a:off x="485875" y="1714500"/>
            <a:ext cx="8183700" cy="78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500"/>
              <a:t>Markup Tags within &lt;body&gt; </a:t>
            </a:r>
            <a:r>
              <a:rPr lang="en" sz="2900"/>
              <a:t>─ </a:t>
            </a:r>
            <a:r>
              <a:rPr lang="en" sz="3500"/>
              <a:t>Texts</a:t>
            </a:r>
            <a:endParaRPr sz="3500"/>
          </a:p>
        </p:txBody>
      </p:sp>
      <p:sp>
        <p:nvSpPr>
          <p:cNvPr id="160" name="Google Shape;160;p25"/>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1"/>
                </a:solidFill>
              </a:rPr>
              <a:t>13</a:t>
            </a:fld>
            <a:endParaRPr>
              <a:solidFill>
                <a:schemeClr val="lt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6"/>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Heading Elements</a:t>
            </a:r>
            <a:endParaRPr/>
          </a:p>
        </p:txBody>
      </p:sp>
      <p:sp>
        <p:nvSpPr>
          <p:cNvPr id="166" name="Google Shape;166;p26"/>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2"/>
                </a:solidFill>
              </a:rPr>
              <a:t>14</a:t>
            </a:fld>
            <a:endParaRPr>
              <a:solidFill>
                <a:schemeClr val="lt2"/>
              </a:solidFill>
            </a:endParaRPr>
          </a:p>
        </p:txBody>
      </p:sp>
      <p:sp>
        <p:nvSpPr>
          <p:cNvPr id="167" name="Google Shape;167;p2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HTML5 provides six heading elements (h1 through h6) for specifying the relative importance of information</a:t>
            </a:r>
            <a:endParaRPr/>
          </a:p>
          <a:p>
            <a:pPr marL="914400" lvl="1" indent="-317500" algn="l" rtl="0">
              <a:spcBef>
                <a:spcPts val="0"/>
              </a:spcBef>
              <a:spcAft>
                <a:spcPts val="0"/>
              </a:spcAft>
              <a:buSzPts val="1400"/>
              <a:buChar char="○"/>
            </a:pPr>
            <a:r>
              <a:rPr lang="en"/>
              <a:t>Heading element h1 is considered the most significant heading and is rendered in the largest font.</a:t>
            </a:r>
            <a:endParaRPr/>
          </a:p>
          <a:p>
            <a:pPr marL="914400" lvl="1" indent="-317500" algn="l" rtl="0">
              <a:spcBef>
                <a:spcPts val="0"/>
              </a:spcBef>
              <a:spcAft>
                <a:spcPts val="0"/>
              </a:spcAft>
              <a:buSzPts val="1400"/>
              <a:buChar char="○"/>
            </a:pPr>
            <a:r>
              <a:rPr lang="en"/>
              <a:t>Each successive heading element (i.e., h2, h3, etc.) is rendered in a progressively smaller font.</a:t>
            </a:r>
            <a:endParaRPr/>
          </a:p>
          <a:p>
            <a:pPr marL="457200" lvl="0" indent="-342900" algn="l" rtl="0">
              <a:spcBef>
                <a:spcPts val="0"/>
              </a:spcBef>
              <a:spcAft>
                <a:spcPts val="0"/>
              </a:spcAft>
              <a:buSzPts val="1800"/>
              <a:buChar char="●"/>
            </a:pPr>
            <a:r>
              <a:rPr lang="en"/>
              <a:t>By default, all heading elements create a block-level box in the layout, starting on a new line and taking up the full width available in their containing block.</a:t>
            </a:r>
            <a:endParaRPr/>
          </a:p>
        </p:txBody>
      </p:sp>
      <p:pic>
        <p:nvPicPr>
          <p:cNvPr id="168" name="Google Shape;168;p26"/>
          <p:cNvPicPr preferRelativeResize="0"/>
          <p:nvPr/>
        </p:nvPicPr>
        <p:blipFill>
          <a:blip r:embed="rId3">
            <a:alphaModFix/>
          </a:blip>
          <a:stretch>
            <a:fillRect/>
          </a:stretch>
        </p:blipFill>
        <p:spPr>
          <a:xfrm>
            <a:off x="848250" y="3036325"/>
            <a:ext cx="3673125" cy="1970000"/>
          </a:xfrm>
          <a:prstGeom prst="rect">
            <a:avLst/>
          </a:prstGeom>
          <a:noFill/>
          <a:ln w="9525" cap="flat" cmpd="sng">
            <a:solidFill>
              <a:schemeClr val="dk2"/>
            </a:solidFill>
            <a:prstDash val="solid"/>
            <a:round/>
            <a:headEnd type="none" w="sm" len="sm"/>
            <a:tailEnd type="none" w="sm" len="sm"/>
          </a:ln>
        </p:spPr>
      </p:pic>
      <p:pic>
        <p:nvPicPr>
          <p:cNvPr id="169" name="Google Shape;169;p26"/>
          <p:cNvPicPr preferRelativeResize="0"/>
          <p:nvPr/>
        </p:nvPicPr>
        <p:blipFill>
          <a:blip r:embed="rId4">
            <a:alphaModFix/>
          </a:blip>
          <a:stretch>
            <a:fillRect/>
          </a:stretch>
        </p:blipFill>
        <p:spPr>
          <a:xfrm>
            <a:off x="5688200" y="3036325"/>
            <a:ext cx="1753736" cy="2046025"/>
          </a:xfrm>
          <a:prstGeom prst="rect">
            <a:avLst/>
          </a:prstGeom>
          <a:noFill/>
          <a:ln w="9525" cap="flat" cmpd="sng">
            <a:solidFill>
              <a:srgbClr val="FF9900"/>
            </a:solidFill>
            <a:prstDash val="solid"/>
            <a:round/>
            <a:headEnd type="none" w="sm" len="sm"/>
            <a:tailEnd type="none" w="sm" len="sm"/>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7"/>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Heading Group Element </a:t>
            </a:r>
            <a:r>
              <a:rPr lang="en" sz="2900"/>
              <a:t>─ &lt;hgroup&gt;</a:t>
            </a:r>
            <a:endParaRPr/>
          </a:p>
        </p:txBody>
      </p:sp>
      <p:sp>
        <p:nvSpPr>
          <p:cNvPr id="175" name="Google Shape;175;p2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&lt;hgroup&gt; contains exactly one heading element (&lt;h1&gt; through &lt;h6&gt;) grouped with one or more &lt;p&gt; elements.</a:t>
            </a:r>
            <a:endParaRPr/>
          </a:p>
          <a:p>
            <a:pPr marL="457200" lvl="0" indent="-342900" algn="l" rtl="0">
              <a:spcBef>
                <a:spcPts val="0"/>
              </a:spcBef>
              <a:spcAft>
                <a:spcPts val="0"/>
              </a:spcAft>
              <a:buSzPts val="1800"/>
              <a:buChar char="●"/>
            </a:pPr>
            <a:r>
              <a:rPr lang="en"/>
              <a:t>&lt;hgroup&gt; is used exclusively to pair a single title with its subheadings, taglines, or alternative text.</a:t>
            </a:r>
            <a:endParaRPr/>
          </a:p>
        </p:txBody>
      </p:sp>
      <p:sp>
        <p:nvSpPr>
          <p:cNvPr id="176" name="Google Shape;176;p27"/>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15</a:t>
            </a:fld>
            <a:endParaRPr/>
          </a:p>
        </p:txBody>
      </p:sp>
      <p:pic>
        <p:nvPicPr>
          <p:cNvPr id="177" name="Google Shape;177;p27"/>
          <p:cNvPicPr preferRelativeResize="0"/>
          <p:nvPr/>
        </p:nvPicPr>
        <p:blipFill>
          <a:blip r:embed="rId3">
            <a:alphaModFix/>
          </a:blip>
          <a:stretch>
            <a:fillRect/>
          </a:stretch>
        </p:blipFill>
        <p:spPr>
          <a:xfrm>
            <a:off x="509750" y="2530147"/>
            <a:ext cx="5807876" cy="1404325"/>
          </a:xfrm>
          <a:prstGeom prst="rect">
            <a:avLst/>
          </a:prstGeom>
          <a:noFill/>
          <a:ln w="9525" cap="flat" cmpd="sng">
            <a:solidFill>
              <a:schemeClr val="dk2"/>
            </a:solidFill>
            <a:prstDash val="solid"/>
            <a:round/>
            <a:headEnd type="none" w="sm" len="sm"/>
            <a:tailEnd type="none" w="sm" len="sm"/>
          </a:ln>
        </p:spPr>
      </p:pic>
      <p:pic>
        <p:nvPicPr>
          <p:cNvPr id="178" name="Google Shape;178;p27"/>
          <p:cNvPicPr preferRelativeResize="0"/>
          <p:nvPr/>
        </p:nvPicPr>
        <p:blipFill>
          <a:blip r:embed="rId4">
            <a:alphaModFix/>
          </a:blip>
          <a:stretch>
            <a:fillRect/>
          </a:stretch>
        </p:blipFill>
        <p:spPr>
          <a:xfrm>
            <a:off x="2851356" y="4051875"/>
            <a:ext cx="5253825" cy="1022550"/>
          </a:xfrm>
          <a:prstGeom prst="rect">
            <a:avLst/>
          </a:prstGeom>
          <a:noFill/>
          <a:ln w="9525" cap="flat" cmpd="sng">
            <a:solidFill>
              <a:srgbClr val="FF9900"/>
            </a:solidFill>
            <a:prstDash val="solid"/>
            <a:round/>
            <a:headEnd type="none" w="sm" len="sm"/>
            <a:tailEnd type="none" w="sm" len="sm"/>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28"/>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Paragraph Element </a:t>
            </a:r>
            <a:r>
              <a:rPr lang="en" sz="2900"/>
              <a:t>─ &lt;p&gt;</a:t>
            </a:r>
            <a:endParaRPr/>
          </a:p>
        </p:txBody>
      </p:sp>
      <p:sp>
        <p:nvSpPr>
          <p:cNvPr id="184" name="Google Shape;184;p2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All text placed between the &lt;p&gt; and &lt;/p&gt; tags forms one paragraph.</a:t>
            </a:r>
            <a:endParaRPr/>
          </a:p>
          <a:p>
            <a:pPr marL="457200" lvl="0" indent="-342900" algn="l" rtl="0">
              <a:spcBef>
                <a:spcPts val="0"/>
              </a:spcBef>
              <a:spcAft>
                <a:spcPts val="0"/>
              </a:spcAft>
              <a:buSzPts val="1800"/>
              <a:buChar char="●"/>
            </a:pPr>
            <a:r>
              <a:rPr lang="en"/>
              <a:t>Browsers automatically add a single blank line before and after each paragraph, creating a clear separation between blocks of text, i.e. a block-level element.</a:t>
            </a:r>
            <a:endParaRPr/>
          </a:p>
        </p:txBody>
      </p:sp>
      <p:sp>
        <p:nvSpPr>
          <p:cNvPr id="185" name="Google Shape;185;p28"/>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16</a:t>
            </a:fld>
            <a:endParaRPr/>
          </a:p>
        </p:txBody>
      </p:sp>
      <p:pic>
        <p:nvPicPr>
          <p:cNvPr id="186" name="Google Shape;186;p28"/>
          <p:cNvPicPr preferRelativeResize="0"/>
          <p:nvPr/>
        </p:nvPicPr>
        <p:blipFill>
          <a:blip r:embed="rId3">
            <a:alphaModFix/>
          </a:blip>
          <a:stretch>
            <a:fillRect/>
          </a:stretch>
        </p:blipFill>
        <p:spPr>
          <a:xfrm>
            <a:off x="835847" y="2220714"/>
            <a:ext cx="5716600" cy="1592325"/>
          </a:xfrm>
          <a:prstGeom prst="rect">
            <a:avLst/>
          </a:prstGeom>
          <a:noFill/>
          <a:ln w="9525" cap="flat" cmpd="sng">
            <a:solidFill>
              <a:schemeClr val="dk2"/>
            </a:solidFill>
            <a:prstDash val="solid"/>
            <a:round/>
            <a:headEnd type="none" w="sm" len="sm"/>
            <a:tailEnd type="none" w="sm" len="sm"/>
          </a:ln>
        </p:spPr>
      </p:pic>
      <p:pic>
        <p:nvPicPr>
          <p:cNvPr id="187" name="Google Shape;187;p28"/>
          <p:cNvPicPr preferRelativeResize="0"/>
          <p:nvPr/>
        </p:nvPicPr>
        <p:blipFill>
          <a:blip r:embed="rId4">
            <a:alphaModFix/>
          </a:blip>
          <a:stretch>
            <a:fillRect/>
          </a:stretch>
        </p:blipFill>
        <p:spPr>
          <a:xfrm>
            <a:off x="835850" y="4176375"/>
            <a:ext cx="5270020" cy="269825"/>
          </a:xfrm>
          <a:prstGeom prst="rect">
            <a:avLst/>
          </a:prstGeom>
          <a:noFill/>
          <a:ln w="9525" cap="flat" cmpd="sng">
            <a:solidFill>
              <a:srgbClr val="FF9900"/>
            </a:solidFill>
            <a:prstDash val="solid"/>
            <a:round/>
            <a:headEnd type="none" w="sm" len="sm"/>
            <a:tailEnd type="none" w="sm" len="sm"/>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29"/>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HTML Reserved Characters</a:t>
            </a:r>
            <a:endParaRPr/>
          </a:p>
        </p:txBody>
      </p:sp>
      <p:sp>
        <p:nvSpPr>
          <p:cNvPr id="193" name="Google Shape;193;p29"/>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17</a:t>
            </a:fld>
            <a:endParaRPr/>
          </a:p>
        </p:txBody>
      </p:sp>
      <p:graphicFrame>
        <p:nvGraphicFramePr>
          <p:cNvPr id="194" name="Google Shape;194;p29"/>
          <p:cNvGraphicFramePr/>
          <p:nvPr/>
        </p:nvGraphicFramePr>
        <p:xfrm>
          <a:off x="311700" y="1342950"/>
          <a:ext cx="3924300" cy="2785160"/>
        </p:xfrm>
        <a:graphic>
          <a:graphicData uri="http://schemas.openxmlformats.org/drawingml/2006/table">
            <a:tbl>
              <a:tblPr>
                <a:noFill/>
                <a:tableStyleId>{EEE5C1D8-EC83-4F6E-A83C-C6FD04C83F62}</a:tableStyleId>
              </a:tblPr>
              <a:tblGrid>
                <a:gridCol w="1308100">
                  <a:extLst>
                    <a:ext uri="{9D8B030D-6E8A-4147-A177-3AD203B41FA5}">
                      <a16:colId xmlns:a16="http://schemas.microsoft.com/office/drawing/2014/main" val="20000"/>
                    </a:ext>
                  </a:extLst>
                </a:gridCol>
                <a:gridCol w="1308100">
                  <a:extLst>
                    <a:ext uri="{9D8B030D-6E8A-4147-A177-3AD203B41FA5}">
                      <a16:colId xmlns:a16="http://schemas.microsoft.com/office/drawing/2014/main" val="20001"/>
                    </a:ext>
                  </a:extLst>
                </a:gridCol>
                <a:gridCol w="1308100">
                  <a:extLst>
                    <a:ext uri="{9D8B030D-6E8A-4147-A177-3AD203B41FA5}">
                      <a16:colId xmlns:a16="http://schemas.microsoft.com/office/drawing/2014/main" val="20002"/>
                    </a:ext>
                  </a:extLst>
                </a:gridCol>
              </a:tblGrid>
              <a:tr h="0">
                <a:tc>
                  <a:txBody>
                    <a:bodyPr/>
                    <a:lstStyle/>
                    <a:p>
                      <a:pPr marL="0" lvl="0" indent="0" algn="ctr" rtl="0">
                        <a:lnSpc>
                          <a:spcPct val="100000"/>
                        </a:lnSpc>
                        <a:spcBef>
                          <a:spcPts val="0"/>
                        </a:spcBef>
                        <a:spcAft>
                          <a:spcPts val="0"/>
                        </a:spcAft>
                        <a:buNone/>
                      </a:pPr>
                      <a:r>
                        <a:rPr lang="en" sz="1200" b="1"/>
                        <a:t>Character</a:t>
                      </a:r>
                      <a:endParaRPr sz="12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ctr" rtl="0">
                        <a:lnSpc>
                          <a:spcPct val="100000"/>
                        </a:lnSpc>
                        <a:spcBef>
                          <a:spcPts val="0"/>
                        </a:spcBef>
                        <a:spcAft>
                          <a:spcPts val="0"/>
                        </a:spcAft>
                        <a:buNone/>
                      </a:pPr>
                      <a:r>
                        <a:rPr lang="en" sz="1200" b="1"/>
                        <a:t>Entity Name</a:t>
                      </a:r>
                      <a:endParaRPr sz="12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ctr" rtl="0">
                        <a:lnSpc>
                          <a:spcPct val="100000"/>
                        </a:lnSpc>
                        <a:spcBef>
                          <a:spcPts val="0"/>
                        </a:spcBef>
                        <a:spcAft>
                          <a:spcPts val="0"/>
                        </a:spcAft>
                        <a:buNone/>
                      </a:pPr>
                      <a:r>
                        <a:rPr lang="en" sz="1200" b="1"/>
                        <a:t>Entity Number</a:t>
                      </a:r>
                      <a:endParaRPr sz="12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248975">
                <a:tc>
                  <a:txBody>
                    <a:bodyPr/>
                    <a:lstStyle/>
                    <a:p>
                      <a:pPr marL="0" lvl="0" indent="0" algn="ctr" rtl="0">
                        <a:lnSpc>
                          <a:spcPct val="100000"/>
                        </a:lnSpc>
                        <a:spcBef>
                          <a:spcPts val="0"/>
                        </a:spcBef>
                        <a:spcAft>
                          <a:spcPts val="0"/>
                        </a:spcAft>
                        <a:buNone/>
                      </a:pPr>
                      <a:r>
                        <a:rPr lang="en" sz="1200" b="1"/>
                        <a:t>&lt;</a:t>
                      </a:r>
                      <a:endParaRPr sz="12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200"/>
                        <a:t>&amp;lt;</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200"/>
                        <a:t>&amp;#60;</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328425">
                <a:tc>
                  <a:txBody>
                    <a:bodyPr/>
                    <a:lstStyle/>
                    <a:p>
                      <a:pPr marL="0" lvl="0" indent="0" algn="ctr" rtl="0">
                        <a:lnSpc>
                          <a:spcPct val="100000"/>
                        </a:lnSpc>
                        <a:spcBef>
                          <a:spcPts val="0"/>
                        </a:spcBef>
                        <a:spcAft>
                          <a:spcPts val="0"/>
                        </a:spcAft>
                        <a:buNone/>
                      </a:pPr>
                      <a:r>
                        <a:rPr lang="en" sz="1200" b="1"/>
                        <a:t>&gt;</a:t>
                      </a:r>
                      <a:endParaRPr sz="12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200"/>
                        <a:t>&amp;gt;</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200"/>
                        <a:t>&amp;#62;</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248975">
                <a:tc>
                  <a:txBody>
                    <a:bodyPr/>
                    <a:lstStyle/>
                    <a:p>
                      <a:pPr marL="0" lvl="0" indent="0" algn="ctr" rtl="0">
                        <a:lnSpc>
                          <a:spcPct val="100000"/>
                        </a:lnSpc>
                        <a:spcBef>
                          <a:spcPts val="0"/>
                        </a:spcBef>
                        <a:spcAft>
                          <a:spcPts val="0"/>
                        </a:spcAft>
                        <a:buNone/>
                      </a:pPr>
                      <a:r>
                        <a:rPr lang="en" sz="1200" b="1"/>
                        <a:t>&amp;</a:t>
                      </a:r>
                      <a:endParaRPr sz="12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200"/>
                        <a:t>&amp;amp;</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200"/>
                        <a:t>&amp;#38;</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328425">
                <a:tc>
                  <a:txBody>
                    <a:bodyPr/>
                    <a:lstStyle/>
                    <a:p>
                      <a:pPr marL="0" lvl="0" indent="0" algn="ctr" rtl="0">
                        <a:lnSpc>
                          <a:spcPct val="100000"/>
                        </a:lnSpc>
                        <a:spcBef>
                          <a:spcPts val="0"/>
                        </a:spcBef>
                        <a:spcAft>
                          <a:spcPts val="0"/>
                        </a:spcAft>
                        <a:buNone/>
                      </a:pPr>
                      <a:r>
                        <a:rPr lang="en" sz="1200" b="1"/>
                        <a:t>"</a:t>
                      </a:r>
                      <a:endParaRPr sz="12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200"/>
                        <a:t>&amp;quot;</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200"/>
                        <a:t>&amp;#34;</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407900">
                <a:tc>
                  <a:txBody>
                    <a:bodyPr/>
                    <a:lstStyle/>
                    <a:p>
                      <a:pPr marL="0" lvl="0" indent="0" algn="ctr" rtl="0">
                        <a:lnSpc>
                          <a:spcPct val="100000"/>
                        </a:lnSpc>
                        <a:spcBef>
                          <a:spcPts val="0"/>
                        </a:spcBef>
                        <a:spcAft>
                          <a:spcPts val="0"/>
                        </a:spcAft>
                        <a:buNone/>
                      </a:pPr>
                      <a:r>
                        <a:rPr lang="en" sz="1200" b="1"/>
                        <a:t>'</a:t>
                      </a:r>
                      <a:endParaRPr sz="12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200"/>
                        <a:t>&amp;apos;</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200"/>
                        <a:t>&amp;#39;</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239425">
                <a:tc>
                  <a:txBody>
                    <a:bodyPr/>
                    <a:lstStyle/>
                    <a:p>
                      <a:pPr marL="0" lvl="0" indent="0" algn="ctr" rtl="0">
                        <a:lnSpc>
                          <a:spcPct val="100000"/>
                        </a:lnSpc>
                        <a:spcBef>
                          <a:spcPts val="0"/>
                        </a:spcBef>
                        <a:spcAft>
                          <a:spcPts val="0"/>
                        </a:spcAft>
                        <a:buNone/>
                      </a:pPr>
                      <a:r>
                        <a:rPr lang="en" sz="1200"/>
                        <a:t>Space (non-breaking)</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200"/>
                        <a:t>&amp;nbsp;</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200"/>
                        <a:t>&amp;#160;</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graphicFrame>
        <p:nvGraphicFramePr>
          <p:cNvPr id="195" name="Google Shape;195;p29"/>
          <p:cNvGraphicFramePr/>
          <p:nvPr/>
        </p:nvGraphicFramePr>
        <p:xfrm>
          <a:off x="4648200" y="1342950"/>
          <a:ext cx="3924300" cy="3657300"/>
        </p:xfrm>
        <a:graphic>
          <a:graphicData uri="http://schemas.openxmlformats.org/drawingml/2006/table">
            <a:tbl>
              <a:tblPr>
                <a:noFill/>
                <a:tableStyleId>{EEE5C1D8-EC83-4F6E-A83C-C6FD04C83F62}</a:tableStyleId>
              </a:tblPr>
              <a:tblGrid>
                <a:gridCol w="1308100">
                  <a:extLst>
                    <a:ext uri="{9D8B030D-6E8A-4147-A177-3AD203B41FA5}">
                      <a16:colId xmlns:a16="http://schemas.microsoft.com/office/drawing/2014/main" val="20000"/>
                    </a:ext>
                  </a:extLst>
                </a:gridCol>
                <a:gridCol w="1308100">
                  <a:extLst>
                    <a:ext uri="{9D8B030D-6E8A-4147-A177-3AD203B41FA5}">
                      <a16:colId xmlns:a16="http://schemas.microsoft.com/office/drawing/2014/main" val="20001"/>
                    </a:ext>
                  </a:extLst>
                </a:gridCol>
                <a:gridCol w="1308100">
                  <a:extLst>
                    <a:ext uri="{9D8B030D-6E8A-4147-A177-3AD203B41FA5}">
                      <a16:colId xmlns:a16="http://schemas.microsoft.com/office/drawing/2014/main" val="20002"/>
                    </a:ext>
                  </a:extLst>
                </a:gridCol>
              </a:tblGrid>
              <a:tr h="340975">
                <a:tc>
                  <a:txBody>
                    <a:bodyPr/>
                    <a:lstStyle/>
                    <a:p>
                      <a:pPr marL="0" lvl="0" indent="0" algn="ctr" rtl="0">
                        <a:lnSpc>
                          <a:spcPct val="100000"/>
                        </a:lnSpc>
                        <a:spcBef>
                          <a:spcPts val="0"/>
                        </a:spcBef>
                        <a:spcAft>
                          <a:spcPts val="0"/>
                        </a:spcAft>
                        <a:buNone/>
                      </a:pPr>
                      <a:r>
                        <a:rPr lang="en" sz="1200" b="1"/>
                        <a:t>©</a:t>
                      </a:r>
                      <a:endParaRPr sz="12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200"/>
                        <a:t>&amp;copy;</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200"/>
                        <a:t>&amp;#169;</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340975">
                <a:tc>
                  <a:txBody>
                    <a:bodyPr/>
                    <a:lstStyle/>
                    <a:p>
                      <a:pPr marL="0" lvl="0" indent="0" algn="ctr" rtl="0">
                        <a:lnSpc>
                          <a:spcPct val="100000"/>
                        </a:lnSpc>
                        <a:spcBef>
                          <a:spcPts val="0"/>
                        </a:spcBef>
                        <a:spcAft>
                          <a:spcPts val="0"/>
                        </a:spcAft>
                        <a:buNone/>
                      </a:pPr>
                      <a:r>
                        <a:rPr lang="en" sz="1200" b="1"/>
                        <a:t>®</a:t>
                      </a:r>
                      <a:endParaRPr sz="12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200"/>
                        <a:t>&amp;reg;</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200"/>
                        <a:t>&amp;#174;</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340975">
                <a:tc>
                  <a:txBody>
                    <a:bodyPr/>
                    <a:lstStyle/>
                    <a:p>
                      <a:pPr marL="0" lvl="0" indent="0" algn="ctr" rtl="0">
                        <a:lnSpc>
                          <a:spcPct val="100000"/>
                        </a:lnSpc>
                        <a:spcBef>
                          <a:spcPts val="0"/>
                        </a:spcBef>
                        <a:spcAft>
                          <a:spcPts val="0"/>
                        </a:spcAft>
                        <a:buNone/>
                      </a:pPr>
                      <a:r>
                        <a:rPr lang="en" sz="1200"/>
                        <a:t>™</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200"/>
                        <a:t>&amp;trade;</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200"/>
                        <a:t>&amp;#8482;</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340975">
                <a:tc>
                  <a:txBody>
                    <a:bodyPr/>
                    <a:lstStyle/>
                    <a:p>
                      <a:pPr marL="0" lvl="0" indent="0" algn="ctr" rtl="0">
                        <a:lnSpc>
                          <a:spcPct val="100000"/>
                        </a:lnSpc>
                        <a:spcBef>
                          <a:spcPts val="0"/>
                        </a:spcBef>
                        <a:spcAft>
                          <a:spcPts val="0"/>
                        </a:spcAft>
                        <a:buNone/>
                      </a:pPr>
                      <a:r>
                        <a:rPr lang="en" sz="1200"/>
                        <a:t>€</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200"/>
                        <a:t>&amp;euro;</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200"/>
                        <a:t>&amp;#8364;</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340975">
                <a:tc>
                  <a:txBody>
                    <a:bodyPr/>
                    <a:lstStyle/>
                    <a:p>
                      <a:pPr marL="0" lvl="0" indent="0" algn="ctr" rtl="0">
                        <a:lnSpc>
                          <a:spcPct val="100000"/>
                        </a:lnSpc>
                        <a:spcBef>
                          <a:spcPts val="0"/>
                        </a:spcBef>
                        <a:spcAft>
                          <a:spcPts val="0"/>
                        </a:spcAft>
                        <a:buNone/>
                      </a:pPr>
                      <a:r>
                        <a:rPr lang="en" sz="1200" b="1"/>
                        <a:t>£</a:t>
                      </a:r>
                      <a:endParaRPr sz="12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200"/>
                        <a:t>&amp;pound;</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200"/>
                        <a:t>&amp;#163;</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340975">
                <a:tc>
                  <a:txBody>
                    <a:bodyPr/>
                    <a:lstStyle/>
                    <a:p>
                      <a:pPr marL="0" lvl="0" indent="0" algn="ctr" rtl="0">
                        <a:lnSpc>
                          <a:spcPct val="100000"/>
                        </a:lnSpc>
                        <a:spcBef>
                          <a:spcPts val="0"/>
                        </a:spcBef>
                        <a:spcAft>
                          <a:spcPts val="0"/>
                        </a:spcAft>
                        <a:buNone/>
                      </a:pPr>
                      <a:r>
                        <a:rPr lang="en" sz="1200" b="1"/>
                        <a:t>¥</a:t>
                      </a:r>
                      <a:endParaRPr sz="12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200"/>
                        <a:t>&amp;yen;</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200"/>
                        <a:t>&amp;#165;</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340975">
                <a:tc>
                  <a:txBody>
                    <a:bodyPr/>
                    <a:lstStyle/>
                    <a:p>
                      <a:pPr marL="0" lvl="0" indent="0" algn="ctr" rtl="0">
                        <a:lnSpc>
                          <a:spcPct val="100000"/>
                        </a:lnSpc>
                        <a:spcBef>
                          <a:spcPts val="0"/>
                        </a:spcBef>
                        <a:spcAft>
                          <a:spcPts val="0"/>
                        </a:spcAft>
                        <a:buNone/>
                      </a:pPr>
                      <a:r>
                        <a:rPr lang="en" sz="1200"/>
                        <a:t>→</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200"/>
                        <a:t>&amp;rarr;</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200"/>
                        <a:t>&amp;#8594;</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340975">
                <a:tc>
                  <a:txBody>
                    <a:bodyPr/>
                    <a:lstStyle/>
                    <a:p>
                      <a:pPr marL="0" lvl="0" indent="0" algn="ctr" rtl="0">
                        <a:lnSpc>
                          <a:spcPct val="100000"/>
                        </a:lnSpc>
                        <a:spcBef>
                          <a:spcPts val="0"/>
                        </a:spcBef>
                        <a:spcAft>
                          <a:spcPts val="0"/>
                        </a:spcAft>
                        <a:buNone/>
                      </a:pPr>
                      <a:r>
                        <a:rPr lang="en" sz="1200"/>
                        <a:t>←</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200"/>
                        <a:t>&amp;larr;</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200"/>
                        <a:t>&amp;#8592;</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340975">
                <a:tc>
                  <a:txBody>
                    <a:bodyPr/>
                    <a:lstStyle/>
                    <a:p>
                      <a:pPr marL="0" lvl="0" indent="0" algn="ctr" rtl="0">
                        <a:lnSpc>
                          <a:spcPct val="100000"/>
                        </a:lnSpc>
                        <a:spcBef>
                          <a:spcPts val="0"/>
                        </a:spcBef>
                        <a:spcAft>
                          <a:spcPts val="0"/>
                        </a:spcAft>
                        <a:buNone/>
                      </a:pPr>
                      <a:r>
                        <a:rPr lang="en" sz="1200"/>
                        <a:t>↑</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200"/>
                        <a:t>&amp;uarr;</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200"/>
                        <a:t>&amp;#8593;</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340975">
                <a:tc>
                  <a:txBody>
                    <a:bodyPr/>
                    <a:lstStyle/>
                    <a:p>
                      <a:pPr marL="0" lvl="0" indent="0" algn="ctr" rtl="0">
                        <a:lnSpc>
                          <a:spcPct val="100000"/>
                        </a:lnSpc>
                        <a:spcBef>
                          <a:spcPts val="0"/>
                        </a:spcBef>
                        <a:spcAft>
                          <a:spcPts val="0"/>
                        </a:spcAft>
                        <a:buNone/>
                      </a:pPr>
                      <a:r>
                        <a:rPr lang="en" sz="1200"/>
                        <a:t>↓</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200"/>
                        <a:t>&amp;darr;</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200"/>
                        <a:t>&amp;#8595;</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30"/>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Thematic Element ─ &lt;hr&gt;</a:t>
            </a:r>
            <a:endParaRPr/>
          </a:p>
          <a:p>
            <a:pPr marL="0" lvl="0" indent="0" algn="l" rtl="0">
              <a:spcBef>
                <a:spcPts val="0"/>
              </a:spcBef>
              <a:spcAft>
                <a:spcPts val="0"/>
              </a:spcAft>
              <a:buNone/>
            </a:pPr>
            <a:endParaRPr/>
          </a:p>
        </p:txBody>
      </p:sp>
      <p:sp>
        <p:nvSpPr>
          <p:cNvPr id="201" name="Google Shape;201;p3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A thematic break between paragraph-level elements, serving as semantic terms now, hr stands for horizontal rule.</a:t>
            </a:r>
            <a:endParaRPr/>
          </a:p>
          <a:p>
            <a:pPr marL="457200" lvl="0" indent="-342900" algn="l" rtl="0">
              <a:spcBef>
                <a:spcPts val="0"/>
              </a:spcBef>
              <a:spcAft>
                <a:spcPts val="0"/>
              </a:spcAft>
              <a:buSzPts val="1800"/>
              <a:buChar char="●"/>
            </a:pPr>
            <a:r>
              <a:rPr lang="en"/>
              <a:t>A void element.</a:t>
            </a:r>
            <a:endParaRPr/>
          </a:p>
          <a:p>
            <a:pPr marL="457200" lvl="0" indent="-342900" algn="l" rtl="0">
              <a:spcBef>
                <a:spcPts val="0"/>
              </a:spcBef>
              <a:spcAft>
                <a:spcPts val="0"/>
              </a:spcAft>
              <a:buSzPts val="1800"/>
              <a:buChar char="●"/>
            </a:pPr>
            <a:r>
              <a:rPr lang="en"/>
              <a:t>Using CSS for presentational style is recommended.</a:t>
            </a:r>
            <a:endParaRPr/>
          </a:p>
        </p:txBody>
      </p:sp>
      <p:sp>
        <p:nvSpPr>
          <p:cNvPr id="202" name="Google Shape;202;p30"/>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31"/>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 Example of &lt;hr&gt; </a:t>
            </a:r>
            <a:endParaRPr/>
          </a:p>
          <a:p>
            <a:pPr marL="0" lvl="0" indent="0" algn="l" rtl="0">
              <a:spcBef>
                <a:spcPts val="0"/>
              </a:spcBef>
              <a:spcAft>
                <a:spcPts val="0"/>
              </a:spcAft>
              <a:buNone/>
            </a:pPr>
            <a:endParaRPr/>
          </a:p>
        </p:txBody>
      </p:sp>
      <p:sp>
        <p:nvSpPr>
          <p:cNvPr id="208" name="Google Shape;208;p31"/>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19</a:t>
            </a:fld>
            <a:endParaRPr/>
          </a:p>
        </p:txBody>
      </p:sp>
      <p:pic>
        <p:nvPicPr>
          <p:cNvPr id="209" name="Google Shape;209;p31"/>
          <p:cNvPicPr preferRelativeResize="0"/>
          <p:nvPr/>
        </p:nvPicPr>
        <p:blipFill>
          <a:blip r:embed="rId3">
            <a:alphaModFix/>
          </a:blip>
          <a:stretch>
            <a:fillRect/>
          </a:stretch>
        </p:blipFill>
        <p:spPr>
          <a:xfrm>
            <a:off x="453750" y="1154250"/>
            <a:ext cx="3863550" cy="2803925"/>
          </a:xfrm>
          <a:prstGeom prst="rect">
            <a:avLst/>
          </a:prstGeom>
          <a:noFill/>
          <a:ln w="9525" cap="flat" cmpd="sng">
            <a:solidFill>
              <a:schemeClr val="dk2"/>
            </a:solidFill>
            <a:prstDash val="solid"/>
            <a:round/>
            <a:headEnd type="none" w="sm" len="sm"/>
            <a:tailEnd type="none" w="sm" len="sm"/>
          </a:ln>
        </p:spPr>
      </p:pic>
      <p:pic>
        <p:nvPicPr>
          <p:cNvPr id="210" name="Google Shape;210;p31"/>
          <p:cNvPicPr preferRelativeResize="0"/>
          <p:nvPr/>
        </p:nvPicPr>
        <p:blipFill>
          <a:blip r:embed="rId4">
            <a:alphaModFix/>
          </a:blip>
          <a:stretch>
            <a:fillRect/>
          </a:stretch>
        </p:blipFill>
        <p:spPr>
          <a:xfrm>
            <a:off x="453750" y="4178254"/>
            <a:ext cx="8378551" cy="683596"/>
          </a:xfrm>
          <a:prstGeom prst="rect">
            <a:avLst/>
          </a:prstGeom>
          <a:noFill/>
          <a:ln w="9525" cap="flat" cmpd="sng">
            <a:solidFill>
              <a:srgbClr val="FF9900"/>
            </a:solidFill>
            <a:prstDash val="solid"/>
            <a:round/>
            <a:headEnd type="none" w="sm" len="sm"/>
            <a:tailEnd type="none" w="sm" len="sm"/>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32"/>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Line breaker ─ &lt;br&gt; </a:t>
            </a:r>
            <a:endParaRPr/>
          </a:p>
        </p:txBody>
      </p:sp>
      <p:sp>
        <p:nvSpPr>
          <p:cNvPr id="216" name="Google Shape;216;p32"/>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20</a:t>
            </a:fld>
            <a:endParaRPr/>
          </a:p>
        </p:txBody>
      </p:sp>
      <p:sp>
        <p:nvSpPr>
          <p:cNvPr id="217" name="Google Shape;217;p32"/>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sz="1800"/>
              <a:t>Creates a line break within a text block. It's used to start a new line without creating a new paragraph.</a:t>
            </a:r>
            <a:endParaRPr sz="1800"/>
          </a:p>
        </p:txBody>
      </p:sp>
      <p:pic>
        <p:nvPicPr>
          <p:cNvPr id="218" name="Google Shape;218;p32"/>
          <p:cNvPicPr preferRelativeResize="0"/>
          <p:nvPr/>
        </p:nvPicPr>
        <p:blipFill>
          <a:blip r:embed="rId3">
            <a:alphaModFix/>
          </a:blip>
          <a:stretch>
            <a:fillRect/>
          </a:stretch>
        </p:blipFill>
        <p:spPr>
          <a:xfrm>
            <a:off x="210300" y="4217607"/>
            <a:ext cx="8340273" cy="759417"/>
          </a:xfrm>
          <a:prstGeom prst="rect">
            <a:avLst/>
          </a:prstGeom>
          <a:noFill/>
          <a:ln w="9525" cap="flat" cmpd="sng">
            <a:solidFill>
              <a:srgbClr val="FF9900"/>
            </a:solidFill>
            <a:prstDash val="solid"/>
            <a:round/>
            <a:headEnd type="none" w="sm" len="sm"/>
            <a:tailEnd type="none" w="sm" len="sm"/>
          </a:ln>
        </p:spPr>
      </p:pic>
      <p:pic>
        <p:nvPicPr>
          <p:cNvPr id="219" name="Google Shape;219;p32"/>
          <p:cNvPicPr preferRelativeResize="0"/>
          <p:nvPr/>
        </p:nvPicPr>
        <p:blipFill>
          <a:blip r:embed="rId4">
            <a:alphaModFix/>
          </a:blip>
          <a:stretch>
            <a:fillRect/>
          </a:stretch>
        </p:blipFill>
        <p:spPr>
          <a:xfrm>
            <a:off x="4694675" y="1121600"/>
            <a:ext cx="3690901" cy="2900301"/>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3"/>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Grouping Elements ─ &lt;div&gt; and &lt;span&gt;</a:t>
            </a:r>
            <a:endParaRPr/>
          </a:p>
        </p:txBody>
      </p:sp>
      <p:sp>
        <p:nvSpPr>
          <p:cNvPr id="225" name="Google Shape;225;p3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&lt;div&gt;</a:t>
            </a:r>
            <a:endParaRPr/>
          </a:p>
          <a:p>
            <a:pPr marL="914400" lvl="1" indent="-317500" algn="l" rtl="0">
              <a:spcBef>
                <a:spcPts val="0"/>
              </a:spcBef>
              <a:spcAft>
                <a:spcPts val="0"/>
              </a:spcAft>
              <a:buSzPts val="1400"/>
              <a:buChar char="○"/>
            </a:pPr>
            <a:r>
              <a:rPr lang="en"/>
              <a:t>A generic block-level container for flow content, i.e. all valid elements within &lt;body&gt;.</a:t>
            </a:r>
            <a:endParaRPr/>
          </a:p>
          <a:p>
            <a:pPr marL="1371600" lvl="2" indent="-317500" algn="l" rtl="0">
              <a:spcBef>
                <a:spcPts val="0"/>
              </a:spcBef>
              <a:spcAft>
                <a:spcPts val="0"/>
              </a:spcAft>
              <a:buSzPts val="1400"/>
              <a:buChar char="■"/>
            </a:pPr>
            <a:r>
              <a:rPr lang="en"/>
              <a:t>Can be a child element of flow content except for &lt;p&gt; and &lt;button&gt;</a:t>
            </a:r>
            <a:endParaRPr/>
          </a:p>
          <a:p>
            <a:pPr marL="457200" lvl="0" indent="-342900" algn="l" rtl="0">
              <a:spcBef>
                <a:spcPts val="0"/>
              </a:spcBef>
              <a:spcAft>
                <a:spcPts val="0"/>
              </a:spcAft>
              <a:buSzPts val="1800"/>
              <a:buChar char="●"/>
            </a:pPr>
            <a:r>
              <a:rPr lang="en"/>
              <a:t>&lt;span&gt;</a:t>
            </a:r>
            <a:endParaRPr/>
          </a:p>
          <a:p>
            <a:pPr marL="914400" lvl="1" indent="-317500" algn="l" rtl="0">
              <a:spcBef>
                <a:spcPts val="0"/>
              </a:spcBef>
              <a:spcAft>
                <a:spcPts val="0"/>
              </a:spcAft>
              <a:buSzPts val="1400"/>
              <a:buChar char="○"/>
            </a:pPr>
            <a:r>
              <a:rPr lang="en"/>
              <a:t>A generic inline container for phrasing content, i.e. all textual elements including audio and video.</a:t>
            </a:r>
            <a:endParaRPr/>
          </a:p>
          <a:p>
            <a:pPr marL="1371600" lvl="2" indent="-317500" algn="l" rtl="0">
              <a:spcBef>
                <a:spcPts val="0"/>
              </a:spcBef>
              <a:spcAft>
                <a:spcPts val="0"/>
              </a:spcAft>
              <a:buSzPts val="1400"/>
              <a:buChar char="■"/>
            </a:pPr>
            <a:r>
              <a:rPr lang="en"/>
              <a:t>Can be a child element of phrasing content</a:t>
            </a:r>
            <a:endParaRPr/>
          </a:p>
          <a:p>
            <a:pPr marL="457200" lvl="0" indent="-342900" algn="l" rtl="0">
              <a:spcBef>
                <a:spcPts val="0"/>
              </a:spcBef>
              <a:spcAft>
                <a:spcPts val="0"/>
              </a:spcAft>
              <a:buSzPts val="1800"/>
              <a:buChar char="●"/>
            </a:pPr>
            <a:r>
              <a:rPr lang="en"/>
              <a:t>Both elements have no effect on the content or layout until styled in some way using CSS.</a:t>
            </a:r>
            <a:endParaRPr/>
          </a:p>
          <a:p>
            <a:pPr marL="914400" lvl="1" indent="-317500" algn="l" rtl="0">
              <a:spcBef>
                <a:spcPts val="0"/>
              </a:spcBef>
              <a:spcAft>
                <a:spcPts val="0"/>
              </a:spcAft>
              <a:buSzPts val="1400"/>
              <a:buChar char="○"/>
            </a:pPr>
            <a:r>
              <a:rPr lang="en"/>
              <a:t>No semantic implication but commonly used to be a placeholder for dynamic content or styling.</a:t>
            </a:r>
            <a:endParaRPr/>
          </a:p>
        </p:txBody>
      </p:sp>
      <p:sp>
        <p:nvSpPr>
          <p:cNvPr id="226" name="Google Shape;226;p33"/>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3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 Example of &lt;div&gt;</a:t>
            </a:r>
            <a:endParaRPr/>
          </a:p>
        </p:txBody>
      </p:sp>
      <p:sp>
        <p:nvSpPr>
          <p:cNvPr id="232" name="Google Shape;232;p34"/>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22</a:t>
            </a:fld>
            <a:endParaRPr/>
          </a:p>
        </p:txBody>
      </p:sp>
      <p:pic>
        <p:nvPicPr>
          <p:cNvPr id="233" name="Google Shape;233;p34"/>
          <p:cNvPicPr preferRelativeResize="0"/>
          <p:nvPr/>
        </p:nvPicPr>
        <p:blipFill>
          <a:blip r:embed="rId3">
            <a:alphaModFix/>
          </a:blip>
          <a:stretch>
            <a:fillRect/>
          </a:stretch>
        </p:blipFill>
        <p:spPr>
          <a:xfrm>
            <a:off x="249600" y="3237725"/>
            <a:ext cx="8839201" cy="1074788"/>
          </a:xfrm>
          <a:prstGeom prst="rect">
            <a:avLst/>
          </a:prstGeom>
          <a:noFill/>
          <a:ln w="9525" cap="flat" cmpd="sng">
            <a:solidFill>
              <a:srgbClr val="FF9900"/>
            </a:solidFill>
            <a:prstDash val="solid"/>
            <a:round/>
            <a:headEnd type="none" w="sm" len="sm"/>
            <a:tailEnd type="none" w="sm" len="sm"/>
          </a:ln>
        </p:spPr>
      </p:pic>
      <p:pic>
        <p:nvPicPr>
          <p:cNvPr id="234" name="Google Shape;234;p34"/>
          <p:cNvPicPr preferRelativeResize="0"/>
          <p:nvPr/>
        </p:nvPicPr>
        <p:blipFill>
          <a:blip r:embed="rId4">
            <a:alphaModFix/>
          </a:blip>
          <a:stretch>
            <a:fillRect/>
          </a:stretch>
        </p:blipFill>
        <p:spPr>
          <a:xfrm>
            <a:off x="249600" y="1251450"/>
            <a:ext cx="2723403" cy="1320300"/>
          </a:xfrm>
          <a:prstGeom prst="rect">
            <a:avLst/>
          </a:prstGeom>
          <a:noFill/>
          <a:ln w="9525" cap="flat" cmpd="sng">
            <a:solidFill>
              <a:schemeClr val="dk2"/>
            </a:solidFill>
            <a:prstDash val="solid"/>
            <a:round/>
            <a:headEnd type="none" w="sm" len="sm"/>
            <a:tailEnd type="none" w="sm" len="sm"/>
          </a:ln>
        </p:spPr>
      </p:pic>
      <p:pic>
        <p:nvPicPr>
          <p:cNvPr id="235" name="Google Shape;235;p34"/>
          <p:cNvPicPr preferRelativeResize="0"/>
          <p:nvPr/>
        </p:nvPicPr>
        <p:blipFill>
          <a:blip r:embed="rId5">
            <a:alphaModFix/>
          </a:blip>
          <a:stretch>
            <a:fillRect/>
          </a:stretch>
        </p:blipFill>
        <p:spPr>
          <a:xfrm>
            <a:off x="3106450" y="1251450"/>
            <a:ext cx="3373551" cy="1711375"/>
          </a:xfrm>
          <a:prstGeom prst="rect">
            <a:avLst/>
          </a:prstGeom>
          <a:noFill/>
          <a:ln w="9525" cap="flat" cmpd="sng">
            <a:solidFill>
              <a:schemeClr val="dk2"/>
            </a:solidFill>
            <a:prstDash val="solid"/>
            <a:round/>
            <a:headEnd type="none" w="sm" len="sm"/>
            <a:tailEnd type="none" w="sm" len="sm"/>
          </a:ln>
        </p:spPr>
      </p:pic>
      <p:pic>
        <p:nvPicPr>
          <p:cNvPr id="236" name="Google Shape;236;p34"/>
          <p:cNvPicPr preferRelativeResize="0"/>
          <p:nvPr/>
        </p:nvPicPr>
        <p:blipFill>
          <a:blip r:embed="rId6">
            <a:alphaModFix/>
          </a:blip>
          <a:stretch>
            <a:fillRect/>
          </a:stretch>
        </p:blipFill>
        <p:spPr>
          <a:xfrm>
            <a:off x="6613450" y="1251450"/>
            <a:ext cx="2361141" cy="1711375"/>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5"/>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Global Attributes</a:t>
            </a:r>
            <a:endParaRPr/>
          </a:p>
        </p:txBody>
      </p:sp>
      <p:sp>
        <p:nvSpPr>
          <p:cNvPr id="242" name="Google Shape;242;p35"/>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23</a:t>
            </a:fld>
            <a:endParaRPr/>
          </a:p>
        </p:txBody>
      </p:sp>
      <p:sp>
        <p:nvSpPr>
          <p:cNvPr id="243" name="Google Shape;243;p3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Global attributes are attributes common to all HTML elements; they can be used on all elements, though they may have no effect on some elements.</a:t>
            </a:r>
            <a:endParaRPr/>
          </a:p>
          <a:p>
            <a:pPr marL="457200" lvl="0" indent="-342900" algn="l" rtl="0">
              <a:spcBef>
                <a:spcPts val="0"/>
              </a:spcBef>
              <a:spcAft>
                <a:spcPts val="0"/>
              </a:spcAft>
              <a:buSzPts val="1800"/>
              <a:buChar char="●"/>
            </a:pPr>
            <a:r>
              <a:rPr lang="en"/>
              <a:t>Control things like element styling, identification, accessibility, and event handling, allowing you to modify how elements behave and interact within a webpage.</a:t>
            </a:r>
            <a:endParaRPr/>
          </a:p>
          <a:p>
            <a:pPr marL="457200" lvl="0" indent="-342900" algn="l" rtl="0">
              <a:spcBef>
                <a:spcPts val="0"/>
              </a:spcBef>
              <a:spcAft>
                <a:spcPts val="0"/>
              </a:spcAft>
              <a:buSzPts val="1800"/>
              <a:buChar char="●"/>
            </a:pPr>
            <a:r>
              <a:rPr lang="en"/>
              <a:t>Offer a consistent way to manage common element characteristics across different browsers and devices.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36"/>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Global Attributes ─ id</a:t>
            </a:r>
            <a:endParaRPr/>
          </a:p>
        </p:txBody>
      </p:sp>
      <p:sp>
        <p:nvSpPr>
          <p:cNvPr id="249" name="Google Shape;249;p36"/>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24</a:t>
            </a:fld>
            <a:endParaRPr/>
          </a:p>
        </p:txBody>
      </p:sp>
      <p:sp>
        <p:nvSpPr>
          <p:cNvPr id="250" name="Google Shape;250;p3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The </a:t>
            </a:r>
            <a:r>
              <a:rPr lang="en" b="1"/>
              <a:t>id</a:t>
            </a:r>
            <a:r>
              <a:rPr lang="en"/>
              <a:t> attribute defines an identifier (ID) that must be unique within the entire document.</a:t>
            </a:r>
            <a:endParaRPr/>
          </a:p>
          <a:p>
            <a:pPr marL="457200" lvl="0" indent="-342900" algn="l" rtl="0">
              <a:spcBef>
                <a:spcPts val="0"/>
              </a:spcBef>
              <a:spcAft>
                <a:spcPts val="0"/>
              </a:spcAft>
              <a:buSzPts val="1800"/>
              <a:buChar char="●"/>
            </a:pPr>
            <a:r>
              <a:rPr lang="en"/>
              <a:t>Technically, the value for an ID attribute may contain any other Unicode character except for ASCII whitespace characters (space, tab or carriage return).</a:t>
            </a:r>
            <a:endParaRPr/>
          </a:p>
          <a:p>
            <a:pPr marL="457200" lvl="0" indent="-342900" algn="l" rtl="0">
              <a:spcBef>
                <a:spcPts val="0"/>
              </a:spcBef>
              <a:spcAft>
                <a:spcPts val="0"/>
              </a:spcAft>
              <a:buSzPts val="1800"/>
              <a:buChar char="●"/>
            </a:pPr>
            <a:r>
              <a:rPr lang="en"/>
              <a:t>Naming best practice: lower alphabets connected by ‘-’ (avoid using CSS or JavaScript reserved words as ID values.)</a:t>
            </a:r>
            <a:endParaRPr/>
          </a:p>
          <a:p>
            <a:pPr marL="457200" lvl="0" indent="-342900" algn="l" rtl="0">
              <a:spcBef>
                <a:spcPts val="0"/>
              </a:spcBef>
              <a:spcAft>
                <a:spcPts val="0"/>
              </a:spcAft>
              <a:buSzPts val="1800"/>
              <a:buChar char="●"/>
            </a:pPr>
            <a:r>
              <a:rPr lang="en" b="1"/>
              <a:t>id</a:t>
            </a:r>
            <a:r>
              <a:rPr lang="en"/>
              <a:t> value is case-sensitive.</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37"/>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Global Attributes ─ class</a:t>
            </a:r>
            <a:endParaRPr/>
          </a:p>
        </p:txBody>
      </p:sp>
      <p:sp>
        <p:nvSpPr>
          <p:cNvPr id="256" name="Google Shape;256;p37"/>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25</a:t>
            </a:fld>
            <a:endParaRPr/>
          </a:p>
        </p:txBody>
      </p:sp>
      <p:sp>
        <p:nvSpPr>
          <p:cNvPr id="257" name="Google Shape;257;p37"/>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SzPts val="1400"/>
              <a:buChar char="●"/>
            </a:pPr>
            <a:r>
              <a:rPr lang="en"/>
              <a:t>The </a:t>
            </a:r>
            <a:r>
              <a:rPr lang="en" b="1"/>
              <a:t>class</a:t>
            </a:r>
            <a:r>
              <a:rPr lang="en"/>
              <a:t> attribute defines a space-separated list of the classes of the element, i.e. an element can have multiple classes.</a:t>
            </a:r>
            <a:endParaRPr/>
          </a:p>
          <a:p>
            <a:pPr marL="457200" lvl="0" indent="-317500" algn="l" rtl="0">
              <a:spcBef>
                <a:spcPts val="0"/>
              </a:spcBef>
              <a:spcAft>
                <a:spcPts val="0"/>
              </a:spcAft>
              <a:buSzPts val="1400"/>
              <a:buChar char="●"/>
            </a:pPr>
            <a:r>
              <a:rPr lang="en"/>
              <a:t>Allow CSS and JavaScript to select and access specific elements via the class selectors or functions like the method Document.getElementsByClassName().</a:t>
            </a:r>
            <a:endParaRPr/>
          </a:p>
          <a:p>
            <a:pPr marL="457200" lvl="0" indent="-317500" algn="l" rtl="0">
              <a:spcBef>
                <a:spcPts val="0"/>
              </a:spcBef>
              <a:spcAft>
                <a:spcPts val="0"/>
              </a:spcAft>
              <a:buSzPts val="1400"/>
              <a:buChar char="●"/>
            </a:pPr>
            <a:r>
              <a:rPr lang="en"/>
              <a:t>Naming best practice: lower alphabets connected by ‘-’ (avoid using CSS or JavaScript reserved words as ID values.)</a:t>
            </a:r>
            <a:endParaRPr/>
          </a:p>
          <a:p>
            <a:pPr marL="457200" lvl="0" indent="-317500" algn="l" rtl="0">
              <a:spcBef>
                <a:spcPts val="0"/>
              </a:spcBef>
              <a:spcAft>
                <a:spcPts val="0"/>
              </a:spcAft>
              <a:buSzPts val="1400"/>
              <a:buChar char="●"/>
            </a:pPr>
            <a:r>
              <a:rPr lang="en" b="1"/>
              <a:t>class</a:t>
            </a:r>
            <a:r>
              <a:rPr lang="en"/>
              <a:t> value is case-sensitive.</a:t>
            </a:r>
            <a:endParaRPr/>
          </a:p>
        </p:txBody>
      </p:sp>
      <p:pic>
        <p:nvPicPr>
          <p:cNvPr id="258" name="Google Shape;258;p37"/>
          <p:cNvPicPr preferRelativeResize="0"/>
          <p:nvPr/>
        </p:nvPicPr>
        <p:blipFill>
          <a:blip r:embed="rId3">
            <a:alphaModFix/>
          </a:blip>
          <a:stretch>
            <a:fillRect/>
          </a:stretch>
        </p:blipFill>
        <p:spPr>
          <a:xfrm>
            <a:off x="4495100" y="1152475"/>
            <a:ext cx="3798625" cy="1927025"/>
          </a:xfrm>
          <a:prstGeom prst="rect">
            <a:avLst/>
          </a:prstGeom>
          <a:noFill/>
          <a:ln w="7375" cap="flat" cmpd="sng">
            <a:solidFill>
              <a:schemeClr val="dk2"/>
            </a:solidFill>
            <a:prstDash val="solid"/>
            <a:round/>
            <a:headEnd type="none" w="sm" len="sm"/>
            <a:tailEnd type="none" w="sm" len="sm"/>
          </a:ln>
        </p:spPr>
      </p:pic>
      <p:pic>
        <p:nvPicPr>
          <p:cNvPr id="259" name="Google Shape;259;p37"/>
          <p:cNvPicPr preferRelativeResize="0"/>
          <p:nvPr/>
        </p:nvPicPr>
        <p:blipFill>
          <a:blip r:embed="rId4">
            <a:alphaModFix/>
          </a:blip>
          <a:stretch>
            <a:fillRect/>
          </a:stretch>
        </p:blipFill>
        <p:spPr>
          <a:xfrm>
            <a:off x="4495100" y="3163550"/>
            <a:ext cx="2647325" cy="1918800"/>
          </a:xfrm>
          <a:prstGeom prst="rect">
            <a:avLst/>
          </a:prstGeom>
          <a:noFill/>
          <a:ln w="7375" cap="flat" cmpd="sng">
            <a:solidFill>
              <a:schemeClr val="dk2"/>
            </a:solidFill>
            <a:prstDash val="solid"/>
            <a:round/>
            <a:headEnd type="none" w="sm" len="sm"/>
            <a:tailEnd type="none" w="sm" len="sm"/>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38"/>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Global Attributes ─ style</a:t>
            </a:r>
            <a:endParaRPr/>
          </a:p>
        </p:txBody>
      </p:sp>
      <p:sp>
        <p:nvSpPr>
          <p:cNvPr id="265" name="Google Shape;265;p38"/>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26</a:t>
            </a:fld>
            <a:endParaRPr/>
          </a:p>
        </p:txBody>
      </p:sp>
      <p:sp>
        <p:nvSpPr>
          <p:cNvPr id="266" name="Google Shape;266;p38"/>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sz="1800"/>
              <a:t>The </a:t>
            </a:r>
            <a:r>
              <a:rPr lang="en" sz="1800" b="1"/>
              <a:t>style</a:t>
            </a:r>
            <a:r>
              <a:rPr lang="en" sz="1800"/>
              <a:t> attribute contains CSS styling declarations applying to the element.</a:t>
            </a:r>
            <a:endParaRPr sz="1800"/>
          </a:p>
          <a:p>
            <a:pPr marL="457200" lvl="0" indent="-342900" algn="l" rtl="0">
              <a:spcBef>
                <a:spcPts val="0"/>
              </a:spcBef>
              <a:spcAft>
                <a:spcPts val="0"/>
              </a:spcAft>
              <a:buSzPts val="1800"/>
              <a:buChar char="●"/>
            </a:pPr>
            <a:r>
              <a:rPr lang="en" sz="1800"/>
              <a:t>Inline styles, overriding external stylesheets or default browser styles.</a:t>
            </a:r>
            <a:endParaRPr sz="1800"/>
          </a:p>
          <a:p>
            <a:pPr marL="457200" lvl="0" indent="-342900" algn="l" rtl="0">
              <a:spcBef>
                <a:spcPts val="0"/>
              </a:spcBef>
              <a:spcAft>
                <a:spcPts val="0"/>
              </a:spcAft>
              <a:buSzPts val="1800"/>
              <a:buChar char="●"/>
            </a:pPr>
            <a:r>
              <a:rPr lang="en" sz="1800"/>
              <a:t>Effects on the individual element only.</a:t>
            </a:r>
            <a:endParaRPr sz="1800"/>
          </a:p>
        </p:txBody>
      </p:sp>
      <p:pic>
        <p:nvPicPr>
          <p:cNvPr id="267" name="Google Shape;267;p38"/>
          <p:cNvPicPr preferRelativeResize="0"/>
          <p:nvPr/>
        </p:nvPicPr>
        <p:blipFill>
          <a:blip r:embed="rId3">
            <a:alphaModFix/>
          </a:blip>
          <a:stretch>
            <a:fillRect/>
          </a:stretch>
        </p:blipFill>
        <p:spPr>
          <a:xfrm>
            <a:off x="4350925" y="1243875"/>
            <a:ext cx="4653326" cy="3146074"/>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39"/>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Global Attributes ─ data-*</a:t>
            </a:r>
            <a:endParaRPr/>
          </a:p>
        </p:txBody>
      </p:sp>
      <p:sp>
        <p:nvSpPr>
          <p:cNvPr id="273" name="Google Shape;273;p39"/>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27</a:t>
            </a:fld>
            <a:endParaRPr/>
          </a:p>
        </p:txBody>
      </p:sp>
      <p:sp>
        <p:nvSpPr>
          <p:cNvPr id="274" name="Google Shape;274;p3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a:bodyPr>
          <a:lstStyle/>
          <a:p>
            <a:pPr marL="457200" lvl="0" indent="-342900" algn="l" rtl="0">
              <a:spcBef>
                <a:spcPts val="0"/>
              </a:spcBef>
              <a:spcAft>
                <a:spcPts val="0"/>
              </a:spcAft>
              <a:buSzPts val="1800"/>
              <a:buChar char="●"/>
            </a:pPr>
            <a:r>
              <a:rPr lang="en"/>
              <a:t>The </a:t>
            </a:r>
            <a:r>
              <a:rPr lang="en" b="1"/>
              <a:t>data-*</a:t>
            </a:r>
            <a:r>
              <a:rPr lang="en"/>
              <a:t> attribute forms a class of attributes, called custom data attributes, that allow proprietary information to be exchanged between the HTML and its DOM representation.</a:t>
            </a:r>
            <a:endParaRPr/>
          </a:p>
          <a:p>
            <a:pPr marL="457200" lvl="0" indent="-342900" algn="l" rtl="0">
              <a:spcBef>
                <a:spcPts val="0"/>
              </a:spcBef>
              <a:spcAft>
                <a:spcPts val="0"/>
              </a:spcAft>
              <a:buSzPts val="1800"/>
              <a:buChar char="●"/>
            </a:pPr>
            <a:r>
              <a:rPr lang="en"/>
              <a:t>All such custom data are available via the HTMLElement interface of the element the attribute is set on. The HTMLElement.dataset property gives access to them.</a:t>
            </a:r>
            <a:endParaRPr/>
          </a:p>
          <a:p>
            <a:pPr marL="457200" lvl="0" indent="-342900" algn="l" rtl="0">
              <a:spcBef>
                <a:spcPts val="0"/>
              </a:spcBef>
              <a:spcAft>
                <a:spcPts val="0"/>
              </a:spcAft>
              <a:buSzPts val="1800"/>
              <a:buChar char="●"/>
            </a:pPr>
            <a:r>
              <a:rPr lang="en"/>
              <a:t>The * may be replaced by any name following the production rule of XML names which includes the following recommendations:</a:t>
            </a:r>
            <a:endParaRPr/>
          </a:p>
          <a:p>
            <a:pPr marL="914400" lvl="1" indent="-317500" algn="l" rtl="0">
              <a:spcBef>
                <a:spcPts val="0"/>
              </a:spcBef>
              <a:spcAft>
                <a:spcPts val="0"/>
              </a:spcAft>
              <a:buSzPts val="1400"/>
              <a:buChar char="○"/>
            </a:pPr>
            <a:r>
              <a:rPr lang="en"/>
              <a:t>The name should not start with xml (case-insensitive), as it's reserved for future XML specifications.</a:t>
            </a:r>
            <a:endParaRPr/>
          </a:p>
          <a:p>
            <a:pPr marL="914400" lvl="1" indent="-317500" algn="l" rtl="0">
              <a:spcBef>
                <a:spcPts val="0"/>
              </a:spcBef>
              <a:spcAft>
                <a:spcPts val="0"/>
              </a:spcAft>
              <a:buSzPts val="1400"/>
              <a:buChar char="○"/>
            </a:pPr>
            <a:r>
              <a:rPr lang="en"/>
              <a:t>The name should not contain any colon characters (:), as XML assigns meaning to such names.</a:t>
            </a:r>
            <a:endParaRPr/>
          </a:p>
          <a:p>
            <a:pPr marL="914400" lvl="1" indent="-317500" algn="l" rtl="0">
              <a:spcBef>
                <a:spcPts val="0"/>
              </a:spcBef>
              <a:spcAft>
                <a:spcPts val="0"/>
              </a:spcAft>
              <a:buSzPts val="1400"/>
              <a:buChar char="○"/>
            </a:pPr>
            <a:r>
              <a:rPr lang="en"/>
              <a:t>The name should not contain any capital letters, as XML is all lowercase.</a:t>
            </a:r>
            <a:endParaRPr/>
          </a:p>
          <a:p>
            <a:pPr marL="457200" lvl="0" indent="-342900" algn="l" rtl="0">
              <a:spcBef>
                <a:spcPts val="0"/>
              </a:spcBef>
              <a:spcAft>
                <a:spcPts val="0"/>
              </a:spcAft>
              <a:buSzPts val="1800"/>
              <a:buChar char="●"/>
            </a:pPr>
            <a:r>
              <a:rPr lang="en"/>
              <a:t>Check it out: </a:t>
            </a:r>
            <a:r>
              <a:rPr lang="en" u="sng">
                <a:solidFill>
                  <a:schemeClr val="hlink"/>
                </a:solidFill>
                <a:hlinkClick r:id="rId3"/>
              </a:rPr>
              <a:t>https://developer.mozilla.org/en-US/docs/Web/HTML/Reference/Global_attributes/data-</a:t>
            </a:r>
            <a:r>
              <a:rPr lang="en"/>
              <a:t>*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40"/>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Hyperlink Element ─ &lt;a&gt;</a:t>
            </a:r>
            <a:endParaRPr/>
          </a:p>
          <a:p>
            <a:pPr marL="0" lvl="0" indent="0" algn="l" rtl="0">
              <a:spcBef>
                <a:spcPts val="0"/>
              </a:spcBef>
              <a:spcAft>
                <a:spcPts val="0"/>
              </a:spcAft>
              <a:buNone/>
            </a:pPr>
            <a:endParaRPr/>
          </a:p>
        </p:txBody>
      </p:sp>
      <p:sp>
        <p:nvSpPr>
          <p:cNvPr id="280" name="Google Shape;280;p4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lnSpcReduction="20000"/>
          </a:bodyPr>
          <a:lstStyle/>
          <a:p>
            <a:pPr marL="457200" lvl="0" indent="-334328" algn="l" rtl="0">
              <a:spcBef>
                <a:spcPts val="0"/>
              </a:spcBef>
              <a:spcAft>
                <a:spcPts val="0"/>
              </a:spcAft>
              <a:buSzPct val="100000"/>
              <a:buChar char="●"/>
            </a:pPr>
            <a:r>
              <a:rPr lang="en"/>
              <a:t>The &lt;a&gt; anchor element creates a hyperlink to web pages, files, email addresses, locations in the same page, or anything else a URL can address.</a:t>
            </a:r>
            <a:endParaRPr/>
          </a:p>
          <a:p>
            <a:pPr marL="457200" lvl="0" indent="-334328" algn="l" rtl="0">
              <a:spcBef>
                <a:spcPts val="0"/>
              </a:spcBef>
              <a:spcAft>
                <a:spcPts val="0"/>
              </a:spcAft>
              <a:buSzPct val="100000"/>
              <a:buChar char="●"/>
            </a:pPr>
            <a:r>
              <a:rPr lang="en"/>
              <a:t>Writing descriptive and accessible link text</a:t>
            </a:r>
            <a:endParaRPr/>
          </a:p>
          <a:p>
            <a:pPr marL="914400" lvl="1" indent="-310832" algn="l" rtl="0">
              <a:spcBef>
                <a:spcPts val="0"/>
              </a:spcBef>
              <a:spcAft>
                <a:spcPts val="0"/>
              </a:spcAft>
              <a:buSzPct val="100000"/>
              <a:buChar char="○"/>
            </a:pPr>
            <a:r>
              <a:rPr lang="en"/>
              <a:t>Web browsers typically underline text hyperlinks and color them blue by default.</a:t>
            </a:r>
            <a:endParaRPr/>
          </a:p>
          <a:p>
            <a:pPr marL="457200" lvl="0" indent="-334328" algn="l" rtl="0">
              <a:spcBef>
                <a:spcPts val="0"/>
              </a:spcBef>
              <a:spcAft>
                <a:spcPts val="0"/>
              </a:spcAft>
              <a:buSzPct val="100000"/>
              <a:buChar char="●"/>
            </a:pPr>
            <a:r>
              <a:rPr lang="en" b="1"/>
              <a:t>href</a:t>
            </a:r>
            <a:r>
              <a:rPr lang="en"/>
              <a:t> (Hypertext reference) is one of key attributes specifying the URL that the hyperlink points to. </a:t>
            </a:r>
            <a:endParaRPr/>
          </a:p>
          <a:p>
            <a:pPr marL="914400" lvl="1" indent="-310832" algn="l" rtl="0">
              <a:spcBef>
                <a:spcPts val="0"/>
              </a:spcBef>
              <a:spcAft>
                <a:spcPts val="0"/>
              </a:spcAft>
              <a:buSzPct val="100000"/>
              <a:buChar char="○"/>
            </a:pPr>
            <a:r>
              <a:rPr lang="en"/>
              <a:t>Sections of a page with document fragments</a:t>
            </a:r>
            <a:endParaRPr/>
          </a:p>
          <a:p>
            <a:pPr marL="914400" lvl="1" indent="-310832" algn="l" rtl="0">
              <a:spcBef>
                <a:spcPts val="0"/>
              </a:spcBef>
              <a:spcAft>
                <a:spcPts val="0"/>
              </a:spcAft>
              <a:buSzPct val="100000"/>
              <a:buChar char="○"/>
            </a:pPr>
            <a:r>
              <a:rPr lang="en"/>
              <a:t>Specific text portions with text fragments</a:t>
            </a:r>
            <a:endParaRPr/>
          </a:p>
          <a:p>
            <a:pPr marL="914400" lvl="1" indent="-310832" algn="l" rtl="0">
              <a:spcBef>
                <a:spcPts val="0"/>
              </a:spcBef>
              <a:spcAft>
                <a:spcPts val="0"/>
              </a:spcAft>
              <a:buSzPct val="100000"/>
              <a:buChar char="○"/>
            </a:pPr>
            <a:r>
              <a:rPr lang="en"/>
              <a:t>Any external file identified by a URL</a:t>
            </a:r>
            <a:endParaRPr/>
          </a:p>
          <a:p>
            <a:pPr marL="457200" lvl="0" indent="-334328" algn="l" rtl="0">
              <a:spcBef>
                <a:spcPts val="0"/>
              </a:spcBef>
              <a:spcAft>
                <a:spcPts val="0"/>
              </a:spcAft>
              <a:buSzPct val="100000"/>
              <a:buChar char="●"/>
            </a:pPr>
            <a:r>
              <a:rPr lang="en"/>
              <a:t>Links are not restricted to HTTP-based URLs — they can use any URL scheme supported by browsers:</a:t>
            </a:r>
            <a:endParaRPr/>
          </a:p>
          <a:p>
            <a:pPr marL="914400" lvl="1" indent="-310832" algn="l" rtl="0">
              <a:spcBef>
                <a:spcPts val="0"/>
              </a:spcBef>
              <a:spcAft>
                <a:spcPts val="0"/>
              </a:spcAft>
              <a:buSzPct val="100000"/>
              <a:buChar char="○"/>
            </a:pPr>
            <a:r>
              <a:rPr lang="en"/>
              <a:t>Telephone numbers with </a:t>
            </a:r>
            <a:r>
              <a:rPr lang="en" b="1"/>
              <a:t>tel: URL</a:t>
            </a:r>
            <a:endParaRPr b="1"/>
          </a:p>
          <a:p>
            <a:pPr marL="914400" lvl="1" indent="-310832" algn="l" rtl="0">
              <a:spcBef>
                <a:spcPts val="0"/>
              </a:spcBef>
              <a:spcAft>
                <a:spcPts val="0"/>
              </a:spcAft>
              <a:buSzPct val="100000"/>
              <a:buChar char="○"/>
            </a:pPr>
            <a:r>
              <a:rPr lang="en"/>
              <a:t>Email addresses with </a:t>
            </a:r>
            <a:r>
              <a:rPr lang="en" b="1"/>
              <a:t>mailto: URL</a:t>
            </a:r>
            <a:endParaRPr b="1"/>
          </a:p>
          <a:p>
            <a:pPr marL="914400" lvl="1" indent="-310832" algn="l" rtl="0">
              <a:spcBef>
                <a:spcPts val="0"/>
              </a:spcBef>
              <a:spcAft>
                <a:spcPts val="0"/>
              </a:spcAft>
              <a:buSzPct val="100000"/>
              <a:buChar char="○"/>
            </a:pPr>
            <a:r>
              <a:rPr lang="en"/>
              <a:t>SMS text messages with </a:t>
            </a:r>
            <a:r>
              <a:rPr lang="en" b="1"/>
              <a:t>sms: URL</a:t>
            </a:r>
            <a:endParaRPr b="1"/>
          </a:p>
        </p:txBody>
      </p:sp>
      <p:sp>
        <p:nvSpPr>
          <p:cNvPr id="281" name="Google Shape;281;p40"/>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41"/>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Examples of &lt;a&gt; ─ Page Section</a:t>
            </a:r>
            <a:endParaRPr/>
          </a:p>
        </p:txBody>
      </p:sp>
      <p:sp>
        <p:nvSpPr>
          <p:cNvPr id="287" name="Google Shape;287;p41"/>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29</a:t>
            </a:fld>
            <a:endParaRPr/>
          </a:p>
        </p:txBody>
      </p:sp>
      <p:pic>
        <p:nvPicPr>
          <p:cNvPr id="288" name="Google Shape;288;p41"/>
          <p:cNvPicPr preferRelativeResize="0"/>
          <p:nvPr/>
        </p:nvPicPr>
        <p:blipFill>
          <a:blip r:embed="rId3">
            <a:alphaModFix/>
          </a:blip>
          <a:stretch>
            <a:fillRect/>
          </a:stretch>
        </p:blipFill>
        <p:spPr>
          <a:xfrm>
            <a:off x="120000" y="1302175"/>
            <a:ext cx="5441251" cy="3386574"/>
          </a:xfrm>
          <a:prstGeom prst="rect">
            <a:avLst/>
          </a:prstGeom>
          <a:noFill/>
          <a:ln w="9525" cap="flat" cmpd="sng">
            <a:solidFill>
              <a:schemeClr val="dk2"/>
            </a:solidFill>
            <a:prstDash val="solid"/>
            <a:round/>
            <a:headEnd type="none" w="sm" len="sm"/>
            <a:tailEnd type="none" w="sm" len="sm"/>
          </a:ln>
        </p:spPr>
      </p:pic>
      <p:pic>
        <p:nvPicPr>
          <p:cNvPr id="289" name="Google Shape;289;p41"/>
          <p:cNvPicPr preferRelativeResize="0"/>
          <p:nvPr/>
        </p:nvPicPr>
        <p:blipFill>
          <a:blip r:embed="rId4">
            <a:alphaModFix/>
          </a:blip>
          <a:stretch>
            <a:fillRect/>
          </a:stretch>
        </p:blipFill>
        <p:spPr>
          <a:xfrm>
            <a:off x="3584825" y="1068425"/>
            <a:ext cx="4878675" cy="3268025"/>
          </a:xfrm>
          <a:prstGeom prst="rect">
            <a:avLst/>
          </a:prstGeom>
          <a:noFill/>
          <a:ln w="9525" cap="flat" cmpd="sng">
            <a:solidFill>
              <a:srgbClr val="FF9900"/>
            </a:solidFill>
            <a:prstDash val="solid"/>
            <a:round/>
            <a:headEnd type="none" w="sm" len="sm"/>
            <a:tailEnd type="none" w="sm" len="sm"/>
          </a:ln>
        </p:spPr>
      </p:pic>
      <p:pic>
        <p:nvPicPr>
          <p:cNvPr id="290" name="Google Shape;290;p41"/>
          <p:cNvPicPr preferRelativeResize="0"/>
          <p:nvPr/>
        </p:nvPicPr>
        <p:blipFill>
          <a:blip r:embed="rId5">
            <a:alphaModFix/>
          </a:blip>
          <a:stretch>
            <a:fillRect/>
          </a:stretch>
        </p:blipFill>
        <p:spPr>
          <a:xfrm>
            <a:off x="4841750" y="3745350"/>
            <a:ext cx="4204952" cy="1048700"/>
          </a:xfrm>
          <a:prstGeom prst="rect">
            <a:avLst/>
          </a:prstGeom>
          <a:noFill/>
          <a:ln w="9525" cap="flat" cmpd="sng">
            <a:solidFill>
              <a:srgbClr val="FF9900"/>
            </a:solidFill>
            <a:prstDash val="solid"/>
            <a:round/>
            <a:headEnd type="none" w="sm" len="sm"/>
            <a:tailEnd type="none" w="sm" len="sm"/>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42"/>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Examples of &lt;a&gt; ─ Text Fragments</a:t>
            </a:r>
            <a:endParaRPr/>
          </a:p>
        </p:txBody>
      </p:sp>
      <p:sp>
        <p:nvSpPr>
          <p:cNvPr id="296" name="Google Shape;296;p42"/>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30</a:t>
            </a:fld>
            <a:endParaRPr/>
          </a:p>
        </p:txBody>
      </p:sp>
      <p:pic>
        <p:nvPicPr>
          <p:cNvPr id="297" name="Google Shape;297;p42"/>
          <p:cNvPicPr preferRelativeResize="0"/>
          <p:nvPr/>
        </p:nvPicPr>
        <p:blipFill>
          <a:blip r:embed="rId3">
            <a:alphaModFix/>
          </a:blip>
          <a:stretch>
            <a:fillRect/>
          </a:stretch>
        </p:blipFill>
        <p:spPr>
          <a:xfrm>
            <a:off x="427800" y="1101000"/>
            <a:ext cx="6570599" cy="1412500"/>
          </a:xfrm>
          <a:prstGeom prst="rect">
            <a:avLst/>
          </a:prstGeom>
          <a:noFill/>
          <a:ln w="9525" cap="flat" cmpd="sng">
            <a:solidFill>
              <a:schemeClr val="dk2"/>
            </a:solidFill>
            <a:prstDash val="solid"/>
            <a:round/>
            <a:headEnd type="none" w="sm" len="sm"/>
            <a:tailEnd type="none" w="sm" len="sm"/>
          </a:ln>
        </p:spPr>
      </p:pic>
      <p:pic>
        <p:nvPicPr>
          <p:cNvPr id="298" name="Google Shape;298;p42"/>
          <p:cNvPicPr preferRelativeResize="0"/>
          <p:nvPr/>
        </p:nvPicPr>
        <p:blipFill>
          <a:blip r:embed="rId4">
            <a:alphaModFix/>
          </a:blip>
          <a:stretch>
            <a:fillRect/>
          </a:stretch>
        </p:blipFill>
        <p:spPr>
          <a:xfrm>
            <a:off x="427800" y="2683075"/>
            <a:ext cx="3990925" cy="1562825"/>
          </a:xfrm>
          <a:prstGeom prst="rect">
            <a:avLst/>
          </a:prstGeom>
          <a:noFill/>
          <a:ln w="9525" cap="flat" cmpd="sng">
            <a:solidFill>
              <a:srgbClr val="FF9900"/>
            </a:solidFill>
            <a:prstDash val="solid"/>
            <a:round/>
            <a:headEnd type="none" w="sm" len="sm"/>
            <a:tailEnd type="none" w="sm" len="sm"/>
          </a:ln>
        </p:spPr>
      </p:pic>
      <p:pic>
        <p:nvPicPr>
          <p:cNvPr id="299" name="Google Shape;299;p42"/>
          <p:cNvPicPr preferRelativeResize="0"/>
          <p:nvPr/>
        </p:nvPicPr>
        <p:blipFill>
          <a:blip r:embed="rId5">
            <a:alphaModFix/>
          </a:blip>
          <a:stretch>
            <a:fillRect/>
          </a:stretch>
        </p:blipFill>
        <p:spPr>
          <a:xfrm>
            <a:off x="6093925" y="2916002"/>
            <a:ext cx="2306099" cy="2051775"/>
          </a:xfrm>
          <a:prstGeom prst="rect">
            <a:avLst/>
          </a:prstGeom>
          <a:noFill/>
          <a:ln w="9525" cap="flat" cmpd="sng">
            <a:solidFill>
              <a:srgbClr val="FF9900"/>
            </a:solidFill>
            <a:prstDash val="solid"/>
            <a:round/>
            <a:headEnd type="none" w="sm" len="sm"/>
            <a:tailEnd type="none" w="sm" len="sm"/>
          </a:ln>
        </p:spPr>
      </p:pic>
      <p:pic>
        <p:nvPicPr>
          <p:cNvPr id="300" name="Google Shape;300;p42"/>
          <p:cNvPicPr preferRelativeResize="0"/>
          <p:nvPr/>
        </p:nvPicPr>
        <p:blipFill>
          <a:blip r:embed="rId6">
            <a:alphaModFix/>
          </a:blip>
          <a:stretch>
            <a:fillRect/>
          </a:stretch>
        </p:blipFill>
        <p:spPr>
          <a:xfrm>
            <a:off x="6559224" y="2431000"/>
            <a:ext cx="1840801" cy="404288"/>
          </a:xfrm>
          <a:prstGeom prst="rect">
            <a:avLst/>
          </a:prstGeom>
          <a:noFill/>
          <a:ln w="9525" cap="flat" cmpd="sng">
            <a:solidFill>
              <a:srgbClr val="FF9900"/>
            </a:solidFill>
            <a:prstDash val="solid"/>
            <a:round/>
            <a:headEnd type="none" w="sm" len="sm"/>
            <a:tailEnd type="none" w="sm" len="sm"/>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43"/>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dirty="0"/>
              <a:t>Examples of &lt;a&gt; ─ Telephone, Email and SMS</a:t>
            </a:r>
            <a:endParaRPr sz="2800" dirty="0"/>
          </a:p>
        </p:txBody>
      </p:sp>
      <p:sp>
        <p:nvSpPr>
          <p:cNvPr id="306" name="Google Shape;306;p43"/>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31</a:t>
            </a:fld>
            <a:endParaRPr/>
          </a:p>
        </p:txBody>
      </p:sp>
      <p:pic>
        <p:nvPicPr>
          <p:cNvPr id="307" name="Google Shape;307;p43"/>
          <p:cNvPicPr preferRelativeResize="0"/>
          <p:nvPr/>
        </p:nvPicPr>
        <p:blipFill>
          <a:blip r:embed="rId3">
            <a:alphaModFix/>
          </a:blip>
          <a:stretch>
            <a:fillRect/>
          </a:stretch>
        </p:blipFill>
        <p:spPr>
          <a:xfrm>
            <a:off x="424500" y="1068425"/>
            <a:ext cx="8485124" cy="2333575"/>
          </a:xfrm>
          <a:prstGeom prst="rect">
            <a:avLst/>
          </a:prstGeom>
          <a:noFill/>
          <a:ln w="9525" cap="flat" cmpd="sng">
            <a:solidFill>
              <a:schemeClr val="dk2"/>
            </a:solidFill>
            <a:prstDash val="solid"/>
            <a:round/>
            <a:headEnd type="none" w="sm" len="sm"/>
            <a:tailEnd type="none" w="sm" len="sm"/>
          </a:ln>
        </p:spPr>
      </p:pic>
      <p:pic>
        <p:nvPicPr>
          <p:cNvPr id="308" name="Google Shape;308;p43"/>
          <p:cNvPicPr preferRelativeResize="0"/>
          <p:nvPr/>
        </p:nvPicPr>
        <p:blipFill>
          <a:blip r:embed="rId4">
            <a:alphaModFix/>
          </a:blip>
          <a:stretch>
            <a:fillRect/>
          </a:stretch>
        </p:blipFill>
        <p:spPr>
          <a:xfrm>
            <a:off x="424500" y="3681850"/>
            <a:ext cx="2326199" cy="892100"/>
          </a:xfrm>
          <a:prstGeom prst="rect">
            <a:avLst/>
          </a:prstGeom>
          <a:noFill/>
          <a:ln w="9525" cap="flat" cmpd="sng">
            <a:solidFill>
              <a:srgbClr val="FF9900"/>
            </a:solidFill>
            <a:prstDash val="solid"/>
            <a:round/>
            <a:headEnd type="none" w="sm" len="sm"/>
            <a:tailEnd type="none" w="sm" len="sm"/>
          </a:ln>
        </p:spPr>
      </p:pic>
      <p:pic>
        <p:nvPicPr>
          <p:cNvPr id="309" name="Google Shape;309;p43"/>
          <p:cNvPicPr preferRelativeResize="0"/>
          <p:nvPr/>
        </p:nvPicPr>
        <p:blipFill>
          <a:blip r:embed="rId5">
            <a:alphaModFix/>
          </a:blip>
          <a:stretch>
            <a:fillRect/>
          </a:stretch>
        </p:blipFill>
        <p:spPr>
          <a:xfrm>
            <a:off x="3044149" y="3681849"/>
            <a:ext cx="2770699" cy="892100"/>
          </a:xfrm>
          <a:prstGeom prst="rect">
            <a:avLst/>
          </a:prstGeom>
          <a:noFill/>
          <a:ln w="9525" cap="flat" cmpd="sng">
            <a:solidFill>
              <a:srgbClr val="FF9900"/>
            </a:solidFill>
            <a:prstDash val="solid"/>
            <a:round/>
            <a:headEnd type="none" w="sm" len="sm"/>
            <a:tailEnd type="none" w="sm" len="sm"/>
          </a:ln>
        </p:spPr>
      </p:pic>
      <p:pic>
        <p:nvPicPr>
          <p:cNvPr id="310" name="Google Shape;310;p43"/>
          <p:cNvPicPr preferRelativeResize="0"/>
          <p:nvPr/>
        </p:nvPicPr>
        <p:blipFill>
          <a:blip r:embed="rId6">
            <a:alphaModFix/>
          </a:blip>
          <a:stretch>
            <a:fillRect/>
          </a:stretch>
        </p:blipFill>
        <p:spPr>
          <a:xfrm>
            <a:off x="6108299" y="3681849"/>
            <a:ext cx="2510532" cy="892100"/>
          </a:xfrm>
          <a:prstGeom prst="rect">
            <a:avLst/>
          </a:prstGeom>
          <a:noFill/>
          <a:ln w="9525" cap="flat" cmpd="sng">
            <a:solidFill>
              <a:srgbClr val="FF9900"/>
            </a:solidFill>
            <a:prstDash val="solid"/>
            <a:round/>
            <a:headEnd type="none" w="sm" len="sm"/>
            <a:tailEnd type="none" w="sm" len="sm"/>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4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if a Resource is missing?</a:t>
            </a:r>
            <a:endParaRPr/>
          </a:p>
        </p:txBody>
      </p:sp>
      <p:sp>
        <p:nvSpPr>
          <p:cNvPr id="316" name="Google Shape;316;p44"/>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32</a:t>
            </a:fld>
            <a:endParaRPr/>
          </a:p>
        </p:txBody>
      </p:sp>
      <p:grpSp>
        <p:nvGrpSpPr>
          <p:cNvPr id="317" name="Google Shape;317;p44"/>
          <p:cNvGrpSpPr/>
          <p:nvPr/>
        </p:nvGrpSpPr>
        <p:grpSpPr>
          <a:xfrm>
            <a:off x="425082" y="1308614"/>
            <a:ext cx="4792922" cy="2261378"/>
            <a:chOff x="267700" y="1228850"/>
            <a:chExt cx="5521800" cy="2605275"/>
          </a:xfrm>
        </p:grpSpPr>
        <p:pic>
          <p:nvPicPr>
            <p:cNvPr id="318" name="Google Shape;318;p44"/>
            <p:cNvPicPr preferRelativeResize="0"/>
            <p:nvPr/>
          </p:nvPicPr>
          <p:blipFill>
            <a:blip r:embed="rId3">
              <a:alphaModFix/>
            </a:blip>
            <a:stretch>
              <a:fillRect/>
            </a:stretch>
          </p:blipFill>
          <p:spPr>
            <a:xfrm>
              <a:off x="311700" y="1690550"/>
              <a:ext cx="5383199" cy="2143575"/>
            </a:xfrm>
            <a:prstGeom prst="rect">
              <a:avLst/>
            </a:prstGeom>
            <a:noFill/>
            <a:ln w="8250" cap="flat" cmpd="sng">
              <a:solidFill>
                <a:srgbClr val="FF9900"/>
              </a:solidFill>
              <a:prstDash val="solid"/>
              <a:round/>
              <a:headEnd type="none" w="sm" len="sm"/>
              <a:tailEnd type="none" w="sm" len="sm"/>
            </a:ln>
          </p:spPr>
        </p:pic>
        <p:sp>
          <p:nvSpPr>
            <p:cNvPr id="319" name="Google Shape;319;p44"/>
            <p:cNvSpPr txBox="1"/>
            <p:nvPr/>
          </p:nvSpPr>
          <p:spPr>
            <a:xfrm>
              <a:off x="267700" y="1228850"/>
              <a:ext cx="5521800" cy="461700"/>
            </a:xfrm>
            <a:prstGeom prst="rect">
              <a:avLst/>
            </a:prstGeom>
            <a:noFill/>
            <a:ln>
              <a:noFill/>
            </a:ln>
          </p:spPr>
          <p:txBody>
            <a:bodyPr spcFirstLastPara="1" wrap="square" lIns="79350" tIns="79350" rIns="79350" bIns="79350" anchor="t" anchorCtr="0">
              <a:spAutoFit/>
            </a:bodyPr>
            <a:lstStyle/>
            <a:p>
              <a:pPr marL="0" lvl="0" indent="0" algn="l" rtl="0">
                <a:spcBef>
                  <a:spcPts val="0"/>
                </a:spcBef>
                <a:spcAft>
                  <a:spcPts val="0"/>
                </a:spcAft>
                <a:buNone/>
              </a:pPr>
              <a:r>
                <a:rPr lang="en" sz="1562" b="1">
                  <a:solidFill>
                    <a:schemeClr val="dk2"/>
                  </a:solidFill>
                  <a:latin typeface="Raleway"/>
                  <a:ea typeface="Raleway"/>
                  <a:cs typeface="Raleway"/>
                  <a:sym typeface="Raleway"/>
                </a:rPr>
                <a:t>The host is reachable but the resource is missing</a:t>
              </a:r>
              <a:endParaRPr sz="1562"/>
            </a:p>
          </p:txBody>
        </p:sp>
      </p:grpSp>
      <p:pic>
        <p:nvPicPr>
          <p:cNvPr id="320" name="Google Shape;320;p44"/>
          <p:cNvPicPr preferRelativeResize="0"/>
          <p:nvPr/>
        </p:nvPicPr>
        <p:blipFill>
          <a:blip r:embed="rId4">
            <a:alphaModFix/>
          </a:blip>
          <a:stretch>
            <a:fillRect/>
          </a:stretch>
        </p:blipFill>
        <p:spPr>
          <a:xfrm>
            <a:off x="2846185" y="3142975"/>
            <a:ext cx="6157025" cy="1635475"/>
          </a:xfrm>
          <a:prstGeom prst="rect">
            <a:avLst/>
          </a:prstGeom>
          <a:noFill/>
          <a:ln w="9525" cap="flat" cmpd="sng">
            <a:solidFill>
              <a:srgbClr val="FF9900"/>
            </a:solidFill>
            <a:prstDash val="solid"/>
            <a:round/>
            <a:headEnd type="none" w="sm" len="sm"/>
            <a:tailEnd type="none" w="sm" len="sm"/>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45"/>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HTTP Status Code</a:t>
            </a:r>
            <a:endParaRPr/>
          </a:p>
        </p:txBody>
      </p:sp>
      <p:sp>
        <p:nvSpPr>
          <p:cNvPr id="326" name="Google Shape;326;p45"/>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33</a:t>
            </a:fld>
            <a:endParaRPr/>
          </a:p>
        </p:txBody>
      </p:sp>
      <p:graphicFrame>
        <p:nvGraphicFramePr>
          <p:cNvPr id="327" name="Google Shape;327;p45"/>
          <p:cNvGraphicFramePr/>
          <p:nvPr/>
        </p:nvGraphicFramePr>
        <p:xfrm>
          <a:off x="450050" y="1162775"/>
          <a:ext cx="7546325" cy="3848238"/>
        </p:xfrm>
        <a:graphic>
          <a:graphicData uri="http://schemas.openxmlformats.org/drawingml/2006/table">
            <a:tbl>
              <a:tblPr>
                <a:noFill/>
                <a:tableStyleId>{EEE5C1D8-EC83-4F6E-A83C-C6FD04C83F62}</a:tableStyleId>
              </a:tblPr>
              <a:tblGrid>
                <a:gridCol w="1025575">
                  <a:extLst>
                    <a:ext uri="{9D8B030D-6E8A-4147-A177-3AD203B41FA5}">
                      <a16:colId xmlns:a16="http://schemas.microsoft.com/office/drawing/2014/main" val="20000"/>
                    </a:ext>
                  </a:extLst>
                </a:gridCol>
                <a:gridCol w="825675">
                  <a:extLst>
                    <a:ext uri="{9D8B030D-6E8A-4147-A177-3AD203B41FA5}">
                      <a16:colId xmlns:a16="http://schemas.microsoft.com/office/drawing/2014/main" val="20001"/>
                    </a:ext>
                  </a:extLst>
                </a:gridCol>
                <a:gridCol w="1533000">
                  <a:extLst>
                    <a:ext uri="{9D8B030D-6E8A-4147-A177-3AD203B41FA5}">
                      <a16:colId xmlns:a16="http://schemas.microsoft.com/office/drawing/2014/main" val="20002"/>
                    </a:ext>
                  </a:extLst>
                </a:gridCol>
                <a:gridCol w="2222050">
                  <a:extLst>
                    <a:ext uri="{9D8B030D-6E8A-4147-A177-3AD203B41FA5}">
                      <a16:colId xmlns:a16="http://schemas.microsoft.com/office/drawing/2014/main" val="20003"/>
                    </a:ext>
                  </a:extLst>
                </a:gridCol>
                <a:gridCol w="1940025">
                  <a:extLst>
                    <a:ext uri="{9D8B030D-6E8A-4147-A177-3AD203B41FA5}">
                      <a16:colId xmlns:a16="http://schemas.microsoft.com/office/drawing/2014/main" val="20004"/>
                    </a:ext>
                  </a:extLst>
                </a:gridCol>
              </a:tblGrid>
              <a:tr h="291100">
                <a:tc>
                  <a:txBody>
                    <a:bodyPr/>
                    <a:lstStyle/>
                    <a:p>
                      <a:pPr marL="0" lvl="0" indent="0" algn="ctr" rtl="0">
                        <a:lnSpc>
                          <a:spcPct val="115000"/>
                        </a:lnSpc>
                        <a:spcBef>
                          <a:spcPts val="0"/>
                        </a:spcBef>
                        <a:spcAft>
                          <a:spcPts val="0"/>
                        </a:spcAft>
                        <a:buNone/>
                      </a:pPr>
                      <a:r>
                        <a:rPr lang="en" sz="1000" b="1"/>
                        <a:t>Leading Digit</a:t>
                      </a:r>
                      <a:endParaRPr sz="10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000" b="1"/>
                        <a:t>Range</a:t>
                      </a:r>
                      <a:endParaRPr sz="10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000" b="1"/>
                        <a:t>Meaning</a:t>
                      </a:r>
                      <a:endParaRPr sz="10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000" b="1"/>
                        <a:t>Example Codes</a:t>
                      </a:r>
                      <a:endParaRPr sz="10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000" b="1"/>
                        <a:t>Explanation</a:t>
                      </a:r>
                      <a:endParaRPr sz="10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335250">
                <a:tc>
                  <a:txBody>
                    <a:bodyPr/>
                    <a:lstStyle/>
                    <a:p>
                      <a:pPr marL="0" lvl="0" indent="0" algn="ctr" rtl="0">
                        <a:lnSpc>
                          <a:spcPct val="100000"/>
                        </a:lnSpc>
                        <a:spcBef>
                          <a:spcPts val="0"/>
                        </a:spcBef>
                        <a:spcAft>
                          <a:spcPts val="0"/>
                        </a:spcAft>
                        <a:buNone/>
                      </a:pPr>
                      <a:r>
                        <a:rPr lang="en" sz="1000" b="1"/>
                        <a:t>1xx</a:t>
                      </a:r>
                      <a:endParaRPr sz="1000" b="1"/>
                    </a:p>
                    <a:p>
                      <a:pPr marL="0" lvl="0" indent="0" algn="ctr" rtl="0">
                        <a:lnSpc>
                          <a:spcPct val="100000"/>
                        </a:lnSpc>
                        <a:spcBef>
                          <a:spcPts val="0"/>
                        </a:spcBef>
                        <a:spcAft>
                          <a:spcPts val="0"/>
                        </a:spcAft>
                        <a:buNone/>
                      </a:pPr>
                      <a:r>
                        <a:rPr lang="en" sz="1000" b="1"/>
                        <a:t>Informational</a:t>
                      </a:r>
                      <a:endParaRPr sz="1000" b="1"/>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000"/>
                        <a:t>100–199</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000"/>
                        <a:t>Request received, continue process</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000"/>
                        <a:t>100 Continue</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000"/>
                        <a:t>Client should continue sending request body</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25850">
                <a:tc>
                  <a:txBody>
                    <a:bodyPr/>
                    <a:lstStyle/>
                    <a:p>
                      <a:pPr marL="0" lvl="0" indent="0" algn="ctr" rtl="0">
                        <a:lnSpc>
                          <a:spcPct val="100000"/>
                        </a:lnSpc>
                        <a:spcBef>
                          <a:spcPts val="0"/>
                        </a:spcBef>
                        <a:spcAft>
                          <a:spcPts val="0"/>
                        </a:spcAft>
                        <a:buNone/>
                      </a:pPr>
                      <a:r>
                        <a:rPr lang="en" sz="1000" b="1"/>
                        <a:t>2xx </a:t>
                      </a:r>
                      <a:endParaRPr sz="1000" b="1"/>
                    </a:p>
                    <a:p>
                      <a:pPr marL="0" lvl="0" indent="0" algn="ctr" rtl="0">
                        <a:lnSpc>
                          <a:spcPct val="100000"/>
                        </a:lnSpc>
                        <a:spcBef>
                          <a:spcPts val="0"/>
                        </a:spcBef>
                        <a:spcAft>
                          <a:spcPts val="0"/>
                        </a:spcAft>
                        <a:buNone/>
                      </a:pPr>
                      <a:r>
                        <a:rPr lang="en" sz="1000" b="1"/>
                        <a:t>Success</a:t>
                      </a:r>
                      <a:endParaRPr sz="1000" b="1"/>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000"/>
                        <a:t>200–299</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000"/>
                        <a:t>Request successfully completed</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000"/>
                        <a:t>200 OK</a:t>
                      </a:r>
                      <a:endParaRPr sz="1000"/>
                    </a:p>
                    <a:p>
                      <a:pPr marL="0" lvl="0" indent="0" algn="l" rtl="0">
                        <a:lnSpc>
                          <a:spcPct val="100000"/>
                        </a:lnSpc>
                        <a:spcBef>
                          <a:spcPts val="0"/>
                        </a:spcBef>
                        <a:spcAft>
                          <a:spcPts val="0"/>
                        </a:spcAft>
                        <a:buNone/>
                      </a:pPr>
                      <a:r>
                        <a:rPr lang="en" sz="1000"/>
                        <a:t>201 Created</a:t>
                      </a:r>
                      <a:endParaRPr sz="1000"/>
                    </a:p>
                    <a:p>
                      <a:pPr marL="0" lvl="0" indent="0" algn="l" rtl="0">
                        <a:lnSpc>
                          <a:spcPct val="100000"/>
                        </a:lnSpc>
                        <a:spcBef>
                          <a:spcPts val="0"/>
                        </a:spcBef>
                        <a:spcAft>
                          <a:spcPts val="0"/>
                        </a:spcAft>
                        <a:buNone/>
                      </a:pPr>
                      <a:r>
                        <a:rPr lang="en" sz="1000"/>
                        <a:t>204 No Content</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000"/>
                        <a:t>Resource retrieved, created, or no content returned</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525850">
                <a:tc>
                  <a:txBody>
                    <a:bodyPr/>
                    <a:lstStyle/>
                    <a:p>
                      <a:pPr marL="0" lvl="0" indent="0" algn="ctr" rtl="0">
                        <a:lnSpc>
                          <a:spcPct val="100000"/>
                        </a:lnSpc>
                        <a:spcBef>
                          <a:spcPts val="0"/>
                        </a:spcBef>
                        <a:spcAft>
                          <a:spcPts val="0"/>
                        </a:spcAft>
                        <a:buNone/>
                      </a:pPr>
                      <a:r>
                        <a:rPr lang="en" sz="1000" b="1"/>
                        <a:t>3xx</a:t>
                      </a:r>
                      <a:endParaRPr sz="1000" b="1"/>
                    </a:p>
                    <a:p>
                      <a:pPr marL="0" lvl="0" indent="0" algn="ctr" rtl="0">
                        <a:lnSpc>
                          <a:spcPct val="100000"/>
                        </a:lnSpc>
                        <a:spcBef>
                          <a:spcPts val="0"/>
                        </a:spcBef>
                        <a:spcAft>
                          <a:spcPts val="0"/>
                        </a:spcAft>
                        <a:buNone/>
                      </a:pPr>
                      <a:r>
                        <a:rPr lang="en" sz="1000" b="1"/>
                        <a:t>Redirection</a:t>
                      </a:r>
                      <a:endParaRPr sz="1000" b="1"/>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000"/>
                        <a:t>300–399</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000"/>
                        <a:t>Further action needed (redirect)</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000"/>
                        <a:t>301 Moved Permanently</a:t>
                      </a:r>
                      <a:endParaRPr sz="1000"/>
                    </a:p>
                    <a:p>
                      <a:pPr marL="0" lvl="0" indent="0" algn="l" rtl="0">
                        <a:lnSpc>
                          <a:spcPct val="100000"/>
                        </a:lnSpc>
                        <a:spcBef>
                          <a:spcPts val="0"/>
                        </a:spcBef>
                        <a:spcAft>
                          <a:spcPts val="0"/>
                        </a:spcAft>
                        <a:buNone/>
                      </a:pPr>
                      <a:r>
                        <a:rPr lang="en" sz="1000"/>
                        <a:t>302 Found</a:t>
                      </a:r>
                      <a:endParaRPr sz="1000"/>
                    </a:p>
                    <a:p>
                      <a:pPr marL="0" lvl="0" indent="0" algn="l" rtl="0">
                        <a:lnSpc>
                          <a:spcPct val="100000"/>
                        </a:lnSpc>
                        <a:spcBef>
                          <a:spcPts val="0"/>
                        </a:spcBef>
                        <a:spcAft>
                          <a:spcPts val="0"/>
                        </a:spcAft>
                        <a:buNone/>
                      </a:pPr>
                      <a:r>
                        <a:rPr lang="en" sz="1000"/>
                        <a:t>304 Not Modified</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000"/>
                        <a:t>Resource moved or cached</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776275">
                <a:tc>
                  <a:txBody>
                    <a:bodyPr/>
                    <a:lstStyle/>
                    <a:p>
                      <a:pPr marL="0" lvl="0" indent="0" algn="ctr" rtl="0">
                        <a:lnSpc>
                          <a:spcPct val="100000"/>
                        </a:lnSpc>
                        <a:spcBef>
                          <a:spcPts val="0"/>
                        </a:spcBef>
                        <a:spcAft>
                          <a:spcPts val="0"/>
                        </a:spcAft>
                        <a:buNone/>
                      </a:pPr>
                      <a:r>
                        <a:rPr lang="en" sz="1000" b="1"/>
                        <a:t>4xx</a:t>
                      </a:r>
                      <a:endParaRPr sz="1000" b="1"/>
                    </a:p>
                    <a:p>
                      <a:pPr marL="0" lvl="0" indent="0" algn="ctr" rtl="0">
                        <a:lnSpc>
                          <a:spcPct val="100000"/>
                        </a:lnSpc>
                        <a:spcBef>
                          <a:spcPts val="0"/>
                        </a:spcBef>
                        <a:spcAft>
                          <a:spcPts val="0"/>
                        </a:spcAft>
                        <a:buNone/>
                      </a:pPr>
                      <a:r>
                        <a:rPr lang="en" sz="1000" b="1"/>
                        <a:t>Client Error</a:t>
                      </a:r>
                      <a:endParaRPr sz="1000" b="1"/>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000"/>
                        <a:t>400–499</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000"/>
                        <a:t>Problem with client request</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000"/>
                        <a:t>400 Bad Request</a:t>
                      </a:r>
                      <a:endParaRPr sz="1000"/>
                    </a:p>
                    <a:p>
                      <a:pPr marL="0" lvl="0" indent="0" algn="l" rtl="0">
                        <a:lnSpc>
                          <a:spcPct val="100000"/>
                        </a:lnSpc>
                        <a:spcBef>
                          <a:spcPts val="0"/>
                        </a:spcBef>
                        <a:spcAft>
                          <a:spcPts val="0"/>
                        </a:spcAft>
                        <a:buNone/>
                      </a:pPr>
                      <a:r>
                        <a:rPr lang="en" sz="1000"/>
                        <a:t>401 Unauthorized</a:t>
                      </a:r>
                      <a:endParaRPr sz="1000"/>
                    </a:p>
                    <a:p>
                      <a:pPr marL="0" lvl="0" indent="0" algn="l" rtl="0">
                        <a:lnSpc>
                          <a:spcPct val="100000"/>
                        </a:lnSpc>
                        <a:spcBef>
                          <a:spcPts val="0"/>
                        </a:spcBef>
                        <a:spcAft>
                          <a:spcPts val="0"/>
                        </a:spcAft>
                        <a:buNone/>
                      </a:pPr>
                      <a:r>
                        <a:rPr lang="en" sz="1000"/>
                        <a:t>403 Forbidden</a:t>
                      </a:r>
                      <a:endParaRPr sz="1000"/>
                    </a:p>
                    <a:p>
                      <a:pPr marL="0" lvl="0" indent="0" algn="l" rtl="0">
                        <a:lnSpc>
                          <a:spcPct val="100000"/>
                        </a:lnSpc>
                        <a:spcBef>
                          <a:spcPts val="0"/>
                        </a:spcBef>
                        <a:spcAft>
                          <a:spcPts val="0"/>
                        </a:spcAft>
                        <a:buNone/>
                      </a:pPr>
                      <a:r>
                        <a:rPr lang="en" sz="1000"/>
                        <a:t>404 Not Found</a:t>
                      </a:r>
                      <a:endParaRPr sz="1000"/>
                    </a:p>
                    <a:p>
                      <a:pPr marL="0" lvl="0" indent="0" algn="l" rtl="0">
                        <a:lnSpc>
                          <a:spcPct val="100000"/>
                        </a:lnSpc>
                        <a:spcBef>
                          <a:spcPts val="0"/>
                        </a:spcBef>
                        <a:spcAft>
                          <a:spcPts val="0"/>
                        </a:spcAft>
                        <a:buNone/>
                      </a:pPr>
                      <a:r>
                        <a:rPr lang="en" sz="1000"/>
                        <a:t>429 Too Many Requests</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000"/>
                        <a:t>Invalid request, missing auth, forbidden, not found, rate limit exceeded</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651075">
                <a:tc>
                  <a:txBody>
                    <a:bodyPr/>
                    <a:lstStyle/>
                    <a:p>
                      <a:pPr marL="0" lvl="0" indent="0" algn="ctr" rtl="0">
                        <a:lnSpc>
                          <a:spcPct val="100000"/>
                        </a:lnSpc>
                        <a:spcBef>
                          <a:spcPts val="0"/>
                        </a:spcBef>
                        <a:spcAft>
                          <a:spcPts val="0"/>
                        </a:spcAft>
                        <a:buNone/>
                      </a:pPr>
                      <a:r>
                        <a:rPr lang="en" sz="1000" b="1"/>
                        <a:t>5xx</a:t>
                      </a:r>
                      <a:endParaRPr sz="1000" b="1"/>
                    </a:p>
                    <a:p>
                      <a:pPr marL="0" lvl="0" indent="0" algn="ctr" rtl="0">
                        <a:lnSpc>
                          <a:spcPct val="100000"/>
                        </a:lnSpc>
                        <a:spcBef>
                          <a:spcPts val="0"/>
                        </a:spcBef>
                        <a:spcAft>
                          <a:spcPts val="0"/>
                        </a:spcAft>
                        <a:buNone/>
                      </a:pPr>
                      <a:r>
                        <a:rPr lang="en" sz="1000" b="1"/>
                        <a:t>Server Error</a:t>
                      </a:r>
                      <a:endParaRPr sz="1000" b="1"/>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000"/>
                        <a:t>500–599</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000"/>
                        <a:t>Server failed to fulfill request</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000"/>
                        <a:t>500 Internal Server Error</a:t>
                      </a:r>
                      <a:endParaRPr sz="1000"/>
                    </a:p>
                    <a:p>
                      <a:pPr marL="0" lvl="0" indent="0" algn="l" rtl="0">
                        <a:lnSpc>
                          <a:spcPct val="100000"/>
                        </a:lnSpc>
                        <a:spcBef>
                          <a:spcPts val="0"/>
                        </a:spcBef>
                        <a:spcAft>
                          <a:spcPts val="0"/>
                        </a:spcAft>
                        <a:buNone/>
                      </a:pPr>
                      <a:r>
                        <a:rPr lang="en" sz="1000"/>
                        <a:t>502 Bad Gateway</a:t>
                      </a:r>
                      <a:endParaRPr sz="1000"/>
                    </a:p>
                    <a:p>
                      <a:pPr marL="0" lvl="0" indent="0" algn="l" rtl="0">
                        <a:lnSpc>
                          <a:spcPct val="100000"/>
                        </a:lnSpc>
                        <a:spcBef>
                          <a:spcPts val="0"/>
                        </a:spcBef>
                        <a:spcAft>
                          <a:spcPts val="0"/>
                        </a:spcAft>
                        <a:buNone/>
                      </a:pPr>
                      <a:r>
                        <a:rPr lang="en" sz="1000"/>
                        <a:t>503 Service Unavailable</a:t>
                      </a:r>
                      <a:endParaRPr sz="1000"/>
                    </a:p>
                    <a:p>
                      <a:pPr marL="0" lvl="0" indent="0" algn="l" rtl="0">
                        <a:lnSpc>
                          <a:spcPct val="100000"/>
                        </a:lnSpc>
                        <a:spcBef>
                          <a:spcPts val="0"/>
                        </a:spcBef>
                        <a:spcAft>
                          <a:spcPts val="0"/>
                        </a:spcAft>
                        <a:buNone/>
                      </a:pPr>
                      <a:r>
                        <a:rPr lang="en" sz="1000"/>
                        <a:t>504 Gateway Timeout</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000"/>
                        <a:t>Server crash, upstream error, service down, timeout</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46"/>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URL Common Reserved Characters</a:t>
            </a:r>
            <a:endParaRPr/>
          </a:p>
        </p:txBody>
      </p:sp>
      <p:sp>
        <p:nvSpPr>
          <p:cNvPr id="333" name="Google Shape;333;p46"/>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34</a:t>
            </a:fld>
            <a:endParaRPr/>
          </a:p>
        </p:txBody>
      </p:sp>
      <p:graphicFrame>
        <p:nvGraphicFramePr>
          <p:cNvPr id="334" name="Google Shape;334;p46"/>
          <p:cNvGraphicFramePr/>
          <p:nvPr/>
        </p:nvGraphicFramePr>
        <p:xfrm>
          <a:off x="447675" y="1200175"/>
          <a:ext cx="7219950" cy="3687780"/>
        </p:xfrm>
        <a:graphic>
          <a:graphicData uri="http://schemas.openxmlformats.org/drawingml/2006/table">
            <a:tbl>
              <a:tblPr>
                <a:noFill/>
                <a:tableStyleId>{EEE5C1D8-EC83-4F6E-A83C-C6FD04C83F62}</a:tableStyleId>
              </a:tblPr>
              <a:tblGrid>
                <a:gridCol w="1706675">
                  <a:extLst>
                    <a:ext uri="{9D8B030D-6E8A-4147-A177-3AD203B41FA5}">
                      <a16:colId xmlns:a16="http://schemas.microsoft.com/office/drawing/2014/main" val="20000"/>
                    </a:ext>
                  </a:extLst>
                </a:gridCol>
                <a:gridCol w="1158150">
                  <a:extLst>
                    <a:ext uri="{9D8B030D-6E8A-4147-A177-3AD203B41FA5}">
                      <a16:colId xmlns:a16="http://schemas.microsoft.com/office/drawing/2014/main" val="20001"/>
                    </a:ext>
                  </a:extLst>
                </a:gridCol>
                <a:gridCol w="4355125">
                  <a:extLst>
                    <a:ext uri="{9D8B030D-6E8A-4147-A177-3AD203B41FA5}">
                      <a16:colId xmlns:a16="http://schemas.microsoft.com/office/drawing/2014/main" val="20002"/>
                    </a:ext>
                  </a:extLst>
                </a:gridCol>
              </a:tblGrid>
              <a:tr h="219550">
                <a:tc>
                  <a:txBody>
                    <a:bodyPr/>
                    <a:lstStyle/>
                    <a:p>
                      <a:pPr marL="0" lvl="0" indent="0" algn="ctr" rtl="0">
                        <a:lnSpc>
                          <a:spcPct val="100000"/>
                        </a:lnSpc>
                        <a:spcBef>
                          <a:spcPts val="0"/>
                        </a:spcBef>
                        <a:spcAft>
                          <a:spcPts val="0"/>
                        </a:spcAft>
                        <a:buNone/>
                      </a:pPr>
                      <a:r>
                        <a:rPr lang="en" b="1"/>
                        <a:t>Character</a:t>
                      </a:r>
                      <a:endParaRPr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ctr" rtl="0">
                        <a:lnSpc>
                          <a:spcPct val="100000"/>
                        </a:lnSpc>
                        <a:spcBef>
                          <a:spcPts val="0"/>
                        </a:spcBef>
                        <a:spcAft>
                          <a:spcPts val="0"/>
                        </a:spcAft>
                        <a:buNone/>
                      </a:pPr>
                      <a:r>
                        <a:rPr lang="en" b="1"/>
                        <a:t>Encoding</a:t>
                      </a:r>
                      <a:endParaRPr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tc>
                  <a:txBody>
                    <a:bodyPr/>
                    <a:lstStyle/>
                    <a:p>
                      <a:pPr marL="0" lvl="0" indent="0" algn="ctr" rtl="0">
                        <a:lnSpc>
                          <a:spcPct val="100000"/>
                        </a:lnSpc>
                        <a:spcBef>
                          <a:spcPts val="0"/>
                        </a:spcBef>
                        <a:spcAft>
                          <a:spcPts val="0"/>
                        </a:spcAft>
                        <a:buNone/>
                      </a:pPr>
                      <a:r>
                        <a:rPr lang="en" b="1"/>
                        <a:t>Usage</a:t>
                      </a:r>
                      <a:endParaRPr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250750">
                <a:tc>
                  <a:txBody>
                    <a:bodyPr/>
                    <a:lstStyle/>
                    <a:p>
                      <a:pPr marL="0" lvl="0" indent="0" algn="ctr" rtl="0">
                        <a:lnSpc>
                          <a:spcPct val="100000"/>
                        </a:lnSpc>
                        <a:spcBef>
                          <a:spcPts val="0"/>
                        </a:spcBef>
                        <a:spcAft>
                          <a:spcPts val="0"/>
                        </a:spcAft>
                        <a:buNone/>
                      </a:pPr>
                      <a:r>
                        <a:rPr lang="en" sz="1200" b="1"/>
                        <a:t>[:] Colon</a:t>
                      </a:r>
                      <a:endParaRPr sz="1200" b="1"/>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200"/>
                        <a:t>%3A</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200"/>
                        <a:t>Protocol separator (e.g., http:)</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250750">
                <a:tc>
                  <a:txBody>
                    <a:bodyPr/>
                    <a:lstStyle/>
                    <a:p>
                      <a:pPr marL="0" lvl="0" indent="0" algn="ctr" rtl="0">
                        <a:lnSpc>
                          <a:spcPct val="100000"/>
                        </a:lnSpc>
                        <a:spcBef>
                          <a:spcPts val="0"/>
                        </a:spcBef>
                        <a:spcAft>
                          <a:spcPts val="0"/>
                        </a:spcAft>
                        <a:buNone/>
                      </a:pPr>
                      <a:r>
                        <a:rPr lang="en" sz="1200" b="1"/>
                        <a:t>[/] Slash</a:t>
                      </a:r>
                      <a:endParaRPr sz="1200" b="1"/>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200"/>
                        <a:t>%2F</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200"/>
                        <a:t>Path separator</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250750">
                <a:tc>
                  <a:txBody>
                    <a:bodyPr/>
                    <a:lstStyle/>
                    <a:p>
                      <a:pPr marL="0" lvl="0" indent="0" algn="ctr" rtl="0">
                        <a:lnSpc>
                          <a:spcPct val="100000"/>
                        </a:lnSpc>
                        <a:spcBef>
                          <a:spcPts val="0"/>
                        </a:spcBef>
                        <a:spcAft>
                          <a:spcPts val="0"/>
                        </a:spcAft>
                        <a:buNone/>
                      </a:pPr>
                      <a:r>
                        <a:rPr lang="en" sz="1200" b="1"/>
                        <a:t>[?] Question mark</a:t>
                      </a:r>
                      <a:endParaRPr sz="1200" b="1"/>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200"/>
                        <a:t>%3F</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200"/>
                        <a:t>Start of query string</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250750">
                <a:tc>
                  <a:txBody>
                    <a:bodyPr/>
                    <a:lstStyle/>
                    <a:p>
                      <a:pPr marL="0" lvl="0" indent="0" algn="ctr" rtl="0">
                        <a:lnSpc>
                          <a:spcPct val="100000"/>
                        </a:lnSpc>
                        <a:spcBef>
                          <a:spcPts val="0"/>
                        </a:spcBef>
                        <a:spcAft>
                          <a:spcPts val="0"/>
                        </a:spcAft>
                        <a:buNone/>
                      </a:pPr>
                      <a:r>
                        <a:rPr lang="en" sz="1200" b="1"/>
                        <a:t>[#] Hash</a:t>
                      </a:r>
                      <a:endParaRPr sz="1200" b="1"/>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200"/>
                        <a:t>%23</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200"/>
                        <a:t>Fragment (anchor) start</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250750">
                <a:tc>
                  <a:txBody>
                    <a:bodyPr/>
                    <a:lstStyle/>
                    <a:p>
                      <a:pPr marL="0" lvl="0" indent="0" algn="ctr" rtl="0">
                        <a:lnSpc>
                          <a:spcPct val="100000"/>
                        </a:lnSpc>
                        <a:spcBef>
                          <a:spcPts val="0"/>
                        </a:spcBef>
                        <a:spcAft>
                          <a:spcPts val="0"/>
                        </a:spcAft>
                        <a:buNone/>
                      </a:pPr>
                      <a:r>
                        <a:rPr lang="en" sz="1200" b="1"/>
                        <a:t>[&amp;] Ampersand</a:t>
                      </a:r>
                      <a:endParaRPr sz="1200" b="1"/>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200"/>
                        <a:t>%26</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200"/>
                        <a:t>Query parameter separator</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250750">
                <a:tc>
                  <a:txBody>
                    <a:bodyPr/>
                    <a:lstStyle/>
                    <a:p>
                      <a:pPr marL="0" lvl="0" indent="0" algn="ctr" rtl="0">
                        <a:lnSpc>
                          <a:spcPct val="100000"/>
                        </a:lnSpc>
                        <a:spcBef>
                          <a:spcPts val="0"/>
                        </a:spcBef>
                        <a:spcAft>
                          <a:spcPts val="0"/>
                        </a:spcAft>
                        <a:buNone/>
                      </a:pPr>
                      <a:r>
                        <a:rPr lang="en" sz="1200" b="1"/>
                        <a:t>[=] Equal sign</a:t>
                      </a:r>
                      <a:endParaRPr sz="1200" b="1"/>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200"/>
                        <a:t>%3D</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200"/>
                        <a:t>Key/Value separator</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250750">
                <a:tc>
                  <a:txBody>
                    <a:bodyPr/>
                    <a:lstStyle/>
                    <a:p>
                      <a:pPr marL="0" lvl="0" indent="0" algn="ctr" rtl="0">
                        <a:lnSpc>
                          <a:spcPct val="100000"/>
                        </a:lnSpc>
                        <a:spcBef>
                          <a:spcPts val="0"/>
                        </a:spcBef>
                        <a:spcAft>
                          <a:spcPts val="0"/>
                        </a:spcAft>
                        <a:buNone/>
                      </a:pPr>
                      <a:r>
                        <a:rPr lang="en" sz="1200" b="1"/>
                        <a:t>[@] At sign</a:t>
                      </a:r>
                      <a:endParaRPr sz="1200" b="1"/>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200"/>
                        <a:t>%40</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200"/>
                        <a:t>User info separator</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250750">
                <a:tc>
                  <a:txBody>
                    <a:bodyPr/>
                    <a:lstStyle/>
                    <a:p>
                      <a:pPr marL="0" lvl="0" indent="0" algn="ctr" rtl="0">
                        <a:lnSpc>
                          <a:spcPct val="100000"/>
                        </a:lnSpc>
                        <a:spcBef>
                          <a:spcPts val="0"/>
                        </a:spcBef>
                        <a:spcAft>
                          <a:spcPts val="0"/>
                        </a:spcAft>
                        <a:buNone/>
                      </a:pPr>
                      <a:r>
                        <a:rPr lang="en" sz="1200" b="1"/>
                        <a:t>[+] Plus sign</a:t>
                      </a:r>
                      <a:endParaRPr sz="1200" b="1"/>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200"/>
                        <a:t>%2B</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200"/>
                        <a:t>Represents space in application/x-www-form-urlencoded</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250750">
                <a:tc>
                  <a:txBody>
                    <a:bodyPr/>
                    <a:lstStyle/>
                    <a:p>
                      <a:pPr marL="0" lvl="0" indent="0" algn="ctr" rtl="0">
                        <a:lnSpc>
                          <a:spcPct val="100000"/>
                        </a:lnSpc>
                        <a:spcBef>
                          <a:spcPts val="0"/>
                        </a:spcBef>
                        <a:spcAft>
                          <a:spcPts val="0"/>
                        </a:spcAft>
                        <a:buNone/>
                      </a:pPr>
                      <a:r>
                        <a:rPr lang="en" sz="1200" b="1"/>
                        <a:t>[%] Percent sign</a:t>
                      </a:r>
                      <a:endParaRPr sz="1200" b="1"/>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n" sz="1200"/>
                        <a:t>%25</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200"/>
                        <a:t>Escape indicator for encoding</a:t>
                      </a:r>
                      <a:endParaRPr sz="1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47"/>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Common Pitfalls in URL Encoding</a:t>
            </a:r>
            <a:endParaRPr/>
          </a:p>
        </p:txBody>
      </p:sp>
      <p:sp>
        <p:nvSpPr>
          <p:cNvPr id="340" name="Google Shape;340;p47"/>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35</a:t>
            </a:fld>
            <a:endParaRPr/>
          </a:p>
        </p:txBody>
      </p:sp>
      <p:sp>
        <p:nvSpPr>
          <p:cNvPr id="341" name="Google Shape;341;p4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Ampersand &amp; in query strings</a:t>
            </a:r>
            <a:endParaRPr/>
          </a:p>
          <a:p>
            <a:pPr marL="914400" lvl="1" indent="-317500" algn="l" rtl="0">
              <a:spcBef>
                <a:spcPts val="0"/>
              </a:spcBef>
              <a:spcAft>
                <a:spcPts val="0"/>
              </a:spcAft>
              <a:buSzPts val="1400"/>
              <a:buChar char="○"/>
            </a:pPr>
            <a:r>
              <a:rPr lang="en"/>
              <a:t>Structural use: ?a=1&amp;b=2 → no encoding needed</a:t>
            </a:r>
            <a:endParaRPr/>
          </a:p>
          <a:p>
            <a:pPr marL="914400" lvl="1" indent="-317500" algn="l" rtl="0">
              <a:spcBef>
                <a:spcPts val="0"/>
              </a:spcBef>
              <a:spcAft>
                <a:spcPts val="0"/>
              </a:spcAft>
              <a:buSzPts val="1400"/>
              <a:buChar char="○"/>
            </a:pPr>
            <a:r>
              <a:rPr lang="en"/>
              <a:t>Data use: ?q=Tom%26Jerry → must encode %26</a:t>
            </a:r>
            <a:endParaRPr/>
          </a:p>
          <a:p>
            <a:pPr marL="457200" lvl="0" indent="-342900" algn="l" rtl="0">
              <a:spcBef>
                <a:spcPts val="0"/>
              </a:spcBef>
              <a:spcAft>
                <a:spcPts val="0"/>
              </a:spcAft>
              <a:buSzPts val="1800"/>
              <a:buChar char="●"/>
            </a:pPr>
            <a:r>
              <a:rPr lang="en"/>
              <a:t>Slash / in paths</a:t>
            </a:r>
            <a:endParaRPr/>
          </a:p>
          <a:p>
            <a:pPr marL="914400" lvl="1" indent="-317500" algn="l" rtl="0">
              <a:spcBef>
                <a:spcPts val="0"/>
              </a:spcBef>
              <a:spcAft>
                <a:spcPts val="0"/>
              </a:spcAft>
              <a:buSzPts val="1400"/>
              <a:buChar char="○"/>
            </a:pPr>
            <a:r>
              <a:rPr lang="en"/>
              <a:t>Structural use: /products/apparel → no encoding needed</a:t>
            </a:r>
            <a:endParaRPr/>
          </a:p>
          <a:p>
            <a:pPr marL="914400" lvl="1" indent="-317500" algn="l" rtl="0">
              <a:spcBef>
                <a:spcPts val="0"/>
              </a:spcBef>
              <a:spcAft>
                <a:spcPts val="0"/>
              </a:spcAft>
              <a:buSzPts val="1400"/>
              <a:buChar char="○"/>
            </a:pPr>
            <a:r>
              <a:rPr lang="en"/>
              <a:t>Data use: /A%2FB_Testing → %2F encodes slash as data</a:t>
            </a:r>
            <a:endParaRPr/>
          </a:p>
          <a:p>
            <a:pPr marL="457200" lvl="0" indent="-342900" algn="l" rtl="0">
              <a:spcBef>
                <a:spcPts val="0"/>
              </a:spcBef>
              <a:spcAft>
                <a:spcPts val="0"/>
              </a:spcAft>
              <a:buSzPts val="1800"/>
              <a:buChar char="●"/>
            </a:pPr>
            <a:r>
              <a:rPr lang="en"/>
              <a:t>Question mark ?</a:t>
            </a:r>
            <a:endParaRPr/>
          </a:p>
          <a:p>
            <a:pPr marL="914400" lvl="1" indent="-317500" algn="l" rtl="0">
              <a:spcBef>
                <a:spcPts val="0"/>
              </a:spcBef>
              <a:spcAft>
                <a:spcPts val="0"/>
              </a:spcAft>
              <a:buSzPts val="1400"/>
              <a:buChar char="○"/>
            </a:pPr>
            <a:r>
              <a:rPr lang="en"/>
              <a:t>Structural use: /search?q=test → marks query start, no encoding needed</a:t>
            </a:r>
            <a:endParaRPr/>
          </a:p>
          <a:p>
            <a:pPr marL="914400" lvl="1" indent="-317500" algn="l" rtl="0">
              <a:spcBef>
                <a:spcPts val="0"/>
              </a:spcBef>
              <a:spcAft>
                <a:spcPts val="0"/>
              </a:spcAft>
              <a:buSzPts val="1400"/>
              <a:buChar char="○"/>
            </a:pPr>
            <a:r>
              <a:rPr lang="en"/>
              <a:t>Data use: ?q=What%3F → %3F encodes question mark as data</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48"/>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Hyperlink Element ─ target attribute of &lt;a&gt;</a:t>
            </a:r>
            <a:endParaRPr/>
          </a:p>
          <a:p>
            <a:pPr marL="0" lvl="0" indent="0" algn="l" rtl="0">
              <a:spcBef>
                <a:spcPts val="0"/>
              </a:spcBef>
              <a:spcAft>
                <a:spcPts val="0"/>
              </a:spcAft>
              <a:buNone/>
            </a:pPr>
            <a:endParaRPr/>
          </a:p>
        </p:txBody>
      </p:sp>
      <p:sp>
        <p:nvSpPr>
          <p:cNvPr id="347" name="Google Shape;347;p48"/>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36</a:t>
            </a:fld>
            <a:endParaRPr/>
          </a:p>
        </p:txBody>
      </p:sp>
      <p:sp>
        <p:nvSpPr>
          <p:cNvPr id="348" name="Google Shape;348;p4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lnSpcReduction="20000"/>
          </a:bodyPr>
          <a:lstStyle/>
          <a:p>
            <a:pPr marL="457200" lvl="0" indent="-334328" algn="l" rtl="0">
              <a:spcBef>
                <a:spcPts val="0"/>
              </a:spcBef>
              <a:spcAft>
                <a:spcPts val="0"/>
              </a:spcAft>
              <a:buSzPct val="100000"/>
              <a:buChar char="●"/>
            </a:pPr>
            <a:r>
              <a:rPr lang="en" dirty="0"/>
              <a:t>Where to display the linked URL, as the name for a browsing context</a:t>
            </a:r>
            <a:endParaRPr dirty="0"/>
          </a:p>
          <a:p>
            <a:pPr marL="457200" lvl="0" indent="-334328" algn="l" rtl="0">
              <a:spcBef>
                <a:spcPts val="0"/>
              </a:spcBef>
              <a:spcAft>
                <a:spcPts val="0"/>
              </a:spcAft>
              <a:buSzPct val="100000"/>
              <a:buChar char="●"/>
            </a:pPr>
            <a:r>
              <a:rPr lang="en" dirty="0"/>
              <a:t>_self: The current browsing context. (Default)</a:t>
            </a:r>
            <a:endParaRPr dirty="0"/>
          </a:p>
          <a:p>
            <a:pPr marL="457200" lvl="0" indent="-334328" algn="l" rtl="0">
              <a:spcBef>
                <a:spcPts val="0"/>
              </a:spcBef>
              <a:spcAft>
                <a:spcPts val="0"/>
              </a:spcAft>
              <a:buSzPct val="100000"/>
              <a:buChar char="●"/>
            </a:pPr>
            <a:r>
              <a:rPr lang="en" dirty="0"/>
              <a:t>_blank: Usually a new tab, but users can configure browsers to open a new window instead.</a:t>
            </a:r>
            <a:endParaRPr dirty="0"/>
          </a:p>
          <a:p>
            <a:pPr marL="914400" lvl="1" indent="-310832" algn="l" rtl="0">
              <a:spcBef>
                <a:spcPts val="0"/>
              </a:spcBef>
              <a:spcAft>
                <a:spcPts val="0"/>
              </a:spcAft>
              <a:buSzPct val="100000"/>
              <a:buChar char="○"/>
            </a:pPr>
            <a:r>
              <a:rPr lang="en" dirty="0"/>
              <a:t>Setting target="_blank" on &lt;a&gt; elements implicitly provides the same rel behavior as setting rel="noopener" which does not set window.opener.</a:t>
            </a:r>
            <a:endParaRPr dirty="0"/>
          </a:p>
          <a:p>
            <a:pPr marL="457200" lvl="0" indent="-334328" algn="l" rtl="0">
              <a:spcBef>
                <a:spcPts val="0"/>
              </a:spcBef>
              <a:spcAft>
                <a:spcPts val="0"/>
              </a:spcAft>
              <a:buSzPct val="100000"/>
              <a:buChar char="●"/>
            </a:pPr>
            <a:r>
              <a:rPr lang="en" dirty="0"/>
              <a:t>_parent: The parent browsing context of the current one. If no parent, behaves as _self.</a:t>
            </a:r>
            <a:endParaRPr dirty="0"/>
          </a:p>
          <a:p>
            <a:pPr marL="457200" lvl="0" indent="-334328" algn="l" rtl="0">
              <a:spcBef>
                <a:spcPts val="0"/>
              </a:spcBef>
              <a:spcAft>
                <a:spcPts val="0"/>
              </a:spcAft>
              <a:buSzPct val="100000"/>
              <a:buChar char="●"/>
            </a:pPr>
            <a:r>
              <a:rPr lang="en" dirty="0"/>
              <a:t>_top: The topmost browsing context. To be specific, this means the "highest" context that's an ancestor of the current one. If no ancestors, behaves as _self.</a:t>
            </a:r>
            <a:endParaRPr dirty="0"/>
          </a:p>
          <a:p>
            <a:pPr marL="457200" lvl="0" indent="-334328" algn="l" rtl="0">
              <a:spcBef>
                <a:spcPts val="0"/>
              </a:spcBef>
              <a:spcAft>
                <a:spcPts val="0"/>
              </a:spcAft>
              <a:buSzPct val="100000"/>
              <a:buChar char="●"/>
            </a:pPr>
            <a:r>
              <a:rPr lang="en" dirty="0"/>
              <a:t>_unfencedTop: Allows embedded fenced frames to navigate the top-level frame (i.e., traversing beyond the root of the fenced frame, unlike other reserved destinations). Note that the navigation will still succeed if this is used outside of a fenced frame context, but it will not act like a reserved keyword.</a:t>
            </a:r>
            <a:endParaRPr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49"/>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Try it Yourself ─ Textual Tag Practices</a:t>
            </a:r>
            <a:endParaRPr/>
          </a:p>
        </p:txBody>
      </p:sp>
      <p:sp>
        <p:nvSpPr>
          <p:cNvPr id="354" name="Google Shape;354;p49"/>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37</a:t>
            </a:fld>
            <a:endParaRPr/>
          </a:p>
        </p:txBody>
      </p:sp>
      <p:sp>
        <p:nvSpPr>
          <p:cNvPr id="355" name="Google Shape;355;p4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AutoNum type="arabicPeriod"/>
            </a:pPr>
            <a:r>
              <a:rPr lang="en"/>
              <a:t>Learn each of following tags</a:t>
            </a:r>
            <a:endParaRPr/>
          </a:p>
          <a:p>
            <a:pPr marL="914400" lvl="1" indent="-317500" algn="l" rtl="0">
              <a:spcBef>
                <a:spcPts val="0"/>
              </a:spcBef>
              <a:spcAft>
                <a:spcPts val="0"/>
              </a:spcAft>
              <a:buSzPts val="1400"/>
              <a:buChar char="○"/>
            </a:pPr>
            <a:r>
              <a:rPr lang="en"/>
              <a:t>&lt;b&gt; and &lt;strong&gt; and what’s difference</a:t>
            </a:r>
            <a:endParaRPr/>
          </a:p>
          <a:p>
            <a:pPr marL="914400" lvl="1" indent="-317500" algn="l" rtl="0">
              <a:spcBef>
                <a:spcPts val="0"/>
              </a:spcBef>
              <a:spcAft>
                <a:spcPts val="0"/>
              </a:spcAft>
              <a:buSzPts val="1400"/>
              <a:buChar char="○"/>
            </a:pPr>
            <a:r>
              <a:rPr lang="en"/>
              <a:t>&lt;pre&gt;</a:t>
            </a:r>
            <a:endParaRPr/>
          </a:p>
          <a:p>
            <a:pPr marL="914400" lvl="1" indent="-317500" algn="l" rtl="0">
              <a:spcBef>
                <a:spcPts val="0"/>
              </a:spcBef>
              <a:spcAft>
                <a:spcPts val="0"/>
              </a:spcAft>
              <a:buSzPts val="1400"/>
              <a:buChar char="○"/>
            </a:pPr>
            <a:r>
              <a:rPr lang="en"/>
              <a:t>&lt;i&gt; and &lt;em&gt; and what’s difference</a:t>
            </a:r>
            <a:endParaRPr/>
          </a:p>
          <a:p>
            <a:pPr marL="914400" lvl="1" indent="-317500" algn="l" rtl="0">
              <a:spcBef>
                <a:spcPts val="0"/>
              </a:spcBef>
              <a:spcAft>
                <a:spcPts val="0"/>
              </a:spcAft>
              <a:buSzPts val="1400"/>
              <a:buChar char="○"/>
            </a:pPr>
            <a:r>
              <a:rPr lang="en"/>
              <a:t>&lt;mark&gt;</a:t>
            </a:r>
            <a:endParaRPr/>
          </a:p>
          <a:p>
            <a:pPr marL="914400" lvl="1" indent="-317500" algn="l" rtl="0">
              <a:spcBef>
                <a:spcPts val="0"/>
              </a:spcBef>
              <a:spcAft>
                <a:spcPts val="0"/>
              </a:spcAft>
              <a:buSzPts val="1400"/>
              <a:buChar char="○"/>
            </a:pPr>
            <a:r>
              <a:rPr lang="en"/>
              <a:t>&lt;sub&gt;</a:t>
            </a:r>
            <a:endParaRPr/>
          </a:p>
          <a:p>
            <a:pPr marL="914400" lvl="1" indent="-317500" algn="l" rtl="0">
              <a:spcBef>
                <a:spcPts val="0"/>
              </a:spcBef>
              <a:spcAft>
                <a:spcPts val="0"/>
              </a:spcAft>
              <a:buSzPts val="1400"/>
              <a:buChar char="○"/>
            </a:pPr>
            <a:r>
              <a:rPr lang="en"/>
              <a:t>&lt;sup&gt;</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50"/>
          <p:cNvSpPr txBox="1">
            <a:spLocks noGrp="1"/>
          </p:cNvSpPr>
          <p:nvPr>
            <p:ph type="title"/>
          </p:nvPr>
        </p:nvSpPr>
        <p:spPr>
          <a:xfrm>
            <a:off x="485875" y="1714500"/>
            <a:ext cx="8183700" cy="78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500"/>
              <a:t>Markup Tags within &lt;body&gt; </a:t>
            </a:r>
            <a:r>
              <a:rPr lang="en" sz="2900"/>
              <a:t>─ </a:t>
            </a:r>
            <a:r>
              <a:rPr lang="en" sz="3500"/>
              <a:t>Lists </a:t>
            </a:r>
            <a:endParaRPr sz="3500"/>
          </a:p>
        </p:txBody>
      </p:sp>
      <p:sp>
        <p:nvSpPr>
          <p:cNvPr id="361" name="Google Shape;361;p50"/>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1"/>
                </a:solidFill>
              </a:rPr>
              <a:t>38</a:t>
            </a:fld>
            <a:endParaRPr>
              <a:solidFill>
                <a:schemeClr val="lt1"/>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51"/>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Unordered List ─ &lt;ul&gt;</a:t>
            </a:r>
            <a:endParaRPr/>
          </a:p>
          <a:p>
            <a:pPr marL="0" lvl="0" indent="0" algn="l" rtl="0">
              <a:spcBef>
                <a:spcPts val="0"/>
              </a:spcBef>
              <a:spcAft>
                <a:spcPts val="0"/>
              </a:spcAft>
              <a:buNone/>
            </a:pPr>
            <a:endParaRPr/>
          </a:p>
        </p:txBody>
      </p:sp>
      <p:sp>
        <p:nvSpPr>
          <p:cNvPr id="367" name="Google Shape;367;p51"/>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2"/>
                </a:solidFill>
              </a:rPr>
              <a:t>39</a:t>
            </a:fld>
            <a:endParaRPr>
              <a:solidFill>
                <a:schemeClr val="lt2"/>
              </a:solidFill>
            </a:endParaRPr>
          </a:p>
        </p:txBody>
      </p:sp>
      <p:sp>
        <p:nvSpPr>
          <p:cNvPr id="368" name="Google Shape;368;p5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dirty="0"/>
              <a:t>The &lt;ul&gt; element is for grouping a collection of items that do not have a numerical ordering, and their order in the list is meaningless.</a:t>
            </a:r>
            <a:endParaRPr dirty="0"/>
          </a:p>
          <a:p>
            <a:pPr marL="457200" lvl="0" indent="-342900" algn="l" rtl="0">
              <a:spcBef>
                <a:spcPts val="0"/>
              </a:spcBef>
              <a:spcAft>
                <a:spcPts val="0"/>
              </a:spcAft>
              <a:buSzPts val="1800"/>
              <a:buChar char="●"/>
            </a:pPr>
            <a:r>
              <a:rPr lang="en" dirty="0"/>
              <a:t>Typically, unordered-list items are displayed with a bullet, which can be of several forms, like a dot, a circle, or a square.</a:t>
            </a:r>
            <a:endParaRPr dirty="0"/>
          </a:p>
          <a:p>
            <a:pPr marL="457200" lvl="0" indent="-342900" algn="l" rtl="0">
              <a:spcBef>
                <a:spcPts val="0"/>
              </a:spcBef>
              <a:spcAft>
                <a:spcPts val="0"/>
              </a:spcAft>
              <a:buSzPts val="1800"/>
              <a:buChar char="●"/>
            </a:pPr>
            <a:r>
              <a:rPr lang="en" dirty="0"/>
              <a:t>The bullet style is not defined in the HTML description of the page, but in its associated CSS, using the list-style-type property.</a:t>
            </a:r>
            <a:endParaRPr dirty="0"/>
          </a:p>
          <a:p>
            <a:pPr marL="457200" lvl="0" indent="-342900" algn="l" rtl="0">
              <a:spcBef>
                <a:spcPts val="0"/>
              </a:spcBef>
              <a:spcAft>
                <a:spcPts val="0"/>
              </a:spcAft>
              <a:buSzPts val="1800"/>
              <a:buChar char="●"/>
            </a:pPr>
            <a:r>
              <a:rPr lang="en" dirty="0"/>
              <a:t>Each entry is an li (list item) element. Most web browsers render these elements with a line break and a bullet symbol at the beginning of the line.</a:t>
            </a:r>
            <a:endParaRPr dirty="0"/>
          </a:p>
        </p:txBody>
      </p:sp>
      <p:pic>
        <p:nvPicPr>
          <p:cNvPr id="369" name="Google Shape;369;p51"/>
          <p:cNvPicPr preferRelativeResize="0"/>
          <p:nvPr/>
        </p:nvPicPr>
        <p:blipFill>
          <a:blip r:embed="rId3">
            <a:alphaModFix/>
          </a:blip>
          <a:stretch>
            <a:fillRect/>
          </a:stretch>
        </p:blipFill>
        <p:spPr>
          <a:xfrm>
            <a:off x="909649" y="3947500"/>
            <a:ext cx="1862125" cy="1053125"/>
          </a:xfrm>
          <a:prstGeom prst="rect">
            <a:avLst/>
          </a:prstGeom>
          <a:noFill/>
          <a:ln w="9525" cap="flat" cmpd="sng">
            <a:solidFill>
              <a:schemeClr val="dk2"/>
            </a:solidFill>
            <a:prstDash val="solid"/>
            <a:round/>
            <a:headEnd type="none" w="sm" len="sm"/>
            <a:tailEnd type="none" w="sm" len="sm"/>
          </a:ln>
        </p:spPr>
      </p:pic>
      <p:pic>
        <p:nvPicPr>
          <p:cNvPr id="370" name="Google Shape;370;p51"/>
          <p:cNvPicPr preferRelativeResize="0"/>
          <p:nvPr/>
        </p:nvPicPr>
        <p:blipFill>
          <a:blip r:embed="rId4">
            <a:alphaModFix/>
          </a:blip>
          <a:stretch>
            <a:fillRect/>
          </a:stretch>
        </p:blipFill>
        <p:spPr>
          <a:xfrm>
            <a:off x="3552825" y="3947500"/>
            <a:ext cx="838200" cy="628650"/>
          </a:xfrm>
          <a:prstGeom prst="rect">
            <a:avLst/>
          </a:prstGeom>
          <a:noFill/>
          <a:ln w="9525" cap="flat" cmpd="sng">
            <a:solidFill>
              <a:srgbClr val="FF9900"/>
            </a:solidFill>
            <a:prstDash val="solid"/>
            <a:round/>
            <a:headEnd type="none" w="sm" len="sm"/>
            <a:tailEnd type="none" w="sm" len="sm"/>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52"/>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Ordered List ─ &lt;ol&gt;</a:t>
            </a:r>
            <a:endParaRPr/>
          </a:p>
          <a:p>
            <a:pPr marL="0" lvl="0" indent="0" algn="l" rtl="0">
              <a:spcBef>
                <a:spcPts val="0"/>
              </a:spcBef>
              <a:spcAft>
                <a:spcPts val="0"/>
              </a:spcAft>
              <a:buNone/>
            </a:pPr>
            <a:endParaRPr/>
          </a:p>
        </p:txBody>
      </p:sp>
      <p:sp>
        <p:nvSpPr>
          <p:cNvPr id="376" name="Google Shape;376;p52"/>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2"/>
                </a:solidFill>
              </a:rPr>
              <a:t>40</a:t>
            </a:fld>
            <a:endParaRPr>
              <a:solidFill>
                <a:schemeClr val="lt2"/>
              </a:solidFill>
            </a:endParaRPr>
          </a:p>
        </p:txBody>
      </p:sp>
      <p:sp>
        <p:nvSpPr>
          <p:cNvPr id="377" name="Google Shape;377;p5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Typically, ordered list items display with a preceding marker, such as a number or letter.</a:t>
            </a:r>
            <a:endParaRPr/>
          </a:p>
          <a:p>
            <a:pPr marL="457200" lvl="0" indent="-342900" algn="l" rtl="0">
              <a:spcBef>
                <a:spcPts val="0"/>
              </a:spcBef>
              <a:spcAft>
                <a:spcPts val="0"/>
              </a:spcAft>
              <a:buSzPts val="1800"/>
              <a:buChar char="●"/>
            </a:pPr>
            <a:r>
              <a:rPr lang="en"/>
              <a:t>Attributes</a:t>
            </a:r>
            <a:endParaRPr/>
          </a:p>
          <a:p>
            <a:pPr marL="914400" lvl="1" indent="-317500" algn="l" rtl="0">
              <a:spcBef>
                <a:spcPts val="0"/>
              </a:spcBef>
              <a:spcAft>
                <a:spcPts val="0"/>
              </a:spcAft>
              <a:buSzPts val="1400"/>
              <a:buChar char="○"/>
            </a:pPr>
            <a:r>
              <a:rPr lang="en"/>
              <a:t>reversed: This Boolean attribute specifies that the list's items are in reverse order. Items will be numbered from high to low.</a:t>
            </a:r>
            <a:endParaRPr/>
          </a:p>
          <a:p>
            <a:pPr marL="914400" lvl="1" indent="-317500" algn="l" rtl="0">
              <a:spcBef>
                <a:spcPts val="0"/>
              </a:spcBef>
              <a:spcAft>
                <a:spcPts val="0"/>
              </a:spcAft>
              <a:buSzPts val="1400"/>
              <a:buChar char="○"/>
            </a:pPr>
            <a:r>
              <a:rPr lang="en"/>
              <a:t>start: An integer to start counting from for the list items. Always an Arabic numeral (1, 2, 3, etc.)</a:t>
            </a:r>
            <a:endParaRPr/>
          </a:p>
          <a:p>
            <a:pPr marL="914400" lvl="1" indent="-317500" algn="l" rtl="0">
              <a:spcBef>
                <a:spcPts val="0"/>
              </a:spcBef>
              <a:spcAft>
                <a:spcPts val="0"/>
              </a:spcAft>
              <a:buSzPts val="1400"/>
              <a:buChar char="○"/>
            </a:pPr>
            <a:r>
              <a:rPr lang="en"/>
              <a:t>type: </a:t>
            </a:r>
            <a:endParaRPr/>
          </a:p>
          <a:p>
            <a:pPr marL="1371600" lvl="2" indent="-317500" algn="l" rtl="0">
              <a:spcBef>
                <a:spcPts val="0"/>
              </a:spcBef>
              <a:spcAft>
                <a:spcPts val="0"/>
              </a:spcAft>
              <a:buSzPts val="1400"/>
              <a:buChar char="■"/>
            </a:pPr>
            <a:r>
              <a:rPr lang="en"/>
              <a:t>a for lowercase letters</a:t>
            </a:r>
            <a:endParaRPr/>
          </a:p>
          <a:p>
            <a:pPr marL="1371600" lvl="2" indent="-317500" algn="l" rtl="0">
              <a:spcBef>
                <a:spcPts val="0"/>
              </a:spcBef>
              <a:spcAft>
                <a:spcPts val="0"/>
              </a:spcAft>
              <a:buSzPts val="1400"/>
              <a:buChar char="■"/>
            </a:pPr>
            <a:r>
              <a:rPr lang="en"/>
              <a:t>A for uppercase letters</a:t>
            </a:r>
            <a:endParaRPr/>
          </a:p>
          <a:p>
            <a:pPr marL="1371600" lvl="2" indent="-317500" algn="l" rtl="0">
              <a:spcBef>
                <a:spcPts val="0"/>
              </a:spcBef>
              <a:spcAft>
                <a:spcPts val="0"/>
              </a:spcAft>
              <a:buSzPts val="1400"/>
              <a:buChar char="■"/>
            </a:pPr>
            <a:r>
              <a:rPr lang="en"/>
              <a:t>i for lowercase Roman numerals</a:t>
            </a:r>
            <a:endParaRPr/>
          </a:p>
          <a:p>
            <a:pPr marL="1371600" lvl="2" indent="-317500" algn="l" rtl="0">
              <a:spcBef>
                <a:spcPts val="0"/>
              </a:spcBef>
              <a:spcAft>
                <a:spcPts val="0"/>
              </a:spcAft>
              <a:buSzPts val="1400"/>
              <a:buChar char="■"/>
            </a:pPr>
            <a:r>
              <a:rPr lang="en"/>
              <a:t>I for uppercase Roman numerals</a:t>
            </a:r>
            <a:endParaRPr/>
          </a:p>
          <a:p>
            <a:pPr marL="1371600" lvl="2" indent="-317500" algn="l" rtl="0">
              <a:spcBef>
                <a:spcPts val="0"/>
              </a:spcBef>
              <a:spcAft>
                <a:spcPts val="0"/>
              </a:spcAft>
              <a:buSzPts val="1400"/>
              <a:buChar char="■"/>
            </a:pPr>
            <a:r>
              <a:rPr lang="en"/>
              <a:t>1 for numbers (default)</a:t>
            </a:r>
            <a:endParaRPr/>
          </a:p>
        </p:txBody>
      </p:sp>
      <p:pic>
        <p:nvPicPr>
          <p:cNvPr id="378" name="Google Shape;378;p52"/>
          <p:cNvPicPr preferRelativeResize="0"/>
          <p:nvPr/>
        </p:nvPicPr>
        <p:blipFill>
          <a:blip r:embed="rId3">
            <a:alphaModFix/>
          </a:blip>
          <a:stretch>
            <a:fillRect/>
          </a:stretch>
        </p:blipFill>
        <p:spPr>
          <a:xfrm>
            <a:off x="7924800" y="3438525"/>
            <a:ext cx="838200" cy="628650"/>
          </a:xfrm>
          <a:prstGeom prst="rect">
            <a:avLst/>
          </a:prstGeom>
          <a:noFill/>
          <a:ln w="9525" cap="flat" cmpd="sng">
            <a:solidFill>
              <a:srgbClr val="FF9900"/>
            </a:solidFill>
            <a:prstDash val="solid"/>
            <a:round/>
            <a:headEnd type="none" w="sm" len="sm"/>
            <a:tailEnd type="none" w="sm" len="sm"/>
          </a:ln>
        </p:spPr>
      </p:pic>
      <p:pic>
        <p:nvPicPr>
          <p:cNvPr id="379" name="Google Shape;379;p52"/>
          <p:cNvPicPr preferRelativeResize="0"/>
          <p:nvPr/>
        </p:nvPicPr>
        <p:blipFill>
          <a:blip r:embed="rId4">
            <a:alphaModFix/>
          </a:blip>
          <a:stretch>
            <a:fillRect/>
          </a:stretch>
        </p:blipFill>
        <p:spPr>
          <a:xfrm>
            <a:off x="4438624" y="3438525"/>
            <a:ext cx="3252825" cy="1066800"/>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53"/>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Definition List ─ &lt;dl&gt;</a:t>
            </a:r>
            <a:endParaRPr/>
          </a:p>
        </p:txBody>
      </p:sp>
      <p:sp>
        <p:nvSpPr>
          <p:cNvPr id="385" name="Google Shape;385;p53"/>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41</a:t>
            </a:fld>
            <a:endParaRPr/>
          </a:p>
        </p:txBody>
      </p:sp>
      <p:sp>
        <p:nvSpPr>
          <p:cNvPr id="386" name="Google Shape;386;p5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The &lt;dl&gt; HTML element represents a definition list. It encloses a list of definition terms (specified using the &lt;dt&gt; element) and descriptions (provided by &lt;dd&gt; elements). </a:t>
            </a:r>
            <a:endParaRPr/>
          </a:p>
        </p:txBody>
      </p:sp>
      <p:pic>
        <p:nvPicPr>
          <p:cNvPr id="387" name="Google Shape;387;p53"/>
          <p:cNvPicPr preferRelativeResize="0"/>
          <p:nvPr/>
        </p:nvPicPr>
        <p:blipFill>
          <a:blip r:embed="rId3">
            <a:alphaModFix/>
          </a:blip>
          <a:stretch>
            <a:fillRect/>
          </a:stretch>
        </p:blipFill>
        <p:spPr>
          <a:xfrm>
            <a:off x="212450" y="2335700"/>
            <a:ext cx="5634901" cy="2572725"/>
          </a:xfrm>
          <a:prstGeom prst="rect">
            <a:avLst/>
          </a:prstGeom>
          <a:noFill/>
          <a:ln w="9525" cap="flat" cmpd="sng">
            <a:solidFill>
              <a:schemeClr val="dk2"/>
            </a:solidFill>
            <a:prstDash val="solid"/>
            <a:round/>
            <a:headEnd type="none" w="sm" len="sm"/>
            <a:tailEnd type="none" w="sm" len="sm"/>
          </a:ln>
        </p:spPr>
      </p:pic>
      <p:pic>
        <p:nvPicPr>
          <p:cNvPr id="388" name="Google Shape;388;p53"/>
          <p:cNvPicPr preferRelativeResize="0"/>
          <p:nvPr/>
        </p:nvPicPr>
        <p:blipFill>
          <a:blip r:embed="rId4">
            <a:alphaModFix/>
          </a:blip>
          <a:stretch>
            <a:fillRect/>
          </a:stretch>
        </p:blipFill>
        <p:spPr>
          <a:xfrm>
            <a:off x="5983575" y="2335700"/>
            <a:ext cx="3063125" cy="1788639"/>
          </a:xfrm>
          <a:prstGeom prst="rect">
            <a:avLst/>
          </a:prstGeom>
          <a:noFill/>
          <a:ln w="9525" cap="flat" cmpd="sng">
            <a:solidFill>
              <a:srgbClr val="FF9900"/>
            </a:solidFill>
            <a:prstDash val="solid"/>
            <a:round/>
            <a:headEnd type="none" w="sm" len="sm"/>
            <a:tailEnd type="none" w="sm" len="sm"/>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5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Hierarchical Structure ─ Nested Lists </a:t>
            </a:r>
            <a:endParaRPr/>
          </a:p>
        </p:txBody>
      </p:sp>
      <p:sp>
        <p:nvSpPr>
          <p:cNvPr id="394" name="Google Shape;394;p54"/>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42</a:t>
            </a:fld>
            <a:endParaRPr/>
          </a:p>
        </p:txBody>
      </p:sp>
      <p:pic>
        <p:nvPicPr>
          <p:cNvPr id="395" name="Google Shape;395;p54"/>
          <p:cNvPicPr preferRelativeResize="0"/>
          <p:nvPr/>
        </p:nvPicPr>
        <p:blipFill>
          <a:blip r:embed="rId3">
            <a:alphaModFix/>
          </a:blip>
          <a:stretch>
            <a:fillRect/>
          </a:stretch>
        </p:blipFill>
        <p:spPr>
          <a:xfrm>
            <a:off x="442400" y="1120850"/>
            <a:ext cx="3814003" cy="3770276"/>
          </a:xfrm>
          <a:prstGeom prst="rect">
            <a:avLst/>
          </a:prstGeom>
          <a:noFill/>
          <a:ln w="9525" cap="flat" cmpd="sng">
            <a:solidFill>
              <a:schemeClr val="dk2"/>
            </a:solidFill>
            <a:prstDash val="solid"/>
            <a:round/>
            <a:headEnd type="none" w="sm" len="sm"/>
            <a:tailEnd type="none" w="sm" len="sm"/>
          </a:ln>
        </p:spPr>
      </p:pic>
      <p:pic>
        <p:nvPicPr>
          <p:cNvPr id="396" name="Google Shape;396;p54"/>
          <p:cNvPicPr preferRelativeResize="0"/>
          <p:nvPr/>
        </p:nvPicPr>
        <p:blipFill>
          <a:blip r:embed="rId4">
            <a:alphaModFix/>
          </a:blip>
          <a:stretch>
            <a:fillRect/>
          </a:stretch>
        </p:blipFill>
        <p:spPr>
          <a:xfrm>
            <a:off x="4408803" y="1220825"/>
            <a:ext cx="4582797" cy="3171331"/>
          </a:xfrm>
          <a:prstGeom prst="rect">
            <a:avLst/>
          </a:prstGeom>
          <a:noFill/>
          <a:ln w="9525" cap="flat" cmpd="sng">
            <a:solidFill>
              <a:srgbClr val="FF9900"/>
            </a:solidFill>
            <a:prstDash val="solid"/>
            <a:round/>
            <a:headEnd type="none" w="sm" len="sm"/>
            <a:tailEnd type="none" w="sm" len="sm"/>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p55"/>
          <p:cNvSpPr txBox="1">
            <a:spLocks noGrp="1"/>
          </p:cNvSpPr>
          <p:nvPr>
            <p:ph type="title"/>
          </p:nvPr>
        </p:nvSpPr>
        <p:spPr>
          <a:xfrm>
            <a:off x="485875" y="1714500"/>
            <a:ext cx="8183700" cy="78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500"/>
              <a:t>Markup Tags within &lt;body&gt; </a:t>
            </a:r>
            <a:r>
              <a:rPr lang="en" sz="2900"/>
              <a:t>─ </a:t>
            </a:r>
            <a:r>
              <a:rPr lang="en" sz="3500"/>
              <a:t>Table</a:t>
            </a:r>
            <a:endParaRPr sz="3500"/>
          </a:p>
        </p:txBody>
      </p:sp>
      <p:sp>
        <p:nvSpPr>
          <p:cNvPr id="402" name="Google Shape;402;p55"/>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1"/>
                </a:solidFill>
              </a:rPr>
              <a:t>43</a:t>
            </a:fld>
            <a:endParaRPr>
              <a:solidFill>
                <a:schemeClr val="lt1"/>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p56"/>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Tabular Elements ─ &lt;table&gt;</a:t>
            </a:r>
            <a:endParaRPr/>
          </a:p>
        </p:txBody>
      </p:sp>
      <p:sp>
        <p:nvSpPr>
          <p:cNvPr id="408" name="Google Shape;408;p56"/>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2"/>
                </a:solidFill>
              </a:rPr>
              <a:t>44</a:t>
            </a:fld>
            <a:endParaRPr>
              <a:solidFill>
                <a:schemeClr val="lt2"/>
              </a:solidFill>
            </a:endParaRPr>
          </a:p>
        </p:txBody>
      </p:sp>
      <p:sp>
        <p:nvSpPr>
          <p:cNvPr id="409" name="Google Shape;409;p5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dirty="0"/>
              <a:t>The &lt;table&gt; element represents tabular data—that is, information presented in a two-dimensional table comprised of rows and columns of cells containing data.</a:t>
            </a:r>
            <a:endParaRPr dirty="0"/>
          </a:p>
          <a:p>
            <a:pPr marL="914400" lvl="1" indent="-317500" algn="l" rtl="0">
              <a:spcBef>
                <a:spcPts val="0"/>
              </a:spcBef>
              <a:spcAft>
                <a:spcPts val="0"/>
              </a:spcAft>
              <a:buSzPts val="1400"/>
              <a:buChar char="○"/>
            </a:pPr>
            <a:r>
              <a:rPr lang="en" dirty="0"/>
              <a:t>Attributes are deprecated and suggest using CSS for styling instead.</a:t>
            </a:r>
            <a:endParaRPr dirty="0"/>
          </a:p>
          <a:p>
            <a:pPr marL="457200" lvl="0" indent="-342900" algn="l" rtl="0">
              <a:spcBef>
                <a:spcPts val="0"/>
              </a:spcBef>
              <a:spcAft>
                <a:spcPts val="0"/>
              </a:spcAft>
              <a:buSzPts val="1800"/>
              <a:buChar char="●"/>
            </a:pPr>
            <a:r>
              <a:rPr lang="en" dirty="0"/>
              <a:t>Table title (&lt;caption&gt; element): Describe the purpose of the table</a:t>
            </a:r>
            <a:endParaRPr dirty="0"/>
          </a:p>
          <a:p>
            <a:pPr marL="914400" lvl="1" indent="-317500" algn="l" rtl="0">
              <a:spcBef>
                <a:spcPts val="0"/>
              </a:spcBef>
              <a:spcAft>
                <a:spcPts val="0"/>
              </a:spcAft>
              <a:buSzPts val="1400"/>
              <a:buChar char="○"/>
            </a:pPr>
            <a:r>
              <a:rPr lang="en" dirty="0"/>
              <a:t>If included, &lt;caption&gt; must be the first child node of &lt;table&gt;</a:t>
            </a:r>
            <a:endParaRPr dirty="0"/>
          </a:p>
          <a:p>
            <a:pPr marL="457200" lvl="0" indent="-342900" algn="l" rtl="0">
              <a:spcBef>
                <a:spcPts val="0"/>
              </a:spcBef>
              <a:spcAft>
                <a:spcPts val="0"/>
              </a:spcAft>
              <a:buSzPts val="1800"/>
              <a:buChar char="●"/>
            </a:pPr>
            <a:r>
              <a:rPr lang="en" dirty="0"/>
              <a:t>A table can be split into three distinct containers:</a:t>
            </a:r>
            <a:endParaRPr dirty="0"/>
          </a:p>
          <a:p>
            <a:pPr marL="914400" lvl="1" indent="-317500" algn="l" rtl="0">
              <a:spcBef>
                <a:spcPts val="0"/>
              </a:spcBef>
              <a:spcAft>
                <a:spcPts val="0"/>
              </a:spcAft>
              <a:buSzPts val="1400"/>
              <a:buChar char="○"/>
            </a:pPr>
            <a:r>
              <a:rPr lang="en" dirty="0"/>
              <a:t>Head (&lt;thead&gt; element): Column headers etc.</a:t>
            </a:r>
            <a:endParaRPr dirty="0"/>
          </a:p>
          <a:p>
            <a:pPr marL="914400" lvl="1" indent="-317500" algn="l" rtl="0">
              <a:spcBef>
                <a:spcPts val="0"/>
              </a:spcBef>
              <a:spcAft>
                <a:spcPts val="0"/>
              </a:spcAft>
              <a:buSzPts val="1400"/>
              <a:buChar char="○"/>
            </a:pPr>
            <a:r>
              <a:rPr lang="en" dirty="0"/>
              <a:t>Body (&lt;tbody&gt; element): Primary table data</a:t>
            </a:r>
            <a:endParaRPr dirty="0"/>
          </a:p>
          <a:p>
            <a:pPr marL="914400" lvl="1" indent="-317500" algn="l" rtl="0">
              <a:spcBef>
                <a:spcPts val="0"/>
              </a:spcBef>
              <a:spcAft>
                <a:spcPts val="0"/>
              </a:spcAft>
              <a:buSzPts val="1400"/>
              <a:buChar char="○"/>
            </a:pPr>
            <a:r>
              <a:rPr lang="en" dirty="0"/>
              <a:t>Foot (&lt;tfoot&gt; element): Calculation results, footnotes etc.</a:t>
            </a:r>
            <a:endParaRPr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sp>
        <p:nvSpPr>
          <p:cNvPr id="414" name="Google Shape;414;p57"/>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 Example of &lt;table&gt;</a:t>
            </a:r>
            <a:endParaRPr/>
          </a:p>
        </p:txBody>
      </p:sp>
      <p:sp>
        <p:nvSpPr>
          <p:cNvPr id="415" name="Google Shape;415;p57"/>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45</a:t>
            </a:fld>
            <a:endParaRPr/>
          </a:p>
        </p:txBody>
      </p:sp>
      <p:pic>
        <p:nvPicPr>
          <p:cNvPr id="416" name="Google Shape;416;p57"/>
          <p:cNvPicPr preferRelativeResize="0"/>
          <p:nvPr/>
        </p:nvPicPr>
        <p:blipFill>
          <a:blip r:embed="rId3">
            <a:alphaModFix/>
          </a:blip>
          <a:stretch>
            <a:fillRect/>
          </a:stretch>
        </p:blipFill>
        <p:spPr>
          <a:xfrm>
            <a:off x="152400" y="1220825"/>
            <a:ext cx="3837850" cy="2434950"/>
          </a:xfrm>
          <a:prstGeom prst="rect">
            <a:avLst/>
          </a:prstGeom>
          <a:noFill/>
          <a:ln w="9525" cap="flat" cmpd="sng">
            <a:solidFill>
              <a:schemeClr val="dk2"/>
            </a:solidFill>
            <a:prstDash val="solid"/>
            <a:round/>
            <a:headEnd type="none" w="sm" len="sm"/>
            <a:tailEnd type="none" w="sm" len="sm"/>
          </a:ln>
        </p:spPr>
      </p:pic>
      <p:pic>
        <p:nvPicPr>
          <p:cNvPr id="417" name="Google Shape;417;p57"/>
          <p:cNvPicPr preferRelativeResize="0"/>
          <p:nvPr/>
        </p:nvPicPr>
        <p:blipFill>
          <a:blip r:embed="rId4">
            <a:alphaModFix/>
          </a:blip>
          <a:stretch>
            <a:fillRect/>
          </a:stretch>
        </p:blipFill>
        <p:spPr>
          <a:xfrm>
            <a:off x="4142650" y="1220825"/>
            <a:ext cx="4598966" cy="3315534"/>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Google Shape;422;p58"/>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 Example of &lt;table&gt; ─ CSS file</a:t>
            </a:r>
            <a:endParaRPr/>
          </a:p>
        </p:txBody>
      </p:sp>
      <p:sp>
        <p:nvSpPr>
          <p:cNvPr id="423" name="Google Shape;423;p58"/>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46</a:t>
            </a:fld>
            <a:endParaRPr/>
          </a:p>
        </p:txBody>
      </p:sp>
      <p:pic>
        <p:nvPicPr>
          <p:cNvPr id="424" name="Google Shape;424;p58"/>
          <p:cNvPicPr preferRelativeResize="0"/>
          <p:nvPr/>
        </p:nvPicPr>
        <p:blipFill>
          <a:blip r:embed="rId3">
            <a:alphaModFix/>
          </a:blip>
          <a:stretch>
            <a:fillRect/>
          </a:stretch>
        </p:blipFill>
        <p:spPr>
          <a:xfrm>
            <a:off x="575225" y="1174675"/>
            <a:ext cx="2468309" cy="3770275"/>
          </a:xfrm>
          <a:prstGeom prst="rect">
            <a:avLst/>
          </a:prstGeom>
          <a:noFill/>
          <a:ln w="9525" cap="flat" cmpd="sng">
            <a:solidFill>
              <a:schemeClr val="dk2"/>
            </a:solidFill>
            <a:prstDash val="solid"/>
            <a:round/>
            <a:headEnd type="none" w="sm" len="sm"/>
            <a:tailEnd type="none" w="sm" len="sm"/>
          </a:ln>
        </p:spPr>
      </p:pic>
      <p:pic>
        <p:nvPicPr>
          <p:cNvPr id="425" name="Google Shape;425;p58"/>
          <p:cNvPicPr preferRelativeResize="0"/>
          <p:nvPr/>
        </p:nvPicPr>
        <p:blipFill>
          <a:blip r:embed="rId4">
            <a:alphaModFix/>
          </a:blip>
          <a:stretch>
            <a:fillRect/>
          </a:stretch>
        </p:blipFill>
        <p:spPr>
          <a:xfrm>
            <a:off x="3578925" y="1174675"/>
            <a:ext cx="2500875" cy="3331775"/>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p59"/>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 Example of &lt;table&gt; ─ Content Display</a:t>
            </a:r>
            <a:endParaRPr/>
          </a:p>
        </p:txBody>
      </p:sp>
      <p:sp>
        <p:nvSpPr>
          <p:cNvPr id="431" name="Google Shape;431;p59"/>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47</a:t>
            </a:fld>
            <a:endParaRPr/>
          </a:p>
        </p:txBody>
      </p:sp>
      <p:pic>
        <p:nvPicPr>
          <p:cNvPr id="432" name="Google Shape;432;p59"/>
          <p:cNvPicPr preferRelativeResize="0"/>
          <p:nvPr/>
        </p:nvPicPr>
        <p:blipFill>
          <a:blip r:embed="rId3">
            <a:alphaModFix/>
          </a:blip>
          <a:stretch>
            <a:fillRect/>
          </a:stretch>
        </p:blipFill>
        <p:spPr>
          <a:xfrm>
            <a:off x="437349" y="1359675"/>
            <a:ext cx="6068551" cy="2107775"/>
          </a:xfrm>
          <a:prstGeom prst="rect">
            <a:avLst/>
          </a:prstGeom>
          <a:noFill/>
          <a:ln w="9525" cap="flat" cmpd="sng">
            <a:solidFill>
              <a:srgbClr val="FF9900"/>
            </a:solidFill>
            <a:prstDash val="solid"/>
            <a:round/>
            <a:headEnd type="none" w="sm" len="sm"/>
            <a:tailEnd type="none" w="sm" len="sm"/>
          </a:ln>
        </p:spPr>
      </p:pic>
      <p:pic>
        <p:nvPicPr>
          <p:cNvPr id="433" name="Google Shape;433;p59"/>
          <p:cNvPicPr preferRelativeResize="0"/>
          <p:nvPr/>
        </p:nvPicPr>
        <p:blipFill>
          <a:blip r:embed="rId4">
            <a:alphaModFix/>
          </a:blip>
          <a:stretch>
            <a:fillRect/>
          </a:stretch>
        </p:blipFill>
        <p:spPr>
          <a:xfrm>
            <a:off x="437350" y="3619971"/>
            <a:ext cx="2628900" cy="1276350"/>
          </a:xfrm>
          <a:prstGeom prst="rect">
            <a:avLst/>
          </a:prstGeom>
          <a:noFill/>
          <a:ln w="9525" cap="flat" cmpd="sng">
            <a:solidFill>
              <a:srgbClr val="FF9900"/>
            </a:solidFill>
            <a:prstDash val="solid"/>
            <a:round/>
            <a:headEnd type="none" w="sm" len="sm"/>
            <a:tailEnd type="none" w="sm" len="sm"/>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60"/>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Tabular Elements ─ &lt;tr&gt;, &lt;th&gt; and &lt;td&gt;</a:t>
            </a:r>
            <a:endParaRPr/>
          </a:p>
          <a:p>
            <a:pPr marL="0" lvl="0" indent="0" algn="l" rtl="0">
              <a:spcBef>
                <a:spcPts val="0"/>
              </a:spcBef>
              <a:spcAft>
                <a:spcPts val="0"/>
              </a:spcAft>
              <a:buNone/>
            </a:pPr>
            <a:endParaRPr/>
          </a:p>
        </p:txBody>
      </p:sp>
      <p:sp>
        <p:nvSpPr>
          <p:cNvPr id="439" name="Google Shape;439;p60"/>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48</a:t>
            </a:fld>
            <a:endParaRPr/>
          </a:p>
        </p:txBody>
      </p:sp>
      <p:sp>
        <p:nvSpPr>
          <p:cNvPr id="440" name="Google Shape;440;p6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&lt;tr&gt;: Defines individual table rows enclosing cell elements of &lt;tr&gt; and &lt;td&gt;</a:t>
            </a:r>
            <a:endParaRPr/>
          </a:p>
          <a:p>
            <a:pPr marL="457200" lvl="0" indent="-342900" algn="l" rtl="0">
              <a:spcBef>
                <a:spcPts val="0"/>
              </a:spcBef>
              <a:spcAft>
                <a:spcPts val="0"/>
              </a:spcAft>
              <a:buSzPts val="1800"/>
              <a:buChar char="●"/>
            </a:pPr>
            <a:r>
              <a:rPr lang="en"/>
              <a:t>&lt;th&gt;: Defines a header cell</a:t>
            </a:r>
            <a:endParaRPr/>
          </a:p>
          <a:p>
            <a:pPr marL="457200" lvl="0" indent="-342900" algn="l" rtl="0">
              <a:spcBef>
                <a:spcPts val="0"/>
              </a:spcBef>
              <a:spcAft>
                <a:spcPts val="0"/>
              </a:spcAft>
              <a:buSzPts val="1800"/>
              <a:buChar char="●"/>
            </a:pPr>
            <a:r>
              <a:rPr lang="en"/>
              <a:t>&lt;td&gt;: Contains table data elements</a:t>
            </a:r>
            <a:endParaRPr/>
          </a:p>
          <a:p>
            <a:pPr marL="457200" lvl="0" indent="-342900" algn="l" rtl="0">
              <a:spcBef>
                <a:spcPts val="0"/>
              </a:spcBef>
              <a:spcAft>
                <a:spcPts val="0"/>
              </a:spcAft>
              <a:buSzPts val="1800"/>
              <a:buChar char="●"/>
            </a:pPr>
            <a:r>
              <a:rPr lang="en"/>
              <a:t>When describe a table, always starts with row, i.e. &lt;tr&gt;, and specifies columns with &lt;td&gt; within &lt;tr&gt;&lt;/tr&gt; pair next.</a:t>
            </a:r>
            <a:endParaRPr/>
          </a:p>
          <a:p>
            <a:pPr marL="457200" lvl="0" indent="-342900" algn="l" rtl="0">
              <a:spcBef>
                <a:spcPts val="0"/>
              </a:spcBef>
              <a:spcAft>
                <a:spcPts val="0"/>
              </a:spcAft>
              <a:buSzPts val="1800"/>
              <a:buChar char="●"/>
            </a:pPr>
            <a:r>
              <a:rPr lang="en"/>
              <a:t>rowspan and colspan attributes: The values of these attributes specify the number of rows or columns occupied by the cell.</a:t>
            </a:r>
            <a:endParaRPr/>
          </a:p>
          <a:p>
            <a:pPr marL="914400" lvl="1" indent="-317500" algn="l" rtl="0">
              <a:spcBef>
                <a:spcPts val="0"/>
              </a:spcBef>
              <a:spcAft>
                <a:spcPts val="0"/>
              </a:spcAft>
              <a:buSzPts val="1400"/>
              <a:buChar char="○"/>
            </a:pPr>
            <a:r>
              <a:rPr lang="en"/>
              <a:t>Can be placed inside any data cell &lt;td&gt; or table header cell &lt;th&gt;.</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p61"/>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Try it Yourself ─ Tabular Design Practices</a:t>
            </a:r>
            <a:endParaRPr/>
          </a:p>
          <a:p>
            <a:pPr marL="0" lvl="0" indent="0" algn="l" rtl="0">
              <a:spcBef>
                <a:spcPts val="0"/>
              </a:spcBef>
              <a:spcAft>
                <a:spcPts val="0"/>
              </a:spcAft>
              <a:buNone/>
            </a:pPr>
            <a:endParaRPr/>
          </a:p>
        </p:txBody>
      </p:sp>
      <p:sp>
        <p:nvSpPr>
          <p:cNvPr id="446" name="Google Shape;446;p61"/>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49</a:t>
            </a:fld>
            <a:endParaRPr/>
          </a:p>
        </p:txBody>
      </p:sp>
      <p:pic>
        <p:nvPicPr>
          <p:cNvPr id="447" name="Google Shape;447;p61"/>
          <p:cNvPicPr preferRelativeResize="0"/>
          <p:nvPr/>
        </p:nvPicPr>
        <p:blipFill>
          <a:blip r:embed="rId3">
            <a:alphaModFix/>
          </a:blip>
          <a:stretch>
            <a:fillRect/>
          </a:stretch>
        </p:blipFill>
        <p:spPr>
          <a:xfrm>
            <a:off x="1682850" y="2865225"/>
            <a:ext cx="4848225" cy="1463375"/>
          </a:xfrm>
          <a:prstGeom prst="rect">
            <a:avLst/>
          </a:prstGeom>
          <a:noFill/>
          <a:ln>
            <a:noFill/>
          </a:ln>
        </p:spPr>
      </p:pic>
      <p:sp>
        <p:nvSpPr>
          <p:cNvPr id="448" name="Google Shape;448;p61"/>
          <p:cNvSpPr txBox="1">
            <a:spLocks noGrp="1"/>
          </p:cNvSpPr>
          <p:nvPr>
            <p:ph type="body" idx="1"/>
          </p:nvPr>
        </p:nvSpPr>
        <p:spPr>
          <a:xfrm>
            <a:off x="311700" y="1152475"/>
            <a:ext cx="8520600" cy="16287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Table dimensions: *** Rows x *** Columns</a:t>
            </a:r>
            <a:endParaRPr/>
          </a:p>
          <a:p>
            <a:pPr marL="457200" lvl="0" indent="-342900" algn="l" rtl="0">
              <a:spcBef>
                <a:spcPts val="0"/>
              </a:spcBef>
              <a:spcAft>
                <a:spcPts val="0"/>
              </a:spcAft>
              <a:buSzPts val="1800"/>
              <a:buChar char="●"/>
            </a:pPr>
            <a:r>
              <a:rPr lang="en"/>
              <a:t>Header rows: Using *** markup</a:t>
            </a:r>
            <a:endParaRPr/>
          </a:p>
          <a:p>
            <a:pPr marL="457200" lvl="0" indent="-342900" algn="l" rtl="0">
              <a:spcBef>
                <a:spcPts val="0"/>
              </a:spcBef>
              <a:spcAft>
                <a:spcPts val="0"/>
              </a:spcAft>
              <a:buSzPts val="1800"/>
              <a:buChar char="●"/>
            </a:pPr>
            <a:r>
              <a:rPr lang="en"/>
              <a:t>Multi-row/column cells: Using *** attribute</a:t>
            </a:r>
            <a:endParaRPr/>
          </a:p>
          <a:p>
            <a:pPr marL="457200" lvl="0" indent="-342900" algn="l" rtl="0">
              <a:spcBef>
                <a:spcPts val="0"/>
              </a:spcBef>
              <a:spcAft>
                <a:spcPts val="0"/>
              </a:spcAft>
              <a:buSzPts val="1800"/>
              <a:buChar char="●"/>
            </a:pPr>
            <a:r>
              <a:rPr lang="en"/>
              <a:t>Screenshot of html source code (table presentation only)</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sp>
        <p:nvSpPr>
          <p:cNvPr id="453" name="Google Shape;453;p62"/>
          <p:cNvSpPr txBox="1">
            <a:spLocks noGrp="1"/>
          </p:cNvSpPr>
          <p:nvPr>
            <p:ph type="title"/>
          </p:nvPr>
        </p:nvSpPr>
        <p:spPr>
          <a:xfrm>
            <a:off x="485875" y="1283950"/>
            <a:ext cx="8183700" cy="1216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500"/>
              <a:t>Markup Tags within &lt;body&gt; </a:t>
            </a:r>
            <a:r>
              <a:rPr lang="en" sz="2900"/>
              <a:t>─ </a:t>
            </a:r>
            <a:r>
              <a:rPr lang="en" sz="3500"/>
              <a:t>Multimedia</a:t>
            </a:r>
            <a:endParaRPr sz="3500"/>
          </a:p>
        </p:txBody>
      </p:sp>
      <p:sp>
        <p:nvSpPr>
          <p:cNvPr id="454" name="Google Shape;454;p62"/>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1"/>
                </a:solidFill>
              </a:rPr>
              <a:t>50</a:t>
            </a:fld>
            <a:endParaRPr>
              <a:solidFill>
                <a:schemeClr val="lt1"/>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59" name="Google Shape;459;p63"/>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Image Element ─ &lt;img&gt;</a:t>
            </a:r>
            <a:endParaRPr/>
          </a:p>
        </p:txBody>
      </p:sp>
      <p:sp>
        <p:nvSpPr>
          <p:cNvPr id="460" name="Google Shape;460;p63"/>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2"/>
                </a:solidFill>
              </a:rPr>
              <a:t>51</a:t>
            </a:fld>
            <a:endParaRPr>
              <a:solidFill>
                <a:schemeClr val="lt2"/>
              </a:solidFill>
            </a:endParaRPr>
          </a:p>
        </p:txBody>
      </p:sp>
      <p:sp>
        <p:nvSpPr>
          <p:cNvPr id="461" name="Google Shape;461;p6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lnSpcReduction="20000"/>
          </a:bodyPr>
          <a:lstStyle/>
          <a:p>
            <a:pPr marL="457200" lvl="0" indent="-325755" algn="l" rtl="0">
              <a:spcBef>
                <a:spcPts val="0"/>
              </a:spcBef>
              <a:spcAft>
                <a:spcPts val="0"/>
              </a:spcAft>
              <a:buSzPct val="100000"/>
              <a:buChar char="●"/>
            </a:pPr>
            <a:r>
              <a:rPr lang="en"/>
              <a:t>The </a:t>
            </a:r>
            <a:r>
              <a:rPr lang="en" b="1" i="1">
                <a:solidFill>
                  <a:srgbClr val="0000FF"/>
                </a:solidFill>
              </a:rPr>
              <a:t>src</a:t>
            </a:r>
            <a:r>
              <a:rPr lang="en"/>
              <a:t> attribute holds the path to the image you want to embed. It is not mandatory if the srcset attribute is available. However, at least one of the src or srcset attributes must be provided.</a:t>
            </a:r>
            <a:endParaRPr/>
          </a:p>
          <a:p>
            <a:pPr marL="457200" lvl="0" indent="-325755" algn="l" rtl="0">
              <a:spcBef>
                <a:spcPts val="0"/>
              </a:spcBef>
              <a:spcAft>
                <a:spcPts val="0"/>
              </a:spcAft>
              <a:buSzPct val="100000"/>
              <a:buChar char="●"/>
            </a:pPr>
            <a:r>
              <a:rPr lang="en"/>
              <a:t>The </a:t>
            </a:r>
            <a:r>
              <a:rPr lang="en" b="1" i="1">
                <a:solidFill>
                  <a:srgbClr val="0000FF"/>
                </a:solidFill>
              </a:rPr>
              <a:t>alt</a:t>
            </a:r>
            <a:r>
              <a:rPr lang="en"/>
              <a:t> attribute holds a textual replacement for the image, which is useful for accessibility. Alt text is also displayed on the page if the image can't be loaded for some reason: network errors, content blocking, non-visual browser, image format is not supported etc.</a:t>
            </a:r>
            <a:endParaRPr/>
          </a:p>
          <a:p>
            <a:pPr marL="457200" lvl="0" indent="-325755" algn="l" rtl="0">
              <a:spcBef>
                <a:spcPts val="0"/>
              </a:spcBef>
              <a:spcAft>
                <a:spcPts val="0"/>
              </a:spcAft>
              <a:buSzPct val="100000"/>
              <a:buChar char="●"/>
            </a:pPr>
            <a:r>
              <a:rPr lang="en"/>
              <a:t>The </a:t>
            </a:r>
            <a:r>
              <a:rPr lang="en" b="1" i="1">
                <a:solidFill>
                  <a:srgbClr val="0000FF"/>
                </a:solidFill>
              </a:rPr>
              <a:t>fetchpriority</a:t>
            </a:r>
            <a:r>
              <a:rPr lang="en"/>
              <a:t> attribute provides a hint of the relative priority to use when fetching the image, values as </a:t>
            </a:r>
            <a:r>
              <a:rPr lang="en" i="1">
                <a:solidFill>
                  <a:srgbClr val="0000FF"/>
                </a:solidFill>
              </a:rPr>
              <a:t>high</a:t>
            </a:r>
            <a:r>
              <a:rPr lang="en"/>
              <a:t>, </a:t>
            </a:r>
            <a:r>
              <a:rPr lang="en" i="1">
                <a:solidFill>
                  <a:srgbClr val="0000FF"/>
                </a:solidFill>
              </a:rPr>
              <a:t>low</a:t>
            </a:r>
            <a:r>
              <a:rPr lang="en"/>
              <a:t> or </a:t>
            </a:r>
            <a:r>
              <a:rPr lang="en" i="1">
                <a:solidFill>
                  <a:srgbClr val="0000FF"/>
                </a:solidFill>
              </a:rPr>
              <a:t>auto</a:t>
            </a:r>
            <a:r>
              <a:rPr lang="en"/>
              <a:t>.</a:t>
            </a:r>
            <a:endParaRPr/>
          </a:p>
          <a:p>
            <a:pPr marL="457200" lvl="0" indent="-325755" algn="l" rtl="0">
              <a:spcBef>
                <a:spcPts val="0"/>
              </a:spcBef>
              <a:spcAft>
                <a:spcPts val="0"/>
              </a:spcAft>
              <a:buSzPct val="100000"/>
              <a:buChar char="●"/>
            </a:pPr>
            <a:r>
              <a:rPr lang="en">
                <a:solidFill>
                  <a:srgbClr val="000000"/>
                </a:solidFill>
              </a:rPr>
              <a:t>Though </a:t>
            </a:r>
            <a:r>
              <a:rPr lang="en" b="1" i="1">
                <a:solidFill>
                  <a:srgbClr val="0000FF"/>
                </a:solidFill>
              </a:rPr>
              <a:t>width</a:t>
            </a:r>
            <a:r>
              <a:rPr lang="en"/>
              <a:t> and </a:t>
            </a:r>
            <a:r>
              <a:rPr lang="en" b="1" i="1">
                <a:solidFill>
                  <a:srgbClr val="0000FF"/>
                </a:solidFill>
              </a:rPr>
              <a:t>height</a:t>
            </a:r>
            <a:r>
              <a:rPr lang="en"/>
              <a:t> are optional attributes, they are helpful for rendering performance and properly display. </a:t>
            </a:r>
            <a:endParaRPr/>
          </a:p>
          <a:p>
            <a:pPr marL="914400" lvl="1" indent="-304165" algn="l" rtl="0">
              <a:spcBef>
                <a:spcPts val="0"/>
              </a:spcBef>
              <a:spcAft>
                <a:spcPts val="0"/>
              </a:spcAft>
              <a:buSzPct val="100000"/>
              <a:buChar char="○"/>
            </a:pPr>
            <a:r>
              <a:rPr lang="en"/>
              <a:t>If omitted, the browser uses the image’s actual width and height.</a:t>
            </a:r>
            <a:endParaRPr/>
          </a:p>
          <a:p>
            <a:pPr marL="914400" lvl="1" indent="-304165" algn="l" rtl="0">
              <a:spcBef>
                <a:spcPts val="0"/>
              </a:spcBef>
              <a:spcAft>
                <a:spcPts val="0"/>
              </a:spcAft>
              <a:buSzPct val="100000"/>
              <a:buChar char="○"/>
            </a:pPr>
            <a:r>
              <a:rPr lang="en"/>
              <a:t> Images are measured in pixels</a:t>
            </a:r>
            <a:endParaRPr/>
          </a:p>
          <a:p>
            <a:pPr marL="457200" lvl="0" indent="-325755" algn="l" rtl="0">
              <a:spcBef>
                <a:spcPts val="0"/>
              </a:spcBef>
              <a:spcAft>
                <a:spcPts val="0"/>
              </a:spcAft>
              <a:buSzPct val="100000"/>
              <a:buChar char="●"/>
            </a:pPr>
            <a:r>
              <a:rPr lang="en"/>
              <a:t>Most browsers support various image format: PNG, JPEG, GIF, SVG, AVIF, APNG etc.</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6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 Example of &lt;img&gt;</a:t>
            </a:r>
            <a:endParaRPr/>
          </a:p>
        </p:txBody>
      </p:sp>
      <p:sp>
        <p:nvSpPr>
          <p:cNvPr id="467" name="Google Shape;467;p64"/>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52</a:t>
            </a:fld>
            <a:endParaRPr/>
          </a:p>
        </p:txBody>
      </p:sp>
      <p:pic>
        <p:nvPicPr>
          <p:cNvPr id="468" name="Google Shape;468;p64"/>
          <p:cNvPicPr preferRelativeResize="0"/>
          <p:nvPr/>
        </p:nvPicPr>
        <p:blipFill>
          <a:blip r:embed="rId3">
            <a:alphaModFix/>
          </a:blip>
          <a:stretch>
            <a:fillRect/>
          </a:stretch>
        </p:blipFill>
        <p:spPr>
          <a:xfrm>
            <a:off x="429000" y="2252575"/>
            <a:ext cx="3257550" cy="2438400"/>
          </a:xfrm>
          <a:prstGeom prst="rect">
            <a:avLst/>
          </a:prstGeom>
          <a:noFill/>
          <a:ln w="9525" cap="flat" cmpd="sng">
            <a:solidFill>
              <a:srgbClr val="FF9900"/>
            </a:solidFill>
            <a:prstDash val="solid"/>
            <a:round/>
            <a:headEnd type="none" w="sm" len="sm"/>
            <a:tailEnd type="none" w="sm" len="sm"/>
          </a:ln>
        </p:spPr>
      </p:pic>
      <p:pic>
        <p:nvPicPr>
          <p:cNvPr id="469" name="Google Shape;469;p64"/>
          <p:cNvPicPr preferRelativeResize="0"/>
          <p:nvPr/>
        </p:nvPicPr>
        <p:blipFill>
          <a:blip r:embed="rId4">
            <a:alphaModFix/>
          </a:blip>
          <a:stretch>
            <a:fillRect/>
          </a:stretch>
        </p:blipFill>
        <p:spPr>
          <a:xfrm>
            <a:off x="429000" y="1246700"/>
            <a:ext cx="5606349" cy="827600"/>
          </a:xfrm>
          <a:prstGeom prst="rect">
            <a:avLst/>
          </a:prstGeom>
          <a:noFill/>
          <a:ln w="9525" cap="flat" cmpd="sng">
            <a:solidFill>
              <a:schemeClr val="dk2"/>
            </a:solidFill>
            <a:prstDash val="solid"/>
            <a:round/>
            <a:headEnd type="none" w="sm" len="sm"/>
            <a:tailEnd type="none" w="sm" len="sm"/>
          </a:ln>
        </p:spPr>
      </p:pic>
      <p:grpSp>
        <p:nvGrpSpPr>
          <p:cNvPr id="470" name="Google Shape;470;p64"/>
          <p:cNvGrpSpPr/>
          <p:nvPr/>
        </p:nvGrpSpPr>
        <p:grpSpPr>
          <a:xfrm>
            <a:off x="4931250" y="2604725"/>
            <a:ext cx="3712825" cy="1440825"/>
            <a:chOff x="4931250" y="2604725"/>
            <a:chExt cx="3712825" cy="1440825"/>
          </a:xfrm>
        </p:grpSpPr>
        <p:pic>
          <p:nvPicPr>
            <p:cNvPr id="471" name="Google Shape;471;p64"/>
            <p:cNvPicPr preferRelativeResize="0"/>
            <p:nvPr/>
          </p:nvPicPr>
          <p:blipFill>
            <a:blip r:embed="rId5">
              <a:alphaModFix/>
            </a:blip>
            <a:stretch>
              <a:fillRect/>
            </a:stretch>
          </p:blipFill>
          <p:spPr>
            <a:xfrm>
              <a:off x="4931250" y="2604725"/>
              <a:ext cx="3712825" cy="734291"/>
            </a:xfrm>
            <a:prstGeom prst="rect">
              <a:avLst/>
            </a:prstGeom>
            <a:noFill/>
            <a:ln w="9525" cap="flat" cmpd="sng">
              <a:solidFill>
                <a:srgbClr val="FF9900"/>
              </a:solidFill>
              <a:prstDash val="solid"/>
              <a:round/>
              <a:headEnd type="none" w="sm" len="sm"/>
              <a:tailEnd type="none" w="sm" len="sm"/>
            </a:ln>
          </p:spPr>
        </p:pic>
        <p:sp>
          <p:nvSpPr>
            <p:cNvPr id="472" name="Google Shape;472;p64"/>
            <p:cNvSpPr txBox="1"/>
            <p:nvPr/>
          </p:nvSpPr>
          <p:spPr>
            <a:xfrm>
              <a:off x="4931263" y="3429950"/>
              <a:ext cx="3712800" cy="615600"/>
            </a:xfrm>
            <a:prstGeom prst="rect">
              <a:avLst/>
            </a:prstGeom>
            <a:solidFill>
              <a:srgbClr val="FFF2CC"/>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2"/>
                  </a:solidFill>
                  <a:latin typeface="Source Sans Pro"/>
                  <a:ea typeface="Source Sans Pro"/>
                  <a:cs typeface="Source Sans Pro"/>
                  <a:sym typeface="Source Sans Pro"/>
                </a:rPr>
                <a:t>When using image as a hyperlink, following best practice of explicit link purpose.</a:t>
              </a:r>
              <a:endParaRPr>
                <a:latin typeface="Source Sans Pro"/>
                <a:ea typeface="Source Sans Pro"/>
                <a:cs typeface="Source Sans Pro"/>
                <a:sym typeface="Source Sans Pro"/>
              </a:endParaRPr>
            </a:p>
          </p:txBody>
        </p:sp>
      </p:gr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76"/>
        <p:cNvGrpSpPr/>
        <p:nvPr/>
      </p:nvGrpSpPr>
      <p:grpSpPr>
        <a:xfrm>
          <a:off x="0" y="0"/>
          <a:ext cx="0" cy="0"/>
          <a:chOff x="0" y="0"/>
          <a:chExt cx="0" cy="0"/>
        </a:xfrm>
      </p:grpSpPr>
      <p:sp>
        <p:nvSpPr>
          <p:cNvPr id="477" name="Google Shape;477;p65"/>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2"/>
              </a:buClr>
              <a:buSzPts val="1100"/>
              <a:buFont typeface="Arial"/>
              <a:buNone/>
            </a:pPr>
            <a:r>
              <a:rPr lang="en"/>
              <a:t>Audio Element ─ &lt;audio&gt;</a:t>
            </a:r>
            <a:endParaRPr/>
          </a:p>
          <a:p>
            <a:pPr marL="0" lvl="0" indent="0" algn="l" rtl="0">
              <a:spcBef>
                <a:spcPts val="0"/>
              </a:spcBef>
              <a:spcAft>
                <a:spcPts val="0"/>
              </a:spcAft>
              <a:buNone/>
            </a:pPr>
            <a:endParaRPr/>
          </a:p>
        </p:txBody>
      </p:sp>
      <p:sp>
        <p:nvSpPr>
          <p:cNvPr id="478" name="Google Shape;478;p65"/>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53</a:t>
            </a:fld>
            <a:endParaRPr/>
          </a:p>
        </p:txBody>
      </p:sp>
      <p:sp>
        <p:nvSpPr>
          <p:cNvPr id="479" name="Google Shape;479;p6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The &lt;audio&gt; element is used to embed sound content in documents.</a:t>
            </a:r>
            <a:endParaRPr/>
          </a:p>
          <a:p>
            <a:pPr marL="457200" lvl="0" indent="-342900" algn="l" rtl="0">
              <a:spcBef>
                <a:spcPts val="0"/>
              </a:spcBef>
              <a:spcAft>
                <a:spcPts val="0"/>
              </a:spcAft>
              <a:buSzPts val="1800"/>
              <a:buChar char="●"/>
            </a:pPr>
            <a:r>
              <a:rPr lang="en"/>
              <a:t>The </a:t>
            </a:r>
            <a:r>
              <a:rPr lang="en" b="1" i="1">
                <a:solidFill>
                  <a:srgbClr val="0000FF"/>
                </a:solidFill>
              </a:rPr>
              <a:t>src</a:t>
            </a:r>
            <a:r>
              <a:rPr lang="en"/>
              <a:t> attribute specifies the URL of the audio to embed.</a:t>
            </a:r>
            <a:endParaRPr/>
          </a:p>
          <a:p>
            <a:pPr marL="914400" lvl="1" indent="-317500" algn="l" rtl="0">
              <a:spcBef>
                <a:spcPts val="0"/>
              </a:spcBef>
              <a:spcAft>
                <a:spcPts val="0"/>
              </a:spcAft>
              <a:buSzPts val="1400"/>
              <a:buChar char="○"/>
            </a:pPr>
            <a:r>
              <a:rPr lang="en"/>
              <a:t>Alternatively you can use a child element &lt;source src=URL&gt;.</a:t>
            </a:r>
            <a:endParaRPr/>
          </a:p>
          <a:p>
            <a:pPr marL="914400" lvl="1" indent="-317500" algn="l" rtl="0">
              <a:spcBef>
                <a:spcPts val="0"/>
              </a:spcBef>
              <a:spcAft>
                <a:spcPts val="0"/>
              </a:spcAft>
              <a:buSzPts val="1400"/>
              <a:buChar char="○"/>
            </a:pPr>
            <a:r>
              <a:rPr lang="en"/>
              <a:t>You can specify an interval with W3C Media Framgment URI syntax: t=start, end</a:t>
            </a:r>
            <a:endParaRPr/>
          </a:p>
          <a:p>
            <a:pPr marL="457200" lvl="0" indent="-342900" algn="l" rtl="0">
              <a:spcBef>
                <a:spcPts val="0"/>
              </a:spcBef>
              <a:spcAft>
                <a:spcPts val="0"/>
              </a:spcAft>
              <a:buSzPts val="1800"/>
              <a:buChar char="●"/>
            </a:pPr>
            <a:r>
              <a:rPr lang="en"/>
              <a:t>Audio control attributes</a:t>
            </a:r>
            <a:endParaRPr/>
          </a:p>
          <a:p>
            <a:pPr marL="914400" lvl="1" indent="-317500" algn="l" rtl="0">
              <a:spcBef>
                <a:spcPts val="0"/>
              </a:spcBef>
              <a:spcAft>
                <a:spcPts val="0"/>
              </a:spcAft>
              <a:buSzPts val="1400"/>
              <a:buChar char="○"/>
            </a:pPr>
            <a:r>
              <a:rPr lang="en" b="1" i="1">
                <a:solidFill>
                  <a:srgbClr val="0000FF"/>
                </a:solidFill>
              </a:rPr>
              <a:t>loop</a:t>
            </a:r>
            <a:r>
              <a:rPr lang="en"/>
              <a:t>, </a:t>
            </a:r>
            <a:r>
              <a:rPr lang="en" b="1" i="1">
                <a:solidFill>
                  <a:srgbClr val="0000FF"/>
                </a:solidFill>
              </a:rPr>
              <a:t>muted</a:t>
            </a:r>
            <a:r>
              <a:rPr lang="en"/>
              <a:t> and </a:t>
            </a:r>
            <a:r>
              <a:rPr lang="en" b="1" i="1">
                <a:solidFill>
                  <a:srgbClr val="0000FF"/>
                </a:solidFill>
              </a:rPr>
              <a:t>autoplay</a:t>
            </a:r>
            <a:r>
              <a:rPr lang="en"/>
              <a:t>: A Boolean attribute.</a:t>
            </a:r>
            <a:endParaRPr/>
          </a:p>
          <a:p>
            <a:pPr marL="914400" lvl="1" indent="-317500" algn="l" rtl="0">
              <a:spcBef>
                <a:spcPts val="0"/>
              </a:spcBef>
              <a:spcAft>
                <a:spcPts val="0"/>
              </a:spcAft>
              <a:buSzPts val="1400"/>
              <a:buChar char="○"/>
            </a:pPr>
            <a:r>
              <a:rPr lang="en" b="1" i="1">
                <a:solidFill>
                  <a:srgbClr val="0000FF"/>
                </a:solidFill>
              </a:rPr>
              <a:t>controls</a:t>
            </a:r>
            <a:r>
              <a:rPr lang="en"/>
              <a:t>: no value is needed, just specifies the attribute name</a:t>
            </a:r>
            <a:endParaRPr/>
          </a:p>
        </p:txBody>
      </p:sp>
      <p:pic>
        <p:nvPicPr>
          <p:cNvPr id="480" name="Google Shape;480;p65"/>
          <p:cNvPicPr preferRelativeResize="0"/>
          <p:nvPr/>
        </p:nvPicPr>
        <p:blipFill>
          <a:blip r:embed="rId3">
            <a:alphaModFix/>
          </a:blip>
          <a:stretch>
            <a:fillRect/>
          </a:stretch>
        </p:blipFill>
        <p:spPr>
          <a:xfrm>
            <a:off x="161400" y="3299050"/>
            <a:ext cx="5421075" cy="858825"/>
          </a:xfrm>
          <a:prstGeom prst="rect">
            <a:avLst/>
          </a:prstGeom>
          <a:noFill/>
          <a:ln w="9525" cap="flat" cmpd="sng">
            <a:solidFill>
              <a:schemeClr val="dk2"/>
            </a:solidFill>
            <a:prstDash val="solid"/>
            <a:round/>
            <a:headEnd type="none" w="sm" len="sm"/>
            <a:tailEnd type="none" w="sm" len="sm"/>
          </a:ln>
        </p:spPr>
      </p:pic>
      <p:pic>
        <p:nvPicPr>
          <p:cNvPr id="481" name="Google Shape;481;p65"/>
          <p:cNvPicPr preferRelativeResize="0"/>
          <p:nvPr/>
        </p:nvPicPr>
        <p:blipFill>
          <a:blip r:embed="rId4">
            <a:alphaModFix/>
          </a:blip>
          <a:stretch>
            <a:fillRect/>
          </a:stretch>
        </p:blipFill>
        <p:spPr>
          <a:xfrm>
            <a:off x="5724675" y="3299043"/>
            <a:ext cx="3157325" cy="1500950"/>
          </a:xfrm>
          <a:prstGeom prst="rect">
            <a:avLst/>
          </a:prstGeom>
          <a:noFill/>
          <a:ln w="9525" cap="flat" cmpd="sng">
            <a:solidFill>
              <a:srgbClr val="FF9900"/>
            </a:solidFill>
            <a:prstDash val="solid"/>
            <a:round/>
            <a:headEnd type="none" w="sm" len="sm"/>
            <a:tailEnd type="none" w="sm" len="sm"/>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85"/>
        <p:cNvGrpSpPr/>
        <p:nvPr/>
      </p:nvGrpSpPr>
      <p:grpSpPr>
        <a:xfrm>
          <a:off x="0" y="0"/>
          <a:ext cx="0" cy="0"/>
          <a:chOff x="0" y="0"/>
          <a:chExt cx="0" cy="0"/>
        </a:xfrm>
      </p:grpSpPr>
      <p:sp>
        <p:nvSpPr>
          <p:cNvPr id="486" name="Google Shape;486;p66"/>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Video Element ─ &lt;video&gt;</a:t>
            </a:r>
            <a:endParaRPr/>
          </a:p>
          <a:p>
            <a:pPr marL="0" lvl="0" indent="0" algn="l" rtl="0">
              <a:spcBef>
                <a:spcPts val="0"/>
              </a:spcBef>
              <a:spcAft>
                <a:spcPts val="0"/>
              </a:spcAft>
              <a:buNone/>
            </a:pPr>
            <a:endParaRPr/>
          </a:p>
        </p:txBody>
      </p:sp>
      <p:sp>
        <p:nvSpPr>
          <p:cNvPr id="487" name="Google Shape;487;p66"/>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54</a:t>
            </a:fld>
            <a:endParaRPr/>
          </a:p>
        </p:txBody>
      </p:sp>
      <p:sp>
        <p:nvSpPr>
          <p:cNvPr id="488" name="Google Shape;488;p6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The &lt;video&gt; element embeds a media player which supports video playback into the document.</a:t>
            </a:r>
            <a:endParaRPr/>
          </a:p>
          <a:p>
            <a:pPr marL="457200" lvl="0" indent="-342900" algn="l" rtl="0">
              <a:spcBef>
                <a:spcPts val="0"/>
              </a:spcBef>
              <a:spcAft>
                <a:spcPts val="0"/>
              </a:spcAft>
              <a:buSzPts val="1800"/>
              <a:buChar char="●"/>
            </a:pPr>
            <a:r>
              <a:rPr lang="en"/>
              <a:t>The </a:t>
            </a:r>
            <a:r>
              <a:rPr lang="en" b="1" i="1">
                <a:solidFill>
                  <a:srgbClr val="0000FF"/>
                </a:solidFill>
              </a:rPr>
              <a:t>src</a:t>
            </a:r>
            <a:r>
              <a:rPr lang="en"/>
              <a:t> attribute specifies the URL of the audio to embed.</a:t>
            </a:r>
            <a:endParaRPr/>
          </a:p>
          <a:p>
            <a:pPr marL="914400" lvl="1" indent="-317500" algn="l" rtl="0">
              <a:spcBef>
                <a:spcPts val="0"/>
              </a:spcBef>
              <a:spcAft>
                <a:spcPts val="0"/>
              </a:spcAft>
              <a:buSzPts val="1400"/>
              <a:buChar char="○"/>
            </a:pPr>
            <a:r>
              <a:rPr lang="en"/>
              <a:t>Alternatively you can use a child element &lt;source src=URL&gt;.</a:t>
            </a:r>
            <a:endParaRPr/>
          </a:p>
          <a:p>
            <a:pPr marL="914400" lvl="1" indent="-317500" algn="l" rtl="0">
              <a:spcBef>
                <a:spcPts val="0"/>
              </a:spcBef>
              <a:spcAft>
                <a:spcPts val="0"/>
              </a:spcAft>
              <a:buSzPts val="1400"/>
              <a:buChar char="○"/>
            </a:pPr>
            <a:r>
              <a:rPr lang="en"/>
              <a:t>You can specify an interval with W3C Media Framgment URI syntax: t=start, end</a:t>
            </a:r>
            <a:endParaRPr/>
          </a:p>
          <a:p>
            <a:pPr marL="457200" lvl="0" indent="-342900" algn="l" rtl="0">
              <a:spcBef>
                <a:spcPts val="0"/>
              </a:spcBef>
              <a:spcAft>
                <a:spcPts val="0"/>
              </a:spcAft>
              <a:buSzPts val="1800"/>
              <a:buChar char="●"/>
            </a:pPr>
            <a:r>
              <a:rPr lang="en"/>
              <a:t>Audio control attributes</a:t>
            </a:r>
            <a:endParaRPr/>
          </a:p>
          <a:p>
            <a:pPr marL="914400" lvl="1" indent="-317500" algn="l" rtl="0">
              <a:spcBef>
                <a:spcPts val="0"/>
              </a:spcBef>
              <a:spcAft>
                <a:spcPts val="0"/>
              </a:spcAft>
              <a:buSzPts val="1400"/>
              <a:buChar char="○"/>
            </a:pPr>
            <a:r>
              <a:rPr lang="en" b="1" i="1">
                <a:solidFill>
                  <a:srgbClr val="0000FF"/>
                </a:solidFill>
              </a:rPr>
              <a:t>loop</a:t>
            </a:r>
            <a:r>
              <a:rPr lang="en"/>
              <a:t>, </a:t>
            </a:r>
            <a:r>
              <a:rPr lang="en" b="1" i="1">
                <a:solidFill>
                  <a:srgbClr val="0000FF"/>
                </a:solidFill>
              </a:rPr>
              <a:t>muted</a:t>
            </a:r>
            <a:r>
              <a:rPr lang="en"/>
              <a:t> and </a:t>
            </a:r>
            <a:r>
              <a:rPr lang="en" b="1" i="1">
                <a:solidFill>
                  <a:srgbClr val="0000FF"/>
                </a:solidFill>
              </a:rPr>
              <a:t>autoplay</a:t>
            </a:r>
            <a:r>
              <a:rPr lang="en"/>
              <a:t>: A Boolean attribute.</a:t>
            </a:r>
            <a:endParaRPr/>
          </a:p>
          <a:p>
            <a:pPr marL="914400" lvl="1" indent="-317500" algn="l" rtl="0">
              <a:spcBef>
                <a:spcPts val="0"/>
              </a:spcBef>
              <a:spcAft>
                <a:spcPts val="0"/>
              </a:spcAft>
              <a:buSzPts val="1400"/>
              <a:buChar char="○"/>
            </a:pPr>
            <a:r>
              <a:rPr lang="en" b="1" i="1">
                <a:solidFill>
                  <a:srgbClr val="0000FF"/>
                </a:solidFill>
              </a:rPr>
              <a:t>controls</a:t>
            </a:r>
            <a:r>
              <a:rPr lang="en"/>
              <a:t>: no value is needed, just specifies the attribute name</a:t>
            </a:r>
            <a:endParaRPr/>
          </a:p>
          <a:p>
            <a:pPr marL="457200" lvl="0" indent="-342900" algn="l" rtl="0">
              <a:spcBef>
                <a:spcPts val="0"/>
              </a:spcBef>
              <a:spcAft>
                <a:spcPts val="0"/>
              </a:spcAft>
              <a:buSzPts val="1800"/>
              <a:buChar char="●"/>
            </a:pPr>
            <a:r>
              <a:rPr lang="en"/>
              <a:t>Display area: </a:t>
            </a:r>
            <a:r>
              <a:rPr lang="en" b="1" i="1">
                <a:solidFill>
                  <a:srgbClr val="0000FF"/>
                </a:solidFill>
              </a:rPr>
              <a:t>width</a:t>
            </a:r>
            <a:r>
              <a:rPr lang="en"/>
              <a:t> and </a:t>
            </a:r>
            <a:r>
              <a:rPr lang="en" b="1" i="1">
                <a:solidFill>
                  <a:srgbClr val="0000FF"/>
                </a:solidFill>
              </a:rPr>
              <a:t>height</a:t>
            </a:r>
            <a:r>
              <a:rPr lang="en"/>
              <a:t>.</a:t>
            </a:r>
            <a:endParaRPr/>
          </a:p>
          <a:p>
            <a:pPr marL="457200" lvl="0" indent="-342900" algn="l" rtl="0">
              <a:spcBef>
                <a:spcPts val="0"/>
              </a:spcBef>
              <a:spcAft>
                <a:spcPts val="0"/>
              </a:spcAft>
              <a:buSzPts val="1800"/>
              <a:buChar char="●"/>
            </a:pPr>
            <a:r>
              <a:rPr lang="en"/>
              <a:t>Better user experience with </a:t>
            </a:r>
            <a:r>
              <a:rPr lang="en" b="1" i="1">
                <a:solidFill>
                  <a:srgbClr val="0000FF"/>
                </a:solidFill>
              </a:rPr>
              <a:t>poster</a:t>
            </a:r>
            <a:r>
              <a:rPr lang="en"/>
              <a:t> attribute: A URL for an image to be shown while the video is downloading.</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sp>
        <p:nvSpPr>
          <p:cNvPr id="493" name="Google Shape;493;p67"/>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 Example of &lt;video&gt; ─ Media Fragment</a:t>
            </a:r>
            <a:endParaRPr/>
          </a:p>
        </p:txBody>
      </p:sp>
      <p:sp>
        <p:nvSpPr>
          <p:cNvPr id="494" name="Google Shape;494;p67"/>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55</a:t>
            </a:fld>
            <a:endParaRPr/>
          </a:p>
        </p:txBody>
      </p:sp>
      <p:pic>
        <p:nvPicPr>
          <p:cNvPr id="495" name="Google Shape;495;p67"/>
          <p:cNvPicPr preferRelativeResize="0"/>
          <p:nvPr/>
        </p:nvPicPr>
        <p:blipFill>
          <a:blip r:embed="rId3">
            <a:alphaModFix/>
          </a:blip>
          <a:stretch>
            <a:fillRect/>
          </a:stretch>
        </p:blipFill>
        <p:spPr>
          <a:xfrm>
            <a:off x="152400" y="1220825"/>
            <a:ext cx="8839199" cy="1548349"/>
          </a:xfrm>
          <a:prstGeom prst="rect">
            <a:avLst/>
          </a:prstGeom>
          <a:noFill/>
          <a:ln w="9525" cap="flat" cmpd="sng">
            <a:solidFill>
              <a:schemeClr val="dk2"/>
            </a:solidFill>
            <a:prstDash val="solid"/>
            <a:round/>
            <a:headEnd type="none" w="sm" len="sm"/>
            <a:tailEnd type="none" w="sm" len="sm"/>
          </a:ln>
        </p:spPr>
      </p:pic>
      <p:pic>
        <p:nvPicPr>
          <p:cNvPr id="496" name="Google Shape;496;p67"/>
          <p:cNvPicPr preferRelativeResize="0"/>
          <p:nvPr/>
        </p:nvPicPr>
        <p:blipFill>
          <a:blip r:embed="rId4">
            <a:alphaModFix/>
          </a:blip>
          <a:stretch>
            <a:fillRect/>
          </a:stretch>
        </p:blipFill>
        <p:spPr>
          <a:xfrm>
            <a:off x="152400" y="2921574"/>
            <a:ext cx="2653933" cy="2069526"/>
          </a:xfrm>
          <a:prstGeom prst="rect">
            <a:avLst/>
          </a:prstGeom>
          <a:noFill/>
          <a:ln w="9525" cap="flat" cmpd="sng">
            <a:solidFill>
              <a:srgbClr val="FF9900"/>
            </a:solidFill>
            <a:prstDash val="solid"/>
            <a:round/>
            <a:headEnd type="none" w="sm" len="sm"/>
            <a:tailEnd type="none" w="sm" len="sm"/>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sp>
        <p:nvSpPr>
          <p:cNvPr id="501" name="Google Shape;501;p68"/>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dirty="0"/>
              <a:t>Independent Embedding Element ─ &lt;iframe&gt;</a:t>
            </a:r>
            <a:endParaRPr sz="2800" dirty="0"/>
          </a:p>
        </p:txBody>
      </p:sp>
      <p:sp>
        <p:nvSpPr>
          <p:cNvPr id="502" name="Google Shape;502;p68"/>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56</a:t>
            </a:fld>
            <a:endParaRPr/>
          </a:p>
        </p:txBody>
      </p:sp>
      <p:sp>
        <p:nvSpPr>
          <p:cNvPr id="503" name="Google Shape;503;p6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The &lt;iframe&gt; element represents a nested browsing context, embedding another HTML page into the current one.</a:t>
            </a:r>
            <a:endParaRPr/>
          </a:p>
          <a:p>
            <a:pPr marL="914400" lvl="1" indent="-317500" algn="l" rtl="0">
              <a:spcBef>
                <a:spcPts val="0"/>
              </a:spcBef>
              <a:spcAft>
                <a:spcPts val="0"/>
              </a:spcAft>
              <a:buSzPts val="1400"/>
              <a:buChar char="○"/>
            </a:pPr>
            <a:r>
              <a:rPr lang="en"/>
              <a:t>The browsing context that embeds the others is called the parent browsing context. The topmost browsing context — the one with no parent — is usually the browser window, represented by the Window object.</a:t>
            </a:r>
            <a:endParaRPr/>
          </a:p>
          <a:p>
            <a:pPr marL="457200" lvl="0" indent="-342900" algn="l" rtl="0">
              <a:spcBef>
                <a:spcPts val="0"/>
              </a:spcBef>
              <a:spcAft>
                <a:spcPts val="0"/>
              </a:spcAft>
              <a:buSzPts val="1800"/>
              <a:buChar char="●"/>
            </a:pPr>
            <a:r>
              <a:rPr lang="en"/>
              <a:t>The </a:t>
            </a:r>
            <a:r>
              <a:rPr lang="en" b="1" i="1">
                <a:solidFill>
                  <a:srgbClr val="0000FF"/>
                </a:solidFill>
              </a:rPr>
              <a:t>src</a:t>
            </a:r>
            <a:r>
              <a:rPr lang="en"/>
              <a:t> attribute: The URL of the page to embed.</a:t>
            </a:r>
            <a:endParaRPr/>
          </a:p>
          <a:p>
            <a:pPr marL="457200" lvl="0" indent="-342900" algn="l" rtl="0">
              <a:spcBef>
                <a:spcPts val="0"/>
              </a:spcBef>
              <a:spcAft>
                <a:spcPts val="0"/>
              </a:spcAft>
              <a:buSzPts val="1800"/>
              <a:buChar char="●"/>
            </a:pPr>
            <a:r>
              <a:rPr lang="en"/>
              <a:t>Display area: </a:t>
            </a:r>
            <a:r>
              <a:rPr lang="en" b="1" i="1">
                <a:solidFill>
                  <a:srgbClr val="0000FF"/>
                </a:solidFill>
              </a:rPr>
              <a:t>width</a:t>
            </a:r>
            <a:r>
              <a:rPr lang="en"/>
              <a:t> and </a:t>
            </a:r>
            <a:r>
              <a:rPr lang="en" b="1" i="1">
                <a:solidFill>
                  <a:srgbClr val="0000FF"/>
                </a:solidFill>
              </a:rPr>
              <a:t>height</a:t>
            </a:r>
            <a:r>
              <a:rPr lang="en"/>
              <a:t>.</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08" name="Google Shape;508;p69"/>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 Example of &lt;iframe&gt;</a:t>
            </a:r>
            <a:endParaRPr/>
          </a:p>
        </p:txBody>
      </p:sp>
      <p:sp>
        <p:nvSpPr>
          <p:cNvPr id="509" name="Google Shape;509;p69"/>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57</a:t>
            </a:fld>
            <a:endParaRPr/>
          </a:p>
        </p:txBody>
      </p:sp>
      <p:pic>
        <p:nvPicPr>
          <p:cNvPr id="510" name="Google Shape;510;p69"/>
          <p:cNvPicPr preferRelativeResize="0"/>
          <p:nvPr/>
        </p:nvPicPr>
        <p:blipFill>
          <a:blip r:embed="rId3">
            <a:alphaModFix/>
          </a:blip>
          <a:stretch>
            <a:fillRect/>
          </a:stretch>
        </p:blipFill>
        <p:spPr>
          <a:xfrm>
            <a:off x="406100" y="1251575"/>
            <a:ext cx="8193200" cy="861456"/>
          </a:xfrm>
          <a:prstGeom prst="rect">
            <a:avLst/>
          </a:prstGeom>
          <a:noFill/>
          <a:ln w="9525" cap="flat" cmpd="sng">
            <a:solidFill>
              <a:schemeClr val="dk2"/>
            </a:solidFill>
            <a:prstDash val="solid"/>
            <a:round/>
            <a:headEnd type="none" w="sm" len="sm"/>
            <a:tailEnd type="none" w="sm" len="sm"/>
          </a:ln>
        </p:spPr>
      </p:pic>
      <p:pic>
        <p:nvPicPr>
          <p:cNvPr id="511" name="Google Shape;511;p69"/>
          <p:cNvPicPr preferRelativeResize="0"/>
          <p:nvPr/>
        </p:nvPicPr>
        <p:blipFill>
          <a:blip r:embed="rId4">
            <a:alphaModFix/>
          </a:blip>
          <a:stretch>
            <a:fillRect/>
          </a:stretch>
        </p:blipFill>
        <p:spPr>
          <a:xfrm>
            <a:off x="406100" y="2250056"/>
            <a:ext cx="4752975" cy="2390775"/>
          </a:xfrm>
          <a:prstGeom prst="rect">
            <a:avLst/>
          </a:prstGeom>
          <a:noFill/>
          <a:ln w="9525" cap="flat" cmpd="sng">
            <a:solidFill>
              <a:srgbClr val="FF9900"/>
            </a:solidFill>
            <a:prstDash val="solid"/>
            <a:round/>
            <a:headEnd type="none" w="sm" len="sm"/>
            <a:tailEnd type="none" w="sm" len="sm"/>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6" name="Google Shape;516;p70"/>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 Example of &lt;iframe&gt; ─ Youtube Video</a:t>
            </a:r>
            <a:endParaRPr/>
          </a:p>
        </p:txBody>
      </p:sp>
      <p:sp>
        <p:nvSpPr>
          <p:cNvPr id="517" name="Google Shape;517;p70"/>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58</a:t>
            </a:fld>
            <a:endParaRPr/>
          </a:p>
        </p:txBody>
      </p:sp>
      <p:pic>
        <p:nvPicPr>
          <p:cNvPr id="518" name="Google Shape;518;p70"/>
          <p:cNvPicPr preferRelativeResize="0"/>
          <p:nvPr/>
        </p:nvPicPr>
        <p:blipFill>
          <a:blip r:embed="rId3">
            <a:alphaModFix/>
          </a:blip>
          <a:stretch>
            <a:fillRect/>
          </a:stretch>
        </p:blipFill>
        <p:spPr>
          <a:xfrm>
            <a:off x="144700" y="1220825"/>
            <a:ext cx="5722325" cy="3138201"/>
          </a:xfrm>
          <a:prstGeom prst="rect">
            <a:avLst/>
          </a:prstGeom>
          <a:noFill/>
          <a:ln w="9525" cap="flat" cmpd="sng">
            <a:solidFill>
              <a:srgbClr val="FF9900"/>
            </a:solidFill>
            <a:prstDash val="solid"/>
            <a:round/>
            <a:headEnd type="none" w="sm" len="sm"/>
            <a:tailEnd type="none" w="sm" len="sm"/>
          </a:ln>
        </p:spPr>
      </p:pic>
      <p:pic>
        <p:nvPicPr>
          <p:cNvPr id="519" name="Google Shape;519;p70"/>
          <p:cNvPicPr preferRelativeResize="0"/>
          <p:nvPr/>
        </p:nvPicPr>
        <p:blipFill>
          <a:blip r:embed="rId4">
            <a:alphaModFix/>
          </a:blip>
          <a:stretch>
            <a:fillRect/>
          </a:stretch>
        </p:blipFill>
        <p:spPr>
          <a:xfrm>
            <a:off x="6172957" y="1220825"/>
            <a:ext cx="2818643" cy="3138200"/>
          </a:xfrm>
          <a:prstGeom prst="rect">
            <a:avLst/>
          </a:prstGeom>
          <a:noFill/>
          <a:ln w="9525" cap="flat" cmpd="sng">
            <a:solidFill>
              <a:srgbClr val="FF9900"/>
            </a:solidFill>
            <a:prstDash val="solid"/>
            <a:round/>
            <a:headEnd type="none" w="sm" len="sm"/>
            <a:tailEnd type="none" w="sm" len="sm"/>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524" name="Google Shape;524;p71"/>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Try it Yourself ─ Image Practices</a:t>
            </a:r>
            <a:endParaRPr/>
          </a:p>
          <a:p>
            <a:pPr marL="0" lvl="0" indent="0" algn="l" rtl="0">
              <a:spcBef>
                <a:spcPts val="0"/>
              </a:spcBef>
              <a:spcAft>
                <a:spcPts val="0"/>
              </a:spcAft>
              <a:buNone/>
            </a:pPr>
            <a:endParaRPr/>
          </a:p>
        </p:txBody>
      </p:sp>
      <p:sp>
        <p:nvSpPr>
          <p:cNvPr id="525" name="Google Shape;525;p71"/>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59</a:t>
            </a:fld>
            <a:endParaRPr/>
          </a:p>
        </p:txBody>
      </p:sp>
      <p:sp>
        <p:nvSpPr>
          <p:cNvPr id="526" name="Google Shape;526;p7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AutoNum type="arabicPeriod"/>
            </a:pPr>
            <a:r>
              <a:rPr lang="en" dirty="0"/>
              <a:t>Play around &lt;picture&gt; element</a:t>
            </a:r>
            <a:endParaRPr dirty="0"/>
          </a:p>
          <a:p>
            <a:pPr marL="914400" lvl="1" indent="-317500" algn="l" rtl="0">
              <a:spcBef>
                <a:spcPts val="0"/>
              </a:spcBef>
              <a:spcAft>
                <a:spcPts val="0"/>
              </a:spcAft>
              <a:buSzPts val="1400"/>
              <a:buChar char="○"/>
            </a:pPr>
            <a:r>
              <a:rPr lang="en" dirty="0"/>
              <a:t>Using browser’s developer tool to change device type as iPad Pro and iPhone 12 Pro (Or just resize the browser window) and check what happens.</a:t>
            </a:r>
            <a:endParaRPr dirty="0"/>
          </a:p>
          <a:p>
            <a:pPr marL="914400" lvl="1" indent="-317500" algn="l" rtl="0">
              <a:spcBef>
                <a:spcPts val="0"/>
              </a:spcBef>
              <a:spcAft>
                <a:spcPts val="0"/>
              </a:spcAft>
              <a:buSzPts val="1400"/>
              <a:buChar char="○"/>
            </a:pPr>
            <a:r>
              <a:rPr lang="en" u="sng" dirty="0">
                <a:solidFill>
                  <a:schemeClr val="hlink"/>
                </a:solidFill>
                <a:hlinkClick r:id="rId3"/>
              </a:rPr>
              <a:t>https://developer.mozilla.org/en-US/docs/Web/HTML/Reference/Elements/picture</a:t>
            </a:r>
            <a:r>
              <a:rPr lang="en" dirty="0"/>
              <a:t> </a:t>
            </a:r>
            <a:endParaRPr dirty="0"/>
          </a:p>
          <a:p>
            <a:pPr marL="457200" lvl="0" indent="-342900" algn="l" rtl="0">
              <a:spcBef>
                <a:spcPts val="0"/>
              </a:spcBef>
              <a:spcAft>
                <a:spcPts val="0"/>
              </a:spcAft>
              <a:buSzPts val="1800"/>
              <a:buAutoNum type="arabicPeriod"/>
            </a:pPr>
            <a:r>
              <a:rPr lang="en" dirty="0"/>
              <a:t>Compare among &lt;picture&gt;, &lt;figure&gt; and &lt;img&gt; elements</a:t>
            </a:r>
            <a:endParaRPr dirty="0"/>
          </a:p>
          <a:p>
            <a:pPr marL="914400" lvl="1" indent="-317500" algn="l" rtl="0">
              <a:spcBef>
                <a:spcPts val="0"/>
              </a:spcBef>
              <a:spcAft>
                <a:spcPts val="0"/>
              </a:spcAft>
              <a:buSzPts val="1400"/>
              <a:buChar char="○"/>
            </a:pPr>
            <a:r>
              <a:rPr lang="en" dirty="0"/>
              <a:t>Block vs inline element</a:t>
            </a:r>
            <a:endParaRPr dirty="0"/>
          </a:p>
          <a:p>
            <a:pPr marL="914400" lvl="1" indent="-317500" algn="l" rtl="0">
              <a:spcBef>
                <a:spcPts val="0"/>
              </a:spcBef>
              <a:spcAft>
                <a:spcPts val="0"/>
              </a:spcAft>
              <a:buSzPts val="1400"/>
              <a:buChar char="○"/>
            </a:pPr>
            <a:r>
              <a:rPr lang="en" dirty="0"/>
              <a:t>Container vs individual replaced element</a:t>
            </a:r>
            <a:endParaRPr dirty="0"/>
          </a:p>
          <a:p>
            <a:pPr marL="914400" lvl="1" indent="-317500" algn="l" rtl="0">
              <a:spcBef>
                <a:spcPts val="0"/>
              </a:spcBef>
              <a:spcAft>
                <a:spcPts val="0"/>
              </a:spcAft>
              <a:buSzPts val="1400"/>
              <a:buChar char="○"/>
            </a:pPr>
            <a:r>
              <a:rPr lang="en" dirty="0"/>
              <a:t>Semantic representation ways</a:t>
            </a:r>
            <a:endParaRPr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30"/>
        <p:cNvGrpSpPr/>
        <p:nvPr/>
      </p:nvGrpSpPr>
      <p:grpSpPr>
        <a:xfrm>
          <a:off x="0" y="0"/>
          <a:ext cx="0" cy="0"/>
          <a:chOff x="0" y="0"/>
          <a:chExt cx="0" cy="0"/>
        </a:xfrm>
      </p:grpSpPr>
      <p:sp>
        <p:nvSpPr>
          <p:cNvPr id="531" name="Google Shape;531;p72"/>
          <p:cNvSpPr txBox="1">
            <a:spLocks noGrp="1"/>
          </p:cNvSpPr>
          <p:nvPr>
            <p:ph type="title"/>
          </p:nvPr>
        </p:nvSpPr>
        <p:spPr>
          <a:xfrm>
            <a:off x="485875" y="1283950"/>
            <a:ext cx="8183700" cy="1216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500"/>
              <a:t>Semantic Markup Tags</a:t>
            </a:r>
            <a:endParaRPr sz="3500"/>
          </a:p>
        </p:txBody>
      </p:sp>
      <p:sp>
        <p:nvSpPr>
          <p:cNvPr id="532" name="Google Shape;532;p72"/>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1"/>
                </a:solidFill>
              </a:rPr>
              <a:t>60</a:t>
            </a:fld>
            <a:endParaRPr>
              <a:solidFill>
                <a:schemeClr val="lt1"/>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36"/>
        <p:cNvGrpSpPr/>
        <p:nvPr/>
      </p:nvGrpSpPr>
      <p:grpSpPr>
        <a:xfrm>
          <a:off x="0" y="0"/>
          <a:ext cx="0" cy="0"/>
          <a:chOff x="0" y="0"/>
          <a:chExt cx="0" cy="0"/>
        </a:xfrm>
      </p:grpSpPr>
      <p:sp>
        <p:nvSpPr>
          <p:cNvPr id="537" name="Google Shape;537;p73"/>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Semantic Elements for Changes Highlight</a:t>
            </a:r>
            <a:endParaRPr/>
          </a:p>
        </p:txBody>
      </p:sp>
      <p:sp>
        <p:nvSpPr>
          <p:cNvPr id="538" name="Google Shape;538;p73"/>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solidFill>
                  <a:schemeClr val="lt2"/>
                </a:solidFill>
              </a:rPr>
              <a:t>61</a:t>
            </a:fld>
            <a:endParaRPr>
              <a:solidFill>
                <a:schemeClr val="lt2"/>
              </a:solidFill>
            </a:endParaRPr>
          </a:p>
        </p:txBody>
      </p:sp>
      <p:sp>
        <p:nvSpPr>
          <p:cNvPr id="539" name="Google Shape;539;p7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The &lt;del&gt; element represents a range of text that has been deleted from a document.</a:t>
            </a:r>
            <a:endParaRPr/>
          </a:p>
          <a:p>
            <a:pPr marL="914400" lvl="1" indent="-317500" algn="l" rtl="0">
              <a:spcBef>
                <a:spcPts val="0"/>
              </a:spcBef>
              <a:spcAft>
                <a:spcPts val="0"/>
              </a:spcAft>
              <a:buSzPts val="1400"/>
              <a:buChar char="○"/>
            </a:pPr>
            <a:r>
              <a:rPr lang="en"/>
              <a:t>This can be used when rendering "track changes" or source code difference information.</a:t>
            </a:r>
            <a:endParaRPr/>
          </a:p>
          <a:p>
            <a:pPr marL="914400" lvl="1" indent="-317500" algn="l" rtl="0">
              <a:spcBef>
                <a:spcPts val="0"/>
              </a:spcBef>
              <a:spcAft>
                <a:spcPts val="0"/>
              </a:spcAft>
              <a:buSzPts val="1400"/>
              <a:buChar char="○"/>
            </a:pPr>
            <a:r>
              <a:rPr lang="en"/>
              <a:t>The </a:t>
            </a:r>
            <a:r>
              <a:rPr lang="en" b="1" i="1">
                <a:solidFill>
                  <a:srgbClr val="0000FF"/>
                </a:solidFill>
              </a:rPr>
              <a:t>cite</a:t>
            </a:r>
            <a:r>
              <a:rPr lang="en"/>
              <a:t> attribute: A URI for a resource that explains the change (for example, meeting minutes).</a:t>
            </a:r>
            <a:endParaRPr/>
          </a:p>
          <a:p>
            <a:pPr marL="914400" lvl="1" indent="-317500" algn="l" rtl="0">
              <a:spcBef>
                <a:spcPts val="0"/>
              </a:spcBef>
              <a:spcAft>
                <a:spcPts val="0"/>
              </a:spcAft>
              <a:buSzPts val="1400"/>
              <a:buChar char="○"/>
            </a:pPr>
            <a:r>
              <a:rPr lang="en"/>
              <a:t>The</a:t>
            </a:r>
            <a:r>
              <a:rPr lang="en">
                <a:solidFill>
                  <a:srgbClr val="000000"/>
                </a:solidFill>
              </a:rPr>
              <a:t> </a:t>
            </a:r>
            <a:r>
              <a:rPr lang="en" b="1" i="1">
                <a:solidFill>
                  <a:srgbClr val="0000FF"/>
                </a:solidFill>
              </a:rPr>
              <a:t>datetime</a:t>
            </a:r>
            <a:r>
              <a:rPr lang="en"/>
              <a:t> attribute: Indicates the time and date of the change and must be a valid date string with an optional time. A valid date string consists of a month string, followed by a hyphen character (-, or U+002D), followed by a two-digit day of the month.</a:t>
            </a:r>
            <a:endParaRPr/>
          </a:p>
          <a:p>
            <a:pPr marL="457200" lvl="0" indent="-342900" algn="l" rtl="0">
              <a:spcBef>
                <a:spcPts val="0"/>
              </a:spcBef>
              <a:spcAft>
                <a:spcPts val="0"/>
              </a:spcAft>
              <a:buSzPts val="1800"/>
              <a:buChar char="●"/>
            </a:pPr>
            <a:r>
              <a:rPr lang="en"/>
              <a:t>The &lt;ins&gt; element is the oppose purpose to &lt;del&gt;.</a:t>
            </a:r>
            <a:endParaRPr/>
          </a:p>
          <a:p>
            <a:pPr marL="457200" lvl="0" indent="-342900" algn="l" rtl="0">
              <a:spcBef>
                <a:spcPts val="0"/>
              </a:spcBef>
              <a:spcAft>
                <a:spcPts val="0"/>
              </a:spcAft>
              <a:buSzPts val="1800"/>
              <a:buChar char="●"/>
            </a:pPr>
            <a:r>
              <a:rPr lang="en"/>
              <a:t>The &lt;s&gt; element renders text with a strikethrough (same visual effect as &lt;del&gt; but less semantic meaning of changes, simply refers to the removal.)</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543"/>
        <p:cNvGrpSpPr/>
        <p:nvPr/>
      </p:nvGrpSpPr>
      <p:grpSpPr>
        <a:xfrm>
          <a:off x="0" y="0"/>
          <a:ext cx="0" cy="0"/>
          <a:chOff x="0" y="0"/>
          <a:chExt cx="0" cy="0"/>
        </a:xfrm>
      </p:grpSpPr>
      <p:sp>
        <p:nvSpPr>
          <p:cNvPr id="544" name="Google Shape;544;p7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 Example of &lt;del&gt;, &lt;s&gt; and &lt;ins&gt;</a:t>
            </a:r>
            <a:endParaRPr/>
          </a:p>
        </p:txBody>
      </p:sp>
      <p:sp>
        <p:nvSpPr>
          <p:cNvPr id="545" name="Google Shape;545;p74"/>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62</a:t>
            </a:fld>
            <a:endParaRPr/>
          </a:p>
        </p:txBody>
      </p:sp>
      <p:pic>
        <p:nvPicPr>
          <p:cNvPr id="546" name="Google Shape;546;p74"/>
          <p:cNvPicPr preferRelativeResize="0"/>
          <p:nvPr/>
        </p:nvPicPr>
        <p:blipFill>
          <a:blip r:embed="rId3">
            <a:alphaModFix/>
          </a:blip>
          <a:stretch>
            <a:fillRect/>
          </a:stretch>
        </p:blipFill>
        <p:spPr>
          <a:xfrm>
            <a:off x="311700" y="1180025"/>
            <a:ext cx="8307725" cy="2591841"/>
          </a:xfrm>
          <a:prstGeom prst="rect">
            <a:avLst/>
          </a:prstGeom>
          <a:noFill/>
          <a:ln w="9525" cap="flat" cmpd="sng">
            <a:solidFill>
              <a:schemeClr val="dk2"/>
            </a:solidFill>
            <a:prstDash val="solid"/>
            <a:round/>
            <a:headEnd type="none" w="sm" len="sm"/>
            <a:tailEnd type="none" w="sm" len="sm"/>
          </a:ln>
        </p:spPr>
      </p:pic>
      <p:pic>
        <p:nvPicPr>
          <p:cNvPr id="547" name="Google Shape;547;p74"/>
          <p:cNvPicPr preferRelativeResize="0"/>
          <p:nvPr/>
        </p:nvPicPr>
        <p:blipFill>
          <a:blip r:embed="rId4">
            <a:alphaModFix/>
          </a:blip>
          <a:stretch>
            <a:fillRect/>
          </a:stretch>
        </p:blipFill>
        <p:spPr>
          <a:xfrm>
            <a:off x="773447" y="3883475"/>
            <a:ext cx="5607875" cy="1153550"/>
          </a:xfrm>
          <a:prstGeom prst="rect">
            <a:avLst/>
          </a:prstGeom>
          <a:noFill/>
          <a:ln w="9525" cap="flat" cmpd="sng">
            <a:solidFill>
              <a:srgbClr val="FF9900"/>
            </a:solidFill>
            <a:prstDash val="solid"/>
            <a:round/>
            <a:headEnd type="none" w="sm" len="sm"/>
            <a:tailEnd type="none" w="sm" len="sm"/>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75"/>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Semantic Elements for Citation or Quotation</a:t>
            </a:r>
            <a:endParaRPr/>
          </a:p>
        </p:txBody>
      </p:sp>
      <p:sp>
        <p:nvSpPr>
          <p:cNvPr id="553" name="Google Shape;553;p7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Specific Terms</a:t>
            </a:r>
            <a:endParaRPr/>
          </a:p>
          <a:p>
            <a:pPr marL="914400" lvl="1" indent="-317500" algn="l" rtl="0">
              <a:spcBef>
                <a:spcPts val="0"/>
              </a:spcBef>
              <a:spcAft>
                <a:spcPts val="0"/>
              </a:spcAft>
              <a:buSzPts val="1400"/>
              <a:buChar char="○"/>
            </a:pPr>
            <a:r>
              <a:rPr lang="en"/>
              <a:t>The &lt;abbr&gt; element represents an abbreviation or acronym.</a:t>
            </a:r>
            <a:endParaRPr/>
          </a:p>
          <a:p>
            <a:pPr marL="914400" lvl="1" indent="-317500" algn="l" rtl="0">
              <a:spcBef>
                <a:spcPts val="0"/>
              </a:spcBef>
              <a:spcAft>
                <a:spcPts val="0"/>
              </a:spcAft>
              <a:buSzPts val="1400"/>
              <a:buChar char="○"/>
            </a:pPr>
            <a:r>
              <a:rPr lang="en"/>
              <a:t>The &lt;dfn&gt; element indicates a term to be defined.</a:t>
            </a:r>
            <a:endParaRPr/>
          </a:p>
          <a:p>
            <a:pPr marL="457200" lvl="0" indent="-342900" algn="l" rtl="0">
              <a:spcBef>
                <a:spcPts val="0"/>
              </a:spcBef>
              <a:spcAft>
                <a:spcPts val="0"/>
              </a:spcAft>
              <a:buSzPts val="1800"/>
              <a:buChar char="●"/>
            </a:pPr>
            <a:r>
              <a:rPr lang="en"/>
              <a:t>Reference Citations</a:t>
            </a:r>
            <a:endParaRPr/>
          </a:p>
          <a:p>
            <a:pPr marL="914400" lvl="1" indent="-317500" algn="l" rtl="0">
              <a:spcBef>
                <a:spcPts val="0"/>
              </a:spcBef>
              <a:spcAft>
                <a:spcPts val="0"/>
              </a:spcAft>
              <a:buSzPts val="1400"/>
              <a:buChar char="○"/>
            </a:pPr>
            <a:r>
              <a:rPr lang="en"/>
              <a:t>The &lt;cite&gt; element is used to mark up the title of a creative work.</a:t>
            </a:r>
            <a:endParaRPr/>
          </a:p>
          <a:p>
            <a:pPr marL="914400" lvl="1" indent="-317500" algn="l" rtl="0">
              <a:spcBef>
                <a:spcPts val="0"/>
              </a:spcBef>
              <a:spcAft>
                <a:spcPts val="0"/>
              </a:spcAft>
              <a:buSzPts val="1400"/>
              <a:buChar char="○"/>
            </a:pPr>
            <a:r>
              <a:rPr lang="en"/>
              <a:t>The &lt;blockquote&gt; element indicates that the enclosed text is an extended quotation.</a:t>
            </a:r>
            <a:endParaRPr/>
          </a:p>
          <a:p>
            <a:pPr marL="914400" lvl="1" indent="-317500" algn="l" rtl="0">
              <a:spcBef>
                <a:spcPts val="0"/>
              </a:spcBef>
              <a:spcAft>
                <a:spcPts val="0"/>
              </a:spcAft>
              <a:buSzPts val="1400"/>
              <a:buChar char="○"/>
            </a:pPr>
            <a:r>
              <a:rPr lang="en"/>
              <a:t>The &lt;q&gt; HTML element indicates that the enclosed text is a short inline quotation.</a:t>
            </a:r>
            <a:endParaRPr/>
          </a:p>
          <a:p>
            <a:pPr marL="457200" lvl="0" indent="-342900" algn="l" rtl="0">
              <a:spcBef>
                <a:spcPts val="0"/>
              </a:spcBef>
              <a:spcAft>
                <a:spcPts val="0"/>
              </a:spcAft>
              <a:buSzPts val="1800"/>
              <a:buChar char="●"/>
            </a:pPr>
            <a:r>
              <a:rPr lang="en"/>
              <a:t>Contact Information</a:t>
            </a:r>
            <a:endParaRPr/>
          </a:p>
          <a:p>
            <a:pPr marL="914400" lvl="1" indent="-317500" algn="l" rtl="0">
              <a:spcBef>
                <a:spcPts val="0"/>
              </a:spcBef>
              <a:spcAft>
                <a:spcPts val="0"/>
              </a:spcAft>
              <a:buSzPts val="1400"/>
              <a:buChar char="○"/>
            </a:pPr>
            <a:r>
              <a:rPr lang="en"/>
              <a:t>The &lt;address&gt; HTML element indicates that the enclosed HTML provides contact information for a person or people, or for an organization.</a:t>
            </a:r>
            <a:endParaRPr/>
          </a:p>
        </p:txBody>
      </p:sp>
      <p:sp>
        <p:nvSpPr>
          <p:cNvPr id="554" name="Google Shape;554;p75"/>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63</a:t>
            </a:fld>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59" name="Google Shape;559;p76"/>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2"/>
              </a:buClr>
              <a:buSzPts val="1100"/>
              <a:buFont typeface="Arial"/>
              <a:buNone/>
            </a:pPr>
            <a:r>
              <a:rPr lang="en"/>
              <a:t>An Example of &lt;dfn&gt; and &lt;abbr&gt;</a:t>
            </a:r>
            <a:endParaRPr/>
          </a:p>
          <a:p>
            <a:pPr marL="0" lvl="0" indent="0" algn="l" rtl="0">
              <a:spcBef>
                <a:spcPts val="0"/>
              </a:spcBef>
              <a:spcAft>
                <a:spcPts val="0"/>
              </a:spcAft>
              <a:buNone/>
            </a:pPr>
            <a:endParaRPr/>
          </a:p>
        </p:txBody>
      </p:sp>
      <p:sp>
        <p:nvSpPr>
          <p:cNvPr id="560" name="Google Shape;560;p76"/>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64</a:t>
            </a:fld>
            <a:endParaRPr/>
          </a:p>
        </p:txBody>
      </p:sp>
      <p:pic>
        <p:nvPicPr>
          <p:cNvPr id="561" name="Google Shape;561;p76"/>
          <p:cNvPicPr preferRelativeResize="0"/>
          <p:nvPr/>
        </p:nvPicPr>
        <p:blipFill>
          <a:blip r:embed="rId3">
            <a:alphaModFix/>
          </a:blip>
          <a:stretch>
            <a:fillRect/>
          </a:stretch>
        </p:blipFill>
        <p:spPr>
          <a:xfrm>
            <a:off x="311700" y="1428413"/>
            <a:ext cx="8839199" cy="1631966"/>
          </a:xfrm>
          <a:prstGeom prst="rect">
            <a:avLst/>
          </a:prstGeom>
          <a:noFill/>
          <a:ln w="9525" cap="flat" cmpd="sng">
            <a:solidFill>
              <a:schemeClr val="dk2"/>
            </a:solidFill>
            <a:prstDash val="solid"/>
            <a:round/>
            <a:headEnd type="none" w="sm" len="sm"/>
            <a:tailEnd type="none" w="sm" len="sm"/>
          </a:ln>
        </p:spPr>
      </p:pic>
      <p:pic>
        <p:nvPicPr>
          <p:cNvPr id="562" name="Google Shape;562;p76"/>
          <p:cNvPicPr preferRelativeResize="0"/>
          <p:nvPr/>
        </p:nvPicPr>
        <p:blipFill>
          <a:blip r:embed="rId4">
            <a:alphaModFix/>
          </a:blip>
          <a:stretch>
            <a:fillRect/>
          </a:stretch>
        </p:blipFill>
        <p:spPr>
          <a:xfrm>
            <a:off x="567575" y="3420366"/>
            <a:ext cx="7686675" cy="1314450"/>
          </a:xfrm>
          <a:prstGeom prst="rect">
            <a:avLst/>
          </a:prstGeom>
          <a:noFill/>
          <a:ln w="9525" cap="flat" cmpd="sng">
            <a:solidFill>
              <a:srgbClr val="FF9900"/>
            </a:solidFill>
            <a:prstDash val="solid"/>
            <a:round/>
            <a:headEnd type="none" w="sm" len="sm"/>
            <a:tailEnd type="none" w="sm" len="sm"/>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566"/>
        <p:cNvGrpSpPr/>
        <p:nvPr/>
      </p:nvGrpSpPr>
      <p:grpSpPr>
        <a:xfrm>
          <a:off x="0" y="0"/>
          <a:ext cx="0" cy="0"/>
          <a:chOff x="0" y="0"/>
          <a:chExt cx="0" cy="0"/>
        </a:xfrm>
      </p:grpSpPr>
      <p:sp>
        <p:nvSpPr>
          <p:cNvPr id="567" name="Google Shape;567;p77"/>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 Example of &lt;cite&gt;, &lt;q&gt; and &lt;blockquote&gt;</a:t>
            </a:r>
            <a:endParaRPr/>
          </a:p>
          <a:p>
            <a:pPr marL="0" lvl="0" indent="0" algn="l" rtl="0">
              <a:spcBef>
                <a:spcPts val="0"/>
              </a:spcBef>
              <a:spcAft>
                <a:spcPts val="0"/>
              </a:spcAft>
              <a:buNone/>
            </a:pPr>
            <a:endParaRPr/>
          </a:p>
        </p:txBody>
      </p:sp>
      <p:sp>
        <p:nvSpPr>
          <p:cNvPr id="568" name="Google Shape;568;p77"/>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65</a:t>
            </a:fld>
            <a:endParaRPr/>
          </a:p>
        </p:txBody>
      </p:sp>
      <p:pic>
        <p:nvPicPr>
          <p:cNvPr id="569" name="Google Shape;569;p77"/>
          <p:cNvPicPr preferRelativeResize="0"/>
          <p:nvPr/>
        </p:nvPicPr>
        <p:blipFill>
          <a:blip r:embed="rId3">
            <a:alphaModFix/>
          </a:blip>
          <a:stretch>
            <a:fillRect/>
          </a:stretch>
        </p:blipFill>
        <p:spPr>
          <a:xfrm>
            <a:off x="311700" y="1127801"/>
            <a:ext cx="7989549" cy="2588075"/>
          </a:xfrm>
          <a:prstGeom prst="rect">
            <a:avLst/>
          </a:prstGeom>
          <a:noFill/>
          <a:ln w="9525" cap="flat" cmpd="sng">
            <a:solidFill>
              <a:schemeClr val="dk2"/>
            </a:solidFill>
            <a:prstDash val="solid"/>
            <a:round/>
            <a:headEnd type="none" w="sm" len="sm"/>
            <a:tailEnd type="none" w="sm" len="sm"/>
          </a:ln>
        </p:spPr>
      </p:pic>
      <p:pic>
        <p:nvPicPr>
          <p:cNvPr id="570" name="Google Shape;570;p77"/>
          <p:cNvPicPr preferRelativeResize="0"/>
          <p:nvPr/>
        </p:nvPicPr>
        <p:blipFill>
          <a:blip r:embed="rId4">
            <a:alphaModFix/>
          </a:blip>
          <a:stretch>
            <a:fillRect/>
          </a:stretch>
        </p:blipFill>
        <p:spPr>
          <a:xfrm>
            <a:off x="4520750" y="3135375"/>
            <a:ext cx="4111650" cy="1723750"/>
          </a:xfrm>
          <a:prstGeom prst="rect">
            <a:avLst/>
          </a:prstGeom>
          <a:noFill/>
          <a:ln w="9525" cap="flat" cmpd="sng">
            <a:solidFill>
              <a:srgbClr val="FF9900"/>
            </a:solidFill>
            <a:prstDash val="solid"/>
            <a:round/>
            <a:headEnd type="none" w="sm" len="sm"/>
            <a:tailEnd type="none" w="sm" len="sm"/>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574"/>
        <p:cNvGrpSpPr/>
        <p:nvPr/>
      </p:nvGrpSpPr>
      <p:grpSpPr>
        <a:xfrm>
          <a:off x="0" y="0"/>
          <a:ext cx="0" cy="0"/>
          <a:chOff x="0" y="0"/>
          <a:chExt cx="0" cy="0"/>
        </a:xfrm>
      </p:grpSpPr>
      <p:sp>
        <p:nvSpPr>
          <p:cNvPr id="575" name="Google Shape;575;p78"/>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 Example of &lt;address&gt;</a:t>
            </a:r>
            <a:endParaRPr/>
          </a:p>
          <a:p>
            <a:pPr marL="0" lvl="0" indent="0" algn="l" rtl="0">
              <a:spcBef>
                <a:spcPts val="0"/>
              </a:spcBef>
              <a:spcAft>
                <a:spcPts val="0"/>
              </a:spcAft>
              <a:buNone/>
            </a:pPr>
            <a:endParaRPr/>
          </a:p>
        </p:txBody>
      </p:sp>
      <p:sp>
        <p:nvSpPr>
          <p:cNvPr id="576" name="Google Shape;576;p78"/>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66</a:t>
            </a:fld>
            <a:endParaRPr/>
          </a:p>
        </p:txBody>
      </p:sp>
      <p:pic>
        <p:nvPicPr>
          <p:cNvPr id="577" name="Google Shape;577;p78"/>
          <p:cNvPicPr preferRelativeResize="0"/>
          <p:nvPr/>
        </p:nvPicPr>
        <p:blipFill>
          <a:blip r:embed="rId3">
            <a:alphaModFix/>
          </a:blip>
          <a:stretch>
            <a:fillRect/>
          </a:stretch>
        </p:blipFill>
        <p:spPr>
          <a:xfrm>
            <a:off x="311700" y="1197762"/>
            <a:ext cx="8353474" cy="2001875"/>
          </a:xfrm>
          <a:prstGeom prst="rect">
            <a:avLst/>
          </a:prstGeom>
          <a:noFill/>
          <a:ln w="9525" cap="flat" cmpd="sng">
            <a:solidFill>
              <a:schemeClr val="dk2"/>
            </a:solidFill>
            <a:prstDash val="solid"/>
            <a:round/>
            <a:headEnd type="none" w="sm" len="sm"/>
            <a:tailEnd type="none" w="sm" len="sm"/>
          </a:ln>
        </p:spPr>
      </p:pic>
      <p:pic>
        <p:nvPicPr>
          <p:cNvPr id="578" name="Google Shape;578;p78"/>
          <p:cNvPicPr preferRelativeResize="0"/>
          <p:nvPr/>
        </p:nvPicPr>
        <p:blipFill>
          <a:blip r:embed="rId4">
            <a:alphaModFix/>
          </a:blip>
          <a:stretch>
            <a:fillRect/>
          </a:stretch>
        </p:blipFill>
        <p:spPr>
          <a:xfrm>
            <a:off x="1168625" y="3339198"/>
            <a:ext cx="6266000" cy="1543250"/>
          </a:xfrm>
          <a:prstGeom prst="rect">
            <a:avLst/>
          </a:prstGeom>
          <a:noFill/>
          <a:ln w="9525" cap="flat" cmpd="sng">
            <a:solidFill>
              <a:srgbClr val="FF9900"/>
            </a:solidFill>
            <a:prstDash val="solid"/>
            <a:round/>
            <a:headEnd type="none" w="sm" len="sm"/>
            <a:tailEnd type="none" w="sm" len="sm"/>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582"/>
        <p:cNvGrpSpPr/>
        <p:nvPr/>
      </p:nvGrpSpPr>
      <p:grpSpPr>
        <a:xfrm>
          <a:off x="0" y="0"/>
          <a:ext cx="0" cy="0"/>
          <a:chOff x="0" y="0"/>
          <a:chExt cx="0" cy="0"/>
        </a:xfrm>
      </p:grpSpPr>
      <p:sp>
        <p:nvSpPr>
          <p:cNvPr id="583" name="Google Shape;583;p79"/>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dirty="0"/>
              <a:t>Semantic Elements for Layout ─ Try it Yourself</a:t>
            </a:r>
            <a:endParaRPr sz="2800" dirty="0"/>
          </a:p>
        </p:txBody>
      </p:sp>
      <p:sp>
        <p:nvSpPr>
          <p:cNvPr id="584" name="Google Shape;584;p79"/>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67</a:t>
            </a:fld>
            <a:endParaRPr/>
          </a:p>
        </p:txBody>
      </p:sp>
      <p:pic>
        <p:nvPicPr>
          <p:cNvPr id="585" name="Google Shape;585;p79" title="SemanticTag_Layout.png"/>
          <p:cNvPicPr preferRelativeResize="0"/>
          <p:nvPr/>
        </p:nvPicPr>
        <p:blipFill>
          <a:blip r:embed="rId3">
            <a:alphaModFix/>
          </a:blip>
          <a:stretch>
            <a:fillRect/>
          </a:stretch>
        </p:blipFill>
        <p:spPr>
          <a:xfrm>
            <a:off x="652150" y="1036300"/>
            <a:ext cx="6451875" cy="3601050"/>
          </a:xfrm>
          <a:prstGeom prst="rect">
            <a:avLst/>
          </a:prstGeom>
          <a:noFill/>
          <a:ln>
            <a:noFill/>
          </a:ln>
        </p:spPr>
      </p:pic>
      <p:sp>
        <p:nvSpPr>
          <p:cNvPr id="586" name="Google Shape;586;p79"/>
          <p:cNvSpPr txBox="1"/>
          <p:nvPr/>
        </p:nvSpPr>
        <p:spPr>
          <a:xfrm>
            <a:off x="950372" y="4637361"/>
            <a:ext cx="39870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t>Source: Generated by Gemini, 2026.</a:t>
            </a:r>
            <a:endParaRPr sz="100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590"/>
        <p:cNvGrpSpPr/>
        <p:nvPr/>
      </p:nvGrpSpPr>
      <p:grpSpPr>
        <a:xfrm>
          <a:off x="0" y="0"/>
          <a:ext cx="0" cy="0"/>
          <a:chOff x="0" y="0"/>
          <a:chExt cx="0" cy="0"/>
        </a:xfrm>
      </p:grpSpPr>
      <p:sp>
        <p:nvSpPr>
          <p:cNvPr id="591" name="Google Shape;591;p80"/>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Semantic Markup Justifications</a:t>
            </a:r>
            <a:endParaRPr/>
          </a:p>
        </p:txBody>
      </p:sp>
      <p:sp>
        <p:nvSpPr>
          <p:cNvPr id="592" name="Google Shape;592;p80"/>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68</a:t>
            </a:fld>
            <a:endParaRPr/>
          </a:p>
        </p:txBody>
      </p:sp>
      <p:sp>
        <p:nvSpPr>
          <p:cNvPr id="593" name="Google Shape;593;p8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In production-grade web development, semantic HTML is widely considered a must-have. Here is why moving away from "Div Soup" and using tags like &lt;header&gt;, &lt;nav&gt;, &lt;main&gt;, &lt;article&gt;, and &lt;footer&gt; (same reason for additional semantic markup of texts) is critical:</a:t>
            </a:r>
            <a:endParaRPr/>
          </a:p>
          <a:p>
            <a:pPr marL="914400" lvl="1" indent="-317500" algn="l" rtl="0">
              <a:spcBef>
                <a:spcPts val="0"/>
              </a:spcBef>
              <a:spcAft>
                <a:spcPts val="0"/>
              </a:spcAft>
              <a:buSzPts val="1400"/>
              <a:buChar char="○"/>
            </a:pPr>
            <a:r>
              <a:rPr lang="en"/>
              <a:t>Accessibility (The Biggest Factor): The user has to listen to everything sequentially if your website is designed with &lt;div&gt; soup.</a:t>
            </a:r>
            <a:endParaRPr/>
          </a:p>
          <a:p>
            <a:pPr marL="914400" lvl="1" indent="-317500" algn="l" rtl="0">
              <a:spcBef>
                <a:spcPts val="0"/>
              </a:spcBef>
              <a:spcAft>
                <a:spcPts val="0"/>
              </a:spcAft>
              <a:buSzPts val="1400"/>
              <a:buChar char="○"/>
            </a:pPr>
            <a:r>
              <a:rPr lang="en"/>
              <a:t>Search Engine Optimization (SEO): Search engine crawlers (like Google's bots) read your code to understand what your website is about.</a:t>
            </a:r>
            <a:endParaRPr/>
          </a:p>
          <a:p>
            <a:pPr marL="914400" lvl="1" indent="-317500" algn="l" rtl="0">
              <a:spcBef>
                <a:spcPts val="0"/>
              </a:spcBef>
              <a:spcAft>
                <a:spcPts val="0"/>
              </a:spcAft>
              <a:buSzPts val="1400"/>
              <a:buChar char="○"/>
            </a:pPr>
            <a:r>
              <a:rPr lang="en"/>
              <a:t>Code Maintainability and Readability: When you or your team look at a codebase months later, semantic tags act as instant documentation.</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3D40261-651E-41EE-B27A-1FB834BEA091}"/>
              </a:ext>
            </a:extLst>
          </p:cNvPr>
          <p:cNvSpPr>
            <a:spLocks noGrp="1"/>
          </p:cNvSpPr>
          <p:nvPr>
            <p:ph type="title"/>
          </p:nvPr>
        </p:nvSpPr>
        <p:spPr/>
        <p:txBody>
          <a:bodyPr/>
          <a:lstStyle/>
          <a:p>
            <a:r>
              <a:rPr lang="en-US" altLang="zh-TW" dirty="0"/>
              <a:t>Further Reading</a:t>
            </a:r>
            <a:endParaRPr lang="zh-TW" altLang="en-US" dirty="0"/>
          </a:p>
        </p:txBody>
      </p:sp>
      <p:sp>
        <p:nvSpPr>
          <p:cNvPr id="3" name="文字版面配置區 2">
            <a:extLst>
              <a:ext uri="{FF2B5EF4-FFF2-40B4-BE49-F238E27FC236}">
                <a16:creationId xmlns:a16="http://schemas.microsoft.com/office/drawing/2014/main" id="{E1EC82CC-FD1D-40C7-BA25-A95BFEB2B294}"/>
              </a:ext>
            </a:extLst>
          </p:cNvPr>
          <p:cNvSpPr>
            <a:spLocks noGrp="1"/>
          </p:cNvSpPr>
          <p:nvPr>
            <p:ph type="body" idx="1"/>
          </p:nvPr>
        </p:nvSpPr>
        <p:spPr/>
        <p:txBody>
          <a:bodyPr/>
          <a:lstStyle/>
          <a:p>
            <a:r>
              <a:rPr lang="en-US" altLang="zh-TW" dirty="0"/>
              <a:t>Markdown Syntax</a:t>
            </a:r>
          </a:p>
          <a:p>
            <a:pPr marL="792000" lvl="1">
              <a:spcBef>
                <a:spcPts val="600"/>
              </a:spcBef>
            </a:pPr>
            <a:r>
              <a:rPr lang="en-US" altLang="zh-TW" dirty="0">
                <a:hlinkClick r:id="rId2"/>
              </a:rPr>
              <a:t>https://docs.apigee.com/api-platform/publish/portal/markdown-reference?hl=zh-tw</a:t>
            </a:r>
            <a:r>
              <a:rPr lang="en-US" altLang="zh-TW" dirty="0"/>
              <a:t> </a:t>
            </a:r>
            <a:endParaRPr lang="zh-TW" altLang="en-US" dirty="0"/>
          </a:p>
        </p:txBody>
      </p:sp>
      <p:sp>
        <p:nvSpPr>
          <p:cNvPr id="4" name="投影片編號版面配置區 3">
            <a:extLst>
              <a:ext uri="{FF2B5EF4-FFF2-40B4-BE49-F238E27FC236}">
                <a16:creationId xmlns:a16="http://schemas.microsoft.com/office/drawing/2014/main" id="{F9550049-E547-4A5D-B7E7-47F5772EF63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69</a:t>
            </a:fld>
            <a:endParaRPr lang="en"/>
          </a:p>
        </p:txBody>
      </p:sp>
    </p:spTree>
    <p:extLst>
      <p:ext uri="{BB962C8B-B14F-4D97-AF65-F5344CB8AC3E}">
        <p14:creationId xmlns:p14="http://schemas.microsoft.com/office/powerpoint/2010/main" val="372805392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626"/>
        <p:cNvGrpSpPr/>
        <p:nvPr/>
      </p:nvGrpSpPr>
      <p:grpSpPr>
        <a:xfrm>
          <a:off x="0" y="0"/>
          <a:ext cx="0" cy="0"/>
          <a:chOff x="0" y="0"/>
          <a:chExt cx="0" cy="0"/>
        </a:xfrm>
      </p:grpSpPr>
      <p:sp>
        <p:nvSpPr>
          <p:cNvPr id="627" name="Google Shape;627;p85"/>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Questions?</a:t>
            </a:r>
            <a:endParaRPr dirty="0"/>
          </a:p>
        </p:txBody>
      </p:sp>
      <p:sp>
        <p:nvSpPr>
          <p:cNvPr id="628" name="Google Shape;628;p85"/>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70</a:t>
            </a:fld>
            <a:endParaRPr/>
          </a:p>
        </p:txBody>
      </p:sp>
      <p:pic>
        <p:nvPicPr>
          <p:cNvPr id="629" name="Google Shape;629;p85"/>
          <p:cNvPicPr preferRelativeResize="0"/>
          <p:nvPr/>
        </p:nvPicPr>
        <p:blipFill>
          <a:blip r:embed="rId3">
            <a:alphaModFix/>
          </a:blip>
          <a:stretch>
            <a:fillRect/>
          </a:stretch>
        </p:blipFill>
        <p:spPr>
          <a:xfrm>
            <a:off x="2752075" y="1678825"/>
            <a:ext cx="4156800" cy="2663225"/>
          </a:xfrm>
          <a:prstGeom prst="rect">
            <a:avLst/>
          </a:prstGeom>
          <a:noFill/>
          <a:ln>
            <a:noFill/>
          </a:ln>
        </p:spPr>
      </p:pic>
    </p:spTree>
  </p:cSld>
  <p:clrMapOvr>
    <a:masterClrMapping/>
  </p:clrMapOvr>
</p:sld>
</file>

<file path=ppt/theme/theme1.xml><?xml version="1.0" encoding="utf-8"?>
<a:theme xmlns:a="http://schemas.openxmlformats.org/drawingml/2006/main" name="Plum">
  <a:themeElements>
    <a:clrScheme name="Plum">
      <a:dk1>
        <a:srgbClr val="611BB8"/>
      </a:dk1>
      <a:lt1>
        <a:srgbClr val="FFFFFF"/>
      </a:lt1>
      <a:dk2>
        <a:srgbClr val="000000"/>
      </a:dk2>
      <a:lt2>
        <a:srgbClr val="7F7F7F"/>
      </a:lt2>
      <a:accent1>
        <a:srgbClr val="333333"/>
      </a:accent1>
      <a:accent2>
        <a:srgbClr val="5E2B97"/>
      </a:accent2>
      <a:accent3>
        <a:srgbClr val="7E57C2"/>
      </a:accent3>
      <a:accent4>
        <a:srgbClr val="C77025"/>
      </a:accent4>
      <a:accent5>
        <a:srgbClr val="009688"/>
      </a:accent5>
      <a:accent6>
        <a:srgbClr val="FFD600"/>
      </a:accent6>
      <a:hlink>
        <a:srgbClr val="009688"/>
      </a:hlink>
      <a:folHlink>
        <a:srgbClr val="00968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523</TotalTime>
  <Words>4392</Words>
  <Application>Microsoft Office PowerPoint</Application>
  <PresentationFormat>如螢幕大小 (16:9)</PresentationFormat>
  <Paragraphs>502</Paragraphs>
  <Slides>70</Slides>
  <Notes>69</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70</vt:i4>
      </vt:variant>
    </vt:vector>
  </HeadingPairs>
  <TitlesOfParts>
    <vt:vector size="74" baseType="lpstr">
      <vt:lpstr>Source Sans Pro</vt:lpstr>
      <vt:lpstr>Raleway</vt:lpstr>
      <vt:lpstr>Arial</vt:lpstr>
      <vt:lpstr>Plum</vt:lpstr>
      <vt:lpstr>HTML5 Basics</vt:lpstr>
      <vt:lpstr>Outline</vt:lpstr>
      <vt:lpstr>Hypertext Markup Language (HTML)</vt:lpstr>
      <vt:lpstr>HTML General Rules</vt:lpstr>
      <vt:lpstr>HTML5 Code Example</vt:lpstr>
      <vt:lpstr>Document Type Declaration (DTD)</vt:lpstr>
      <vt:lpstr>Comments in HTML</vt:lpstr>
      <vt:lpstr>HTML Required Elements</vt:lpstr>
      <vt:lpstr>Document Metadata ─ &lt;meta&gt;</vt:lpstr>
      <vt:lpstr>Document Metadata ─ &lt;meta&gt; Example</vt:lpstr>
      <vt:lpstr>Document Metadata ─ &lt;title&gt;</vt:lpstr>
      <vt:lpstr>Try it Yourself ─ Metadata Practices</vt:lpstr>
      <vt:lpstr>Markup Tags within &lt;body&gt; ─ Texts</vt:lpstr>
      <vt:lpstr>Heading Elements</vt:lpstr>
      <vt:lpstr>Heading Group Element ─ &lt;hgroup&gt;</vt:lpstr>
      <vt:lpstr>Paragraph Element ─ &lt;p&gt;</vt:lpstr>
      <vt:lpstr>HTML Reserved Characters</vt:lpstr>
      <vt:lpstr>Thematic Element ─ &lt;hr&gt; </vt:lpstr>
      <vt:lpstr>An Example of &lt;hr&gt;  </vt:lpstr>
      <vt:lpstr>Line breaker ─ &lt;br&gt; </vt:lpstr>
      <vt:lpstr>Grouping Elements ─ &lt;div&gt; and &lt;span&gt;</vt:lpstr>
      <vt:lpstr>An Example of &lt;div&gt;</vt:lpstr>
      <vt:lpstr>Global Attributes</vt:lpstr>
      <vt:lpstr>Global Attributes ─ id</vt:lpstr>
      <vt:lpstr>Global Attributes ─ class</vt:lpstr>
      <vt:lpstr>Global Attributes ─ style</vt:lpstr>
      <vt:lpstr>Global Attributes ─ data-*</vt:lpstr>
      <vt:lpstr>Hyperlink Element ─ &lt;a&gt; </vt:lpstr>
      <vt:lpstr>Examples of &lt;a&gt; ─ Page Section</vt:lpstr>
      <vt:lpstr>Examples of &lt;a&gt; ─ Text Fragments</vt:lpstr>
      <vt:lpstr>Examples of &lt;a&gt; ─ Telephone, Email and SMS</vt:lpstr>
      <vt:lpstr>What if a Resource is missing?</vt:lpstr>
      <vt:lpstr>HTTP Status Code</vt:lpstr>
      <vt:lpstr>URL Common Reserved Characters</vt:lpstr>
      <vt:lpstr>Common Pitfalls in URL Encoding</vt:lpstr>
      <vt:lpstr>Hyperlink Element ─ target attribute of &lt;a&gt; </vt:lpstr>
      <vt:lpstr>Try it Yourself ─ Textual Tag Practices</vt:lpstr>
      <vt:lpstr>Markup Tags within &lt;body&gt; ─ Lists </vt:lpstr>
      <vt:lpstr>Unordered List ─ &lt;ul&gt; </vt:lpstr>
      <vt:lpstr>Ordered List ─ &lt;ol&gt; </vt:lpstr>
      <vt:lpstr>Definition List ─ &lt;dl&gt;</vt:lpstr>
      <vt:lpstr>Hierarchical Structure ─ Nested Lists </vt:lpstr>
      <vt:lpstr>Markup Tags within &lt;body&gt; ─ Table</vt:lpstr>
      <vt:lpstr>Tabular Elements ─ &lt;table&gt;</vt:lpstr>
      <vt:lpstr>An Example of &lt;table&gt;</vt:lpstr>
      <vt:lpstr>An Example of &lt;table&gt; ─ CSS file</vt:lpstr>
      <vt:lpstr>An Example of &lt;table&gt; ─ Content Display</vt:lpstr>
      <vt:lpstr>Tabular Elements ─ &lt;tr&gt;, &lt;th&gt; and &lt;td&gt; </vt:lpstr>
      <vt:lpstr>Try it Yourself ─ Tabular Design Practices </vt:lpstr>
      <vt:lpstr>Markup Tags within &lt;body&gt; ─ Multimedia</vt:lpstr>
      <vt:lpstr>Image Element ─ &lt;img&gt;</vt:lpstr>
      <vt:lpstr>An Example of &lt;img&gt;</vt:lpstr>
      <vt:lpstr>Audio Element ─ &lt;audio&gt; </vt:lpstr>
      <vt:lpstr>Video Element ─ &lt;video&gt; </vt:lpstr>
      <vt:lpstr>An Example of &lt;video&gt; ─ Media Fragment</vt:lpstr>
      <vt:lpstr>Independent Embedding Element ─ &lt;iframe&gt;</vt:lpstr>
      <vt:lpstr>An Example of &lt;iframe&gt;</vt:lpstr>
      <vt:lpstr>An Example of &lt;iframe&gt; ─ Youtube Video</vt:lpstr>
      <vt:lpstr>Try it Yourself ─ Image Practices </vt:lpstr>
      <vt:lpstr>Semantic Markup Tags</vt:lpstr>
      <vt:lpstr>Semantic Elements for Changes Highlight</vt:lpstr>
      <vt:lpstr>An Example of &lt;del&gt;, &lt;s&gt; and &lt;ins&gt;</vt:lpstr>
      <vt:lpstr>Semantic Elements for Citation or Quotation</vt:lpstr>
      <vt:lpstr>An Example of &lt;dfn&gt; and &lt;abbr&gt; </vt:lpstr>
      <vt:lpstr>An Example of &lt;cite&gt;, &lt;q&gt; and &lt;blockquote&gt; </vt:lpstr>
      <vt:lpstr>An Example of &lt;address&gt; </vt:lpstr>
      <vt:lpstr>Semantic Elements for Layout ─ Try it Yourself</vt:lpstr>
      <vt:lpstr>Semantic Markup Justifications</vt:lpstr>
      <vt:lpstr>Further Reading</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HTML5 Basics</dc:title>
  <cp:lastModifiedBy>LanCi-Wei</cp:lastModifiedBy>
  <cp:revision>9</cp:revision>
  <dcterms:modified xsi:type="dcterms:W3CDTF">2026-09-14T03:47:01Z</dcterms:modified>
</cp:coreProperties>
</file>