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2" r:id="rId9"/>
    <p:sldId id="261" r:id="rId1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Noto Serif TC" panose="02020200000000000000" pitchFamily="18" charset="-120"/>
      <p:regular r:id="rId16"/>
      <p:bold r:id="rId17"/>
    </p:embeddedFont>
    <p:embeddedFont>
      <p:font typeface="Raleway" pitchFamily="2" charset="0"/>
      <p:regular r:id="rId18"/>
      <p:bold r:id="rId19"/>
      <p:italic r:id="rId20"/>
      <p:boldItalic r:id="rId21"/>
    </p:embeddedFont>
    <p:embeddedFont>
      <p:font typeface="Source Sans Pro" panose="020B0503030403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7D9EBF-35D1-4BBC-A2D3-530DAB615A5A}">
  <a:tblStyle styleId="{727D9EBF-35D1-4BBC-A2D3-530DAB615A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544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544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544c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544c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560c41de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560c41de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560c41de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560c41de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d399e5d2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d399e5d2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544c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544c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2280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544c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544c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544c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544c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2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85875" y="1595275"/>
            <a:ext cx="8183700" cy="10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 title="Gemini_Generated_Image_r9brlcr9brlcr9b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672" y="2684196"/>
            <a:ext cx="8680715" cy="2271762"/>
          </a:xfrm>
          <a:prstGeom prst="rect">
            <a:avLst/>
          </a:prstGeom>
          <a:solidFill>
            <a:srgbClr val="CFE2F3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CFE2F3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urce Sans Pro"/>
              <a:buChar char="●"/>
              <a:defRPr sz="18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○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■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●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○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■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●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○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Source Sans Pro"/>
              <a:buChar char="■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Learn_web_development" TargetMode="External"/><Relationship Id="rId7" Type="http://schemas.openxmlformats.org/officeDocument/2006/relationships/hyperlink" Target="https://github.com/jollen/nodejs-fullstack-boo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hiskio.com/courses/87?srsltid=AfmBOooBLyhJaE2qkC-CfV4Uygzd7OdeJUqC388oOCADKu-NZXqjNkbA" TargetMode="External"/><Relationship Id="rId5" Type="http://schemas.openxmlformats.org/officeDocument/2006/relationships/hyperlink" Target="https://eloquentjavascript.net/" TargetMode="External"/><Relationship Id="rId4" Type="http://schemas.openxmlformats.org/officeDocument/2006/relationships/hyperlink" Target="https://www.w3schools.com/html/default.asp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se.is/9kz4bc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se.is/9ktlb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2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Programming - 2026 Fall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485875" y="1595275"/>
            <a:ext cx="8183700" cy="10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Ci-Wei Lan 藍啟維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Dept. of CSE, NTOU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Objectives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Master Core Web Fundamentals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Build a solid foundation in semantic HTML5, modern CSS3 layouts, and client-side JavaScript execution to understand how the web works under the hood.</a:t>
            </a: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Practice Modern Web Frameworks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Transition from vanilla code to modern development by implementing practical, entry-level components and routing using streamlined frontend and backend frameworks.</a:t>
            </a: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Connect Client-Server Operations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Understand the complete lifecycle of a web request by building structured server routes, handling simple APIs, and managing basic data flow between client and server.</a:t>
            </a: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Practice Professional Development Process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Understand and hands-on experiences of version control and related technologies.</a:t>
            </a:r>
            <a:endParaRPr sz="1600"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 Resources and Books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Semantic HTML5, UI Design, &amp; Responsive CSS Layouts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MDN Learn web development,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https://developer.mozilla.org/en-US/docs/Learn_web_development</a:t>
            </a:r>
            <a:r>
              <a:rPr lang="en"/>
              <a:t>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W3Schools,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https://www.w3schools.com/html/default.asp</a:t>
            </a:r>
            <a:r>
              <a:rPr lang="en"/>
              <a:t>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草野 あけみ 著；林子君、陳禹豪 譯；施威銘研究室 監修，HTML5 ‧ CSS3 最強圖解實戰講座 【第二版】。(ISBN: 9863126497)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JavaScript Foundations &amp; DOM Interactivity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Harvey M. Deitel and Paul J. Deitel, “Internet &amp; World Wide Web How to Program, 5/e”.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Marijn Haverbeke, Eloquent JavaScript 4th Edition,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https://eloquentjavascript.net/</a:t>
            </a:r>
            <a:r>
              <a:rPr lang="en"/>
              <a:t>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Eddy Chang，從 ES6 開始的 JavaScript 學習生活，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https://hiskio.com/courses/87?srsltid=AfmBOooBLyhJaE2qkC-CfV4Uygzd7OdeJUqC388oOCADKu-NZXqjNkbA</a:t>
            </a:r>
            <a:r>
              <a:rPr lang="en"/>
              <a:t>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Eric T. Freeman, Elisabeth Robson；黃銘偉 譯，深入淺出 JavaScript 程式設計, 2/e (Head First JavaScript Programming: A Learner's Guide to Modern JavaScript, 2/e, ISBN: 6264252611)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Full-Stack Technologies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Node.js Fullstack《原理與實務》第四版，</a:t>
            </a:r>
            <a:r>
              <a:rPr lang="en" u="sng">
                <a:solidFill>
                  <a:schemeClr val="hlink"/>
                </a:solidFill>
                <a:hlinkClick r:id="rId7"/>
              </a:rPr>
              <a:t>https://github.com/jollen/nodejs-fullstack-book</a:t>
            </a:r>
            <a:r>
              <a:rPr lang="en"/>
              <a:t> </a:t>
            </a: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634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Weekly Schedule</a:t>
            </a:r>
            <a:endParaRPr dirty="0"/>
          </a:p>
        </p:txBody>
      </p:sp>
      <p:graphicFrame>
        <p:nvGraphicFramePr>
          <p:cNvPr id="79" name="Google Shape;79;p16"/>
          <p:cNvGraphicFramePr/>
          <p:nvPr>
            <p:extLst>
              <p:ext uri="{D42A27DB-BD31-4B8C-83A1-F6EECF244321}">
                <p14:modId xmlns:p14="http://schemas.microsoft.com/office/powerpoint/2010/main" val="1373434410"/>
              </p:ext>
            </p:extLst>
          </p:nvPr>
        </p:nvGraphicFramePr>
        <p:xfrm>
          <a:off x="476510" y="772309"/>
          <a:ext cx="4095489" cy="4251690"/>
        </p:xfrm>
        <a:graphic>
          <a:graphicData uri="http://schemas.openxmlformats.org/drawingml/2006/table">
            <a:tbl>
              <a:tblPr>
                <a:noFill/>
                <a:tableStyleId>{727D9EBF-35D1-4BBC-A2D3-530DAB615A5A}</a:tableStyleId>
              </a:tblPr>
              <a:tblGrid>
                <a:gridCol w="57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Week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Date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Topic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Sep. 08 (Tue.)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" sz="1000" dirty="0"/>
                        <a:t>Course Briefing</a:t>
                      </a:r>
                      <a:endParaRPr sz="1000" dirty="0"/>
                    </a:p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" sz="1000" dirty="0"/>
                        <a:t>Internet and Web Overview</a:t>
                      </a:r>
                      <a:endParaRPr sz="1000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Sep. 15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HTML5 Basics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Sep. 22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</a:rPr>
                        <a:t>HTML Advanced-Form and Input Validation</a:t>
                      </a:r>
                      <a:endParaRPr sz="1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Sep. 29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</a:rPr>
                        <a:t>CSS Selectors and Properties</a:t>
                      </a:r>
                      <a:endParaRPr sz="1000" dirty="0">
                        <a:solidFill>
                          <a:schemeClr val="dk2"/>
                        </a:solidFill>
                      </a:endParaRPr>
                    </a:p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Char char="●"/>
                      </a:pPr>
                      <a:r>
                        <a:rPr lang="en" sz="1000" b="1" dirty="0">
                          <a:solidFill>
                            <a:srgbClr val="FF0000"/>
                          </a:solidFill>
                        </a:rPr>
                        <a:t>Exercise_1 Submission Due</a:t>
                      </a:r>
                    </a:p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2"/>
                        </a:buClr>
                        <a:buSzPts val="1000"/>
                        <a:buChar char="●"/>
                      </a:pPr>
                      <a:r>
                        <a:rPr lang="en" sz="1000" b="1" dirty="0">
                          <a:solidFill>
                            <a:srgbClr val="0000CC"/>
                          </a:solidFill>
                        </a:rPr>
                        <a:t>Group Finalization</a:t>
                      </a:r>
                      <a:endParaRPr sz="1000" b="1" dirty="0">
                        <a:solidFill>
                          <a:srgbClr val="0000CC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Oct. 06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CSS Layout and Responsive Web Design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Char char="●"/>
                      </a:pPr>
                      <a:r>
                        <a:rPr lang="en" sz="1000" b="1">
                          <a:solidFill>
                            <a:srgbClr val="FF0000"/>
                          </a:solidFill>
                        </a:rPr>
                        <a:t>Exercise_2 Submission Due</a:t>
                      </a:r>
                      <a:endParaRPr sz="1000" b="1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Oct. 13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</a:rPr>
                        <a:t>Browser Dev Tools Introduction</a:t>
                      </a:r>
                      <a:endParaRPr sz="1000" dirty="0">
                        <a:solidFill>
                          <a:schemeClr val="dk2"/>
                        </a:solidFill>
                      </a:endParaRPr>
                    </a:p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</a:rPr>
                        <a:t>Version Control System, Git/Github</a:t>
                      </a:r>
                      <a:endParaRPr sz="1000" dirty="0">
                        <a:solidFill>
                          <a:schemeClr val="dk2"/>
                        </a:solidFill>
                      </a:endParaRPr>
                    </a:p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1000"/>
                        <a:buChar char="●"/>
                      </a:pPr>
                      <a:r>
                        <a:rPr lang="en-US" altLang="zh-TW" sz="1000" b="0" dirty="0">
                          <a:solidFill>
                            <a:srgbClr val="0000CC"/>
                          </a:solidFill>
                        </a:rPr>
                        <a:t>Timed CSS</a:t>
                      </a:r>
                      <a:r>
                        <a:rPr lang="zh-TW" altLang="en-US" sz="1000" b="0" dirty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en-US" altLang="zh-TW" sz="1000" b="0" dirty="0">
                          <a:solidFill>
                            <a:srgbClr val="0000CC"/>
                          </a:solidFill>
                        </a:rPr>
                        <a:t>Flexbox Online Test (Open-Book)</a:t>
                      </a:r>
                      <a:endParaRPr sz="1000" b="0" dirty="0">
                        <a:solidFill>
                          <a:srgbClr val="0000CC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Oct. 20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 dirty="0"/>
                        <a:t>Javascript Basics-variable, primitive data types, objects</a:t>
                      </a:r>
                    </a:p>
                    <a:p>
                      <a:pPr marL="91440" marR="0" lvl="0" indent="-10922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Arial"/>
                        <a:buChar char="●"/>
                        <a:tabLst/>
                        <a:defRPr/>
                      </a:pPr>
                      <a:r>
                        <a:rPr lang="en" altLang="zh-TW" sz="1000" b="1" dirty="0">
                          <a:solidFill>
                            <a:srgbClr val="FF0000"/>
                          </a:solidFill>
                        </a:rPr>
                        <a:t>Exercise_3 Submission Due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Oct. 27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 dirty="0">
                          <a:solidFill>
                            <a:srgbClr val="0000CC"/>
                          </a:solidFill>
                        </a:rPr>
                        <a:t>Midterm Exam (Closed-Book)</a:t>
                      </a:r>
                      <a:endParaRPr sz="1000" dirty="0">
                        <a:solidFill>
                          <a:srgbClr val="0000CC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0" name="Google Shape;80;p16"/>
          <p:cNvGraphicFramePr/>
          <p:nvPr>
            <p:extLst>
              <p:ext uri="{D42A27DB-BD31-4B8C-83A1-F6EECF244321}">
                <p14:modId xmlns:p14="http://schemas.microsoft.com/office/powerpoint/2010/main" val="690008081"/>
              </p:ext>
            </p:extLst>
          </p:nvPr>
        </p:nvGraphicFramePr>
        <p:xfrm>
          <a:off x="4707040" y="772309"/>
          <a:ext cx="3960450" cy="4280790"/>
        </p:xfrm>
        <a:graphic>
          <a:graphicData uri="http://schemas.openxmlformats.org/drawingml/2006/table">
            <a:tbl>
              <a:tblPr>
                <a:noFill/>
                <a:tableStyleId>{727D9EBF-35D1-4BBC-A2D3-530DAB615A5A}</a:tableStyleId>
              </a:tblPr>
              <a:tblGrid>
                <a:gridCol w="55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Week</a:t>
                      </a:r>
                      <a:endParaRPr sz="1100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Date</a:t>
                      </a:r>
                      <a:endParaRPr sz="1100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Topic</a:t>
                      </a:r>
                      <a:endParaRPr sz="1100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Nov. 03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Javascript Basics-Array, JSON, Map, operators, loop, control flow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Char char="●"/>
                      </a:pPr>
                      <a:r>
                        <a:rPr lang="en" sz="1000" b="1">
                          <a:solidFill>
                            <a:srgbClr val="FF0000"/>
                          </a:solidFill>
                        </a:rPr>
                        <a:t>Assignment_1 Submission Due</a:t>
                      </a:r>
                      <a:endParaRPr sz="1000" b="1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Nov. 10</a:t>
                      </a:r>
                      <a:endParaRPr sz="1000"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</a:rPr>
                        <a:t>Javascript Advanced-Functions, Document Object Model (DOM)</a:t>
                      </a:r>
                      <a:endParaRPr sz="1000" dirty="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Nov. 17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</a:rPr>
                        <a:t>Javascript Advanced - Asynchronous communications, class, module</a:t>
                      </a:r>
                      <a:endParaRPr sz="1000" dirty="0">
                        <a:solidFill>
                          <a:schemeClr val="dk2"/>
                        </a:solidFill>
                      </a:endParaRPr>
                    </a:p>
                    <a:p>
                      <a:pPr marL="91440" marR="0" lvl="0" indent="-10922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Char char="●"/>
                        <a:tabLst/>
                        <a:defRPr/>
                      </a:pPr>
                      <a:r>
                        <a:rPr lang="en-US" altLang="zh-TW" sz="1000" b="1" dirty="0">
                          <a:solidFill>
                            <a:srgbClr val="FF0000"/>
                          </a:solidFill>
                        </a:rPr>
                        <a:t>Exercise_4 Submission Due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Nov. 24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</a:rPr>
                        <a:t>NodeJS</a:t>
                      </a:r>
                      <a:endParaRPr sz="1000" dirty="0">
                        <a:solidFill>
                          <a:schemeClr val="dk2"/>
                        </a:solidFill>
                      </a:endParaRPr>
                    </a:p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Char char="●"/>
                      </a:pPr>
                      <a:r>
                        <a:rPr lang="en" sz="1000" b="1" dirty="0">
                          <a:solidFill>
                            <a:srgbClr val="FF0000"/>
                          </a:solidFill>
                        </a:rPr>
                        <a:t>Assignment_2 Submission Due</a:t>
                      </a:r>
                    </a:p>
                    <a:p>
                      <a:pPr marL="91440" marR="0" lvl="0" indent="-10922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Char char="●"/>
                        <a:tabLst/>
                        <a:defRPr/>
                      </a:pPr>
                      <a:r>
                        <a:rPr lang="en-US" altLang="zh-TW" sz="1000" b="1" dirty="0">
                          <a:solidFill>
                            <a:srgbClr val="FF0000"/>
                          </a:solidFill>
                        </a:rPr>
                        <a:t>Exercise_5 Submission Due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Dec. 01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</a:rPr>
                        <a:t>ExpressJS</a:t>
                      </a:r>
                      <a:endParaRPr sz="1000" dirty="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Dec. 08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</a:rPr>
                        <a:t>MongoDB Modeling</a:t>
                      </a:r>
                      <a:endParaRPr sz="1000" dirty="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Dec. 15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Char char="●"/>
                      </a:pPr>
                      <a:r>
                        <a:rPr lang="en" sz="1000" dirty="0">
                          <a:solidFill>
                            <a:schemeClr val="dk2"/>
                          </a:solidFill>
                        </a:rPr>
                        <a:t>MongoDB Applications with NodeJS</a:t>
                      </a:r>
                    </a:p>
                    <a:p>
                      <a:pPr marL="91440" marR="0" lvl="0" indent="-10922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00"/>
                        <a:buFont typeface="Arial"/>
                        <a:buChar char="●"/>
                        <a:tabLst/>
                        <a:defRPr/>
                      </a:pPr>
                      <a:r>
                        <a:rPr lang="en-US" altLang="zh-TW" sz="1000" b="1">
                          <a:solidFill>
                            <a:srgbClr val="FF0000"/>
                          </a:solidFill>
                        </a:rPr>
                        <a:t>Exercise_6 Submission Due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Dec. 22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91440" lvl="0" indent="-10922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Char char="●"/>
                      </a:pPr>
                      <a:r>
                        <a:rPr lang="en" sz="1000" b="1" dirty="0">
                          <a:solidFill>
                            <a:srgbClr val="FF0000"/>
                          </a:solidFill>
                        </a:rPr>
                        <a:t>Final Project Showcase</a:t>
                      </a:r>
                      <a:endParaRPr sz="10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Topic Assignments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Assignment_1: 10%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Assignment_2: 15%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Practice Exercises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3% for each: Exercise_1 ~ 2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4% for Exercise_3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5% for each: Excercise_4 ~ 6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Mid-term Exam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20% for paper exam and 5% for CSS Online Test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Final </a:t>
            </a:r>
            <a:r>
              <a:rPr lang="en"/>
              <a:t>Team-Based Project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25% (Includes Proposal, Architecture, Code Quality, and Final Presentation).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88" name="Google Shape;88;p1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F8DF74-D884-4734-818F-4B50D0717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Submission &amp; Evaluation Rules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54EE8E-6EDE-4685-A1B7-3DEEF03F5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作業滿分為</a:t>
            </a:r>
            <a:r>
              <a:rPr lang="en-US" altLang="zh-TW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100</a:t>
            </a:r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分，超過截止時間視為缺交，該次作業以零分計。</a:t>
            </a:r>
            <a:endParaRPr lang="en-US" altLang="zh-TW" dirty="0"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若有正當理由需要補交作業或是成績有問題請直接寄信通知助教。</a:t>
            </a:r>
            <a:endParaRPr lang="en-US" altLang="zh-TW" dirty="0"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繳交作業請把所有資源一併壓縮繳交，包含圖片、字型等，未依規定導致無法顯示者不予計分。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繳交作業時請依照規範命名，未依規定者會扣分。</a:t>
            </a:r>
            <a:endParaRPr lang="en-US" altLang="zh-TW" dirty="0"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以下情形則該次作業為零分</a:t>
            </a:r>
            <a:r>
              <a:rPr lang="en-US" altLang="zh-TW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作業不可抄襲，抄襲者與被抄襲者該次作業皆為零分。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使用</a:t>
            </a:r>
            <a:r>
              <a:rPr lang="en-US" altLang="zh-TW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AI</a:t>
            </a:r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直接產生作業答案。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作業若發現非自己寫的，即為</a:t>
            </a:r>
            <a:r>
              <a:rPr lang="en-US" altLang="zh-TW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0</a:t>
            </a:r>
            <a:r>
              <a:rPr lang="zh-TW" altLang="en-US" dirty="0">
                <a:latin typeface="Noto Serif TC" panose="02020200000000000000" pitchFamily="18" charset="-120"/>
                <a:ea typeface="Noto Serif TC" panose="02020200000000000000" pitchFamily="18" charset="-120"/>
              </a:rPr>
              <a:t>分。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E2553F-8B81-4152-AC6D-C5EB79FCE2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86677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Exercise and </a:t>
            </a:r>
            <a:r>
              <a:rPr lang="en" altLang="zh-TW" dirty="0"/>
              <a:t>Assignment Submissions</a:t>
            </a:r>
            <a:endParaRPr dirty="0"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Zip the project and upload to the Tronclass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Naming (number as two digits)</a:t>
            </a:r>
            <a:endParaRPr dirty="0"/>
          </a:p>
          <a:p>
            <a:pPr lvl="1">
              <a:spcBef>
                <a:spcPts val="0"/>
              </a:spcBef>
              <a:buSzPct val="80000"/>
              <a:buChar char="■"/>
            </a:pPr>
            <a:r>
              <a:rPr lang="en-US" altLang="zh-TW" dirty="0"/>
              <a:t>Assignment</a:t>
            </a:r>
            <a:r>
              <a:rPr lang="en" dirty="0"/>
              <a:t>: ‘Your_School_Id_Number’_Assignment_’number’.zip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dirty="0"/>
              <a:t>10757008_Assignment_01.zip</a:t>
            </a:r>
            <a:endParaRPr lang="en" dirty="0"/>
          </a:p>
          <a:p>
            <a:pPr lvl="1">
              <a:spcBef>
                <a:spcPts val="0"/>
              </a:spcBef>
              <a:buSzPct val="80000"/>
              <a:buFont typeface="Source Sans Pro"/>
              <a:buChar char="■"/>
            </a:pPr>
            <a:r>
              <a:rPr lang="en-US" altLang="zh-TW" dirty="0"/>
              <a:t>Exercise: ‘Your_School_Id_Number’_Exercise_’number’.zip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TW" dirty="0"/>
              <a:t>10757008_Exercise_01.zip</a:t>
            </a:r>
            <a:endParaRPr lang="zh-TW" altLang="en-US"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3771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Final Project </a:t>
            </a:r>
            <a:r>
              <a:rPr lang="en" altLang="zh-TW" dirty="0"/>
              <a:t>Submission</a:t>
            </a:r>
            <a:endParaRPr dirty="0"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Teaming</a:t>
            </a:r>
          </a:p>
          <a:p>
            <a:pPr lvl="1" indent="-342900">
              <a:spcBef>
                <a:spcPts val="0"/>
              </a:spcBef>
              <a:buSzPts val="1800"/>
              <a:buChar char="●"/>
            </a:pPr>
            <a:r>
              <a:rPr lang="en" dirty="0"/>
              <a:t>3 persons</a:t>
            </a:r>
          </a:p>
          <a:p>
            <a:pPr lvl="1" indent="-342900">
              <a:spcBef>
                <a:spcPts val="0"/>
              </a:spcBef>
              <a:buSzPts val="1800"/>
              <a:buChar char="●"/>
            </a:pPr>
            <a:r>
              <a:rPr lang="en-US" dirty="0">
                <a:hlinkClick r:id="rId3"/>
              </a:rPr>
              <a:t>https://pse.is/9kz4bc</a:t>
            </a:r>
            <a:r>
              <a:rPr lang="zh-TW" altLang="en-US" dirty="0"/>
              <a:t> </a:t>
            </a: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Source Code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The project should include a README.md to simply specify what the project is and what each folder/file is, where the entry point is.</a:t>
            </a:r>
            <a:endParaRPr lang="en" dirty="0"/>
          </a:p>
          <a:p>
            <a:pPr lvl="1">
              <a:spcBef>
                <a:spcPts val="0"/>
              </a:spcBef>
            </a:pPr>
            <a:r>
              <a:rPr lang="en" dirty="0"/>
              <a:t>Zip the project repo and submit to Tronclass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Live Demo</a:t>
            </a:r>
            <a:endParaRPr lang="en-US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dirty="0"/>
              <a:t>Deploy to publicly available host, e.g. </a:t>
            </a:r>
            <a:r>
              <a:rPr lang="en-US" altLang="zh-TW" dirty="0"/>
              <a:t>Render for NodeJS, MongoDB Atlas for MongoDB</a:t>
            </a:r>
            <a:endParaRPr lang="en-US"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262831" y="555600"/>
            <a:ext cx="2808000" cy="5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262830" y="994500"/>
            <a:ext cx="3502993" cy="20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</a:t>
            </a:r>
            <a:endParaRPr sz="1600" b="1" dirty="0">
              <a:solidFill>
                <a:schemeClr val="dk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Ci-Wei Lan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lancw@mail.ntou.edu.tw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Office: ECG802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Hour: Thu. 1300-1500</a:t>
            </a:r>
            <a:endParaRPr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Google Shape;96;p1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A2A3C39-CB35-4A57-8059-2FDF4BFB8308}"/>
              </a:ext>
            </a:extLst>
          </p:cNvPr>
          <p:cNvSpPr txBox="1"/>
          <p:nvPr/>
        </p:nvSpPr>
        <p:spPr>
          <a:xfrm>
            <a:off x="262829" y="3806706"/>
            <a:ext cx="2062771" cy="5539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Survey</a:t>
            </a:r>
          </a:p>
          <a:p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https://pse.is/9ktlbg</a:t>
            </a:r>
            <a:r>
              <a:rPr lang="en-US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E2E10EE-4CC1-4C83-9C1F-DFA0C9360C68}"/>
              </a:ext>
            </a:extLst>
          </p:cNvPr>
          <p:cNvSpPr txBox="1"/>
          <p:nvPr/>
        </p:nvSpPr>
        <p:spPr>
          <a:xfrm>
            <a:off x="3765823" y="1080000"/>
            <a:ext cx="457200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68750"/>
              <a:buFont typeface="Arial"/>
              <a:buNone/>
            </a:pPr>
            <a:r>
              <a:rPr lang="en-US" altLang="zh-TW" sz="1400" b="1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Teaching Assistant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zh-TW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李安喻</a:t>
            </a:r>
          </a:p>
          <a:p>
            <a:pPr marL="457200" lvl="0" indent="-30956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altLang="zh-TW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11457008@mail.ntou.edu.tw</a:t>
            </a:r>
          </a:p>
          <a:p>
            <a:pPr marL="457200" lvl="0" indent="-30956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altLang="zh-TW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Office: ECG 707</a:t>
            </a:r>
          </a:p>
          <a:p>
            <a:pPr marL="457200" lvl="0" indent="-30956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altLang="zh-TW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Hour: Tuesday 16:00-18:00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73333"/>
              <a:buFont typeface="Arial"/>
              <a:buNone/>
            </a:pPr>
            <a:r>
              <a:rPr lang="zh-TW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陳秉新</a:t>
            </a:r>
          </a:p>
          <a:p>
            <a:pPr marL="457200" lvl="0" indent="-30956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altLang="zh-TW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benson711124@gmail.com</a:t>
            </a:r>
          </a:p>
          <a:p>
            <a:pPr marL="457200" lvl="0" indent="-30956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altLang="zh-TW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Office: ECG810</a:t>
            </a:r>
          </a:p>
          <a:p>
            <a:pPr marL="457200" lvl="0" indent="-30956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altLang="zh-TW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Hour: Monday 13:00–15:00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955</Words>
  <Application>Microsoft Office PowerPoint</Application>
  <PresentationFormat>如螢幕大小 (16:9)</PresentationFormat>
  <Paragraphs>153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Noto Serif TC</vt:lpstr>
      <vt:lpstr>Calibri</vt:lpstr>
      <vt:lpstr>Wingdings</vt:lpstr>
      <vt:lpstr>Raleway</vt:lpstr>
      <vt:lpstr>Source Sans Pro</vt:lpstr>
      <vt:lpstr>Arial</vt:lpstr>
      <vt:lpstr>Plum</vt:lpstr>
      <vt:lpstr>Web Programming - 2026 Fall</vt:lpstr>
      <vt:lpstr>Course Objectives</vt:lpstr>
      <vt:lpstr>Reference Resources and Books</vt:lpstr>
      <vt:lpstr>Weekly Schedule</vt:lpstr>
      <vt:lpstr>Evaluation</vt:lpstr>
      <vt:lpstr>Submission &amp; Evaluation Rules</vt:lpstr>
      <vt:lpstr>Exercise and Assignment Submissions</vt:lpstr>
      <vt:lpstr>Final Project Submission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Programming - 2026 Fall</dc:title>
  <dc:creator>LanCi-Wei</dc:creator>
  <cp:lastModifiedBy>LanCi-Wei</cp:lastModifiedBy>
  <cp:revision>15</cp:revision>
  <dcterms:modified xsi:type="dcterms:W3CDTF">2026-09-21T10:42:00Z</dcterms:modified>
</cp:coreProperties>
</file>