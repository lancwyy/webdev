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5143500" type="screen16x9"/>
  <p:notesSz cx="6858000" cy="9144000"/>
  <p:embeddedFontLst>
    <p:embeddedFont>
      <p:font typeface="Raleway" pitchFamily="2" charset="0"/>
      <p:regular r:id="rId37"/>
      <p:bold r:id="rId38"/>
      <p:italic r:id="rId39"/>
      <p:boldItalic r:id="rId40"/>
    </p:embeddedFont>
    <p:embeddedFont>
      <p:font typeface="Roboto Mono" panose="02020500000000000000" charset="0"/>
      <p:regular r:id="rId41"/>
      <p:bold r:id="rId42"/>
      <p:italic r:id="rId43"/>
      <p:boldItalic r:id="rId44"/>
    </p:embeddedFont>
    <p:embeddedFont>
      <p:font typeface="Source Sans Pro" panose="020B0503030403020204" pitchFamily="34" charset="0"/>
      <p:regular r:id="rId45"/>
      <p:bold r:id="rId46"/>
      <p:italic r:id="rId47"/>
      <p:bold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1C41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ED262DC-3FCE-446A-9660-F0AB1E4DAE9F}">
  <a:tblStyle styleId="{4ED262DC-3FCE-446A-9660-F0AB1E4DAE9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14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80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c6f9544c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c6f9544c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c6f9544c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c6f9544c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6b237c89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f6b237c89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99220c3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99220c3f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6a7f12fae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f6a7f12fae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6a7f12fae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f6a7f12fae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69beffd9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f69beffd9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6a7f12fae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f6a7f12fae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6a7f12fae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f6a7f12fae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6a7f12fae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f6a7f12fae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6a7f12fae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f6a7f12fae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6a7f12fae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6a7f12fae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6a7f12fae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f6a7f12fae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6a7f12fae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f6a7f12fae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6a7f12fae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f6a7f12fae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6a7f12fae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f6a7f12fae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6a7f12fae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f6a7f12fae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6a7f12fae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f6a7f12fae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6abdc03b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f6abdc03b9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6abdc03b9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f6abdc03b9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6abdc03b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f6abdc03b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6abdc03b9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f6abdc03b9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f6abdc03b9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f6abdc03b9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6abdc03b9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f6abdc03b9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6abdc03b9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f6abdc03b9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f6abdc03b9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f6abdc03b9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f6abdc03b9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f6abdc03b9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f6abdc03b9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f6abdc03b9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f6abdc03b9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f6abdc03b9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f6abdc03b9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f6abdc03b9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6abdc03b9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f6abdc03b9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f6abdc03b9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f6abdc03b9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f6abdc03b9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f6abdc03b9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f6abdc03b9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f6abdc03b9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85875" y="264475"/>
            <a:ext cx="8183700" cy="128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85875" y="1595275"/>
            <a:ext cx="8183700" cy="100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" name="Google Shape;13;p2" title="Gemini_Generated_Image_r9brlcr9brlcr9b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0672" y="2684196"/>
            <a:ext cx="8680715" cy="2271762"/>
          </a:xfrm>
          <a:prstGeom prst="rect">
            <a:avLst/>
          </a:prstGeom>
          <a:solidFill>
            <a:srgbClr val="CFE2F3"/>
          </a:solidFill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CFE2F3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  <a:defRPr>
                <a:solidFill>
                  <a:srgbClr val="434343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title" hasCustomPrompt="1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>
            <a:spLocks noGrp="1"/>
          </p:cNvSpPr>
          <p:nvPr>
            <p:ph type="body" idx="1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  <a:defRPr>
                <a:solidFill>
                  <a:srgbClr val="434343"/>
                </a:solidFill>
              </a:defRPr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lu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Source Sans Pro"/>
              <a:buChar char="●"/>
              <a:defRPr sz="1800">
                <a:solidFill>
                  <a:srgbClr val="43434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Source Sans Pro"/>
              <a:buChar char="○"/>
              <a:defRPr>
                <a:solidFill>
                  <a:srgbClr val="43434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Source Sans Pro"/>
              <a:buChar char="■"/>
              <a:defRPr>
                <a:solidFill>
                  <a:srgbClr val="43434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Source Sans Pro"/>
              <a:buChar char="●"/>
              <a:defRPr>
                <a:solidFill>
                  <a:srgbClr val="43434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Source Sans Pro"/>
              <a:buChar char="○"/>
              <a:defRPr>
                <a:solidFill>
                  <a:srgbClr val="43434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Source Sans Pro"/>
              <a:buChar char="■"/>
              <a:defRPr>
                <a:solidFill>
                  <a:srgbClr val="43434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Source Sans Pro"/>
              <a:buChar char="●"/>
              <a:defRPr>
                <a:solidFill>
                  <a:srgbClr val="43434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Source Sans Pro"/>
              <a:buChar char="○"/>
              <a:defRPr>
                <a:solidFill>
                  <a:srgbClr val="43434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Source Sans Pro"/>
              <a:buChar char="■"/>
              <a:defRPr>
                <a:solidFill>
                  <a:srgbClr val="43434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install/linux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w3schools.com/git/git_install.asp?remote=github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mailto:alice@example.com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docs.github.com/en/authentication/managing-commit-signature-verification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mailto:alice@example.com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docs.github.com/en/authentication/connecting-to-github-with-ssh" TargetMode="External"/><Relationship Id="rId4" Type="http://schemas.openxmlformats.org/officeDocument/2006/relationships/hyperlink" Target="mailto:git@github.com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>
            <a:spLocks noGrp="1"/>
          </p:cNvSpPr>
          <p:nvPr>
            <p:ph type="ctrTitle"/>
          </p:nvPr>
        </p:nvSpPr>
        <p:spPr>
          <a:xfrm>
            <a:off x="485875" y="264475"/>
            <a:ext cx="8183700" cy="128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 and Github</a:t>
            </a:r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1"/>
          </p:nvPr>
        </p:nvSpPr>
        <p:spPr>
          <a:xfrm>
            <a:off x="485875" y="1595275"/>
            <a:ext cx="8183700" cy="100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Ci-Wei Lan 藍啟維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Dept. of CSE, NTOU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Version Control System</a:t>
            </a:r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Version Control System (VCS) is a tool that helps developers track, manage, and collaborate on changes to code or files.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Modification are recorded as a snapshot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Allowing teams to work together without overwriting each other’s work and to roll back to earlier versions when needed.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Local VCS: Stores versions on a single computer.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Simple, but not suitable for collaboration.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Centralized VCS: All files and history on a central server.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Easy to manage, but server downtime halts work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SVN (Apache Subversion), CVS (Concurrent Versions System) etc.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Distributed VCS: Each developer has a full copy of the repo.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Flexible, supports offline work; Git is the most popular example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Git, Mercurial, Bazaar etc.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 and Github Overview</a:t>
            </a:r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Git is a free and open source distributed version control system designed to handle everything from small to very large projects with speed and efficiency.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Git was created by Linus Torvalds in 2005 for Linux kernel changes management.</a:t>
            </a:r>
            <a:endParaRPr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Distributed version control</a:t>
            </a:r>
            <a:endParaRPr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Coordinates work between multiple developers</a:t>
            </a:r>
            <a:endParaRPr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Who made what changes and when</a:t>
            </a:r>
            <a:endParaRPr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Revert back at any time</a:t>
            </a:r>
            <a:endParaRPr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Local &amp; remote repos.</a:t>
            </a:r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800"/>
              <a:t>GitHub is a cloud-based platform built on Git that supports the entire software development lifecycle—from planning and coding to testing, deployment, and collaboration.</a:t>
            </a:r>
            <a:endParaRPr sz="1800"/>
          </a:p>
          <a:p>
            <a:pPr marL="914400" lvl="1" indent="-304165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400"/>
              <a:t>Repositories: Central units where code and project files are stored.</a:t>
            </a:r>
            <a:endParaRPr sz="1400"/>
          </a:p>
          <a:p>
            <a:pPr marL="914400" lvl="1" indent="-304165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400"/>
              <a:t>Collaboration Tools: Issues, pull requests, discussions, and project boards.</a:t>
            </a:r>
            <a:endParaRPr sz="1400"/>
          </a:p>
          <a:p>
            <a:pPr marL="914400" lvl="1" indent="-304165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400"/>
              <a:t>CI/CD Automation: GitHub Actions enables automated testing, builds, and deployments.</a:t>
            </a:r>
            <a:endParaRPr sz="1400"/>
          </a:p>
          <a:p>
            <a:pPr marL="914400" lvl="1" indent="-304165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400"/>
              <a:t>Security: Dependency scanning, vulnerability alerts, and code review tools.</a:t>
            </a:r>
            <a:endParaRPr sz="1400"/>
          </a:p>
          <a:p>
            <a:pPr marL="914400" lvl="1" indent="-304165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400"/>
              <a:t>Community: Millions of developers contribute to open-source projects, making GitHub the largest collaborative coding hub.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/>
          <p:nvPr/>
        </p:nvSpPr>
        <p:spPr>
          <a:xfrm>
            <a:off x="96375" y="1253025"/>
            <a:ext cx="3689100" cy="38115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Source Sans Pro"/>
                <a:ea typeface="Source Sans Pro"/>
                <a:cs typeface="Source Sans Pro"/>
                <a:sym typeface="Source Sans Pro"/>
              </a:rPr>
              <a:t>Local Machine</a:t>
            </a:r>
            <a:endParaRPr b="1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8" name="Google Shape;78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Typical Git Workflow</a:t>
            </a:r>
            <a:endParaRPr/>
          </a:p>
        </p:txBody>
      </p:sp>
      <p:sp>
        <p:nvSpPr>
          <p:cNvPr id="79" name="Google Shape;79;p16"/>
          <p:cNvSpPr/>
          <p:nvPr/>
        </p:nvSpPr>
        <p:spPr>
          <a:xfrm>
            <a:off x="1574300" y="1380225"/>
            <a:ext cx="1904400" cy="8505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3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8500" tIns="118500" rIns="118500" bIns="1185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Working Directory</a:t>
            </a:r>
            <a:endParaRPr b="1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Files</a:t>
            </a:r>
            <a:endParaRPr i="1"/>
          </a:p>
        </p:txBody>
      </p:sp>
      <p:sp>
        <p:nvSpPr>
          <p:cNvPr id="80" name="Google Shape;80;p16"/>
          <p:cNvSpPr/>
          <p:nvPr/>
        </p:nvSpPr>
        <p:spPr>
          <a:xfrm>
            <a:off x="1574301" y="2571750"/>
            <a:ext cx="1904400" cy="8505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3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8500" tIns="118500" rIns="118500" bIns="1185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15" b="1"/>
              <a:t>Staging Area</a:t>
            </a:r>
            <a:endParaRPr sz="1415" b="1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15" i="1"/>
              <a:t>Index</a:t>
            </a:r>
            <a:endParaRPr sz="1415" i="1"/>
          </a:p>
        </p:txBody>
      </p:sp>
      <p:sp>
        <p:nvSpPr>
          <p:cNvPr id="81" name="Google Shape;81;p16"/>
          <p:cNvSpPr/>
          <p:nvPr/>
        </p:nvSpPr>
        <p:spPr>
          <a:xfrm>
            <a:off x="1574300" y="3763275"/>
            <a:ext cx="1904400" cy="8505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3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8500" tIns="118500" rIns="118500" bIns="1185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Local Repository</a:t>
            </a:r>
            <a:endParaRPr b="1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Local History</a:t>
            </a:r>
            <a:endParaRPr i="1"/>
          </a:p>
        </p:txBody>
      </p:sp>
      <p:sp>
        <p:nvSpPr>
          <p:cNvPr id="82" name="Google Shape;82;p16"/>
          <p:cNvSpPr/>
          <p:nvPr/>
        </p:nvSpPr>
        <p:spPr>
          <a:xfrm>
            <a:off x="5020825" y="2159775"/>
            <a:ext cx="2865348" cy="1792476"/>
          </a:xfrm>
          <a:prstGeom prst="cloud">
            <a:avLst/>
          </a:prstGeom>
          <a:solidFill>
            <a:srgbClr val="C9DAF8"/>
          </a:solidFill>
          <a:ln w="123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8500" tIns="118500" rIns="118500" bIns="1185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Remote Repository</a:t>
            </a:r>
            <a:endParaRPr b="1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Remote Files</a:t>
            </a:r>
            <a:endParaRPr i="1"/>
          </a:p>
        </p:txBody>
      </p:sp>
      <p:sp>
        <p:nvSpPr>
          <p:cNvPr id="83" name="Google Shape;83;p16"/>
          <p:cNvSpPr/>
          <p:nvPr/>
        </p:nvSpPr>
        <p:spPr>
          <a:xfrm rot="-5398610" flipH="1">
            <a:off x="951960" y="2165200"/>
            <a:ext cx="742200" cy="530100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E69138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4" name="Google Shape;84;p16"/>
          <p:cNvSpPr/>
          <p:nvPr/>
        </p:nvSpPr>
        <p:spPr>
          <a:xfrm rot="-5398610" flipH="1">
            <a:off x="951960" y="3404125"/>
            <a:ext cx="742200" cy="530100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E69138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311700" y="2230150"/>
            <a:ext cx="741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2"/>
                </a:solidFill>
              </a:rPr>
              <a:t>`add`</a:t>
            </a:r>
            <a:endParaRPr/>
          </a:p>
        </p:txBody>
      </p:sp>
      <p:sp>
        <p:nvSpPr>
          <p:cNvPr id="86" name="Google Shape;86;p16"/>
          <p:cNvSpPr txBox="1"/>
          <p:nvPr/>
        </p:nvSpPr>
        <p:spPr>
          <a:xfrm>
            <a:off x="78850" y="3469075"/>
            <a:ext cx="974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2"/>
                </a:solidFill>
              </a:rPr>
              <a:t>`commit`</a:t>
            </a:r>
            <a:endParaRPr/>
          </a:p>
        </p:txBody>
      </p:sp>
      <p:sp>
        <p:nvSpPr>
          <p:cNvPr id="87" name="Google Shape;87;p16"/>
          <p:cNvSpPr/>
          <p:nvPr/>
        </p:nvSpPr>
        <p:spPr>
          <a:xfrm rot="-1428374">
            <a:off x="3474103" y="3302174"/>
            <a:ext cx="1586048" cy="39449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3826563" y="2998886"/>
            <a:ext cx="741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2"/>
                </a:solidFill>
              </a:rPr>
              <a:t>`push`</a:t>
            </a:r>
            <a:endParaRPr/>
          </a:p>
        </p:txBody>
      </p:sp>
      <p:sp>
        <p:nvSpPr>
          <p:cNvPr id="89" name="Google Shape;89;p16"/>
          <p:cNvSpPr/>
          <p:nvPr/>
        </p:nvSpPr>
        <p:spPr>
          <a:xfrm rot="9353866">
            <a:off x="3503825" y="3713145"/>
            <a:ext cx="1586077" cy="39467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3434925" y="4127487"/>
            <a:ext cx="15246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2"/>
                </a:solidFill>
              </a:rPr>
              <a:t>`pull`</a:t>
            </a:r>
            <a:endParaRPr b="1">
              <a:solidFill>
                <a:schemeClr val="dk2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2"/>
                </a:solidFill>
              </a:rPr>
              <a:t>(fetch &amp; merge)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4608950" y="1253025"/>
            <a:ext cx="3689100" cy="38115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Source Sans Pro"/>
                <a:ea typeface="Source Sans Pro"/>
                <a:cs typeface="Source Sans Pro"/>
                <a:sym typeface="Source Sans Pro"/>
              </a:rPr>
              <a:t>Authorized Repository in Github</a:t>
            </a:r>
            <a:endParaRPr b="1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6" name="Google Shape;96;p17"/>
          <p:cNvGraphicFramePr/>
          <p:nvPr/>
        </p:nvGraphicFramePr>
        <p:xfrm>
          <a:off x="5190625" y="493500"/>
          <a:ext cx="3821825" cy="4315110"/>
        </p:xfrm>
        <a:graphic>
          <a:graphicData uri="http://schemas.openxmlformats.org/drawingml/2006/table">
            <a:tbl>
              <a:tblPr>
                <a:noFill/>
                <a:tableStyleId>{4ED262DC-3FCE-446A-9660-F0AB1E4DAE9F}</a:tableStyleId>
              </a:tblPr>
              <a:tblGrid>
                <a:gridCol w="89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0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33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Merge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Rebase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5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Purpose</a:t>
                      </a:r>
                      <a:endParaRPr sz="10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Combine two branch histories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Move/replay a branch onto a new base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45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History</a:t>
                      </a:r>
                      <a:endParaRPr sz="10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Preserves the original branching history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Creates a </a:t>
                      </a:r>
                      <a:r>
                        <a:rPr lang="en" sz="1000" b="1"/>
                        <a:t>linear history</a:t>
                      </a:r>
                      <a:endParaRPr sz="10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39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Commit IDs</a:t>
                      </a:r>
                      <a:endParaRPr sz="10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Existing commits are preserved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Rebasing creates </a:t>
                      </a:r>
                      <a:r>
                        <a:rPr lang="en" sz="1000" b="1"/>
                        <a:t>new commit IDs</a:t>
                      </a:r>
                      <a:endParaRPr sz="10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39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Graph</a:t>
                      </a:r>
                      <a:endParaRPr sz="10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Often has a merge commit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No merge commit in the typical case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39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Best for</a:t>
                      </a:r>
                      <a:endParaRPr sz="10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Shared/public branches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Local/private feature branches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39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Risk</a:t>
                      </a:r>
                      <a:endParaRPr sz="10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Low; non-destructive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Higher; rewrites history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39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Typical command</a:t>
                      </a:r>
                      <a:endParaRPr sz="10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git merge feature</a:t>
                      </a:r>
                      <a:endParaRPr sz="1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git rebase main</a:t>
                      </a:r>
                      <a:endParaRPr sz="1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7" name="Google Shape;97;p17"/>
          <p:cNvSpPr txBox="1"/>
          <p:nvPr/>
        </p:nvSpPr>
        <p:spPr>
          <a:xfrm>
            <a:off x="40500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000">
                <a:solidFill>
                  <a:srgbClr val="43434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Source: AI Generated, OpenAI Chatgpt, 2026.</a:t>
            </a:r>
            <a:endParaRPr sz="1000"/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EECB584A-6279-44C4-8EFE-70B778C10C2F}"/>
              </a:ext>
            </a:extLst>
          </p:cNvPr>
          <p:cNvGrpSpPr/>
          <p:nvPr/>
        </p:nvGrpSpPr>
        <p:grpSpPr>
          <a:xfrm>
            <a:off x="145800" y="89850"/>
            <a:ext cx="4963799" cy="4963799"/>
            <a:chOff x="145800" y="89850"/>
            <a:chExt cx="4963799" cy="4963799"/>
          </a:xfrm>
        </p:grpSpPr>
        <p:grpSp>
          <p:nvGrpSpPr>
            <p:cNvPr id="98" name="Google Shape;98;p17"/>
            <p:cNvGrpSpPr/>
            <p:nvPr/>
          </p:nvGrpSpPr>
          <p:grpSpPr>
            <a:xfrm>
              <a:off x="145800" y="89850"/>
              <a:ext cx="4963799" cy="4963799"/>
              <a:chOff x="145800" y="89850"/>
              <a:chExt cx="4963799" cy="4963799"/>
            </a:xfrm>
          </p:grpSpPr>
          <p:pic>
            <p:nvPicPr>
              <p:cNvPr id="99" name="Google Shape;99;p17" title="ChatGPT Image 2026年8月9日 下午02_25_09.png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45800" y="89850"/>
                <a:ext cx="4963799" cy="496379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00" name="Google Shape;100;p17"/>
              <p:cNvCxnSpPr/>
              <p:nvPr/>
            </p:nvCxnSpPr>
            <p:spPr>
              <a:xfrm rot="5400000">
                <a:off x="4090500" y="3061800"/>
                <a:ext cx="226800" cy="2106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3" name="直線接點 2">
              <a:extLst>
                <a:ext uri="{FF2B5EF4-FFF2-40B4-BE49-F238E27FC236}">
                  <a16:creationId xmlns:a16="http://schemas.microsoft.com/office/drawing/2014/main" id="{803FACB3-1DBD-4CB5-A555-0CC9CA0B81D6}"/>
                </a:ext>
              </a:extLst>
            </p:cNvPr>
            <p:cNvCxnSpPr/>
            <p:nvPr/>
          </p:nvCxnSpPr>
          <p:spPr>
            <a:xfrm>
              <a:off x="2388020" y="4284833"/>
              <a:ext cx="324952" cy="219154"/>
            </a:xfrm>
            <a:prstGeom prst="line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77CED35F-0196-491F-A1C9-ECE271132E17}"/>
                </a:ext>
              </a:extLst>
            </p:cNvPr>
            <p:cNvSpPr/>
            <p:nvPr/>
          </p:nvSpPr>
          <p:spPr>
            <a:xfrm>
              <a:off x="2669307" y="4243269"/>
              <a:ext cx="249382" cy="215376"/>
            </a:xfrm>
            <a:prstGeom prst="rect">
              <a:avLst/>
            </a:prstGeom>
            <a:solidFill>
              <a:srgbClr val="0F1C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8" title="ChatGPT Image 2026年8月9日 下午02_24_56.png"/>
          <p:cNvPicPr preferRelativeResize="0"/>
          <p:nvPr/>
        </p:nvPicPr>
        <p:blipFill rotWithShape="1">
          <a:blip r:embed="rId3">
            <a:alphaModFix/>
          </a:blip>
          <a:srcRect b="31810"/>
          <a:stretch/>
        </p:blipFill>
        <p:spPr>
          <a:xfrm>
            <a:off x="2425" y="510300"/>
            <a:ext cx="9139152" cy="350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8"/>
          <p:cNvSpPr txBox="1"/>
          <p:nvPr/>
        </p:nvSpPr>
        <p:spPr>
          <a:xfrm>
            <a:off x="113400" y="40176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000">
                <a:solidFill>
                  <a:srgbClr val="43434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Source: AI Generated, OpenAI Chatgpt, 2026.</a:t>
            </a:r>
            <a:endParaRPr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Concepts with Git</a:t>
            </a:r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Repository: A folder where Git tracks your project and its history.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Clone: Make a copy of a remote repository on your computer.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Stage: Tell Git which changes you want to save next.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Commit: Save a snapshot of your staged changes.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Branch: Work on different versions or features at the same time.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Merge: Combine changes from different branches.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Pull: Get the latest changes from a remote repository.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Push: Send your changes to a remote repository.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>
            <a:spLocks noGrp="1"/>
          </p:cNvSpPr>
          <p:nvPr>
            <p:ph type="title"/>
          </p:nvPr>
        </p:nvSpPr>
        <p:spPr>
          <a:xfrm>
            <a:off x="485875" y="1077775"/>
            <a:ext cx="8183700" cy="142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Independent Development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Student: Alice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Project: todo-web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Goal: Build a Node.js web application and eventually release version 1.0.0.</a:t>
            </a:r>
            <a:endParaRPr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Install Git</a:t>
            </a:r>
            <a:endParaRPr/>
          </a:p>
        </p:txBody>
      </p:sp>
      <p:sp>
        <p:nvSpPr>
          <p:cNvPr id="123" name="Google Shape;123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Windows: Download and run the installer.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Click "Next" to accept the recommended settings.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will install Git and Git Bash.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macOS: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you use Homebrew, open Terminal and type brew install git.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Or, download the .dmg file and drag Git to your Applications folder.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Linux: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Open your terminal and use your package manager.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example, on Ubuntu: sudo apt-get install git.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References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https://git-scm.com/install/linux</a:t>
            </a:r>
            <a:r>
              <a:rPr lang="en"/>
              <a:t>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https://www.w3schools.com/git/git_install.asp?remote=github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Configure Git identity</a:t>
            </a:r>
            <a:endParaRPr/>
          </a:p>
        </p:txBody>
      </p:sp>
      <p:sp>
        <p:nvSpPr>
          <p:cNvPr id="129" name="Google Shape;129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Set the identity that will be recorded in commits: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git config --global user.name "Alice"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git config --global user.email "</a:t>
            </a:r>
            <a:r>
              <a:rPr lang="en" u="sng" dirty="0">
                <a:solidFill>
                  <a:schemeClr val="hlink"/>
                </a:solidFill>
                <a:hlinkClick r:id="rId3"/>
              </a:rPr>
              <a:t>alice@example.com</a:t>
            </a:r>
            <a:r>
              <a:rPr lang="en" dirty="0"/>
              <a:t>"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Check: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git config --global --list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A commit will then contain information such as: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Author: Alice &lt;</a:t>
            </a:r>
            <a:r>
              <a:rPr lang="en" u="sng" dirty="0">
                <a:solidFill>
                  <a:schemeClr val="hlink"/>
                </a:solidFill>
                <a:hlinkClick r:id="rId3"/>
              </a:rPr>
              <a:t>alice@example.com</a:t>
            </a:r>
            <a:r>
              <a:rPr lang="en" dirty="0"/>
              <a:t>&gt;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This is commit identity, not GitHub authentication.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Local configuration is also applicable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Identity can be verified by GPG key setup.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 dirty="0">
                <a:solidFill>
                  <a:schemeClr val="hlink"/>
                </a:solidFill>
                <a:hlinkClick r:id="rId4"/>
              </a:rPr>
              <a:t>https://docs.github.com/en/authentication/managing-commit-signature-verification</a:t>
            </a:r>
            <a:r>
              <a:rPr lang="en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Create a GitHub account</a:t>
            </a:r>
            <a:endParaRPr/>
          </a:p>
        </p:txBody>
      </p:sp>
      <p:sp>
        <p:nvSpPr>
          <p:cNvPr id="135" name="Google Shape;135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Alice creates a GitHub account and signs in.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</a:t>
            </a:r>
            <a:r>
              <a:rPr lang="en"/>
              <a:t>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Then she creates an empty repository: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Repository name: todo-web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Visibility: Public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repository is empty.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Configure authentication (SSH Based)</a:t>
            </a:r>
            <a:endParaRPr/>
          </a:p>
        </p:txBody>
      </p:sp>
      <p:sp>
        <p:nvSpPr>
          <p:cNvPr id="141" name="Google Shape;141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Generate an SSH key (in Alice’s local computer):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ssh-keygen -t ed25519 -C "</a:t>
            </a:r>
            <a:r>
              <a:rPr lang="en" u="sng" dirty="0">
                <a:solidFill>
                  <a:schemeClr val="hlink"/>
                </a:solidFill>
                <a:hlinkClick r:id="rId3"/>
              </a:rPr>
              <a:t>alice@example.com</a:t>
            </a:r>
            <a:r>
              <a:rPr lang="en" dirty="0"/>
              <a:t>"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Then start the SSH agent and add the private key: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eval "$(ssh-agent -s)"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ssh-add ~/.ssh/id_ed25519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The public key is typically located at ~/.ssh/id_ed25519.pub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Copy the public key</a:t>
            </a:r>
          </a:p>
          <a:p>
            <a:pPr lvl="1">
              <a:spcBef>
                <a:spcPts val="0"/>
              </a:spcBef>
            </a:pPr>
            <a:r>
              <a:rPr lang="en-US" altLang="zh-TW" dirty="0"/>
              <a:t>C</a:t>
            </a:r>
            <a:r>
              <a:rPr lang="en" altLang="zh-TW" dirty="0"/>
              <a:t>at </a:t>
            </a:r>
            <a:r>
              <a:rPr lang="en-US" altLang="zh-TW" dirty="0"/>
              <a:t>~/.</a:t>
            </a:r>
            <a:r>
              <a:rPr lang="en-US" altLang="zh-TW" dirty="0" err="1"/>
              <a:t>ssh</a:t>
            </a:r>
            <a:r>
              <a:rPr lang="en-US" altLang="zh-TW" dirty="0"/>
              <a:t>/id_ed25519.pub</a:t>
            </a:r>
            <a:endParaRPr lang="en" altLang="zh-TW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Add the public key to Github: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GitHub → Settings → SSH and GPG keys → New SSH key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Test: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ssh -T </a:t>
            </a:r>
            <a:r>
              <a:rPr lang="en" u="sng" dirty="0">
                <a:solidFill>
                  <a:schemeClr val="hlink"/>
                </a:solidFill>
                <a:hlinkClick r:id="rId4"/>
              </a:rPr>
              <a:t>git@github.com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Reference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 dirty="0">
                <a:solidFill>
                  <a:schemeClr val="hlink"/>
                </a:solidFill>
                <a:hlinkClick r:id="rId5"/>
              </a:rPr>
              <a:t>https://docs.github.com/en/authentication/connecting-to-github-with-ssh</a:t>
            </a:r>
            <a:r>
              <a:rPr lang="en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Create the local project</a:t>
            </a:r>
            <a:endParaRPr/>
          </a:p>
        </p:txBody>
      </p:sp>
      <p:sp>
        <p:nvSpPr>
          <p:cNvPr id="147" name="Google Shape;147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Alice creates the project:</a:t>
            </a:r>
            <a:endParaRPr sz="17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mkdir todo-web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cd todo-web</a:t>
            </a:r>
            <a:endParaRPr sz="15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Initialize Git:</a:t>
            </a:r>
            <a:endParaRPr sz="17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git init</a:t>
            </a:r>
            <a:endParaRPr sz="15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Project folder structure looks like:</a:t>
            </a:r>
            <a:endParaRPr sz="17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todo-web/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└── .git/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.git/ is the Git repository.</a:t>
            </a:r>
            <a:endParaRPr sz="15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Create .gitignore to exclude files for tracking</a:t>
            </a:r>
            <a:endParaRPr sz="1700"/>
          </a:p>
        </p:txBody>
      </p:sp>
      <p:sp>
        <p:nvSpPr>
          <p:cNvPr id="148" name="Google Shape;148;p2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Environment &amp; Sensitive Data</a:t>
            </a:r>
            <a:endParaRPr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.env, .env.local, .env.*.local, *.pem, *.key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Dependency Directories</a:t>
            </a:r>
            <a:endParaRPr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# JavaScript / Node.js: node_modules/, npm-debug.log*</a:t>
            </a:r>
            <a:endParaRPr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# Python: venv/, .venv/, __pycache__/, *.pyc</a:t>
            </a:r>
            <a:endParaRPr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# Java / Maven / Gradle: .gradle/, target/</a:t>
            </a:r>
            <a:endParaRPr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# PHP / Composer: vendor/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Build &amp; Output Directories</a:t>
            </a:r>
            <a:endParaRPr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# General build outputs: dist/, build/, out/, *.o, *.exe, *.dll, *.so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Operating System Files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IDE &amp; Editor Configurations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Logs &amp; Databases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6. Create the first commit</a:t>
            </a:r>
            <a:endParaRPr/>
          </a:p>
        </p:txBody>
      </p:sp>
      <p:sp>
        <p:nvSpPr>
          <p:cNvPr id="154" name="Google Shape;154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Alice finish some works with certain files.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Check:</a:t>
            </a:r>
            <a:endParaRPr sz="17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git status</a:t>
            </a:r>
            <a:endParaRPr sz="15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She sees untracked files:</a:t>
            </a:r>
            <a:endParaRPr sz="1700"/>
          </a:p>
          <a:p>
            <a:pPr marL="1371600" lvl="2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 sz="1500"/>
              <a:t>Index.html</a:t>
            </a:r>
            <a:endParaRPr sz="1500"/>
          </a:p>
          <a:p>
            <a:pPr marL="1371600" lvl="2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 sz="1500"/>
              <a:t>package.json</a:t>
            </a:r>
            <a:endParaRPr sz="15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Add them (Staging):</a:t>
            </a:r>
            <a:endParaRPr sz="17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git add .</a:t>
            </a:r>
            <a:endParaRPr sz="15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Then:</a:t>
            </a:r>
            <a:endParaRPr sz="17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git commit -m "Initial project setup"</a:t>
            </a:r>
            <a:endParaRPr sz="1500"/>
          </a:p>
        </p:txBody>
      </p:sp>
      <p:sp>
        <p:nvSpPr>
          <p:cNvPr id="155" name="Google Shape;155;p2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Now Git history is a single commit of “Initial project setup”.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Check commit history:</a:t>
            </a:r>
            <a:endParaRPr sz="180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git log --oneline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 Connect local Git to GitHub</a:t>
            </a:r>
            <a:endParaRPr/>
          </a:p>
        </p:txBody>
      </p:sp>
      <p:sp>
        <p:nvSpPr>
          <p:cNvPr id="161" name="Google Shape;161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Add the GitHub repository as a remote: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git remote add origin git@github.com:alice/todo-web.git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Check: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git remote -v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Conceptually: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Local Repository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100"/>
              <a:t>  </a:t>
            </a:r>
            <a:r>
              <a:rPr lang="en" sz="1200"/>
              <a:t>  </a:t>
            </a:r>
            <a:r>
              <a:rPr lang="en"/>
              <a:t>   │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      ▼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GitHub Repository (origin as an alias of todo-web Repo)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8. Push the first version</a:t>
            </a:r>
            <a:endParaRPr/>
          </a:p>
        </p:txBody>
      </p:sp>
      <p:sp>
        <p:nvSpPr>
          <p:cNvPr id="167" name="Google Shape;16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300"/>
              <a:buAutoNum type="arabicPeriod"/>
            </a:pPr>
            <a:r>
              <a:rPr lang="en" sz="1600" dirty="0"/>
              <a:t>Rename the main branch if necessary:</a:t>
            </a:r>
            <a:endParaRPr sz="1600" dirty="0"/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dirty="0"/>
              <a:t>git branch -M main</a:t>
            </a:r>
            <a:endParaRPr dirty="0"/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" sz="1600" dirty="0"/>
              <a:t>Push:</a:t>
            </a:r>
            <a:endParaRPr sz="1600" dirty="0"/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dirty="0"/>
              <a:t>git push -u origin main </a:t>
            </a:r>
            <a:endParaRPr dirty="0"/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dirty="0"/>
              <a:t>Now:</a:t>
            </a:r>
            <a:endParaRPr dirty="0"/>
          </a:p>
          <a:p>
            <a:pPr marL="1371600" lvl="2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</a:pPr>
            <a:r>
              <a:rPr lang="en" dirty="0"/>
              <a:t>   Local		             GitHub</a:t>
            </a:r>
            <a:endParaRPr dirty="0"/>
          </a:p>
          <a:p>
            <a:pPr marL="1371600" lvl="2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</a:pPr>
            <a:r>
              <a:rPr lang="en" dirty="0"/>
              <a:t>Commit_A  ────────────── Commit_A</a:t>
            </a:r>
            <a:endParaRPr dirty="0"/>
          </a:p>
          <a:p>
            <a:pPr marL="1371600" lvl="2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</a:pPr>
            <a:r>
              <a:rPr lang="en" dirty="0"/>
              <a:t>    main                        		           origin/main</a:t>
            </a:r>
            <a:endParaRPr dirty="0"/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dirty="0"/>
              <a:t>The -u establishes the upstream relationship.</a:t>
            </a:r>
            <a:endParaRPr dirty="0"/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" sz="1600" dirty="0"/>
              <a:t>After this, Alice can generally use `git push` instead of specifying `git push origin main`</a:t>
            </a:r>
            <a:endParaRPr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9. Start more developments</a:t>
            </a:r>
            <a:endParaRPr/>
          </a:p>
        </p:txBody>
      </p:sp>
      <p:sp>
        <p:nvSpPr>
          <p:cNvPr id="173" name="Google Shape;173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Alice shouldn't necessarily develop everything directly on </a:t>
            </a:r>
            <a:r>
              <a:rPr lang="en" sz="16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main</a:t>
            </a:r>
            <a:r>
              <a:rPr lang="en" sz="16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6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AutoNum type="arabicPeriod"/>
            </a:pPr>
            <a:r>
              <a:rPr lang="en" sz="16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Create a feature branch:</a:t>
            </a:r>
            <a:endParaRPr sz="16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○"/>
            </a:pPr>
            <a:r>
              <a:rPr lang="en" sz="16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git switch -c feature/login</a:t>
            </a:r>
            <a:endParaRPr sz="16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AutoNum type="arabicPeriod"/>
            </a:pPr>
            <a:r>
              <a:rPr lang="en" sz="16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Now:</a:t>
            </a:r>
            <a:endParaRPr sz="16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○"/>
            </a:pPr>
            <a:r>
              <a:rPr lang="en" sz="16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main──A──B──C</a:t>
            </a:r>
            <a:endParaRPr sz="16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○"/>
            </a:pPr>
            <a:r>
              <a:rPr lang="en" sz="16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          	             \</a:t>
            </a:r>
            <a:endParaRPr sz="16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○"/>
            </a:pPr>
            <a:r>
              <a:rPr lang="en" sz="16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	             D──E</a:t>
            </a:r>
            <a:endParaRPr sz="16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○"/>
            </a:pPr>
            <a:r>
              <a:rPr lang="en" sz="16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	             ↑</a:t>
            </a:r>
            <a:endParaRPr sz="16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○"/>
            </a:pPr>
            <a:r>
              <a:rPr lang="en" sz="16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            feature/login</a:t>
            </a:r>
            <a:endParaRPr sz="1700" dirty="0"/>
          </a:p>
        </p:txBody>
      </p:sp>
      <p:sp>
        <p:nvSpPr>
          <p:cNvPr id="174" name="Google Shape;174;p2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AutoNum type="arabicPeriod" startAt="4"/>
            </a:pPr>
            <a:r>
              <a:rPr lang="en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She finishes login implementation.</a:t>
            </a:r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AutoNum type="arabicPeriod" startAt="4"/>
            </a:pPr>
            <a:r>
              <a:rPr lang="en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Then:</a:t>
            </a:r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git add .</a:t>
            </a:r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git commit -m "Add user login"</a:t>
            </a:r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AutoNum type="arabicPeriod" startAt="4"/>
            </a:pPr>
            <a:r>
              <a:rPr lang="en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Push the branch:</a:t>
            </a:r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git push -u origin feature/login</a:t>
            </a:r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AutoNum type="arabicPeriod" startAt="4"/>
            </a:pPr>
            <a:r>
              <a:rPr lang="en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GitHub now contains two branches:</a:t>
            </a:r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feature/login</a:t>
            </a:r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10. Finish the feature</a:t>
            </a:r>
            <a:endParaRPr/>
          </a:p>
        </p:txBody>
      </p:sp>
      <p:sp>
        <p:nvSpPr>
          <p:cNvPr id="180" name="Google Shape;180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55600" algn="l" rtl="0">
              <a:spcBef>
                <a:spcPts val="120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 dirty="0"/>
              <a:t>Because Alice is working alone, she can merge locally:</a:t>
            </a:r>
            <a:endParaRPr sz="2000" dirty="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 dirty="0"/>
              <a:t>git switch main</a:t>
            </a:r>
            <a:endParaRPr sz="1600" dirty="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 dirty="0"/>
              <a:t>git merge feature/login</a:t>
            </a:r>
            <a:endParaRPr sz="16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 dirty="0"/>
              <a:t>History becomes:</a:t>
            </a:r>
            <a:endParaRPr sz="2000" dirty="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 dirty="0"/>
              <a:t>A──B──C──── M</a:t>
            </a:r>
            <a:endParaRPr sz="1600" dirty="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 dirty="0"/>
              <a:t> </a:t>
            </a:r>
            <a:r>
              <a:rPr lang="zh-TW" altLang="en-US" sz="1600" dirty="0"/>
              <a:t>            </a:t>
            </a:r>
            <a:r>
              <a:rPr lang="en" sz="1600" dirty="0"/>
              <a:t>         \             /</a:t>
            </a:r>
            <a:endParaRPr sz="1600" dirty="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 dirty="0"/>
              <a:t> 	D─</a:t>
            </a:r>
            <a:r>
              <a:rPr lang="en" altLang="zh-TW" sz="1600" dirty="0"/>
              <a:t>──</a:t>
            </a:r>
            <a:r>
              <a:rPr lang="en" sz="1600" dirty="0"/>
              <a:t>E</a:t>
            </a:r>
            <a:endParaRPr sz="16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 dirty="0"/>
              <a:t>Then:</a:t>
            </a:r>
            <a:endParaRPr sz="13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600" dirty="0"/>
              <a:t>git push</a:t>
            </a:r>
            <a:endParaRPr sz="16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 dirty="0"/>
              <a:t>The stable main is now updated.</a:t>
            </a:r>
            <a:endParaRPr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11. Release a stable version</a:t>
            </a:r>
            <a:endParaRPr/>
          </a:p>
        </p:txBody>
      </p:sp>
      <p:sp>
        <p:nvSpPr>
          <p:cNvPr id="186" name="Google Shape;186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spcBef>
                <a:spcPts val="1200"/>
              </a:spcBef>
              <a:spcAft>
                <a:spcPts val="0"/>
              </a:spcAft>
              <a:buSzPts val="2300"/>
              <a:buAutoNum type="arabicPeriod"/>
            </a:pPr>
            <a:r>
              <a:rPr lang="en" sz="16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Suppose Alice considers this version stable.</a:t>
            </a:r>
            <a:endParaRPr sz="16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" sz="16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Create a Git tag:</a:t>
            </a:r>
            <a:endParaRPr sz="16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git tag -a v1.0.0 -m "Release version 1.0.0"</a:t>
            </a:r>
            <a:endParaRPr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" sz="16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Push the tag:</a:t>
            </a:r>
            <a:endParaRPr sz="16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git push origin v1.0.0</a:t>
            </a:r>
            <a:endParaRPr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" sz="16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Now the history looks like:</a:t>
            </a:r>
            <a:endParaRPr sz="16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 dirty="0"/>
              <a:t>A──B──C──── M  ← v1.0.0</a:t>
            </a:r>
            <a:endParaRPr sz="1600" dirty="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 dirty="0"/>
              <a:t> </a:t>
            </a:r>
            <a:r>
              <a:rPr lang="zh-TW" altLang="en-US" sz="1600" dirty="0"/>
              <a:t> </a:t>
            </a:r>
            <a:r>
              <a:rPr lang="en" sz="1600" dirty="0"/>
              <a:t> </a:t>
            </a:r>
            <a:r>
              <a:rPr lang="zh-TW" altLang="en-US" sz="1600" dirty="0"/>
              <a:t>          </a:t>
            </a:r>
            <a:r>
              <a:rPr lang="en" sz="1600" dirty="0"/>
              <a:t>         \             /</a:t>
            </a:r>
            <a:endParaRPr sz="1600" dirty="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 dirty="0"/>
              <a:t> 	D─</a:t>
            </a:r>
            <a:r>
              <a:rPr lang="en" altLang="zh-TW" sz="1600" dirty="0"/>
              <a:t>──</a:t>
            </a:r>
            <a:r>
              <a:rPr lang="en" sz="1600" dirty="0"/>
              <a:t>E</a:t>
            </a:r>
            <a:endParaRPr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12. Continue development toward v1.1</a:t>
            </a:r>
            <a:endParaRPr/>
          </a:p>
        </p:txBody>
      </p:sp>
      <p:sp>
        <p:nvSpPr>
          <p:cNvPr id="192" name="Google Shape;192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55600" algn="l" rtl="0">
              <a:spcBef>
                <a:spcPts val="120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Alice starts another feature:</a:t>
            </a:r>
            <a:endParaRPr sz="20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git switch -c feature/dark-mode</a:t>
            </a:r>
            <a:endParaRPr sz="18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Develop:</a:t>
            </a:r>
            <a:endParaRPr sz="20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git add .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git commit -m "Add dark mode"</a:t>
            </a:r>
            <a:endParaRPr sz="18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Push:</a:t>
            </a:r>
            <a:endParaRPr sz="20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git push -u origin feature/dark-mode</a:t>
            </a:r>
            <a:endParaRPr sz="1800"/>
          </a:p>
        </p:txBody>
      </p:sp>
      <p:sp>
        <p:nvSpPr>
          <p:cNvPr id="193" name="Google Shape;193;p3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1200"/>
              </a:spcBef>
              <a:spcAft>
                <a:spcPts val="0"/>
              </a:spcAft>
              <a:buSzPts val="2000"/>
              <a:buAutoNum type="arabicPeriod" startAt="4"/>
            </a:pPr>
            <a:r>
              <a:rPr lang="en" sz="2000"/>
              <a:t>After testing:</a:t>
            </a:r>
            <a:endParaRPr sz="20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git switch main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git merge feature/dark-mode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git push</a:t>
            </a:r>
            <a:endParaRPr sz="18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rabicPeriod" startAt="4"/>
            </a:pPr>
            <a:r>
              <a:rPr lang="en" sz="2000"/>
              <a:t>Then:</a:t>
            </a:r>
            <a:endParaRPr sz="20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git tag -a v1.1.0 -m "Release version 1.1.0"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git push origin v1.1.0</a:t>
            </a:r>
            <a:endParaRPr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"/>
          <p:cNvSpPr txBox="1">
            <a:spLocks noGrp="1"/>
          </p:cNvSpPr>
          <p:nvPr>
            <p:ph type="title"/>
          </p:nvPr>
        </p:nvSpPr>
        <p:spPr>
          <a:xfrm>
            <a:off x="485875" y="1130350"/>
            <a:ext cx="8183700" cy="136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Development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Project:</a:t>
            </a:r>
            <a:r>
              <a:rPr lang="en" sz="1400" b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400" b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campus-event</a:t>
            </a:r>
            <a:endParaRPr sz="1400" b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Team:</a:t>
            </a:r>
            <a:r>
              <a:rPr lang="en" sz="1400" b="0">
                <a:latin typeface="Arial"/>
                <a:ea typeface="Arial"/>
                <a:cs typeface="Arial"/>
                <a:sym typeface="Arial"/>
              </a:rPr>
              <a:t> Alice (frontend), Bob (backend), and Charlie (database and API)</a:t>
            </a:r>
            <a:endParaRPr sz="39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Alice creates the repository</a:t>
            </a:r>
            <a:endParaRPr/>
          </a:p>
        </p:txBody>
      </p:sp>
      <p:sp>
        <p:nvSpPr>
          <p:cNvPr id="204" name="Google Shape;204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Alice creates: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GitHub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└── campus-event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She initializes the project and pushes: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git init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git add 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git commit -m "Initial project setup"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git branch -M main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git remote add origin git@github.com:alice/campus-event.git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git push -u origin main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Add team members</a:t>
            </a:r>
            <a:endParaRPr/>
          </a:p>
        </p:txBody>
      </p:sp>
      <p:sp>
        <p:nvSpPr>
          <p:cNvPr id="210" name="Google Shape;210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Alice gives Bob and Charlie access to the repository.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They now have permission to work on the same repository.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Each developer clones the repository</a:t>
            </a:r>
            <a:endParaRPr/>
          </a:p>
        </p:txBody>
      </p:sp>
      <p:sp>
        <p:nvSpPr>
          <p:cNvPr id="216" name="Google Shape;216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87350" algn="l" rtl="0">
              <a:spcBef>
                <a:spcPts val="1200"/>
              </a:spcBef>
              <a:spcAft>
                <a:spcPts val="0"/>
              </a:spcAft>
              <a:buSzPts val="2500"/>
              <a:buChar char="●"/>
            </a:pPr>
            <a:r>
              <a:rPr lang="en"/>
              <a:t>Bob does not run</a:t>
            </a:r>
            <a:r>
              <a:rPr lang="en">
                <a:solidFill>
                  <a:schemeClr val="dk2"/>
                </a:solidFill>
              </a:rPr>
              <a:t> </a:t>
            </a:r>
            <a:r>
              <a:rPr lang="en">
                <a:solidFill>
                  <a:srgbClr val="188038"/>
                </a:solidFill>
              </a:rPr>
              <a:t>git init</a:t>
            </a:r>
            <a:r>
              <a:rPr lang="en">
                <a:solidFill>
                  <a:schemeClr val="dk2"/>
                </a:solidFill>
              </a:rPr>
              <a:t>.</a:t>
            </a:r>
            <a:endParaRPr>
              <a:solidFill>
                <a:schemeClr val="dk2"/>
              </a:solidFill>
            </a:endParaRPr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600"/>
              <a:t>He uses: git clone git@github.com:alice/campus-event.git</a:t>
            </a:r>
            <a:endParaRPr sz="1600"/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/>
              <a:t>Charlie does the same:</a:t>
            </a:r>
            <a:endParaRPr/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600"/>
              <a:t>git clone git@github.com:alice/campus-event.git</a:t>
            </a:r>
            <a:endParaRPr sz="12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Everyone starts from main branch</a:t>
            </a:r>
            <a:endParaRPr/>
          </a:p>
        </p:txBody>
      </p:sp>
      <p:sp>
        <p:nvSpPr>
          <p:cNvPr id="222" name="Google Shape;222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Initially: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main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 │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 A──B──C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Everyone has: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Alice's computer → A B C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Bob's computer → A B C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Charlie's computer → A B C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GitHub → A B C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Bob needs to implement authentication</a:t>
            </a:r>
            <a:endParaRPr/>
          </a:p>
        </p:txBody>
      </p:sp>
      <p:sp>
        <p:nvSpPr>
          <p:cNvPr id="228" name="Google Shape;228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First, Bob makes sure his local</a:t>
            </a:r>
            <a:r>
              <a:rPr lang="en">
                <a:solidFill>
                  <a:schemeClr val="dk2"/>
                </a:solidFill>
              </a:rPr>
              <a:t> </a:t>
            </a:r>
            <a:r>
              <a:rPr lang="en">
                <a:solidFill>
                  <a:srgbClr val="188038"/>
                </a:solidFill>
              </a:rPr>
              <a:t>main</a:t>
            </a:r>
            <a:r>
              <a:rPr lang="en">
                <a:solidFill>
                  <a:schemeClr val="dk2"/>
                </a:solidFill>
              </a:rPr>
              <a:t> </a:t>
            </a:r>
            <a:r>
              <a:rPr lang="en"/>
              <a:t>is current:</a:t>
            </a:r>
            <a:endParaRPr/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/>
              <a:t>git switch main</a:t>
            </a:r>
            <a:endParaRPr/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/>
              <a:t>git pull</a:t>
            </a:r>
            <a:endParaRPr/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Then:</a:t>
            </a:r>
            <a:endParaRPr/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/>
              <a:t>git switch -c feature/authentication</a:t>
            </a:r>
            <a:endParaRPr/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His repository:</a:t>
            </a:r>
            <a:endParaRPr/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/>
              <a:t>main</a:t>
            </a:r>
            <a:endParaRPr/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/>
              <a:t> │</a:t>
            </a:r>
            <a:endParaRPr/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/>
              <a:t> A──B──C</a:t>
            </a:r>
            <a:endParaRPr/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/>
              <a:t>      	       \</a:t>
            </a:r>
            <a:endParaRPr/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/>
              <a:t> 	       D──E</a:t>
            </a:r>
            <a:endParaRPr/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/>
              <a:t>           	       ↑</a:t>
            </a:r>
            <a:endParaRPr/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/>
              <a:t>      feature/authentication</a:t>
            </a:r>
            <a:endParaRPr sz="1300"/>
          </a:p>
        </p:txBody>
      </p:sp>
      <p:sp>
        <p:nvSpPr>
          <p:cNvPr id="229" name="Google Shape;229;p3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He commits: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git add 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git commit -m "Implement authentication"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Then pushes: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git push -u origin feature/authentication</a:t>
            </a:r>
            <a:endParaRPr sz="13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6. Charlie works simultaneously</a:t>
            </a:r>
            <a:endParaRPr/>
          </a:p>
        </p:txBody>
      </p:sp>
      <p:sp>
        <p:nvSpPr>
          <p:cNvPr id="235" name="Google Shape;235;p3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1700"/>
              <a:t>Charlie starts from</a:t>
            </a:r>
            <a:r>
              <a:rPr lang="en" sz="1700">
                <a:solidFill>
                  <a:schemeClr val="dk2"/>
                </a:solidFill>
              </a:rPr>
              <a:t> </a:t>
            </a:r>
            <a:r>
              <a:rPr lang="en" sz="1700">
                <a:solidFill>
                  <a:srgbClr val="188038"/>
                </a:solidFill>
              </a:rPr>
              <a:t>main</a:t>
            </a:r>
            <a:r>
              <a:rPr lang="en" sz="1700">
                <a:solidFill>
                  <a:schemeClr val="dk2"/>
                </a:solidFill>
              </a:rPr>
              <a:t>:</a:t>
            </a:r>
            <a:endParaRPr sz="1700">
              <a:solidFill>
                <a:schemeClr val="dk2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500"/>
              <a:t>git switch main</a:t>
            </a:r>
            <a:endParaRPr sz="15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500"/>
              <a:t>git pull</a:t>
            </a:r>
            <a:endParaRPr sz="15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500"/>
              <a:t>git switch -c feature/database</a:t>
            </a:r>
            <a:endParaRPr sz="15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1700"/>
              <a:t>He develops the database layer:</a:t>
            </a:r>
            <a:endParaRPr sz="17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500"/>
              <a:t>git add .</a:t>
            </a:r>
            <a:endParaRPr sz="15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500"/>
              <a:t>git commit -m "Add database repository layer"</a:t>
            </a:r>
            <a:endParaRPr sz="15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500"/>
              <a:t>git push -u origin feature/database</a:t>
            </a:r>
            <a:endParaRPr sz="1600"/>
          </a:p>
        </p:txBody>
      </p:sp>
      <p:sp>
        <p:nvSpPr>
          <p:cNvPr id="236" name="Google Shape;236;p3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Now GitHub has: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main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 │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 A─B─C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       	├─ D─E   feature/authentication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       	│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       	└─ F─G   feature/database</a:t>
            </a:r>
            <a:endParaRPr sz="16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 Pull Request</a:t>
            </a:r>
            <a:endParaRPr/>
          </a:p>
        </p:txBody>
      </p:sp>
      <p:sp>
        <p:nvSpPr>
          <p:cNvPr id="242" name="Google Shape;242;p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1950" algn="l" rtl="0"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en" sz="1800"/>
              <a:t>Bob finishes his authentication feature.</a:t>
            </a:r>
            <a:endParaRPr sz="18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1800"/>
              <a:t>Instead of directly merging into main, Bob creates:</a:t>
            </a:r>
            <a:endParaRPr sz="18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600"/>
              <a:t>feature/authentication</a:t>
            </a:r>
            <a:endParaRPr sz="16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600"/>
              <a:t>          ↓</a:t>
            </a:r>
            <a:endParaRPr sz="16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600"/>
              <a:t>     Pull Request</a:t>
            </a:r>
            <a:endParaRPr sz="16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600"/>
              <a:t>          ↓</a:t>
            </a:r>
            <a:endParaRPr sz="16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600"/>
              <a:t>        Main</a:t>
            </a:r>
            <a:endParaRPr sz="1700"/>
          </a:p>
        </p:txBody>
      </p:sp>
      <p:sp>
        <p:nvSpPr>
          <p:cNvPr id="243" name="Google Shape;243;p40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team reviews: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Bob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 │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 │ Push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 ▼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GitHub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 │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 │ Pull Request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 ▼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Alice / Charlie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 │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 ├── Code review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 ├── Automated tests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 ├── Comments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 └── Approval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8. CI tests the Pull Request</a:t>
            </a:r>
            <a:endParaRPr/>
          </a:p>
        </p:txBody>
      </p:sp>
      <p:sp>
        <p:nvSpPr>
          <p:cNvPr id="249" name="Google Shape;249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typical modern team might configure GitHub Actions: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Pull Request → GitHub Actions → npm test </a:t>
            </a:r>
            <a:r>
              <a:rPr lang="en" sz="1400"/>
              <a:t>→</a:t>
            </a:r>
            <a:r>
              <a:rPr lang="en"/>
              <a:t> npm run lint </a:t>
            </a:r>
            <a:r>
              <a:rPr lang="en" sz="1400"/>
              <a:t>→</a:t>
            </a:r>
            <a:r>
              <a:rPr lang="en"/>
              <a:t> npm build </a:t>
            </a:r>
            <a:r>
              <a:rPr lang="en" sz="1400"/>
              <a:t>→ </a:t>
            </a:r>
            <a:r>
              <a:rPr lang="en"/>
              <a:t>PASS / FAIL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PR should not be merged if important tests fail.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9. Merge the Pull Request</a:t>
            </a:r>
            <a:endParaRPr/>
          </a:p>
        </p:txBody>
      </p:sp>
      <p:sp>
        <p:nvSpPr>
          <p:cNvPr id="255" name="Google Shape;255;p4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After review:</a:t>
            </a:r>
            <a:endParaRPr sz="20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000"/>
              <a:t>feature/authentication </a:t>
            </a:r>
            <a:r>
              <a:rPr lang="en" sz="1600"/>
              <a:t>→ </a:t>
            </a:r>
            <a:r>
              <a:rPr lang="en" sz="2000"/>
              <a:t>main (Pull Request)</a:t>
            </a:r>
            <a:endParaRPr sz="20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GitHub merges it.</a:t>
            </a:r>
            <a:endParaRPr sz="16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Now everyone needs to synchronize.</a:t>
            </a:r>
            <a:endParaRPr sz="20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Bob: </a:t>
            </a:r>
            <a:endParaRPr sz="1600"/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600"/>
              <a:t>git switch main</a:t>
            </a:r>
            <a:endParaRPr sz="1600"/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600"/>
              <a:t>git pull</a:t>
            </a:r>
            <a:endParaRPr sz="16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Charlie:</a:t>
            </a:r>
            <a:endParaRPr sz="1600"/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600"/>
              <a:t>git switch main</a:t>
            </a:r>
            <a:endParaRPr sz="1600"/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600"/>
              <a:t>git pull</a:t>
            </a:r>
            <a:endParaRPr sz="16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10. What if Bob's branch becomes outdated?</a:t>
            </a:r>
            <a:endParaRPr/>
          </a:p>
        </p:txBody>
      </p:sp>
      <p:sp>
        <p:nvSpPr>
          <p:cNvPr id="261" name="Google Shape;261;p4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9250" algn="l" rtl="0"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en" sz="1600">
                <a:solidFill>
                  <a:schemeClr val="dk2"/>
                </a:solidFill>
              </a:rPr>
              <a:t>Suppose </a:t>
            </a:r>
            <a:r>
              <a:rPr lang="en" sz="1600">
                <a:solidFill>
                  <a:srgbClr val="188038"/>
                </a:solidFill>
              </a:rPr>
              <a:t>main</a:t>
            </a:r>
            <a:r>
              <a:rPr lang="en" sz="1600">
                <a:solidFill>
                  <a:schemeClr val="dk2"/>
                </a:solidFill>
              </a:rPr>
              <a:t> has moved:</a:t>
            </a:r>
            <a:endParaRPr sz="1600">
              <a:solidFill>
                <a:schemeClr val="dk2"/>
              </a:solidFill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600">
                <a:solidFill>
                  <a:schemeClr val="dk2"/>
                </a:solidFill>
              </a:rPr>
              <a:t>Main:</a:t>
            </a:r>
            <a:endParaRPr sz="1600">
              <a:solidFill>
                <a:schemeClr val="dk2"/>
              </a:solidFill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600">
                <a:solidFill>
                  <a:schemeClr val="dk2"/>
                </a:solidFill>
              </a:rPr>
              <a:t>A──B──C──M──N</a:t>
            </a:r>
            <a:endParaRPr sz="1600">
              <a:solidFill>
                <a:schemeClr val="dk2"/>
              </a:solidFill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600">
                <a:solidFill>
                  <a:schemeClr val="dk2"/>
                </a:solidFill>
              </a:rPr>
              <a:t>Bob:</a:t>
            </a:r>
            <a:endParaRPr sz="1600">
              <a:solidFill>
                <a:schemeClr val="dk2"/>
              </a:solidFill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600">
                <a:solidFill>
                  <a:schemeClr val="dk2"/>
                </a:solidFill>
              </a:rPr>
              <a:t>A──B──C</a:t>
            </a:r>
            <a:endParaRPr sz="1600">
              <a:solidFill>
                <a:schemeClr val="dk2"/>
              </a:solidFill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600">
                <a:solidFill>
                  <a:schemeClr val="dk2"/>
                </a:solidFill>
              </a:rPr>
              <a:t>   	           \</a:t>
            </a:r>
            <a:endParaRPr sz="1600">
              <a:solidFill>
                <a:schemeClr val="dk2"/>
              </a:solidFill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600">
                <a:solidFill>
                  <a:schemeClr val="dk2"/>
                </a:solidFill>
              </a:rPr>
              <a:t>        	            D──E</a:t>
            </a:r>
            <a:endParaRPr sz="1700"/>
          </a:p>
        </p:txBody>
      </p:sp>
      <p:sp>
        <p:nvSpPr>
          <p:cNvPr id="262" name="Google Shape;262;p4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">
                <a:solidFill>
                  <a:schemeClr val="dk2"/>
                </a:solidFill>
              </a:rPr>
              <a:t>Bob wants to update his feature branch.</a:t>
            </a:r>
            <a:endParaRPr>
              <a:solidFill>
                <a:schemeClr val="dk2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 sz="1400">
                <a:solidFill>
                  <a:schemeClr val="dk2"/>
                </a:solidFill>
              </a:rPr>
              <a:t>He can use:</a:t>
            </a:r>
            <a:endParaRPr sz="1400">
              <a:solidFill>
                <a:schemeClr val="dk2"/>
              </a:solidFill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</a:pPr>
            <a:r>
              <a:rPr lang="en" sz="1400">
                <a:solidFill>
                  <a:schemeClr val="dk2"/>
                </a:solidFill>
              </a:rPr>
              <a:t>git switch feature/payment</a:t>
            </a:r>
            <a:endParaRPr sz="1400">
              <a:solidFill>
                <a:schemeClr val="dk2"/>
              </a:solidFill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</a:pPr>
            <a:r>
              <a:rPr lang="en" sz="1400">
                <a:solidFill>
                  <a:schemeClr val="dk2"/>
                </a:solidFill>
              </a:rPr>
              <a:t>git fetch origin</a:t>
            </a:r>
            <a:endParaRPr sz="1400">
              <a:solidFill>
                <a:schemeClr val="dk2"/>
              </a:solidFill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</a:pPr>
            <a:r>
              <a:rPr lang="en" sz="1400">
                <a:solidFill>
                  <a:schemeClr val="dk2"/>
                </a:solidFill>
              </a:rPr>
              <a:t>git rebase origin/main</a:t>
            </a:r>
            <a:endParaRPr sz="1400">
              <a:solidFill>
                <a:schemeClr val="dk2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 sz="1400">
                <a:solidFill>
                  <a:schemeClr val="dk2"/>
                </a:solidFill>
              </a:rPr>
              <a:t>Now:</a:t>
            </a:r>
            <a:endParaRPr sz="1400">
              <a:solidFill>
                <a:schemeClr val="dk2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 sz="1400">
                <a:solidFill>
                  <a:schemeClr val="dk2"/>
                </a:solidFill>
              </a:rPr>
              <a:t>A──B──C──M──N──D'──E'</a:t>
            </a:r>
            <a:endParaRPr sz="1400">
              <a:solidFill>
                <a:schemeClr val="dk2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 sz="1400">
                <a:solidFill>
                  <a:schemeClr val="dk2"/>
                </a:solidFill>
              </a:rPr>
              <a:t>   			            ↑</a:t>
            </a:r>
            <a:endParaRPr sz="1400">
              <a:solidFill>
                <a:schemeClr val="dk2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 sz="1400">
                <a:solidFill>
                  <a:schemeClr val="dk2"/>
                </a:solidFill>
              </a:rPr>
              <a:t> 		     	feature/payment</a:t>
            </a:r>
            <a:endParaRPr sz="1400">
              <a:solidFill>
                <a:schemeClr val="dk2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>
                <a:solidFill>
                  <a:schemeClr val="dk2"/>
                </a:solidFill>
              </a:rPr>
              <a:t>Notice: D → D', E → E'. They are new commits.</a:t>
            </a:r>
            <a:endParaRPr sz="17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11. Team rule: protect main</a:t>
            </a:r>
            <a:endParaRPr/>
          </a:p>
        </p:txBody>
      </p:sp>
      <p:sp>
        <p:nvSpPr>
          <p:cNvPr id="268" name="Google Shape;268;p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93700" algn="l" rtl="0">
              <a:spcBef>
                <a:spcPts val="1200"/>
              </a:spcBef>
              <a:spcAft>
                <a:spcPts val="0"/>
              </a:spcAft>
              <a:buSzPts val="2600"/>
              <a:buChar char="●"/>
            </a:pPr>
            <a:r>
              <a:rPr lang="en" sz="1900">
                <a:solidFill>
                  <a:schemeClr val="dk2"/>
                </a:solidFill>
              </a:rPr>
              <a:t>A professional GitHub repository should normally protect </a:t>
            </a:r>
            <a:r>
              <a:rPr lang="en" sz="1900">
                <a:solidFill>
                  <a:srgbClr val="188038"/>
                </a:solidFill>
              </a:rPr>
              <a:t>main</a:t>
            </a:r>
            <a:r>
              <a:rPr lang="en" sz="1900">
                <a:solidFill>
                  <a:schemeClr val="dk2"/>
                </a:solidFill>
              </a:rPr>
              <a:t>.</a:t>
            </a:r>
            <a:endParaRPr sz="1900">
              <a:solidFill>
                <a:schemeClr val="dk2"/>
              </a:solidFill>
            </a:endParaRPr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600">
                <a:solidFill>
                  <a:schemeClr val="dk2"/>
                </a:solidFill>
              </a:rPr>
              <a:t>No direct push</a:t>
            </a:r>
            <a:endParaRPr sz="1600">
              <a:solidFill>
                <a:schemeClr val="dk2"/>
              </a:solidFill>
            </a:endParaRPr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600">
                <a:solidFill>
                  <a:schemeClr val="dk2"/>
                </a:solidFill>
              </a:rPr>
              <a:t>Pull Request required</a:t>
            </a:r>
            <a:endParaRPr sz="1600">
              <a:solidFill>
                <a:schemeClr val="dk2"/>
              </a:solidFill>
            </a:endParaRPr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600">
                <a:solidFill>
                  <a:schemeClr val="dk2"/>
                </a:solidFill>
              </a:rPr>
              <a:t>CI tests required</a:t>
            </a:r>
            <a:endParaRPr sz="1600">
              <a:solidFill>
                <a:schemeClr val="dk2"/>
              </a:solidFill>
            </a:endParaRPr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600">
                <a:solidFill>
                  <a:schemeClr val="dk2"/>
                </a:solidFill>
              </a:rPr>
              <a:t>Review required</a:t>
            </a:r>
            <a:endParaRPr sz="1600">
              <a:solidFill>
                <a:schemeClr val="dk2"/>
              </a:solidFill>
            </a:endParaRPr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600">
                <a:solidFill>
                  <a:schemeClr val="dk2"/>
                </a:solidFill>
              </a:rPr>
              <a:t>Merge only when conditions pass</a:t>
            </a:r>
            <a:endParaRPr sz="1600">
              <a:solidFill>
                <a:schemeClr val="dk2"/>
              </a:solidFill>
            </a:endParaRPr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 sz="1900">
                <a:solidFill>
                  <a:schemeClr val="dk2"/>
                </a:solidFill>
              </a:rPr>
              <a:t>Then the workflow becomes:</a:t>
            </a:r>
            <a:endParaRPr sz="1900">
              <a:solidFill>
                <a:schemeClr val="dk2"/>
              </a:solidFill>
            </a:endParaRPr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600">
                <a:solidFill>
                  <a:schemeClr val="dk2"/>
                </a:solidFill>
              </a:rPr>
              <a:t>Developer→feature branch→Commit→Push→Pull Request (Code Review, CI/CD, Automated Tests)→Merge→main→Release</a:t>
            </a:r>
            <a:endParaRPr sz="19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12. Handling a merge conflict</a:t>
            </a:r>
            <a:endParaRPr/>
          </a:p>
        </p:txBody>
      </p:sp>
      <p:sp>
        <p:nvSpPr>
          <p:cNvPr id="274" name="Google Shape;274;p4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300">
                <a:solidFill>
                  <a:schemeClr val="dk2"/>
                </a:solidFill>
              </a:rPr>
              <a:t>Suppose:</a:t>
            </a:r>
            <a:endParaRPr sz="1300"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300">
                <a:solidFill>
                  <a:schemeClr val="dk2"/>
                </a:solidFill>
              </a:rPr>
              <a:t>main:</a:t>
            </a:r>
            <a:endParaRPr sz="1300">
              <a:solidFill>
                <a:schemeClr val="dk2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300">
                <a:solidFill>
                  <a:schemeClr val="dk2"/>
                </a:solidFill>
              </a:rPr>
              <a:t>A──B──C──D</a:t>
            </a:r>
            <a:endParaRPr sz="1300"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300">
                <a:solidFill>
                  <a:schemeClr val="dk2"/>
                </a:solidFill>
              </a:rPr>
              <a:t>Alice:</a:t>
            </a:r>
            <a:endParaRPr sz="1300">
              <a:solidFill>
                <a:schemeClr val="dk2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300">
                <a:solidFill>
                  <a:schemeClr val="dk2"/>
                </a:solidFill>
              </a:rPr>
              <a:t>A──B──C──X</a:t>
            </a:r>
            <a:endParaRPr sz="1300"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300">
                <a:solidFill>
                  <a:schemeClr val="dk2"/>
                </a:solidFill>
              </a:rPr>
              <a:t>Bob:</a:t>
            </a:r>
            <a:endParaRPr sz="1300">
              <a:solidFill>
                <a:schemeClr val="dk2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300">
                <a:solidFill>
                  <a:schemeClr val="dk2"/>
                </a:solidFill>
              </a:rPr>
              <a:t>A──B──C──Y</a:t>
            </a:r>
            <a:endParaRPr sz="1300"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300">
                <a:solidFill>
                  <a:schemeClr val="dk2"/>
                </a:solidFill>
              </a:rPr>
              <a:t>Alice merges first:</a:t>
            </a:r>
            <a:endParaRPr sz="1300">
              <a:solidFill>
                <a:schemeClr val="dk2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300">
                <a:solidFill>
                  <a:schemeClr val="dk2"/>
                </a:solidFill>
              </a:rPr>
              <a:t>A──B──C──D──X</a:t>
            </a:r>
            <a:endParaRPr sz="1300"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300">
                <a:solidFill>
                  <a:schemeClr val="dk2"/>
                </a:solidFill>
              </a:rPr>
              <a:t>Bob's branch now conflicts with </a:t>
            </a:r>
            <a:r>
              <a:rPr lang="en" sz="1300">
                <a:solidFill>
                  <a:srgbClr val="188038"/>
                </a:solidFill>
              </a:rPr>
              <a:t>main</a:t>
            </a:r>
            <a:r>
              <a:rPr lang="en" sz="1300">
                <a:solidFill>
                  <a:schemeClr val="dk2"/>
                </a:solidFill>
              </a:rPr>
              <a:t>.</a:t>
            </a:r>
            <a:endParaRPr sz="1300"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300">
                <a:solidFill>
                  <a:schemeClr val="dk2"/>
                </a:solidFill>
              </a:rPr>
              <a:t>Bob does:</a:t>
            </a:r>
            <a:endParaRPr sz="1300">
              <a:solidFill>
                <a:schemeClr val="dk2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300">
                <a:solidFill>
                  <a:schemeClr val="dk2"/>
                </a:solidFill>
              </a:rPr>
              <a:t>git fetch origin</a:t>
            </a:r>
            <a:endParaRPr sz="1300">
              <a:solidFill>
                <a:schemeClr val="dk2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300">
                <a:solidFill>
                  <a:schemeClr val="dk2"/>
                </a:solidFill>
              </a:rPr>
              <a:t>git rebase origin/main</a:t>
            </a:r>
            <a:endParaRPr sz="1400"/>
          </a:p>
        </p:txBody>
      </p:sp>
      <p:sp>
        <p:nvSpPr>
          <p:cNvPr id="275" name="Google Shape;275;p4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300">
                <a:solidFill>
                  <a:schemeClr val="dk2"/>
                </a:solidFill>
              </a:rPr>
              <a:t>Git reports:CONFLICT</a:t>
            </a:r>
            <a:endParaRPr sz="1300"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300">
                <a:solidFill>
                  <a:schemeClr val="dk2"/>
                </a:solidFill>
              </a:rPr>
              <a:t>Bob manually resolves the conflicting file.</a:t>
            </a:r>
            <a:endParaRPr sz="1300"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300">
                <a:solidFill>
                  <a:schemeClr val="dk2"/>
                </a:solidFill>
              </a:rPr>
              <a:t>Then:</a:t>
            </a:r>
            <a:endParaRPr sz="1300">
              <a:solidFill>
                <a:schemeClr val="dk2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300">
                <a:solidFill>
                  <a:schemeClr val="dk2"/>
                </a:solidFill>
              </a:rPr>
              <a:t>git add .</a:t>
            </a:r>
            <a:endParaRPr sz="1300">
              <a:solidFill>
                <a:schemeClr val="dk2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300">
                <a:solidFill>
                  <a:schemeClr val="dk2"/>
                </a:solidFill>
              </a:rPr>
              <a:t>git rebase --continue</a:t>
            </a:r>
            <a:endParaRPr sz="1300"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300">
                <a:solidFill>
                  <a:schemeClr val="dk2"/>
                </a:solidFill>
              </a:rPr>
              <a:t>Eventually:</a:t>
            </a:r>
            <a:endParaRPr sz="1300">
              <a:solidFill>
                <a:schemeClr val="dk2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300">
                <a:solidFill>
                  <a:schemeClr val="dk2"/>
                </a:solidFill>
              </a:rPr>
              <a:t>A──B──C──D──X──Y'</a:t>
            </a:r>
            <a:endParaRPr sz="1300"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300">
                <a:solidFill>
                  <a:schemeClr val="dk2"/>
                </a:solidFill>
              </a:rPr>
              <a:t>Then, because rebase changed Bob's commit IDs:</a:t>
            </a:r>
            <a:endParaRPr sz="1300">
              <a:solidFill>
                <a:schemeClr val="dk2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300">
                <a:solidFill>
                  <a:schemeClr val="dk2"/>
                </a:solidFill>
              </a:rPr>
              <a:t>git push --force-with-lease</a:t>
            </a:r>
            <a:endParaRPr sz="1300"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300">
                <a:solidFill>
                  <a:schemeClr val="dk2"/>
                </a:solidFill>
              </a:rPr>
              <a:t>Not: git push --force</a:t>
            </a:r>
            <a:endParaRPr sz="1300"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300">
                <a:solidFill>
                  <a:srgbClr val="188038"/>
                </a:solidFill>
              </a:rPr>
              <a:t>--force-with-lease</a:t>
            </a:r>
            <a:r>
              <a:rPr lang="en" sz="1300">
                <a:solidFill>
                  <a:schemeClr val="dk2"/>
                </a:solidFill>
              </a:rPr>
              <a:t> is the safer form because it checks whether the remote branch has unexpectedly advanced.</a:t>
            </a:r>
            <a:endParaRPr sz="16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13. Finish the release</a:t>
            </a:r>
            <a:endParaRPr/>
          </a:p>
        </p:txBody>
      </p:sp>
      <p:sp>
        <p:nvSpPr>
          <p:cNvPr id="281" name="Google Shape;281;p4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2105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30"/>
              <a:buChar char="●"/>
            </a:pPr>
            <a:r>
              <a:rPr lang="en" sz="1630"/>
              <a:t>Suppose the team has:</a:t>
            </a:r>
            <a:endParaRPr sz="1630"/>
          </a:p>
          <a:p>
            <a:pPr marL="914400" lvl="1" indent="-3175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main</a:t>
            </a:r>
            <a:endParaRPr/>
          </a:p>
          <a:p>
            <a:pPr marL="914400" lvl="1" indent="-3175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 │</a:t>
            </a:r>
            <a:endParaRPr/>
          </a:p>
          <a:p>
            <a:pPr marL="914400" lvl="1" indent="-3175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 A──B──C──D──E──F</a:t>
            </a:r>
            <a:endParaRPr/>
          </a:p>
          <a:p>
            <a:pPr marL="457200" lvl="0" indent="-33210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30"/>
              <a:buChar char="●"/>
            </a:pPr>
            <a:r>
              <a:rPr lang="en" sz="1630"/>
              <a:t>CI passes.</a:t>
            </a:r>
            <a:endParaRPr sz="1630"/>
          </a:p>
          <a:p>
            <a:pPr marL="457200" lvl="0" indent="-33210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30"/>
              <a:buChar char="●"/>
            </a:pPr>
            <a:r>
              <a:rPr lang="en" sz="1630"/>
              <a:t>The team decides this is production-ready.</a:t>
            </a:r>
            <a:endParaRPr sz="1630"/>
          </a:p>
          <a:p>
            <a:pPr marL="457200" lvl="0" indent="-33210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30"/>
              <a:buChar char="●"/>
            </a:pPr>
            <a:r>
              <a:rPr lang="en" sz="1630"/>
              <a:t>Tag:</a:t>
            </a:r>
            <a:endParaRPr sz="1630"/>
          </a:p>
          <a:p>
            <a:pPr marL="914400" lvl="1" indent="-3175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git tag -a v1.0.0 -m "Release version 1.0.0"</a:t>
            </a:r>
            <a:endParaRPr/>
          </a:p>
          <a:p>
            <a:pPr marL="914400" lvl="1" indent="-3175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git push origin v1.0.0</a:t>
            </a:r>
            <a:endParaRPr/>
          </a:p>
          <a:p>
            <a:pPr marL="457200" lvl="0" indent="-33210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30"/>
              <a:buChar char="●"/>
            </a:pPr>
            <a:r>
              <a:rPr lang="en" sz="1630"/>
              <a:t>GitHub can then publish:</a:t>
            </a:r>
            <a:endParaRPr sz="1630"/>
          </a:p>
          <a:p>
            <a:pPr marL="914400" lvl="1" indent="-3175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Release v1.0.0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2495</Words>
  <Application>Microsoft Office PowerPoint</Application>
  <PresentationFormat>如螢幕大小 (16:9)</PresentationFormat>
  <Paragraphs>412</Paragraphs>
  <Slides>34</Slides>
  <Notes>34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34</vt:i4>
      </vt:variant>
    </vt:vector>
  </HeadingPairs>
  <TitlesOfParts>
    <vt:vector size="39" baseType="lpstr">
      <vt:lpstr>Source Sans Pro</vt:lpstr>
      <vt:lpstr>Arial</vt:lpstr>
      <vt:lpstr>Raleway</vt:lpstr>
      <vt:lpstr>Roboto Mono</vt:lpstr>
      <vt:lpstr>Plum</vt:lpstr>
      <vt:lpstr>Git and Github</vt:lpstr>
      <vt:lpstr>Version Control System</vt:lpstr>
      <vt:lpstr>Git and Github Overview</vt:lpstr>
      <vt:lpstr>Typical Git Workflow</vt:lpstr>
      <vt:lpstr>PowerPoint 簡報</vt:lpstr>
      <vt:lpstr>PowerPoint 簡報</vt:lpstr>
      <vt:lpstr>Key Concepts with Git</vt:lpstr>
      <vt:lpstr>Independent Development Student: Alice Project: todo-web Goal: Build a Node.js web application and eventually release version 1.0.0.</vt:lpstr>
      <vt:lpstr>1. Install Git</vt:lpstr>
      <vt:lpstr>2. Configure Git identity</vt:lpstr>
      <vt:lpstr>3. Create a GitHub account</vt:lpstr>
      <vt:lpstr>4. Configure authentication (SSH Based)</vt:lpstr>
      <vt:lpstr>5. Create the local project</vt:lpstr>
      <vt:lpstr>6. Create the first commit</vt:lpstr>
      <vt:lpstr>7. Connect local Git to GitHub</vt:lpstr>
      <vt:lpstr>8. Push the first version</vt:lpstr>
      <vt:lpstr>9. Start more developments</vt:lpstr>
      <vt:lpstr>10. Finish the feature</vt:lpstr>
      <vt:lpstr>11. Release a stable version</vt:lpstr>
      <vt:lpstr>12. Continue development toward v1.1</vt:lpstr>
      <vt:lpstr>Team Development Project: campus-event Team: Alice (frontend), Bob (backend), and Charlie (database and API)</vt:lpstr>
      <vt:lpstr>1. Alice creates the repository</vt:lpstr>
      <vt:lpstr>2. Add team members</vt:lpstr>
      <vt:lpstr>3. Each developer clones the repository</vt:lpstr>
      <vt:lpstr>4. Everyone starts from main branch</vt:lpstr>
      <vt:lpstr>5. Bob needs to implement authentication</vt:lpstr>
      <vt:lpstr>6. Charlie works simultaneously</vt:lpstr>
      <vt:lpstr>7. Pull Request</vt:lpstr>
      <vt:lpstr>8. CI tests the Pull Request</vt:lpstr>
      <vt:lpstr>9. Merge the Pull Request</vt:lpstr>
      <vt:lpstr>10. What if Bob's branch becomes outdated?</vt:lpstr>
      <vt:lpstr>11. Team rule: protect main</vt:lpstr>
      <vt:lpstr>12. Handling a merge conflict</vt:lpstr>
      <vt:lpstr>13. Finish the release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and Github</dc:title>
  <cp:lastModifiedBy>LanCi-Wei</cp:lastModifiedBy>
  <cp:revision>3</cp:revision>
  <dcterms:modified xsi:type="dcterms:W3CDTF">2026-10-12T14:27:22Z</dcterms:modified>
</cp:coreProperties>
</file>